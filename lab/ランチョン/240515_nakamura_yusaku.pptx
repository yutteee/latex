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96" r:id="rId5"/>
    <p:sldId id="295" r:id="rId6"/>
    <p:sldId id="310" r:id="rId7"/>
    <p:sldId id="324" r:id="rId8"/>
    <p:sldId id="311" r:id="rId9"/>
    <p:sldId id="314" r:id="rId10"/>
    <p:sldId id="315" r:id="rId11"/>
    <p:sldId id="317" r:id="rId12"/>
    <p:sldId id="316" r:id="rId13"/>
    <p:sldId id="318" r:id="rId14"/>
    <p:sldId id="323" r:id="rId15"/>
    <p:sldId id="321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8F8F8"/>
    <a:srgbClr val="3B6FBB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濃色スタイル 1 - アクセント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スタイル (濃色)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8796" autoAdjust="0"/>
    <p:restoredTop sz="94660"/>
  </p:normalViewPr>
  <p:slideViewPr>
    <p:cSldViewPr snapToGrid="0">
      <p:cViewPr>
        <p:scale>
          <a:sx n="135" d="100"/>
          <a:sy n="135" d="100"/>
        </p:scale>
        <p:origin x="14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733" y="3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64B9691-87D6-48EF-9BFD-698344D045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6BE10E-3BBD-4023-B684-892AE173FF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2328F-004D-4D3A-9F80-6B7A705D1367}" type="datetimeFigureOut">
              <a:rPr kumimoji="1" lang="ja-JP" altLang="en-US" smtClean="0"/>
              <a:t>2024/5/12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6367B9F-A0B4-4348-9C4B-89D15EDCB2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2CC2C2F-D89E-474B-9003-7069E7D90C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CC25F-5D23-455B-B707-89EC30CA97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7490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0887C-0EF1-4AC1-9E9B-79863B12620D}" type="datetimeFigureOut">
              <a:rPr kumimoji="1" lang="ja-JP" altLang="en-US" smtClean="0"/>
              <a:t>2024/5/12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A420A-BDF0-4775-9670-07D3BFB5E9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9677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524000" y="2570163"/>
            <a:ext cx="9144000" cy="2387600"/>
          </a:xfrm>
        </p:spPr>
        <p:txBody>
          <a:bodyPr anchor="b">
            <a:noAutofit/>
          </a:bodyPr>
          <a:lstStyle>
            <a:lvl1pPr algn="l">
              <a:defRPr sz="48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発表の内容と構成が想像できる</a:t>
            </a:r>
            <a:br>
              <a:rPr kumimoji="1" lang="en-US" altLang="ja-JP" dirty="0"/>
            </a:br>
            <a:r>
              <a:rPr kumimoji="1" lang="ja-JP" altLang="en-US" dirty="0"/>
              <a:t>発表題目をここに書く．</a:t>
            </a:r>
            <a:br>
              <a:rPr kumimoji="1" lang="en-US" altLang="ja-JP" dirty="0"/>
            </a:br>
            <a:r>
              <a:rPr kumimoji="1" lang="ja-JP" altLang="en-US" dirty="0"/>
              <a:t>単語の途中で改行しない．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524000" y="5110163"/>
            <a:ext cx="9144000" cy="561975"/>
          </a:xfrm>
        </p:spPr>
        <p:txBody>
          <a:bodyPr>
            <a:noAutofit/>
          </a:bodyPr>
          <a:lstStyle>
            <a:lvl1pPr marL="0" indent="0" algn="l">
              <a:buNone/>
              <a:defRPr sz="3600"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発表者名</a:t>
            </a:r>
            <a:endParaRPr kumimoji="1" lang="en-US" altLang="ja-JP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5740400"/>
            <a:ext cx="9144000" cy="469900"/>
          </a:xfrm>
        </p:spPr>
        <p:txBody>
          <a:bodyPr/>
          <a:lstStyle>
            <a:lvl1pPr marL="0" indent="0" algn="l">
              <a:buNone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身分や所属など．関連する</a:t>
            </a:r>
            <a:r>
              <a:rPr kumimoji="1" lang="en-US" altLang="ja-JP" dirty="0"/>
              <a:t>SNS</a:t>
            </a:r>
            <a:r>
              <a:rPr kumimoji="1" lang="ja-JP" altLang="en-US" dirty="0"/>
              <a:t>アカウントなども．</a:t>
            </a:r>
          </a:p>
        </p:txBody>
      </p:sp>
      <p:cxnSp>
        <p:nvCxnSpPr>
          <p:cNvPr id="13" name="直線コネクタ 12"/>
          <p:cNvCxnSpPr/>
          <p:nvPr userDrawn="1"/>
        </p:nvCxnSpPr>
        <p:spPr>
          <a:xfrm flipV="1">
            <a:off x="0" y="5029200"/>
            <a:ext cx="12192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/>
          <p:cNvSpPr>
            <a:spLocks noGrp="1"/>
          </p:cNvSpPr>
          <p:nvPr>
            <p:ph type="body" sz="quarter" idx="12" hasCustomPrompt="1"/>
          </p:nvPr>
        </p:nvSpPr>
        <p:spPr>
          <a:xfrm>
            <a:off x="8420098" y="152399"/>
            <a:ext cx="3594101" cy="378541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会議名と日程を書いておく</a:t>
            </a:r>
          </a:p>
        </p:txBody>
      </p:sp>
      <p:sp>
        <p:nvSpPr>
          <p:cNvPr id="17" name="図プレースホルダー 16"/>
          <p:cNvSpPr>
            <a:spLocks noGrp="1"/>
          </p:cNvSpPr>
          <p:nvPr>
            <p:ph type="pic" sz="quarter" idx="13" hasCustomPrompt="1"/>
          </p:nvPr>
        </p:nvSpPr>
        <p:spPr>
          <a:xfrm>
            <a:off x="1523999" y="647700"/>
            <a:ext cx="9144000" cy="1841500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kumimoji="1" lang="ja-JP" altLang="en-US" dirty="0"/>
              <a:t>題目の説明の助けになる図や動画があれば載せる．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12593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46100" y="6021647"/>
            <a:ext cx="11099800" cy="725176"/>
          </a:xfrm>
        </p:spPr>
        <p:txBody>
          <a:bodyPr>
            <a:noAutofit/>
          </a:bodyPr>
          <a:lstStyle>
            <a:lvl1pPr algn="ctr">
              <a:defRPr sz="2400" b="1" u="sng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546100" y="1038484"/>
            <a:ext cx="11099800" cy="4797052"/>
          </a:xfrm>
        </p:spPr>
        <p:txBody>
          <a:bodyPr/>
          <a:lstStyle>
            <a:lvl1pPr marL="457200" indent="-457200"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210574" y="348226"/>
            <a:ext cx="11455400" cy="46990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1183256" y="340852"/>
            <a:ext cx="1015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A53700-8F90-3442-A47C-78139B6BC0ED}" type="slidenum">
              <a:rPr kumimoji="1" lang="ja-JP" altLang="en-US" sz="24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r>
              <a:rPr kumimoji="1" lang="en-US" altLang="ja-JP" sz="2400" dirty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/11</a:t>
            </a:r>
            <a:endParaRPr kumimoji="1" lang="ja-JP" altLang="en-US" sz="24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0" y="82550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984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カー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638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3D9B2-A3E9-9949-B706-993C7CA3857D}" type="datetime1">
              <a:rPr kumimoji="1" lang="ja-JP" altLang="en-US" smtClean="0"/>
              <a:t>2024/5/12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B92D0-3845-473E-8E13-C70357A36C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934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088" indent="-446088" algn="l" defTabSz="914400" rtl="0" eaLnBrk="1" latinLnBrk="0" hangingPunct="1">
        <a:lnSpc>
          <a:spcPct val="110000"/>
        </a:lnSpc>
        <a:spcBef>
          <a:spcPts val="1800"/>
        </a:spcBef>
        <a:buClr>
          <a:schemeClr val="accent4"/>
        </a:buClr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1pPr>
      <a:lvl2pPr marL="898525" indent="-441325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252538" indent="-338138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706563" indent="-334963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151063" indent="-322263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6F0535-4030-4C35-945F-92B4531071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sz="3200" dirty="0">
                <a:latin typeface="+mj-ea"/>
                <a:ea typeface="+mj-ea"/>
              </a:rPr>
              <a:t>DCA-TGR5 signaling </a:t>
            </a:r>
            <a:r>
              <a:rPr lang="en" altLang="ja-JP" sz="3200" i="0" dirty="0">
                <a:effectLst/>
                <a:latin typeface="+mj-ea"/>
                <a:ea typeface="+mj-ea"/>
              </a:rPr>
              <a:t>activation alleviates inflammatory response and improves cardiac function in myocardial infarction</a:t>
            </a:r>
            <a:endParaRPr kumimoji="1" lang="ja-JP" altLang="en-US" sz="3200" dirty="0">
              <a:latin typeface="+mj-ea"/>
              <a:ea typeface="+mj-ea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2FD679A-CDD2-4005-984B-113143E13B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中村</a:t>
            </a:r>
            <a:r>
              <a:rPr kumimoji="1" lang="en-US" altLang="ja-JP" dirty="0"/>
              <a:t> </a:t>
            </a:r>
            <a:r>
              <a:rPr kumimoji="1" lang="ja-JP" altLang="en-US"/>
              <a:t>優作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7B2A5E6-B11B-4CED-B03E-250BCC2703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名古屋大学</a:t>
            </a:r>
            <a:r>
              <a:rPr kumimoji="1" lang="en-US" altLang="ja-JP" dirty="0"/>
              <a:t> </a:t>
            </a:r>
            <a:r>
              <a:rPr kumimoji="1" lang="ja-JP" altLang="en-US"/>
              <a:t>生命分子工学専攻</a:t>
            </a:r>
            <a:r>
              <a:rPr lang="en-US" altLang="ja-JP" dirty="0"/>
              <a:t> </a:t>
            </a:r>
            <a:r>
              <a:rPr lang="ja-JP" altLang="en-US"/>
              <a:t>本多研究室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08FD74-8A95-4CC4-8A3E-A416E77C6F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49478" y="152399"/>
            <a:ext cx="3764721" cy="378541"/>
          </a:xfrm>
        </p:spPr>
        <p:txBody>
          <a:bodyPr/>
          <a:lstStyle/>
          <a:p>
            <a:pPr algn="r"/>
            <a:r>
              <a:rPr lang="en-US" altLang="ja-JP" dirty="0"/>
              <a:t>2024/05/15 </a:t>
            </a:r>
            <a:r>
              <a:rPr lang="ja-JP" altLang="en-US"/>
              <a:t>ランチョン</a:t>
            </a:r>
            <a:r>
              <a:rPr lang="en-US" altLang="ja-JP" dirty="0"/>
              <a:t> 1</a:t>
            </a:r>
            <a:r>
              <a:rPr lang="ja-JP" altLang="en-US"/>
              <a:t>報目</a:t>
            </a:r>
            <a:endParaRPr kumimoji="1" lang="ja-JP" altLang="en-US" dirty="0"/>
          </a:p>
        </p:txBody>
      </p:sp>
      <p:sp>
        <p:nvSpPr>
          <p:cNvPr id="14" name="図プレースホルダー 13">
            <a:extLst>
              <a:ext uri="{FF2B5EF4-FFF2-40B4-BE49-F238E27FC236}">
                <a16:creationId xmlns:a16="http://schemas.microsoft.com/office/drawing/2014/main" id="{3B0B7484-C3CD-3BD5-490C-F61A1F1B98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62107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FD98EC-8D25-482F-8132-04421A268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仮説：胆汁酸</a:t>
            </a:r>
            <a:r>
              <a:rPr kumimoji="1" lang="en-US" altLang="ja-JP" dirty="0"/>
              <a:t>-TGR5</a:t>
            </a:r>
            <a:r>
              <a:rPr lang="ja-JP" altLang="en-US"/>
              <a:t>シグナルが心筋梗塞の炎症制御、予後改善する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CDB890-8D30-437B-8CC3-08166F8C7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038484"/>
            <a:ext cx="11099800" cy="489297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心筋梗塞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>
                <a:solidFill>
                  <a:schemeClr val="tx1"/>
                </a:solidFill>
              </a:rPr>
              <a:t>心臓に血液と酸素を送る冠動脈が詰まって血液が流れなくなり、心筋が壊死する症状</a:t>
            </a:r>
            <a:endParaRPr lang="en-US" altLang="ja-JP" dirty="0">
              <a:solidFill>
                <a:schemeClr val="tx1"/>
              </a:solidFill>
            </a:endParaRPr>
          </a:p>
          <a:p>
            <a:pPr lvl="1">
              <a:lnSpc>
                <a:spcPct val="120000"/>
              </a:lnSpc>
            </a:pPr>
            <a:r>
              <a:rPr lang="ja-JP" altLang="en-US">
                <a:solidFill>
                  <a:schemeClr val="tx1"/>
                </a:solidFill>
              </a:rPr>
              <a:t>心臓のリモデリングが起こる</a:t>
            </a:r>
            <a:endParaRPr lang="en-US" altLang="ja-JP" dirty="0">
              <a:solidFill>
                <a:schemeClr val="tx1"/>
              </a:solidFill>
            </a:endParaRPr>
          </a:p>
          <a:p>
            <a:pPr lvl="2">
              <a:lnSpc>
                <a:spcPct val="120000"/>
              </a:lnSpc>
            </a:pPr>
            <a:r>
              <a:rPr lang="ja-JP" altLang="en-US">
                <a:solidFill>
                  <a:schemeClr val="tx1"/>
                </a:solidFill>
              </a:rPr>
              <a:t>梗塞した心臓の修復に不可欠</a:t>
            </a:r>
            <a:endParaRPr lang="en-US" altLang="ja-JP" dirty="0">
              <a:solidFill>
                <a:schemeClr val="tx1"/>
              </a:solidFill>
            </a:endParaRPr>
          </a:p>
          <a:p>
            <a:pPr lvl="2">
              <a:lnSpc>
                <a:spcPct val="120000"/>
              </a:lnSpc>
            </a:pPr>
            <a:r>
              <a:rPr lang="ja-JP" altLang="en-US">
                <a:solidFill>
                  <a:schemeClr val="tx1"/>
                </a:solidFill>
              </a:rPr>
              <a:t>炎症過程を伴い、有害なリモデリングと予後不良に関与</a:t>
            </a:r>
            <a:endParaRPr lang="en-US" altLang="ja-JP" dirty="0">
              <a:solidFill>
                <a:schemeClr val="tx1"/>
              </a:solidFill>
            </a:endParaRPr>
          </a:p>
          <a:p>
            <a:pPr lvl="1">
              <a:lnSpc>
                <a:spcPct val="120000"/>
              </a:lnSpc>
            </a:pPr>
            <a:r>
              <a:rPr lang="ja-JP" altLang="en-US">
                <a:solidFill>
                  <a:schemeClr val="tx1"/>
                </a:solidFill>
              </a:rPr>
              <a:t>心筋梗塞とそれに続く合併症はグルコースや脂質などの代謝異常と関連</a:t>
            </a:r>
            <a:endParaRPr lang="en-US" altLang="ja-JP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ja-JP" altLang="en-US"/>
              <a:t>胆汁酸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>
                <a:solidFill>
                  <a:schemeClr val="tx1"/>
                </a:solidFill>
              </a:rPr>
              <a:t>肝臓で合成される</a:t>
            </a:r>
            <a:endParaRPr lang="en-US" altLang="ja-JP" dirty="0">
              <a:solidFill>
                <a:schemeClr val="tx1"/>
              </a:solidFill>
            </a:endParaRPr>
          </a:p>
          <a:p>
            <a:pPr lvl="1">
              <a:lnSpc>
                <a:spcPct val="120000"/>
              </a:lnSpc>
            </a:pPr>
            <a:r>
              <a:rPr lang="ja-JP" altLang="en-US">
                <a:solidFill>
                  <a:schemeClr val="tx1"/>
                </a:solidFill>
              </a:rPr>
              <a:t>さまざまな代謝性疾患に関与している</a:t>
            </a:r>
            <a:endParaRPr lang="en-US" altLang="ja-JP" dirty="0">
              <a:solidFill>
                <a:schemeClr val="tx1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altLang="ja-JP" dirty="0">
                <a:solidFill>
                  <a:schemeClr val="tx1"/>
                </a:solidFill>
              </a:rPr>
              <a:t>TGR5</a:t>
            </a:r>
            <a:r>
              <a:rPr lang="ja-JP" altLang="en-US">
                <a:solidFill>
                  <a:schemeClr val="tx1"/>
                </a:solidFill>
              </a:rPr>
              <a:t>などの受容体に結合することで機能する</a:t>
            </a:r>
            <a:endParaRPr lang="en-US" altLang="ja-JP" dirty="0">
              <a:solidFill>
                <a:schemeClr val="tx1"/>
              </a:solidFill>
            </a:endParaRPr>
          </a:p>
          <a:p>
            <a:pPr lvl="2">
              <a:lnSpc>
                <a:spcPct val="120000"/>
              </a:lnSpc>
            </a:pPr>
            <a:r>
              <a:rPr lang="en-US" altLang="ja-JP" dirty="0">
                <a:solidFill>
                  <a:schemeClr val="tx1"/>
                </a:solidFill>
              </a:rPr>
              <a:t>TGR5</a:t>
            </a:r>
            <a:r>
              <a:rPr lang="ja-JP" altLang="en-US">
                <a:solidFill>
                  <a:schemeClr val="tx1"/>
                </a:solidFill>
              </a:rPr>
              <a:t>は心臓含むいくつかの組織で発現</a:t>
            </a:r>
            <a:endParaRPr lang="en-US" altLang="ja-JP" dirty="0">
              <a:solidFill>
                <a:schemeClr val="tx1"/>
              </a:solidFill>
            </a:endParaRPr>
          </a:p>
          <a:p>
            <a:pPr lvl="2">
              <a:lnSpc>
                <a:spcPct val="120000"/>
              </a:lnSpc>
            </a:pPr>
            <a:r>
              <a:rPr lang="en-US" altLang="ja-JP" dirty="0">
                <a:solidFill>
                  <a:schemeClr val="tx1"/>
                </a:solidFill>
              </a:rPr>
              <a:t>TGR5</a:t>
            </a:r>
            <a:r>
              <a:rPr lang="ja-JP" altLang="en-US">
                <a:solidFill>
                  <a:schemeClr val="tx1"/>
                </a:solidFill>
              </a:rPr>
              <a:t>シグナルの伝達経路の活性化は、複数の代謝ホメオスタシス経路を改善</a:t>
            </a:r>
            <a:endParaRPr lang="en-US" altLang="ja-JP" dirty="0">
              <a:solidFill>
                <a:schemeClr val="tx1"/>
              </a:solidFill>
            </a:endParaRPr>
          </a:p>
          <a:p>
            <a:pPr lvl="2">
              <a:lnSpc>
                <a:spcPct val="120000"/>
              </a:lnSpc>
            </a:pPr>
            <a:r>
              <a:rPr lang="ja-JP" altLang="en-US">
                <a:solidFill>
                  <a:schemeClr val="tx1"/>
                </a:solidFill>
              </a:rPr>
              <a:t>複数の炎症生理学的機能にも関与</a:t>
            </a:r>
            <a:endParaRPr lang="en-US" altLang="ja-JP" dirty="0">
              <a:solidFill>
                <a:schemeClr val="tx1"/>
              </a:solidFill>
            </a:endParaRPr>
          </a:p>
          <a:p>
            <a:pPr lvl="1">
              <a:lnSpc>
                <a:spcPct val="120000"/>
              </a:lnSpc>
            </a:pPr>
            <a:endParaRPr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573968E-BF17-4017-AA59-5326CD607C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イントロ</a:t>
            </a:r>
          </a:p>
        </p:txBody>
      </p:sp>
    </p:spTree>
    <p:extLst>
      <p:ext uri="{BB962C8B-B14F-4D97-AF65-F5344CB8AC3E}">
        <p14:creationId xmlns:p14="http://schemas.microsoft.com/office/powerpoint/2010/main" val="38856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CDB890-8D30-437B-8CC3-08166F8C7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/>
              <a:t>目的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ja-JP" altLang="en-US"/>
              <a:t>心筋梗塞における、胆汁酸</a:t>
            </a:r>
            <a:r>
              <a:rPr lang="en-US" altLang="ja-JP" dirty="0"/>
              <a:t>-TGR5</a:t>
            </a:r>
            <a:r>
              <a:rPr lang="ja-JP" altLang="en-US"/>
              <a:t>シグナル伝達経路の影響を明らかにする</a:t>
            </a:r>
            <a:endParaRPr lang="en-US" altLang="ja-JP" dirty="0"/>
          </a:p>
          <a:p>
            <a:r>
              <a:rPr lang="ja-JP" altLang="en-US"/>
              <a:t>アプローチ</a:t>
            </a:r>
            <a:endParaRPr lang="en-US" altLang="ja-JP" dirty="0"/>
          </a:p>
          <a:p>
            <a:pPr lvl="1"/>
            <a:r>
              <a:rPr lang="en-US" altLang="ja-JP" dirty="0"/>
              <a:t>AMI</a:t>
            </a:r>
            <a:r>
              <a:rPr lang="ja-JP" altLang="en-US"/>
              <a:t>患者の血液サンプルの胆汁酸代謝分析</a:t>
            </a:r>
            <a:endParaRPr lang="en-US" altLang="ja-JP" dirty="0"/>
          </a:p>
          <a:p>
            <a:pPr lvl="1"/>
            <a:r>
              <a:rPr lang="ja-JP" altLang="en-US"/>
              <a:t>心筋梗塞モデルマウスに</a:t>
            </a:r>
            <a:r>
              <a:rPr lang="en-US" altLang="ja-JP" dirty="0"/>
              <a:t>DCA</a:t>
            </a:r>
            <a:r>
              <a:rPr lang="ja-JP" altLang="en-US"/>
              <a:t>を投与</a:t>
            </a:r>
            <a:endParaRPr lang="en-US" altLang="ja-JP" dirty="0"/>
          </a:p>
          <a:p>
            <a:pPr lvl="1"/>
            <a:r>
              <a:rPr lang="en-US" altLang="ja-JP" dirty="0"/>
              <a:t>TGR5</a:t>
            </a:r>
            <a:r>
              <a:rPr lang="ja-JP" altLang="en-US"/>
              <a:t>欠損モデルマウスに</a:t>
            </a:r>
            <a:r>
              <a:rPr lang="en-US" altLang="ja-JP" dirty="0"/>
              <a:t>DCA</a:t>
            </a:r>
            <a:r>
              <a:rPr lang="ja-JP" altLang="en-US"/>
              <a:t>を投与</a:t>
            </a:r>
            <a:endParaRPr lang="en-US" altLang="ja-JP" dirty="0"/>
          </a:p>
          <a:p>
            <a:r>
              <a:rPr lang="ja-JP" altLang="en-US"/>
              <a:t>結果</a:t>
            </a:r>
            <a:endParaRPr lang="en-US" altLang="ja-JP" dirty="0"/>
          </a:p>
          <a:p>
            <a:pPr lvl="1"/>
            <a:r>
              <a:rPr lang="en-US" altLang="ja-JP" dirty="0"/>
              <a:t>AMI</a:t>
            </a:r>
            <a:r>
              <a:rPr lang="ja-JP" altLang="en-US"/>
              <a:t>患者の血漿中で</a:t>
            </a:r>
            <a:r>
              <a:rPr lang="en-US" altLang="ja-JP" dirty="0"/>
              <a:t>DCA</a:t>
            </a:r>
            <a:r>
              <a:rPr lang="ja-JP" altLang="en-US"/>
              <a:t>が大幅に減少</a:t>
            </a:r>
            <a:endParaRPr lang="en-US" altLang="ja-JP" dirty="0"/>
          </a:p>
          <a:p>
            <a:pPr lvl="1"/>
            <a:r>
              <a:rPr lang="en-US" altLang="ja-JP" dirty="0"/>
              <a:t>DCA</a:t>
            </a:r>
            <a:r>
              <a:rPr lang="ja-JP" altLang="en-US"/>
              <a:t>投与は心機能を改善</a:t>
            </a:r>
            <a:endParaRPr lang="en-US" altLang="ja-JP" dirty="0"/>
          </a:p>
          <a:p>
            <a:pPr lvl="1"/>
            <a:r>
              <a:rPr lang="ja-JP" altLang="en-US"/>
              <a:t>虚血傷害を軽減</a:t>
            </a:r>
            <a:endParaRPr lang="en-US" altLang="ja-JP" dirty="0"/>
          </a:p>
          <a:p>
            <a:pPr lvl="1"/>
            <a:r>
              <a:rPr lang="en-US" altLang="ja-JP" dirty="0"/>
              <a:t>DCA</a:t>
            </a:r>
            <a:r>
              <a:rPr lang="ja-JP" altLang="en-US"/>
              <a:t>の作用は</a:t>
            </a:r>
            <a:r>
              <a:rPr lang="en-US" altLang="ja-JP" dirty="0"/>
              <a:t>TGR5</a:t>
            </a:r>
            <a:r>
              <a:rPr lang="ja-JP" altLang="en-US"/>
              <a:t>との結合に依存</a:t>
            </a:r>
            <a:endParaRPr lang="en-US" altLang="ja-JP" dirty="0"/>
          </a:p>
          <a:p>
            <a:r>
              <a:rPr lang="ja-JP" altLang="en-US"/>
              <a:t>今後の展望</a:t>
            </a:r>
            <a:endParaRPr lang="en-US" altLang="ja-JP" dirty="0"/>
          </a:p>
          <a:p>
            <a:pPr lvl="1"/>
            <a:r>
              <a:rPr lang="ja-JP" altLang="en-US"/>
              <a:t>心筋梗塞における</a:t>
            </a:r>
            <a:r>
              <a:rPr lang="en-US" altLang="ja-JP" dirty="0"/>
              <a:t>DCA</a:t>
            </a:r>
            <a:r>
              <a:rPr lang="ja-JP" altLang="en-US"/>
              <a:t>の役割と機序の解明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pPr marL="457200" lvl="1" indent="0">
              <a:buNone/>
            </a:pPr>
            <a:endParaRPr kumimoji="1"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573968E-BF17-4017-AA59-5326CD607C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本研究について</a:t>
            </a:r>
          </a:p>
        </p:txBody>
      </p:sp>
    </p:spTree>
    <p:extLst>
      <p:ext uri="{BB962C8B-B14F-4D97-AF65-F5344CB8AC3E}">
        <p14:creationId xmlns:p14="http://schemas.microsoft.com/office/powerpoint/2010/main" val="3926375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D39589-B382-8F6E-9B93-DCB44F409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kumimoji="1" lang="en-US" altLang="ja-JP" dirty="0"/>
              <a:t>AMI</a:t>
            </a:r>
            <a:r>
              <a:rPr lang="ja-JP" altLang="en-US"/>
              <a:t>患者での血漿</a:t>
            </a:r>
            <a:r>
              <a:rPr lang="en-US" altLang="ja-JP" dirty="0"/>
              <a:t>DCA</a:t>
            </a:r>
            <a:r>
              <a:rPr lang="ja-JP" altLang="en-US"/>
              <a:t>濃度低下</a:t>
            </a:r>
            <a:endParaRPr lang="en-US" altLang="ja-JP" dirty="0"/>
          </a:p>
          <a:p>
            <a:pPr>
              <a:buFont typeface="+mj-lt"/>
              <a:buAutoNum type="arabicPeriod"/>
            </a:pPr>
            <a:r>
              <a:rPr lang="en-US" altLang="ja-JP" dirty="0"/>
              <a:t>DCA</a:t>
            </a:r>
            <a:r>
              <a:rPr lang="ja-JP" altLang="en-US"/>
              <a:t>処理による心臓傷害の軽減</a:t>
            </a:r>
            <a:endParaRPr lang="en-US" altLang="ja-JP" dirty="0"/>
          </a:p>
          <a:p>
            <a:pPr>
              <a:buFont typeface="+mj-lt"/>
              <a:buAutoNum type="arabicPeriod"/>
            </a:pPr>
            <a:r>
              <a:rPr lang="en-US" altLang="ja-JP" dirty="0"/>
              <a:t>DCA-TGR5</a:t>
            </a:r>
            <a:r>
              <a:rPr lang="ja-JP" altLang="en-US"/>
              <a:t>シグナル活性化による心臓虚血傷害の緩和、心臓リモデリングの改善</a:t>
            </a:r>
            <a:endParaRPr lang="en-US" altLang="ja-JP" dirty="0"/>
          </a:p>
          <a:p>
            <a:pPr>
              <a:buFont typeface="+mj-lt"/>
              <a:buAutoNum type="arabicPeriod"/>
            </a:pPr>
            <a:r>
              <a:rPr lang="en-US" altLang="ja-JP" dirty="0"/>
              <a:t>DCA</a:t>
            </a:r>
            <a:r>
              <a:rPr lang="ja-JP" altLang="en-US"/>
              <a:t>による心筋梗塞傷害由来心臓炎症反応の緩和</a:t>
            </a:r>
            <a:endParaRPr lang="en-US" altLang="ja-JP" dirty="0"/>
          </a:p>
          <a:p>
            <a:pPr>
              <a:buFont typeface="+mj-lt"/>
              <a:buAutoNum type="arabicPeriod"/>
            </a:pPr>
            <a:r>
              <a:rPr lang="en-US" altLang="ja-JP" dirty="0"/>
              <a:t>DCA-TGR5</a:t>
            </a:r>
            <a:r>
              <a:rPr lang="ja-JP" altLang="en-US"/>
              <a:t>シグナルによる心筋細胞、心線維芽細胞の炎症活性化抑制</a:t>
            </a:r>
            <a:endParaRPr lang="en-US" altLang="ja-JP" dirty="0"/>
          </a:p>
          <a:p>
            <a:pPr>
              <a:buFont typeface="+mj-lt"/>
              <a:buAutoNum type="arabicPeriod"/>
            </a:pPr>
            <a:r>
              <a:rPr lang="ja-JP" altLang="en-US"/>
              <a:t>心筋細胞と心線維芽細胞の共培養における</a:t>
            </a:r>
            <a:r>
              <a:rPr lang="en-US" altLang="ja-JP" dirty="0"/>
              <a:t>DCA-TGR5</a:t>
            </a:r>
            <a:r>
              <a:rPr lang="ja-JP" altLang="en-US"/>
              <a:t>の抗炎症作用</a:t>
            </a:r>
            <a:endParaRPr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CF62D48-9DB7-AC68-A7A5-41D0746345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ja-JP" dirty="0"/>
              <a:t>Fig</a:t>
            </a:r>
            <a:r>
              <a:rPr kumimoji="1" lang="ja-JP" altLang="en-US"/>
              <a:t>の流れ</a:t>
            </a:r>
          </a:p>
        </p:txBody>
      </p:sp>
    </p:spTree>
    <p:extLst>
      <p:ext uri="{BB962C8B-B14F-4D97-AF65-F5344CB8AC3E}">
        <p14:creationId xmlns:p14="http://schemas.microsoft.com/office/powerpoint/2010/main" val="2004923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3477E1-9593-8E75-6B0B-0A9FD7631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胆汁酸代謝物と心筋梗塞との関係を示唆</a:t>
            </a:r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2671F3B0-E03B-9962-F0C4-ADACE7A113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785401"/>
              </p:ext>
            </p:extLst>
          </p:nvPr>
        </p:nvGraphicFramePr>
        <p:xfrm>
          <a:off x="1167398" y="981319"/>
          <a:ext cx="9541751" cy="5040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8332">
                  <a:extLst>
                    <a:ext uri="{9D8B030D-6E8A-4147-A177-3AD203B41FA5}">
                      <a16:colId xmlns:a16="http://schemas.microsoft.com/office/drawing/2014/main" val="1209037796"/>
                    </a:ext>
                  </a:extLst>
                </a:gridCol>
                <a:gridCol w="1064859">
                  <a:extLst>
                    <a:ext uri="{9D8B030D-6E8A-4147-A177-3AD203B41FA5}">
                      <a16:colId xmlns:a16="http://schemas.microsoft.com/office/drawing/2014/main" val="3681555229"/>
                    </a:ext>
                  </a:extLst>
                </a:gridCol>
                <a:gridCol w="416021">
                  <a:extLst>
                    <a:ext uri="{9D8B030D-6E8A-4147-A177-3AD203B41FA5}">
                      <a16:colId xmlns:a16="http://schemas.microsoft.com/office/drawing/2014/main" val="1562961812"/>
                    </a:ext>
                  </a:extLst>
                </a:gridCol>
                <a:gridCol w="1041959">
                  <a:extLst>
                    <a:ext uri="{9D8B030D-6E8A-4147-A177-3AD203B41FA5}">
                      <a16:colId xmlns:a16="http://schemas.microsoft.com/office/drawing/2014/main" val="3255647150"/>
                    </a:ext>
                  </a:extLst>
                </a:gridCol>
                <a:gridCol w="1200352">
                  <a:extLst>
                    <a:ext uri="{9D8B030D-6E8A-4147-A177-3AD203B41FA5}">
                      <a16:colId xmlns:a16="http://schemas.microsoft.com/office/drawing/2014/main" val="673152041"/>
                    </a:ext>
                  </a:extLst>
                </a:gridCol>
                <a:gridCol w="417929">
                  <a:extLst>
                    <a:ext uri="{9D8B030D-6E8A-4147-A177-3AD203B41FA5}">
                      <a16:colId xmlns:a16="http://schemas.microsoft.com/office/drawing/2014/main" val="1079311705"/>
                    </a:ext>
                  </a:extLst>
                </a:gridCol>
                <a:gridCol w="1118293">
                  <a:extLst>
                    <a:ext uri="{9D8B030D-6E8A-4147-A177-3AD203B41FA5}">
                      <a16:colId xmlns:a16="http://schemas.microsoft.com/office/drawing/2014/main" val="542061882"/>
                    </a:ext>
                  </a:extLst>
                </a:gridCol>
                <a:gridCol w="1624006">
                  <a:extLst>
                    <a:ext uri="{9D8B030D-6E8A-4147-A177-3AD203B41FA5}">
                      <a16:colId xmlns:a16="http://schemas.microsoft.com/office/drawing/2014/main" val="435876529"/>
                    </a:ext>
                  </a:extLst>
                </a:gridCol>
              </a:tblGrid>
              <a:tr h="3360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b="1" kern="100" dirty="0">
                          <a:solidFill>
                            <a:schemeClr val="bg1"/>
                          </a:solidFill>
                          <a:effectLst/>
                          <a:latin typeface="Avenir Book" panose="02000503020000020003" pitchFamily="2" charset="0"/>
                        </a:rPr>
                        <a:t>Metabolites (ng/mL)</a:t>
                      </a:r>
                      <a:endParaRPr lang="ja-JP" sz="1600" b="1" kern="100">
                        <a:solidFill>
                          <a:schemeClr val="bg1"/>
                        </a:solidFill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b="1" kern="100" dirty="0">
                          <a:solidFill>
                            <a:schemeClr val="bg1"/>
                          </a:solidFill>
                          <a:effectLst/>
                          <a:latin typeface="Avenir Book" panose="02000503020000020003" pitchFamily="2" charset="0"/>
                        </a:rPr>
                        <a:t>ctrl (n=33)</a:t>
                      </a:r>
                      <a:endParaRPr lang="ja-JP" sz="1600" b="1" kern="100">
                        <a:solidFill>
                          <a:schemeClr val="bg1"/>
                        </a:solidFill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b="1" kern="100" dirty="0">
                          <a:solidFill>
                            <a:schemeClr val="bg1"/>
                          </a:solidFill>
                          <a:effectLst/>
                          <a:latin typeface="Avenir Book" panose="02000503020000020003" pitchFamily="2" charset="0"/>
                        </a:rPr>
                        <a:t>AMI (n=69)</a:t>
                      </a:r>
                      <a:endParaRPr lang="ja-JP" sz="1600" b="1" kern="100">
                        <a:solidFill>
                          <a:schemeClr val="bg1"/>
                        </a:solidFill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b="1" kern="100" dirty="0">
                          <a:solidFill>
                            <a:schemeClr val="bg1"/>
                          </a:solidFill>
                          <a:effectLst/>
                          <a:latin typeface="Avenir Book" panose="02000503020000020003" pitchFamily="2" charset="0"/>
                        </a:rPr>
                        <a:t>P value</a:t>
                      </a:r>
                      <a:endParaRPr lang="ja-JP" sz="1600" b="1" kern="100">
                        <a:solidFill>
                          <a:schemeClr val="bg1"/>
                        </a:solidFill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586098"/>
                  </a:ext>
                </a:extLst>
              </a:tr>
              <a:tr h="33602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GCDCA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616.9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>
                          <a:effectLst/>
                          <a:latin typeface="Avenir Book" panose="02000503020000020003" pitchFamily="2" charset="0"/>
                        </a:rPr>
                        <a:t>71.6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496.7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49.4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0.1734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43571"/>
                  </a:ext>
                </a:extLst>
              </a:tr>
              <a:tr h="33602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DCA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173.4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22.2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91.1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12.6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0.0008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126918"/>
                  </a:ext>
                </a:extLst>
              </a:tr>
              <a:tr h="33602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GUDCA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129.9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24.0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62.7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8.3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0.0014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574063"/>
                  </a:ext>
                </a:extLst>
              </a:tr>
              <a:tr h="33602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GCA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125.5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18.2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102.5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1" kern="100">
                          <a:effectLst/>
                          <a:latin typeface="Avenir Book" panose="02000503020000020003" pitchFamily="2" charset="0"/>
                        </a:rPr>
                        <a:t>13.3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>
                          <a:effectLst/>
                          <a:latin typeface="Avenir Book" panose="02000503020000020003" pitchFamily="2" charset="0"/>
                        </a:rPr>
                        <a:t>0.3165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451959"/>
                  </a:ext>
                </a:extLst>
              </a:tr>
              <a:tr h="33602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GDCA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121.6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21.4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145.5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21.7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>
                          <a:effectLst/>
                          <a:latin typeface="Avenir Book" panose="02000503020000020003" pitchFamily="2" charset="0"/>
                        </a:rPr>
                        <a:t>0.4949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481461"/>
                  </a:ext>
                </a:extLst>
              </a:tr>
              <a:tr h="33602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THDCA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89.2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15.5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58.9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1" kern="100">
                          <a:effectLst/>
                          <a:latin typeface="Avenir Book" panose="02000503020000020003" pitchFamily="2" charset="0"/>
                        </a:rPr>
                        <a:t>8.3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>
                          <a:effectLst/>
                          <a:latin typeface="Avenir Book" panose="02000503020000020003" pitchFamily="2" charset="0"/>
                        </a:rPr>
                        <a:t>0.0880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192992"/>
                  </a:ext>
                </a:extLst>
              </a:tr>
              <a:tr h="33602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CDCA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73.1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17.8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75.8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1" kern="100">
                          <a:effectLst/>
                          <a:latin typeface="Avenir Book" panose="02000503020000020003" pitchFamily="2" charset="0"/>
                        </a:rPr>
                        <a:t>13.4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>
                          <a:effectLst/>
                          <a:latin typeface="Avenir Book" panose="02000503020000020003" pitchFamily="2" charset="0"/>
                        </a:rPr>
                        <a:t>0.9076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643516"/>
                  </a:ext>
                </a:extLst>
              </a:tr>
              <a:tr h="33602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UDCA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44.4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7.2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22.9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4.2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0.0072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003251"/>
                  </a:ext>
                </a:extLst>
              </a:tr>
              <a:tr h="33602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CA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44.2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8.9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29.9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5.2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>
                          <a:effectLst/>
                          <a:latin typeface="Avenir Book" panose="02000503020000020003" pitchFamily="2" charset="0"/>
                        </a:rPr>
                        <a:t>0.1491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517841"/>
                  </a:ext>
                </a:extLst>
              </a:tr>
              <a:tr h="33602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TCA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14.4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1.8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11.3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1.8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>
                          <a:effectLst/>
                          <a:latin typeface="Avenir Book" panose="02000503020000020003" pitchFamily="2" charset="0"/>
                        </a:rPr>
                        <a:t>0.2746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218792"/>
                  </a:ext>
                </a:extLst>
              </a:tr>
              <a:tr h="33602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TDCA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10.8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2.2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19.6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3.4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0.0836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400216"/>
                  </a:ext>
                </a:extLst>
              </a:tr>
              <a:tr h="33602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LCA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2.9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0.5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2.4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0.3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0.3050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481216"/>
                  </a:ext>
                </a:extLst>
              </a:tr>
              <a:tr h="33602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TUDCA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2.4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0.5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1.6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0.3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0.1716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549091"/>
                  </a:ext>
                </a:extLst>
              </a:tr>
              <a:tr h="33602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TLCA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1.9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0.4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2.4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±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0.4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kern="100" dirty="0">
                          <a:effectLst/>
                          <a:latin typeface="Avenir Book" panose="02000503020000020003" pitchFamily="2" charset="0"/>
                        </a:rPr>
                        <a:t>0.4485</a:t>
                      </a:r>
                      <a:endParaRPr lang="ja-JP" sz="1200" b="1" kern="100">
                        <a:effectLst/>
                        <a:latin typeface="Avenir Book" panose="02000503020000020003" pitchFamily="2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728" marR="6772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328302"/>
                  </a:ext>
                </a:extLst>
              </a:tr>
            </a:tbl>
          </a:graphicData>
        </a:graphic>
      </p:graphicFrame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73C9167-7AE9-38A0-69D3-AC448643EF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ja-JP" dirty="0"/>
              <a:t>Fig1. AMI</a:t>
            </a:r>
            <a:r>
              <a:rPr kumimoji="1" lang="ja-JP" altLang="en-US"/>
              <a:t>患者での血漿</a:t>
            </a:r>
            <a:r>
              <a:rPr kumimoji="1" lang="en-US" altLang="ja-JP" dirty="0"/>
              <a:t>DCA</a:t>
            </a:r>
            <a:r>
              <a:rPr kumimoji="1" lang="ja-JP" altLang="en-US"/>
              <a:t>濃度</a:t>
            </a:r>
          </a:p>
        </p:txBody>
      </p:sp>
    </p:spTree>
    <p:extLst>
      <p:ext uri="{BB962C8B-B14F-4D97-AF65-F5344CB8AC3E}">
        <p14:creationId xmlns:p14="http://schemas.microsoft.com/office/powerpoint/2010/main" val="2408321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6F0535-4030-4C35-945F-92B4531071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" altLang="ja-JP" sz="3200" i="0" dirty="0">
                <a:effectLst/>
                <a:latin typeface="+mj-ea"/>
                <a:ea typeface="+mj-ea"/>
              </a:rPr>
              <a:t>Chemical exploration of TGR5 functional hot-spots: Synthesis and structure-activity relationships of C7- and C23-Substituted cholic acid derivatives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2FD679A-CDD2-4005-984B-113143E13B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中村</a:t>
            </a:r>
            <a:r>
              <a:rPr kumimoji="1" lang="en-US" altLang="ja-JP" dirty="0"/>
              <a:t> </a:t>
            </a:r>
            <a:r>
              <a:rPr kumimoji="1" lang="ja-JP" altLang="en-US"/>
              <a:t>優作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7B2A5E6-B11B-4CED-B03E-250BCC2703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名古屋大学</a:t>
            </a:r>
            <a:r>
              <a:rPr kumimoji="1" lang="en-US" altLang="ja-JP" dirty="0"/>
              <a:t> </a:t>
            </a:r>
            <a:r>
              <a:rPr kumimoji="1" lang="ja-JP" altLang="en-US"/>
              <a:t>生命分子工学専攻</a:t>
            </a:r>
            <a:r>
              <a:rPr lang="en-US" altLang="ja-JP" dirty="0"/>
              <a:t> </a:t>
            </a:r>
            <a:r>
              <a:rPr lang="ja-JP" altLang="en-US"/>
              <a:t>本多研究室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08FD74-8A95-4CC4-8A3E-A416E77C6F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49478" y="152399"/>
            <a:ext cx="3764721" cy="378541"/>
          </a:xfrm>
        </p:spPr>
        <p:txBody>
          <a:bodyPr/>
          <a:lstStyle/>
          <a:p>
            <a:pPr algn="r"/>
            <a:r>
              <a:rPr lang="en-US" altLang="ja-JP" dirty="0"/>
              <a:t>2024/05/15 </a:t>
            </a:r>
            <a:r>
              <a:rPr lang="ja-JP" altLang="en-US"/>
              <a:t>ランチョン</a:t>
            </a:r>
            <a:r>
              <a:rPr lang="en-US" altLang="ja-JP" dirty="0"/>
              <a:t> 2</a:t>
            </a:r>
            <a:r>
              <a:rPr lang="ja-JP" altLang="en-US"/>
              <a:t>報目</a:t>
            </a:r>
            <a:endParaRPr kumimoji="1" lang="ja-JP" altLang="en-US" dirty="0"/>
          </a:p>
        </p:txBody>
      </p:sp>
      <p:pic>
        <p:nvPicPr>
          <p:cNvPr id="7" name="図プレースホルダー 6" descr="ダイアグラム, マップ&#10;&#10;自動的に生成された説明">
            <a:extLst>
              <a:ext uri="{FF2B5EF4-FFF2-40B4-BE49-F238E27FC236}">
                <a16:creationId xmlns:a16="http://schemas.microsoft.com/office/drawing/2014/main" id="{8C78CA89-F714-7C71-3D3B-379113A2391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548" y="765845"/>
            <a:ext cx="8692879" cy="218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074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F1D4701-E957-5FB2-56B0-488881B8B2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/>
              <a:t>イントロ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9B5A3F87-74E8-EB89-1617-FE8B79818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038483"/>
            <a:ext cx="11099800" cy="5653629"/>
          </a:xfrm>
        </p:spPr>
        <p:txBody>
          <a:bodyPr>
            <a:normAutofit/>
          </a:bodyPr>
          <a:lstStyle/>
          <a:p>
            <a:r>
              <a:rPr kumimoji="1" lang="en-US" altLang="ja-JP" dirty="0">
                <a:solidFill>
                  <a:schemeClr val="accent4"/>
                </a:solidFill>
              </a:rPr>
              <a:t>TGR5</a:t>
            </a:r>
            <a:r>
              <a:rPr kumimoji="1" lang="ja-JP" altLang="en-US">
                <a:solidFill>
                  <a:schemeClr val="accent4"/>
                </a:solidFill>
              </a:rPr>
              <a:t>アゴニスト</a:t>
            </a:r>
            <a:endParaRPr kumimoji="1" lang="en-US" altLang="ja-JP" dirty="0">
              <a:solidFill>
                <a:schemeClr val="accent4"/>
              </a:solidFill>
            </a:endParaRPr>
          </a:p>
          <a:p>
            <a:pPr lvl="1"/>
            <a:r>
              <a:rPr lang="en" altLang="ja-JP" b="1" dirty="0"/>
              <a:t>TGR5</a:t>
            </a:r>
            <a:r>
              <a:rPr lang="ja-JP" altLang="en-US" b="1"/>
              <a:t>の活性化は抗炎症作用などの生理学的機能をもたらす</a:t>
            </a:r>
            <a:endParaRPr lang="en-US" altLang="ja-JP" b="1" dirty="0"/>
          </a:p>
          <a:p>
            <a:pPr lvl="1"/>
            <a:r>
              <a:rPr lang="en" altLang="ja-JP" b="1" dirty="0"/>
              <a:t>TGR5</a:t>
            </a:r>
            <a:r>
              <a:rPr lang="ja-JP" altLang="en-US" b="1"/>
              <a:t>アゴニストは肝疾患やメタボリックシンドロームの治療薬として有望な化合物</a:t>
            </a:r>
            <a:endParaRPr lang="en-US" altLang="ja-JP" b="1" dirty="0"/>
          </a:p>
          <a:p>
            <a:pPr lvl="1"/>
            <a:r>
              <a:rPr lang="en-US" altLang="ja-JP" b="1" dirty="0"/>
              <a:t>CA</a:t>
            </a:r>
            <a:r>
              <a:rPr lang="ja-JP" altLang="en-US" b="1"/>
              <a:t>の</a:t>
            </a:r>
            <a:r>
              <a:rPr lang="en-US" altLang="ja-JP" b="1" dirty="0"/>
              <a:t>C6, C7, C23</a:t>
            </a:r>
            <a:r>
              <a:rPr lang="ja-JP" altLang="en-US" b="1"/>
              <a:t>位を化学修飾した構造のアゴニストがある</a:t>
            </a:r>
            <a:endParaRPr lang="en-US" altLang="ja-JP" b="1" dirty="0"/>
          </a:p>
          <a:p>
            <a:pPr lvl="1"/>
            <a:endParaRPr lang="en-US" altLang="ja-JP" b="1" dirty="0"/>
          </a:p>
          <a:p>
            <a:pPr marL="457200" lvl="1" indent="0">
              <a:buNone/>
            </a:pPr>
            <a:endParaRPr lang="en-US" altLang="ja-JP" b="1" dirty="0"/>
          </a:p>
          <a:p>
            <a:pPr marL="457200" lvl="1" indent="0">
              <a:buNone/>
            </a:pPr>
            <a:endParaRPr lang="en-US" altLang="ja-JP" b="1" dirty="0"/>
          </a:p>
          <a:p>
            <a:pPr marL="457200" lvl="1" indent="0">
              <a:buNone/>
            </a:pPr>
            <a:endParaRPr lang="en-US" altLang="ja-JP" b="1" dirty="0"/>
          </a:p>
          <a:p>
            <a:pPr marL="457200" lvl="1" indent="0">
              <a:buNone/>
            </a:pPr>
            <a:endParaRPr lang="en-US" altLang="ja-JP" b="1" dirty="0"/>
          </a:p>
          <a:p>
            <a:pPr marL="457200" lvl="1" indent="0">
              <a:buNone/>
            </a:pPr>
            <a:endParaRPr lang="en-US" altLang="ja-JP" b="1" dirty="0"/>
          </a:p>
          <a:p>
            <a:pPr marL="457200" lvl="1" indent="0">
              <a:buNone/>
            </a:pPr>
            <a:endParaRPr lang="en-US" altLang="ja-JP" b="1" dirty="0"/>
          </a:p>
          <a:p>
            <a:pPr marL="457200" lvl="1" indent="0">
              <a:buNone/>
            </a:pPr>
            <a:endParaRPr lang="en-US" altLang="ja-JP" b="1" dirty="0"/>
          </a:p>
          <a:p>
            <a:r>
              <a:rPr kumimoji="1" lang="ja-JP" altLang="en-US"/>
              <a:t>課題</a:t>
            </a:r>
            <a:endParaRPr kumimoji="1" lang="en-US" altLang="ja-JP" dirty="0"/>
          </a:p>
          <a:p>
            <a:pPr lvl="1"/>
            <a:r>
              <a:rPr lang="ja-JP" altLang="en-US"/>
              <a:t>胆嚢充満、心拍数の変化などの副作用がある</a:t>
            </a:r>
            <a:endParaRPr kumimoji="1" lang="en-US" altLang="ja-JP" dirty="0"/>
          </a:p>
          <a:p>
            <a:r>
              <a:rPr kumimoji="1" lang="ja-JP" altLang="en-US"/>
              <a:t>目的</a:t>
            </a:r>
            <a:endParaRPr kumimoji="1" lang="en-US" altLang="ja-JP" dirty="0"/>
          </a:p>
          <a:p>
            <a:pPr lvl="1"/>
            <a:r>
              <a:rPr lang="ja-JP" altLang="en-US"/>
              <a:t>強力で選択的な</a:t>
            </a:r>
            <a:r>
              <a:rPr lang="en-US" altLang="ja-JP" dirty="0"/>
              <a:t>TGR5</a:t>
            </a:r>
            <a:r>
              <a:rPr lang="ja-JP" altLang="en-US"/>
              <a:t>アゴニストの発見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pPr marL="457200" lvl="1" indent="0">
              <a:buNone/>
            </a:pPr>
            <a:endParaRPr kumimoji="1" lang="en-US" altLang="ja-JP" dirty="0"/>
          </a:p>
        </p:txBody>
      </p:sp>
      <p:pic>
        <p:nvPicPr>
          <p:cNvPr id="9" name="図 8" descr="ダイアグラム&#10;&#10;自動的に生成された説明">
            <a:extLst>
              <a:ext uri="{FF2B5EF4-FFF2-40B4-BE49-F238E27FC236}">
                <a16:creationId xmlns:a16="http://schemas.microsoft.com/office/drawing/2014/main" id="{1F48C06E-3F2C-7DD7-1E0F-88EE8F619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074" y="2564557"/>
            <a:ext cx="7772400" cy="207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949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AA96A0D-C8D4-D0C2-567B-24E18304EB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ja-JP" dirty="0"/>
              <a:t>TGR5</a:t>
            </a:r>
            <a:r>
              <a:rPr kumimoji="1" lang="ja-JP" altLang="en-US"/>
              <a:t>の機能的ホットスポット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E5EC5CD-AAA6-BBB4-115F-42DE419C08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087" y="1183318"/>
            <a:ext cx="6147825" cy="5326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060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05B51C-F63C-B765-7C6E-85C3EB7D0A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ja-JP" dirty="0"/>
              <a:t>TGR5</a:t>
            </a:r>
            <a:r>
              <a:rPr kumimoji="1" lang="ja-JP" altLang="en-US"/>
              <a:t>アゴニストのデザイン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F03E61A7-1D88-17D9-18B9-06599152E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胆汁酸の</a:t>
            </a:r>
            <a:r>
              <a:rPr kumimoji="1" lang="en-US" altLang="ja-JP" dirty="0"/>
              <a:t>C7</a:t>
            </a:r>
            <a:r>
              <a:rPr kumimoji="1" lang="ja-JP" altLang="en-US"/>
              <a:t>と</a:t>
            </a:r>
            <a:r>
              <a:rPr kumimoji="1" lang="en-US" altLang="ja-JP" dirty="0"/>
              <a:t>C23</a:t>
            </a:r>
            <a:r>
              <a:rPr kumimoji="1" lang="ja-JP" altLang="en-US"/>
              <a:t>位の置換基の効果を調べる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sz="1800" b="0" dirty="0"/>
              <a:t>L166, V170, L244</a:t>
            </a:r>
            <a:r>
              <a:rPr lang="ja-JP" altLang="en-US" sz="1800" b="0"/>
              <a:t>と相互作用できる多様な化学部位を挿入して</a:t>
            </a:r>
            <a:r>
              <a:rPr lang="en-US" altLang="ja-JP" sz="1800" b="0" dirty="0"/>
              <a:t>BA</a:t>
            </a:r>
            <a:r>
              <a:rPr lang="ja-JP" altLang="en-US" sz="1800" b="0"/>
              <a:t>誘導体を設計、試験</a:t>
            </a:r>
            <a:endParaRPr lang="en-US" altLang="ja-JP" sz="1800" b="0" dirty="0"/>
          </a:p>
          <a:p>
            <a:pPr marL="0" indent="0">
              <a:buNone/>
            </a:pPr>
            <a:r>
              <a:rPr kumimoji="1" lang="ja-JP" altLang="en-US" sz="1800" b="0"/>
              <a:t>また、</a:t>
            </a:r>
            <a:r>
              <a:rPr kumimoji="1" lang="en-US" altLang="ja-JP" sz="1800" b="0" dirty="0"/>
              <a:t>C7, C23</a:t>
            </a:r>
            <a:r>
              <a:rPr lang="ja-JP" altLang="en-US" sz="1800" b="0"/>
              <a:t>のそれぞれで最も優れた活性剤の</a:t>
            </a:r>
            <a:r>
              <a:rPr lang="en-US" altLang="ja-JP" sz="1800" b="0" dirty="0"/>
              <a:t>6α-</a:t>
            </a:r>
            <a:r>
              <a:rPr lang="ja-JP" altLang="en-US" sz="1800" b="0"/>
              <a:t>エチル誘導体も調整、試験</a:t>
            </a:r>
            <a:endParaRPr kumimoji="1" lang="ja-JP" altLang="en-US" sz="1800" b="0"/>
          </a:p>
        </p:txBody>
      </p:sp>
      <p:pic>
        <p:nvPicPr>
          <p:cNvPr id="7" name="図 6" descr="ダイアグラム&#10;&#10;自動的に生成された説明">
            <a:extLst>
              <a:ext uri="{FF2B5EF4-FFF2-40B4-BE49-F238E27FC236}">
                <a16:creationId xmlns:a16="http://schemas.microsoft.com/office/drawing/2014/main" id="{C34E3C0A-F07A-0F6C-E659-0FDDCA0D3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" y="3157289"/>
            <a:ext cx="11099584" cy="315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92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9ABA476-28C1-EDAD-EA14-B081294CB5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ja-JP" b="1" dirty="0"/>
              <a:t>C7</a:t>
            </a:r>
            <a:r>
              <a:rPr lang="ja-JP" altLang="en-US" b="1"/>
              <a:t>位置換基の検討</a:t>
            </a:r>
            <a:endParaRPr kumimoji="1" lang="ja-JP" altLang="en-US"/>
          </a:p>
        </p:txBody>
      </p:sp>
      <p:pic>
        <p:nvPicPr>
          <p:cNvPr id="14" name="コンテンツ プレースホルダー 13" descr="テーブル&#10;&#10;自動的に生成された説明">
            <a:extLst>
              <a:ext uri="{FF2B5EF4-FFF2-40B4-BE49-F238E27FC236}">
                <a16:creationId xmlns:a16="http://schemas.microsoft.com/office/drawing/2014/main" id="{82811752-19B8-5568-101C-5660F847B1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903" y="1002535"/>
            <a:ext cx="5974676" cy="2854794"/>
          </a:xfrm>
        </p:spPr>
      </p:pic>
      <p:pic>
        <p:nvPicPr>
          <p:cNvPr id="16" name="図 15" descr="テーブル&#10;&#10;自動的に生成された説明">
            <a:extLst>
              <a:ext uri="{FF2B5EF4-FFF2-40B4-BE49-F238E27FC236}">
                <a16:creationId xmlns:a16="http://schemas.microsoft.com/office/drawing/2014/main" id="{01F07F3E-D920-572C-2EC9-0B732E977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903" y="4041739"/>
            <a:ext cx="5994741" cy="261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849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9ABA476-28C1-EDAD-EA14-B081294CB5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ja-JP" b="1" dirty="0"/>
              <a:t>C23</a:t>
            </a:r>
            <a:r>
              <a:rPr lang="ja-JP" altLang="en-US" b="1"/>
              <a:t>位置換基の検討</a:t>
            </a:r>
            <a:endParaRPr kumimoji="1" lang="ja-JP" altLang="en-US"/>
          </a:p>
          <a:p>
            <a:endParaRPr kumimoji="1" lang="ja-JP" altLang="en-US"/>
          </a:p>
        </p:txBody>
      </p:sp>
      <p:pic>
        <p:nvPicPr>
          <p:cNvPr id="14" name="コンテンツ プレースホルダー 13" descr="テーブル&#10;&#10;自動的に生成された説明">
            <a:extLst>
              <a:ext uri="{FF2B5EF4-FFF2-40B4-BE49-F238E27FC236}">
                <a16:creationId xmlns:a16="http://schemas.microsoft.com/office/drawing/2014/main" id="{82811752-19B8-5568-101C-5660F847B1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50" y="2351060"/>
            <a:ext cx="4511946" cy="2155879"/>
          </a:xfrm>
        </p:spPr>
      </p:pic>
      <p:pic>
        <p:nvPicPr>
          <p:cNvPr id="2" name="図 1" descr="テーブル&#10;&#10;自動的に生成された説明">
            <a:extLst>
              <a:ext uri="{FF2B5EF4-FFF2-40B4-BE49-F238E27FC236}">
                <a16:creationId xmlns:a16="http://schemas.microsoft.com/office/drawing/2014/main" id="{99869A3E-63B3-E3AD-647B-9DB14E8DD5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223" y="1297208"/>
            <a:ext cx="6248751" cy="499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842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9ABA476-28C1-EDAD-EA14-B081294CB5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ja-JP" b="1" dirty="0"/>
              <a:t>C6</a:t>
            </a:r>
            <a:r>
              <a:rPr lang="ja-JP" altLang="en-US" b="1"/>
              <a:t>位エチル基の検討</a:t>
            </a:r>
            <a:endParaRPr kumimoji="1" lang="ja-JP" altLang="en-US"/>
          </a:p>
          <a:p>
            <a:endParaRPr kumimoji="1" lang="ja-JP" altLang="en-US"/>
          </a:p>
        </p:txBody>
      </p:sp>
      <p:pic>
        <p:nvPicPr>
          <p:cNvPr id="14" name="コンテンツ プレースホルダー 13" descr="テーブル&#10;&#10;自動的に生成された説明">
            <a:extLst>
              <a:ext uri="{FF2B5EF4-FFF2-40B4-BE49-F238E27FC236}">
                <a16:creationId xmlns:a16="http://schemas.microsoft.com/office/drawing/2014/main" id="{82811752-19B8-5568-101C-5660F847B1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205" y="993830"/>
            <a:ext cx="7055589" cy="3371271"/>
          </a:xfr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67C55F7-054B-380A-BE12-13DF7A31B4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205" y="4525105"/>
            <a:ext cx="7055589" cy="40937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63A61708-EBD0-6D55-DBA3-3EBB4AAF9D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205" y="4934475"/>
            <a:ext cx="7055589" cy="409369"/>
          </a:xfrm>
          <a:prstGeom prst="rect">
            <a:avLst/>
          </a:prstGeom>
        </p:spPr>
      </p:pic>
      <p:pic>
        <p:nvPicPr>
          <p:cNvPr id="10" name="図 9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C3ADCB3F-13E4-F93E-205C-2E4DA7CF3E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204" y="5509998"/>
            <a:ext cx="7054191" cy="89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505317"/>
      </p:ext>
    </p:extLst>
  </p:cSld>
  <p:clrMapOvr>
    <a:masterClrMapping/>
  </p:clrMapOvr>
</p:sld>
</file>

<file path=ppt/theme/theme1.xml><?xml version="1.0" encoding="utf-8"?>
<a:theme xmlns:a="http://schemas.openxmlformats.org/drawingml/2006/main" name="研究発表スライドマスタ">
  <a:themeElements>
    <a:clrScheme name="ユーザー定義 8">
      <a:dk1>
        <a:srgbClr val="4D4D4D"/>
      </a:dk1>
      <a:lt1>
        <a:srgbClr val="F8F8F8"/>
      </a:lt1>
      <a:dk2>
        <a:srgbClr val="7F7F7F"/>
      </a:dk2>
      <a:lt2>
        <a:srgbClr val="B2B2B2"/>
      </a:lt2>
      <a:accent1>
        <a:srgbClr val="2E5B96"/>
      </a:accent1>
      <a:accent2>
        <a:srgbClr val="C03936"/>
      </a:accent2>
      <a:accent3>
        <a:srgbClr val="ED7D31"/>
      </a:accent3>
      <a:accent4>
        <a:srgbClr val="3E9288"/>
      </a:accent4>
      <a:accent5>
        <a:srgbClr val="4747C1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ンプレート" id="{C36DDFBE-2617-C04C-9453-0179DC134B9E}" vid="{77943A8D-9CC8-A648-86C8-297ABC15E614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7783413B678BA4F83764129A5DB4607" ma:contentTypeVersion="0" ma:contentTypeDescription="新しいドキュメントを作成します。" ma:contentTypeScope="" ma:versionID="36bbfa3e05015206d9e02241ed477da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fa5fc393d419cfd9816b88a984ff78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74453E-F96D-478A-A3EE-1788D5BEB2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EFD21F3-24CC-4605-A5CE-D678D2531A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33ED81-A378-482E-B710-0D21A32023B2}">
  <ds:schemaRefs>
    <ds:schemaRef ds:uri="http://www.w3.org/XML/1998/namespace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研究発表スライドマスタ</Template>
  <TotalTime>4102</TotalTime>
  <Words>671</Words>
  <Application>Microsoft Macintosh PowerPoint</Application>
  <PresentationFormat>ワイド画面</PresentationFormat>
  <Paragraphs>191</Paragraphs>
  <Slides>12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9" baseType="lpstr">
      <vt:lpstr>游ゴシック</vt:lpstr>
      <vt:lpstr>游ゴシック Medium</vt:lpstr>
      <vt:lpstr>Arial</vt:lpstr>
      <vt:lpstr>Avenir Book</vt:lpstr>
      <vt:lpstr>Segoe UI</vt:lpstr>
      <vt:lpstr>Wingdings</vt:lpstr>
      <vt:lpstr>研究発表スライドマスタ</vt:lpstr>
      <vt:lpstr>DCA-TGR5 signaling activation alleviates inflammatory response and improves cardiac function in myocardial infarction</vt:lpstr>
      <vt:lpstr>仮説：胆汁酸-TGR5シグナルが心筋梗塞の炎症制御、予後改善する</vt:lpstr>
      <vt:lpstr>PowerPoint プレゼンテーション</vt:lpstr>
      <vt:lpstr>PowerPoint プレゼンテーション</vt:lpstr>
      <vt:lpstr>胆汁酸代謝物と心筋梗塞との関係を示唆</vt:lpstr>
      <vt:lpstr>Chemical exploration of TGR5 functional hot-spots: Synthesis and structure-activity relationships of C7- and C23-Substituted cholic acid derivatives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DCA-TGR5 signaling activation alleviates inflammatory response and improves cardiac function in myocardial infarction</dc:title>
  <dc:creator>NAKAMURA Yusaku</dc:creator>
  <cp:lastModifiedBy>NAKAMURA Yusaku</cp:lastModifiedBy>
  <cp:revision>3</cp:revision>
  <dcterms:created xsi:type="dcterms:W3CDTF">2024-05-12T05:04:07Z</dcterms:created>
  <dcterms:modified xsi:type="dcterms:W3CDTF">2024-05-15T01:27:05Z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0x010100E7783413B678BA4F83764129A5DB4607</vt:lpwstr>
  </property>
</Properties>
</file>