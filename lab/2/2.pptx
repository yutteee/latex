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6" r:id="rId5"/>
    <p:sldId id="306" r:id="rId6"/>
    <p:sldId id="295" r:id="rId7"/>
    <p:sldId id="298" r:id="rId8"/>
    <p:sldId id="304" r:id="rId9"/>
    <p:sldId id="300" r:id="rId10"/>
    <p:sldId id="302" r:id="rId11"/>
    <p:sldId id="301" r:id="rId12"/>
    <p:sldId id="30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 autoAdjust="0"/>
    <p:restoredTop sz="88457"/>
  </p:normalViewPr>
  <p:slideViewPr>
    <p:cSldViewPr snapToGrid="0">
      <p:cViewPr varScale="1">
        <p:scale>
          <a:sx n="142" d="100"/>
          <a:sy n="142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2/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2/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D40-D14B-B717-BF4C0CD55BC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40-D14B-B717-BF4C0CD55BC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40-D14B-B717-BF4C0CD55BC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D40-D14B-B717-BF4C0CD55BC4}"/>
              </c:ext>
            </c:extLst>
          </c:dPt>
          <c:errBars>
            <c:errBarType val="both"/>
            <c:errValType val="cust"/>
            <c:noEndCap val="0"/>
            <c:plus>
              <c:numRef>
                <c:f>Sheet1!$B$45:$E$45</c:f>
                <c:numCache>
                  <c:formatCode>General</c:formatCode>
                  <c:ptCount val="4"/>
                  <c:pt idx="1">
                    <c:v>5.0000000000000044E-3</c:v>
                  </c:pt>
                  <c:pt idx="3">
                    <c:v>9.0000000000000011E-3</c:v>
                  </c:pt>
                </c:numCache>
              </c:numRef>
            </c:plus>
            <c:minus>
              <c:numRef>
                <c:f>Sheet1!$B$45:$E$45</c:f>
                <c:numCache>
                  <c:formatCode>General</c:formatCode>
                  <c:ptCount val="4"/>
                  <c:pt idx="1">
                    <c:v>5.0000000000000044E-3</c:v>
                  </c:pt>
                  <c:pt idx="3">
                    <c:v>9.0000000000000011E-3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/>
                </a:solidFill>
                <a:round/>
              </a:ln>
              <a:effectLst/>
            </c:spPr>
          </c:errBars>
          <c:val>
            <c:numRef>
              <c:f>Sheet1!$B$44:$E$44</c:f>
              <c:numCache>
                <c:formatCode>General</c:formatCode>
                <c:ptCount val="4"/>
                <c:pt idx="0">
                  <c:v>5.0999999999999997E-2</c:v>
                </c:pt>
                <c:pt idx="1">
                  <c:v>0.14799999999999999</c:v>
                </c:pt>
                <c:pt idx="2">
                  <c:v>4.8000000000000001E-2</c:v>
                </c:pt>
                <c:pt idx="3">
                  <c:v>9.6000000000000002E-2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40-D14B-B717-BF4C0CD55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6921535"/>
        <c:axId val="216923247"/>
      </c:barChart>
      <c:catAx>
        <c:axId val="2169215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216923247"/>
        <c:crosses val="autoZero"/>
        <c:auto val="1"/>
        <c:lblAlgn val="ctr"/>
        <c:lblOffset val="100"/>
        <c:noMultiLvlLbl val="0"/>
      </c:catAx>
      <c:valAx>
        <c:axId val="21692324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600" b="1"/>
                  <a:t>Absorbance [-]</a:t>
                </a:r>
                <a:endParaRPr lang="ja-JP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216921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04-394D-8EC8-65089B48B89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004-394D-8EC8-65089B48B895}"/>
              </c:ext>
            </c:extLst>
          </c:dPt>
          <c:errBars>
            <c:errBarType val="both"/>
            <c:errValType val="cust"/>
            <c:noEndCap val="0"/>
            <c:plus>
              <c:numRef>
                <c:f>Sheet1!$B$47:$E$47</c:f>
                <c:numCache>
                  <c:formatCode>General</c:formatCode>
                  <c:ptCount val="4"/>
                  <c:pt idx="1">
                    <c:v>63023.584905660333</c:v>
                  </c:pt>
                  <c:pt idx="3">
                    <c:v>273944.82758620707</c:v>
                  </c:pt>
                </c:numCache>
              </c:numRef>
            </c:plus>
            <c:minus>
              <c:numRef>
                <c:f>Sheet1!$B$47:$E$47</c:f>
                <c:numCache>
                  <c:formatCode>General</c:formatCode>
                  <c:ptCount val="4"/>
                  <c:pt idx="1">
                    <c:v>63023.584905660333</c:v>
                  </c:pt>
                  <c:pt idx="3">
                    <c:v>273944.82758620707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/>
                </a:solidFill>
                <a:round/>
              </a:ln>
              <a:effectLst/>
            </c:spPr>
          </c:errBars>
          <c:val>
            <c:numRef>
              <c:f>Sheet1!$B$46:$E$46</c:f>
              <c:numCache>
                <c:formatCode>General</c:formatCode>
                <c:ptCount val="4"/>
                <c:pt idx="0">
                  <c:v>500.0000000000004</c:v>
                </c:pt>
                <c:pt idx="1">
                  <c:v>183523.58490566039</c:v>
                </c:pt>
                <c:pt idx="2">
                  <c:v>1999.9999999999982</c:v>
                </c:pt>
                <c:pt idx="3">
                  <c:v>4609255.1724137943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04-394D-8EC8-65089B48B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903887"/>
        <c:axId val="47152175"/>
      </c:barChart>
      <c:catAx>
        <c:axId val="4690388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7152175"/>
        <c:crosses val="autoZero"/>
        <c:auto val="1"/>
        <c:lblAlgn val="ctr"/>
        <c:lblOffset val="100"/>
        <c:noMultiLvlLbl val="0"/>
      </c:catAx>
      <c:valAx>
        <c:axId val="4715217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600" b="1"/>
                  <a:t>Bioluminescence intensity [-]</a:t>
                </a:r>
                <a:endParaRPr lang="ja-JP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6903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2024/5/8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2024/5/8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HEK293T</a:t>
            </a:r>
            <a:r>
              <a:rPr kumimoji="1" lang="ja-JP" altLang="en-US"/>
              <a:t>にトランスフェクションをした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758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DCA</a:t>
            </a:r>
            <a:r>
              <a:rPr kumimoji="1" lang="ja-JP" altLang="en-US"/>
              <a:t>濃度は</a:t>
            </a:r>
            <a:r>
              <a:rPr kumimoji="1" lang="en-US" altLang="ja-JP" dirty="0"/>
              <a:t>0</a:t>
            </a:r>
            <a:r>
              <a:rPr kumimoji="1" lang="ja-JP" altLang="en-US"/>
              <a:t>と</a:t>
            </a:r>
            <a:r>
              <a:rPr kumimoji="1" lang="en-US" altLang="ja-JP" dirty="0"/>
              <a:t>20</a:t>
            </a:r>
            <a:r>
              <a:rPr kumimoji="1" lang="ja-JP" altLang="en-US"/>
              <a:t>しか比べていないので、検討が必要かもしれない。</a:t>
            </a:r>
            <a:endParaRPr kumimoji="1" lang="en-US" altLang="ja-JP" dirty="0"/>
          </a:p>
          <a:p>
            <a:r>
              <a:rPr kumimoji="1" lang="ja-JP" altLang="en-US"/>
              <a:t>プラスミドの方は</a:t>
            </a:r>
            <a:r>
              <a:rPr kumimoji="1" lang="en-US" altLang="ja-JP" dirty="0"/>
              <a:t>100</a:t>
            </a:r>
            <a:r>
              <a:rPr kumimoji="1" lang="ja-JP" altLang="en-US"/>
              <a:t>と</a:t>
            </a:r>
            <a:r>
              <a:rPr kumimoji="1" lang="en-US" altLang="ja-JP" dirty="0"/>
              <a:t>500</a:t>
            </a:r>
            <a:r>
              <a:rPr kumimoji="1" lang="ja-JP" altLang="en-US"/>
              <a:t>で比較していて、</a:t>
            </a:r>
            <a:r>
              <a:rPr kumimoji="1" lang="en-US" altLang="ja-JP" dirty="0"/>
              <a:t>500</a:t>
            </a:r>
            <a:r>
              <a:rPr kumimoji="1" lang="ja-JP" altLang="en-US"/>
              <a:t>がいいらしいのでこれで良いとする。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624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21647"/>
            <a:ext cx="11099800" cy="72517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4"/>
            <a:ext cx="11099800" cy="4797052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/10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3D9B2-A3E9-9949-B706-993C7CA3857D}" type="datetime1">
              <a:rPr kumimoji="1" lang="ja-JP" altLang="en-US" smtClean="0"/>
              <a:t>2024/5/8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hart" Target="../charts/char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中村</a:t>
            </a:r>
            <a:r>
              <a:rPr kumimoji="1" lang="en-US" altLang="ja-JP" dirty="0"/>
              <a:t> </a:t>
            </a:r>
            <a:r>
              <a:rPr kumimoji="1" lang="ja-JP" altLang="en-US"/>
              <a:t>優作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名古屋大学</a:t>
            </a:r>
            <a:r>
              <a:rPr kumimoji="1" lang="en-US" altLang="ja-JP" dirty="0"/>
              <a:t> </a:t>
            </a:r>
            <a:r>
              <a:rPr kumimoji="1" lang="ja-JP" altLang="en-US"/>
              <a:t>生命分子工学専攻</a:t>
            </a:r>
            <a:r>
              <a:rPr lang="en-US" altLang="ja-JP" dirty="0"/>
              <a:t> </a:t>
            </a:r>
            <a:r>
              <a:rPr lang="ja-JP" altLang="en-US"/>
              <a:t>本田研究室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D98EC-8D25-482F-8132-04421A26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u="sng"/>
              <a:t>トランスフェクションの成功を確認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目的：</a:t>
            </a:r>
            <a:r>
              <a:rPr lang="ja-JP" altLang="en-US"/>
              <a:t>トランスフェクション効率の確認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プレースホルダー 3">
                <a:extLst>
                  <a:ext uri="{FF2B5EF4-FFF2-40B4-BE49-F238E27FC236}">
                    <a16:creationId xmlns:a16="http://schemas.microsoft.com/office/drawing/2014/main" id="{7573968E-BF17-4017-AA59-5326CD607CE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kumimoji="1" lang="en-US" altLang="ja-JP" dirty="0"/>
                  <a:t>-</a:t>
                </a:r>
                <a:r>
                  <a:rPr kumimoji="1" lang="en-US" altLang="ja-JP" dirty="0" err="1"/>
                  <a:t>galact</a:t>
                </a:r>
                <a:r>
                  <a:rPr lang="en-US" altLang="ja-JP" dirty="0"/>
                  <a:t>o</a:t>
                </a:r>
                <a:r>
                  <a:rPr kumimoji="1" lang="en-US" altLang="ja-JP" dirty="0" err="1"/>
                  <a:t>s</a:t>
                </a:r>
                <a:r>
                  <a:rPr kumimoji="1" lang="en-US" altLang="ja-JP" dirty="0"/>
                  <a:t>i</a:t>
                </a:r>
                <a:r>
                  <a:rPr kumimoji="1" lang="en-US" altLang="ja-JP" dirty="0" err="1"/>
                  <a:t>dase</a:t>
                </a:r>
                <a:r>
                  <a:rPr lang="ja-JP" altLang="en-US"/>
                  <a:t>アッセイ</a:t>
                </a:r>
                <a:r>
                  <a:rPr kumimoji="1" lang="ja-JP" altLang="en-US"/>
                  <a:t>の結果</a:t>
                </a:r>
              </a:p>
            </p:txBody>
          </p:sp>
        </mc:Choice>
        <mc:Fallback xmlns="">
          <p:sp>
            <p:nvSpPr>
              <p:cNvPr id="4" name="テキスト プレースホルダー 3">
                <a:extLst>
                  <a:ext uri="{FF2B5EF4-FFF2-40B4-BE49-F238E27FC236}">
                    <a16:creationId xmlns:a16="http://schemas.microsoft.com/office/drawing/2014/main" id="{7573968E-BF17-4017-AA59-5326CD607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221" t="-2632" b="-13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7C08012-D29C-9789-92BE-F971070D8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05000"/>
              </p:ext>
            </p:extLst>
          </p:nvPr>
        </p:nvGraphicFramePr>
        <p:xfrm>
          <a:off x="546100" y="3659428"/>
          <a:ext cx="4383567" cy="1798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867">
                  <a:extLst>
                    <a:ext uri="{9D8B030D-6E8A-4147-A177-3AD203B41FA5}">
                      <a16:colId xmlns:a16="http://schemas.microsoft.com/office/drawing/2014/main" val="3452759736"/>
                    </a:ext>
                  </a:extLst>
                </a:gridCol>
                <a:gridCol w="1413193">
                  <a:extLst>
                    <a:ext uri="{9D8B030D-6E8A-4147-A177-3AD203B41FA5}">
                      <a16:colId xmlns:a16="http://schemas.microsoft.com/office/drawing/2014/main" val="621397413"/>
                    </a:ext>
                  </a:extLst>
                </a:gridCol>
                <a:gridCol w="2125507">
                  <a:extLst>
                    <a:ext uri="{9D8B030D-6E8A-4147-A177-3AD203B41FA5}">
                      <a16:colId xmlns:a16="http://schemas.microsoft.com/office/drawing/2014/main" val="1357732225"/>
                    </a:ext>
                  </a:extLst>
                </a:gridCol>
              </a:tblGrid>
              <a:tr h="40913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Sample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DCA</a:t>
                      </a:r>
                      <a:r>
                        <a:rPr kumimoji="1" lang="ja-JP" altLang="en-US" sz="1400" b="0">
                          <a:latin typeface="+mn-ea"/>
                          <a:ea typeface="+mn-ea"/>
                        </a:rPr>
                        <a:t>濃度</a:t>
                      </a:r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 (µM)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latin typeface="+mn-ea"/>
                          <a:ea typeface="+mn-ea"/>
                        </a:rPr>
                        <a:t>各プラスミド添加量</a:t>
                      </a:r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(ng)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16331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1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157954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500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66313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3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96974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4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500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53481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99990D-A85C-F91C-183F-7B7874768321}"/>
              </a:ext>
            </a:extLst>
          </p:cNvPr>
          <p:cNvSpPr txBox="1"/>
          <p:nvPr/>
        </p:nvSpPr>
        <p:spPr>
          <a:xfrm>
            <a:off x="1109873" y="321069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dirty="0">
                <a:latin typeface="+mn-ea"/>
              </a:rPr>
              <a:t>DCA</a:t>
            </a:r>
            <a:r>
              <a:rPr kumimoji="1" lang="ja-JP" altLang="en-US" sz="1600">
                <a:latin typeface="+mn-ea"/>
              </a:rPr>
              <a:t>濃度と各プラスミド添加条件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9A698E0-170E-46DE-F794-C8B2B14AEE3C}"/>
              </a:ext>
            </a:extLst>
          </p:cNvPr>
          <p:cNvGrpSpPr/>
          <p:nvPr/>
        </p:nvGrpSpPr>
        <p:grpSpPr>
          <a:xfrm>
            <a:off x="5175115" y="1814496"/>
            <a:ext cx="6470785" cy="3759708"/>
            <a:chOff x="5323977" y="1965985"/>
            <a:chExt cx="6152460" cy="375970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グラフ 4">
                  <a:extLst>
                    <a:ext uri="{FF2B5EF4-FFF2-40B4-BE49-F238E27FC236}">
                      <a16:creationId xmlns:a16="http://schemas.microsoft.com/office/drawing/2014/main" id="{077E9DAE-45D6-243F-9EBE-C14653EB6476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75314278"/>
                    </p:ext>
                  </p:extLst>
                </p:nvPr>
              </p:nvGraphicFramePr>
              <p:xfrm>
                <a:off x="5323977" y="1965985"/>
                <a:ext cx="6152460" cy="342115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Choice>
          <mc:Fallback xmlns="">
            <p:graphicFrame>
              <p:nvGraphicFramePr>
                <p:cNvPr id="5" name="グラフ 4">
                  <a:extLst>
                    <a:ext uri="{FF2B5EF4-FFF2-40B4-BE49-F238E27FC236}">
                      <a16:creationId xmlns:a16="http://schemas.microsoft.com/office/drawing/2014/main" id="{077E9DAE-45D6-243F-9EBE-C14653EB6476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75314278"/>
                    </p:ext>
                  </p:extLst>
                </p:nvPr>
              </p:nvGraphicFramePr>
              <p:xfrm>
                <a:off x="5323977" y="1965985"/>
                <a:ext cx="6152460" cy="342115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6B8A1F2-E4E0-6B47-00B5-ADF11D6E72BE}"/>
                    </a:ext>
                  </a:extLst>
                </p:cNvPr>
                <p:cNvSpPr txBox="1"/>
                <p:nvPr/>
              </p:nvSpPr>
              <p:spPr>
                <a:xfrm>
                  <a:off x="7351182" y="5387139"/>
                  <a:ext cx="21034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ja-JP" altLang="en-US" sz="1600">
                      <a:latin typeface="+mn-ea"/>
                    </a:rPr>
                    <a:t>各条件での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1600" b="0" i="0" smtClean="0">
                          <a:latin typeface="Cambria Math" panose="02040503050406030204" pitchFamily="18" charset="0"/>
                          <a:ea typeface="+mj-ea"/>
                        </a:rPr>
                        <m:t>β</m:t>
                      </m:r>
                    </m:oMath>
                  </a14:m>
                  <a:r>
                    <a:rPr kumimoji="1" lang="en-US" altLang="ja-JP" sz="1600" dirty="0">
                      <a:latin typeface="+mj-ea"/>
                      <a:ea typeface="+mj-ea"/>
                    </a:rPr>
                    <a:t>-</a:t>
                  </a:r>
                  <a:r>
                    <a:rPr kumimoji="1" lang="en-US" altLang="ja-JP" sz="1600" dirty="0" err="1">
                      <a:latin typeface="+mj-ea"/>
                      <a:ea typeface="+mj-ea"/>
                    </a:rPr>
                    <a:t>gal</a:t>
                  </a:r>
                  <a:r>
                    <a:rPr kumimoji="1" lang="ja-JP" altLang="en-US" sz="1600" dirty="0">
                      <a:latin typeface="+mj-ea"/>
                      <a:ea typeface="+mj-ea"/>
                    </a:rPr>
                    <a:t>活性</a:t>
                  </a:r>
                  <a:endParaRPr kumimoji="1" lang="ja-JP" altLang="en-US" sz="1600">
                    <a:latin typeface="+mj-ea"/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6B8A1F2-E4E0-6B47-00B5-ADF11D6E7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1182" y="5387139"/>
                  <a:ext cx="2103460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7407" b="-2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D2A96FA-97C0-80AC-893A-AAB255907188}"/>
              </a:ext>
            </a:extLst>
          </p:cNvPr>
          <p:cNvGrpSpPr/>
          <p:nvPr/>
        </p:nvGrpSpPr>
        <p:grpSpPr>
          <a:xfrm>
            <a:off x="2737883" y="2005444"/>
            <a:ext cx="1553835" cy="1296479"/>
            <a:chOff x="5643378" y="2490841"/>
            <a:chExt cx="1553835" cy="12964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四角形: 角を丸くする 19">
                  <a:extLst>
                    <a:ext uri="{FF2B5EF4-FFF2-40B4-BE49-F238E27FC236}">
                      <a16:creationId xmlns:a16="http://schemas.microsoft.com/office/drawing/2014/main" id="{6EFF301B-745C-50EC-3CCE-9A729B2EAD85}"/>
                    </a:ext>
                  </a:extLst>
                </p:cNvPr>
                <p:cNvSpPr/>
                <p:nvPr/>
              </p:nvSpPr>
              <p:spPr>
                <a:xfrm>
                  <a:off x="5643378" y="2490841"/>
                  <a:ext cx="1553835" cy="938159"/>
                </a:xfrm>
                <a:prstGeom prst="roundRect">
                  <a:avLst>
                    <a:gd name="adj" fmla="val 10379"/>
                  </a:avLst>
                </a:prstGeom>
                <a:solidFill>
                  <a:schemeClr val="accent4"/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kumimoji="1" lang="en-US" altLang="ja-JP" sz="1600" dirty="0"/>
                    <a:t>hTGR5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ja-JP" sz="1600" dirty="0"/>
                    <a:t>CRE-</a:t>
                  </a:r>
                  <a:r>
                    <a:rPr lang="en-US" altLang="ja-JP" sz="1600" dirty="0" err="1"/>
                    <a:t>luc</a:t>
                  </a:r>
                  <a:endParaRPr lang="en-US" altLang="ja-JP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1600" b="0" i="0" smtClean="0">
                          <a:latin typeface="Cambria Math" panose="02040503050406030204" pitchFamily="18" charset="0"/>
                          <a:ea typeface="+mj-ea"/>
                        </a:rPr>
                        <m:t>β</m:t>
                      </m:r>
                    </m:oMath>
                  </a14:m>
                  <a:r>
                    <a:rPr kumimoji="1" lang="en-US" altLang="ja-JP" sz="1600" dirty="0">
                      <a:latin typeface="+mj-ea"/>
                      <a:ea typeface="+mj-ea"/>
                    </a:rPr>
                    <a:t>-</a:t>
                  </a:r>
                  <a:r>
                    <a:rPr kumimoji="1" lang="en-US" altLang="ja-JP" sz="1600" dirty="0"/>
                    <a:t>gal</a:t>
                  </a:r>
                </a:p>
              </p:txBody>
            </p:sp>
          </mc:Choice>
          <mc:Fallback xmlns="">
            <p:sp>
              <p:nvSpPr>
                <p:cNvPr id="15" name="四角形: 角を丸くする 19">
                  <a:extLst>
                    <a:ext uri="{FF2B5EF4-FFF2-40B4-BE49-F238E27FC236}">
                      <a16:creationId xmlns:a16="http://schemas.microsoft.com/office/drawing/2014/main" id="{6EFF301B-745C-50EC-3CCE-9A729B2EAD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378" y="2490841"/>
                  <a:ext cx="1553835" cy="938159"/>
                </a:xfrm>
                <a:prstGeom prst="roundRect">
                  <a:avLst>
                    <a:gd name="adj" fmla="val 10379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4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二等辺三角形 21">
              <a:extLst>
                <a:ext uri="{FF2B5EF4-FFF2-40B4-BE49-F238E27FC236}">
                  <a16:creationId xmlns:a16="http://schemas.microsoft.com/office/drawing/2014/main" id="{7CBFB1C8-3F99-63CD-5B9B-0E6D328186DE}"/>
                </a:ext>
              </a:extLst>
            </p:cNvPr>
            <p:cNvSpPr/>
            <p:nvPr/>
          </p:nvSpPr>
          <p:spPr>
            <a:xfrm rot="13097359">
              <a:off x="5767770" y="3291037"/>
              <a:ext cx="273017" cy="496283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886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D98EC-8D25-482F-8132-04421A26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ja-JP" u="sng" dirty="0"/>
              <a:t>DCA</a:t>
            </a:r>
            <a:r>
              <a:rPr kumimoji="1" lang="ja-JP" altLang="en-US" u="sng"/>
              <a:t>により</a:t>
            </a:r>
            <a:r>
              <a:rPr kumimoji="1" lang="en-US" altLang="ja-JP" u="sng" dirty="0"/>
              <a:t>TGR5</a:t>
            </a:r>
            <a:r>
              <a:rPr kumimoji="1" lang="ja-JP" altLang="en-US" u="sng"/>
              <a:t>が活性化することを確認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目的：</a:t>
            </a:r>
            <a:r>
              <a:rPr kumimoji="1" lang="en-US" altLang="ja-JP" dirty="0"/>
              <a:t>Luc activity</a:t>
            </a:r>
            <a:r>
              <a:rPr kumimoji="1" lang="ja-JP" altLang="en-US"/>
              <a:t>による</a:t>
            </a:r>
            <a:r>
              <a:rPr kumimoji="1" lang="en-US" altLang="ja-JP" dirty="0"/>
              <a:t>TGR5</a:t>
            </a:r>
            <a:r>
              <a:rPr kumimoji="1" lang="ja-JP" altLang="en-US"/>
              <a:t>活性の検討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Luc activity</a:t>
            </a:r>
            <a:r>
              <a:rPr kumimoji="1" lang="ja-JP" altLang="en-US"/>
              <a:t>の結果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F6A9D0F-D116-0E33-576A-F92297593212}"/>
                  </a:ext>
                </a:extLst>
              </p:cNvPr>
              <p:cNvSpPr txBox="1"/>
              <p:nvPr/>
            </p:nvSpPr>
            <p:spPr>
              <a:xfrm>
                <a:off x="546098" y="2016167"/>
                <a:ext cx="4613827" cy="706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𝐿𝑢𝑐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𝑎𝑐𝑡𝑖𝑣𝑖𝑡𝑦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ホタルルシフェラーゼ</m:t>
                          </m:r>
                          <m:r>
                            <a:rPr lang="ja-JP" altLang="en-US" i="1" smtClean="0">
                              <a:latin typeface="Cambria Math" panose="02040503050406030204" pitchFamily="18" charset="0"/>
                            </a:rPr>
                            <m:t>活性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𝑔𝑎𝑙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  <a:ea typeface="+mj-ea"/>
                            </a:rPr>
                            <m:t>活性</m:t>
                          </m:r>
                        </m:den>
                      </m:f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F6A9D0F-D116-0E33-576A-F92297593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98" y="2016167"/>
                <a:ext cx="4613827" cy="706284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7C08012-D29C-9789-92BE-F971070D8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24202"/>
              </p:ext>
            </p:extLst>
          </p:nvPr>
        </p:nvGraphicFramePr>
        <p:xfrm>
          <a:off x="546098" y="3662593"/>
          <a:ext cx="4383567" cy="1798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867">
                  <a:extLst>
                    <a:ext uri="{9D8B030D-6E8A-4147-A177-3AD203B41FA5}">
                      <a16:colId xmlns:a16="http://schemas.microsoft.com/office/drawing/2014/main" val="3452759736"/>
                    </a:ext>
                  </a:extLst>
                </a:gridCol>
                <a:gridCol w="1413193">
                  <a:extLst>
                    <a:ext uri="{9D8B030D-6E8A-4147-A177-3AD203B41FA5}">
                      <a16:colId xmlns:a16="http://schemas.microsoft.com/office/drawing/2014/main" val="621397413"/>
                    </a:ext>
                  </a:extLst>
                </a:gridCol>
                <a:gridCol w="2125507">
                  <a:extLst>
                    <a:ext uri="{9D8B030D-6E8A-4147-A177-3AD203B41FA5}">
                      <a16:colId xmlns:a16="http://schemas.microsoft.com/office/drawing/2014/main" val="1357732225"/>
                    </a:ext>
                  </a:extLst>
                </a:gridCol>
              </a:tblGrid>
              <a:tr h="40913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Sample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DCA</a:t>
                      </a:r>
                      <a:r>
                        <a:rPr kumimoji="1" lang="ja-JP" altLang="en-US" sz="1400" b="0">
                          <a:latin typeface="+mn-ea"/>
                          <a:ea typeface="+mn-ea"/>
                        </a:rPr>
                        <a:t>濃度</a:t>
                      </a:r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 (µM)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latin typeface="+mn-ea"/>
                          <a:ea typeface="+mn-ea"/>
                        </a:rPr>
                        <a:t>各プラスミド添加量</a:t>
                      </a:r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(ng)</a:t>
                      </a:r>
                      <a:endParaRPr kumimoji="1" lang="ja-JP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16331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1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157954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500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66313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3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96974"/>
                  </a:ext>
                </a:extLst>
              </a:tr>
              <a:tr h="3473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4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20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+mn-ea"/>
                          <a:ea typeface="+mn-ea"/>
                        </a:rPr>
                        <a:t>500</a:t>
                      </a:r>
                      <a:endParaRPr kumimoji="1" lang="ja-JP" altLang="en-US" sz="14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53481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99990D-A85C-F91C-183F-7B7874768321}"/>
              </a:ext>
            </a:extLst>
          </p:cNvPr>
          <p:cNvSpPr txBox="1"/>
          <p:nvPr/>
        </p:nvSpPr>
        <p:spPr>
          <a:xfrm>
            <a:off x="1109871" y="3213860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dirty="0">
                <a:latin typeface="+mn-ea"/>
              </a:rPr>
              <a:t>DCA</a:t>
            </a:r>
            <a:r>
              <a:rPr kumimoji="1" lang="ja-JP" altLang="en-US" sz="1600">
                <a:latin typeface="+mn-ea"/>
              </a:rPr>
              <a:t>濃度と各プラスミド添加条件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252781C-3792-A999-AE3B-C974D1A277F5}"/>
              </a:ext>
            </a:extLst>
          </p:cNvPr>
          <p:cNvGrpSpPr/>
          <p:nvPr/>
        </p:nvGrpSpPr>
        <p:grpSpPr>
          <a:xfrm>
            <a:off x="5350213" y="1725551"/>
            <a:ext cx="6315761" cy="4109985"/>
            <a:chOff x="5434182" y="1606832"/>
            <a:chExt cx="6133705" cy="4109985"/>
          </a:xfrm>
        </p:grpSpPr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E56EE965-F1C9-CB4C-1171-A7EF5C946E6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41821434"/>
                </p:ext>
              </p:extLst>
            </p:nvPr>
          </p:nvGraphicFramePr>
          <p:xfrm>
            <a:off x="5434182" y="1606832"/>
            <a:ext cx="6133705" cy="3677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37A78E67-B30F-ED55-1AA8-054997BF8EBD}"/>
                </a:ext>
              </a:extLst>
            </p:cNvPr>
            <p:cNvSpPr txBox="1"/>
            <p:nvPr/>
          </p:nvSpPr>
          <p:spPr>
            <a:xfrm>
              <a:off x="7355531" y="5378263"/>
              <a:ext cx="22910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1600">
                  <a:latin typeface="+mn-ea"/>
                </a:rPr>
                <a:t>各条件での</a:t>
              </a:r>
              <a:r>
                <a:rPr lang="en-US" altLang="ja-JP" sz="1600" dirty="0">
                  <a:latin typeface="+mn-ea"/>
                </a:rPr>
                <a:t>Luc activity</a:t>
              </a:r>
              <a:endParaRPr kumimoji="1" lang="ja-JP" altLang="en-US" sz="16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256388" y="6352685"/>
            <a:ext cx="1380066" cy="202200"/>
          </a:xfrm>
          <a:custGeom>
            <a:avLst/>
            <a:gdLst>
              <a:gd name="connsiteX0" fmla="*/ 0 w 1380066"/>
              <a:gd name="connsiteY0" fmla="*/ 202199 h 202200"/>
              <a:gd name="connsiteX1" fmla="*/ 1380066 w 1380066"/>
              <a:gd name="connsiteY1" fmla="*/ 0 h 2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0875218" y="3429000"/>
            <a:ext cx="75875" cy="2144636"/>
          </a:xfrm>
          <a:custGeom>
            <a:avLst/>
            <a:gdLst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  <a:gd name="connsiteX4" fmla="*/ 0 w 75875"/>
              <a:gd name="connsiteY4" fmla="*/ 0 h 2144636"/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3724405" y="5310395"/>
            <a:ext cx="1797864" cy="1126627"/>
          </a:xfrm>
          <a:custGeom>
            <a:avLst/>
            <a:gdLst>
              <a:gd name="connsiteX0" fmla="*/ 0 w 1797864"/>
              <a:gd name="connsiteY0" fmla="*/ 281657 h 1126627"/>
              <a:gd name="connsiteX1" fmla="*/ 1234551 w 1797864"/>
              <a:gd name="connsiteY1" fmla="*/ 281657 h 1126627"/>
              <a:gd name="connsiteX2" fmla="*/ 1234551 w 1797864"/>
              <a:gd name="connsiteY2" fmla="*/ 0 h 1126627"/>
              <a:gd name="connsiteX3" fmla="*/ 1797864 w 1797864"/>
              <a:gd name="connsiteY3" fmla="*/ 563314 h 1126627"/>
              <a:gd name="connsiteX4" fmla="*/ 1234551 w 1797864"/>
              <a:gd name="connsiteY4" fmla="*/ 1126627 h 1126627"/>
              <a:gd name="connsiteX5" fmla="*/ 1234551 w 1797864"/>
              <a:gd name="connsiteY5" fmla="*/ 844970 h 1126627"/>
              <a:gd name="connsiteX6" fmla="*/ 0 w 1797864"/>
              <a:gd name="connsiteY6" fmla="*/ 844970 h 1126627"/>
              <a:gd name="connsiteX7" fmla="*/ 0 w 1797864"/>
              <a:gd name="connsiteY7" fmla="*/ 281657 h 112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8528263" y="3060360"/>
            <a:ext cx="2901487" cy="1236539"/>
          </a:xfrm>
          <a:custGeom>
            <a:avLst/>
            <a:gdLst>
              <a:gd name="connsiteX0" fmla="*/ 0 w 2901487"/>
              <a:gd name="connsiteY0" fmla="*/ 618270 h 1236539"/>
              <a:gd name="connsiteX1" fmla="*/ 1450744 w 2901487"/>
              <a:gd name="connsiteY1" fmla="*/ 0 h 1236539"/>
              <a:gd name="connsiteX2" fmla="*/ 2901488 w 2901487"/>
              <a:gd name="connsiteY2" fmla="*/ 618270 h 1236539"/>
              <a:gd name="connsiteX3" fmla="*/ 1450744 w 2901487"/>
              <a:gd name="connsiteY3" fmla="*/ 1236540 h 1236539"/>
              <a:gd name="connsiteX4" fmla="*/ 0 w 2901487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9518584" y="1567812"/>
            <a:ext cx="2235127" cy="2177274"/>
          </a:xfrm>
          <a:custGeom>
            <a:avLst/>
            <a:gdLst>
              <a:gd name="connsiteX0" fmla="*/ 0 w 2235127"/>
              <a:gd name="connsiteY0" fmla="*/ 1088637 h 2177274"/>
              <a:gd name="connsiteX1" fmla="*/ 1117564 w 2235127"/>
              <a:gd name="connsiteY1" fmla="*/ 0 h 2177274"/>
              <a:gd name="connsiteX2" fmla="*/ 2235128 w 2235127"/>
              <a:gd name="connsiteY2" fmla="*/ 1088637 h 2177274"/>
              <a:gd name="connsiteX3" fmla="*/ 1117564 w 2235127"/>
              <a:gd name="connsiteY3" fmla="*/ 2177274 h 2177274"/>
              <a:gd name="connsiteX4" fmla="*/ 0 w 2235127"/>
              <a:gd name="connsiteY4" fmla="*/ 1088637 h 217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onnsiteX0" fmla="*/ 0 w 3160032"/>
              <a:gd name="connsiteY0" fmla="*/ 0 h 167421"/>
              <a:gd name="connsiteX1" fmla="*/ 3160032 w 3160032"/>
              <a:gd name="connsiteY1" fmla="*/ 0 h 167421"/>
              <a:gd name="connsiteX2" fmla="*/ 3160032 w 3160032"/>
              <a:gd name="connsiteY2" fmla="*/ 167421 h 167421"/>
              <a:gd name="connsiteX3" fmla="*/ 0 w 3160032"/>
              <a:gd name="connsiteY3" fmla="*/ 167421 h 167421"/>
              <a:gd name="connsiteX4" fmla="*/ 0 w 3160032"/>
              <a:gd name="connsiteY4" fmla="*/ 0 h 1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onnsiteX0" fmla="*/ 0 w 1869719"/>
              <a:gd name="connsiteY0" fmla="*/ 871682 h 1886551"/>
              <a:gd name="connsiteX1" fmla="*/ 871682 w 1869719"/>
              <a:gd name="connsiteY1" fmla="*/ 871682 h 1886551"/>
              <a:gd name="connsiteX2" fmla="*/ 871682 w 1869719"/>
              <a:gd name="connsiteY2" fmla="*/ 0 h 1886551"/>
              <a:gd name="connsiteX3" fmla="*/ 998037 w 1869719"/>
              <a:gd name="connsiteY3" fmla="*/ 0 h 1886551"/>
              <a:gd name="connsiteX4" fmla="*/ 998037 w 1869719"/>
              <a:gd name="connsiteY4" fmla="*/ 871682 h 1886551"/>
              <a:gd name="connsiteX5" fmla="*/ 1869719 w 1869719"/>
              <a:gd name="connsiteY5" fmla="*/ 871682 h 1886551"/>
              <a:gd name="connsiteX6" fmla="*/ 1869719 w 1869719"/>
              <a:gd name="connsiteY6" fmla="*/ 1014869 h 1886551"/>
              <a:gd name="connsiteX7" fmla="*/ 998037 w 1869719"/>
              <a:gd name="connsiteY7" fmla="*/ 1014869 h 1886551"/>
              <a:gd name="connsiteX8" fmla="*/ 998037 w 1869719"/>
              <a:gd name="connsiteY8" fmla="*/ 1886551 h 1886551"/>
              <a:gd name="connsiteX9" fmla="*/ 871682 w 1869719"/>
              <a:gd name="connsiteY9" fmla="*/ 1886551 h 1886551"/>
              <a:gd name="connsiteX10" fmla="*/ 871682 w 1869719"/>
              <a:gd name="connsiteY10" fmla="*/ 1014869 h 1886551"/>
              <a:gd name="connsiteX11" fmla="*/ 0 w 1869719"/>
              <a:gd name="connsiteY11" fmla="*/ 1014869 h 1886551"/>
              <a:gd name="connsiteX12" fmla="*/ 0 w 1869719"/>
              <a:gd name="connsiteY12" fmla="*/ 871682 h 188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7090921" y="4792728"/>
            <a:ext cx="1253486" cy="1236539"/>
          </a:xfrm>
          <a:custGeom>
            <a:avLst/>
            <a:gdLst>
              <a:gd name="connsiteX0" fmla="*/ 0 w 1253486"/>
              <a:gd name="connsiteY0" fmla="*/ 618270 h 1236539"/>
              <a:gd name="connsiteX1" fmla="*/ 626743 w 1253486"/>
              <a:gd name="connsiteY1" fmla="*/ 0 h 1236539"/>
              <a:gd name="connsiteX2" fmla="*/ 1253486 w 1253486"/>
              <a:gd name="connsiteY2" fmla="*/ 618270 h 1236539"/>
              <a:gd name="connsiteX3" fmla="*/ 626743 w 1253486"/>
              <a:gd name="connsiteY3" fmla="*/ 1236540 h 1236539"/>
              <a:gd name="connsiteX4" fmla="*/ 0 w 1253486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5963376" y="5058404"/>
            <a:ext cx="595261" cy="523221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6871061" y="3852436"/>
            <a:ext cx="595261" cy="523221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5622654" y="3077138"/>
            <a:ext cx="595261" cy="523221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4798844" y="4214160"/>
            <a:ext cx="595261" cy="523221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0C608F37-5261-8E49-8F89-9E27D347918A}" vid="{E5AB5574-40C2-1843-8B40-57C96F1E19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415</TotalTime>
  <Words>341</Words>
  <Application>Microsoft Macintosh PowerPoint</Application>
  <PresentationFormat>ワイド画面</PresentationFormat>
  <Paragraphs>105</Paragraphs>
  <Slides>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游ゴシック</vt:lpstr>
      <vt:lpstr>游ゴシック Medium</vt:lpstr>
      <vt:lpstr>Arial</vt:lpstr>
      <vt:lpstr>Cambria Math</vt:lpstr>
      <vt:lpstr>Segoe UI</vt:lpstr>
      <vt:lpstr>Wingdings</vt:lpstr>
      <vt:lpstr>研究発表スライドマスタ</vt:lpstr>
      <vt:lpstr>PowerPoint プレゼンテーション</vt:lpstr>
      <vt:lpstr>トランスフェクションの成功を確認</vt:lpstr>
      <vt:lpstr>DCAによりTGR5が活性化することを確認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NAKAMURA Yusaku</dc:creator>
  <cp:lastModifiedBy>NAKAMURA Yusaku</cp:lastModifiedBy>
  <cp:revision>4</cp:revision>
  <dcterms:created xsi:type="dcterms:W3CDTF">2024-05-07T05:39:16Z</dcterms:created>
  <dcterms:modified xsi:type="dcterms:W3CDTF">2024-05-08T04:24:40Z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