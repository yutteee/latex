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62" r:id="rId5"/>
    <p:sldId id="365" r:id="rId6"/>
    <p:sldId id="332" r:id="rId7"/>
    <p:sldId id="310" r:id="rId8"/>
    <p:sldId id="363" r:id="rId9"/>
    <p:sldId id="331" r:id="rId10"/>
    <p:sldId id="298" r:id="rId11"/>
    <p:sldId id="304" r:id="rId12"/>
    <p:sldId id="300" r:id="rId13"/>
    <p:sldId id="302" r:id="rId14"/>
    <p:sldId id="301" r:id="rId15"/>
    <p:sldId id="30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4" autoAdjust="0"/>
    <p:restoredTop sz="94660"/>
  </p:normalViewPr>
  <p:slideViewPr>
    <p:cSldViewPr snapToGrid="0">
      <p:cViewPr>
        <p:scale>
          <a:sx n="95" d="100"/>
          <a:sy n="95" d="100"/>
        </p:scale>
        <p:origin x="86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8/2024_0705_resul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b/program/fingerprint_ml/result/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b/program/fingerprint_ml/result/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b/program/fingerprint_ml/result/Book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b/program/fingerprint_ml/result/Book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8/2024_0705_resul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plus>
            <c:min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minus>
            <c:spPr>
              <a:noFill/>
              <a:ln w="2540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Sheet1!$B$22:$M$22</c:f>
              <c:strCache>
                <c:ptCount val="12"/>
                <c:pt idx="0">
                  <c:v>control</c:v>
                </c:pt>
                <c:pt idx="1">
                  <c:v>DCA only</c:v>
                </c:pt>
                <c:pt idx="2">
                  <c:v>QRPRGS</c:v>
                </c:pt>
                <c:pt idx="3">
                  <c:v>QRPRGS + DCA</c:v>
                </c:pt>
                <c:pt idx="4">
                  <c:v>QSKSRR</c:v>
                </c:pt>
                <c:pt idx="5">
                  <c:v>QSKSRR + DCA</c:v>
                </c:pt>
                <c:pt idx="6">
                  <c:v>QLSRRA</c:v>
                </c:pt>
                <c:pt idx="7">
                  <c:v>QLSRRA + DCA</c:v>
                </c:pt>
                <c:pt idx="8">
                  <c:v>PRPRQP</c:v>
                </c:pt>
                <c:pt idx="9">
                  <c:v>PRPRQP + DCA</c:v>
                </c:pt>
                <c:pt idx="10">
                  <c:v>VRFPLL</c:v>
                </c:pt>
                <c:pt idx="11">
                  <c:v>VRFPLL + DCA</c:v>
                </c:pt>
              </c:strCache>
            </c:strRef>
          </c:cat>
          <c:val>
            <c:numRef>
              <c:f>Sheet1!$B$29:$M$29</c:f>
              <c:numCache>
                <c:formatCode>General</c:formatCode>
                <c:ptCount val="12"/>
                <c:pt idx="0">
                  <c:v>-5.7561563522771655E-8</c:v>
                </c:pt>
                <c:pt idx="1">
                  <c:v>99.999999979393081</c:v>
                </c:pt>
                <c:pt idx="2">
                  <c:v>19.186321302997005</c:v>
                </c:pt>
                <c:pt idx="3">
                  <c:v>153.25035921005531</c:v>
                </c:pt>
                <c:pt idx="4">
                  <c:v>12.207730317219582</c:v>
                </c:pt>
                <c:pt idx="5">
                  <c:v>146.48204556468235</c:v>
                </c:pt>
                <c:pt idx="6">
                  <c:v>32.140966737114482</c:v>
                </c:pt>
                <c:pt idx="7">
                  <c:v>144.07460564889598</c:v>
                </c:pt>
                <c:pt idx="8">
                  <c:v>36.623627916124221</c:v>
                </c:pt>
                <c:pt idx="9">
                  <c:v>171.15942006570896</c:v>
                </c:pt>
                <c:pt idx="10">
                  <c:v>33.020816260535618</c:v>
                </c:pt>
                <c:pt idx="11">
                  <c:v>188.79703945980287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1-AC42-BEF3-03E8762E7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5225423"/>
        <c:axId val="1295412271"/>
      </c:barChart>
      <c:catAx>
        <c:axId val="1295225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412271"/>
        <c:crosses val="autoZero"/>
        <c:auto val="1"/>
        <c:lblAlgn val="ctr"/>
        <c:lblOffset val="100"/>
        <c:noMultiLvlLbl val="0"/>
      </c:catAx>
      <c:valAx>
        <c:axId val="1295412271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Relative Luc activity [%]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22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'2残基'!$C$4:$C$11</c:f>
              <c:numCache>
                <c:formatCode>General</c:formatCode>
                <c:ptCount val="8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250</c:v>
                </c:pt>
                <c:pt idx="4">
                  <c:v>300</c:v>
                </c:pt>
                <c:pt idx="5">
                  <c:v>350</c:v>
                </c:pt>
                <c:pt idx="6">
                  <c:v>400</c:v>
                </c:pt>
                <c:pt idx="7">
                  <c:v>450</c:v>
                </c:pt>
              </c:numCache>
            </c:numRef>
          </c:cat>
          <c:val>
            <c:numRef>
              <c:f>'2残基'!$D$4:$D$11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30</c:v>
                </c:pt>
                <c:pt idx="3">
                  <c:v>154</c:v>
                </c:pt>
                <c:pt idx="4">
                  <c:v>149</c:v>
                </c:pt>
                <c:pt idx="5">
                  <c:v>57</c:v>
                </c:pt>
                <c:pt idx="6">
                  <c:v>7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5-0945-8994-A7547B73A6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269944768"/>
        <c:axId val="58043328"/>
      </c:barChart>
      <c:catAx>
        <c:axId val="269944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分子量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8043328"/>
        <c:crosses val="autoZero"/>
        <c:auto val="1"/>
        <c:lblAlgn val="ctr"/>
        <c:lblOffset val="100"/>
        <c:noMultiLvlLbl val="0"/>
      </c:catAx>
      <c:valAx>
        <c:axId val="58043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69944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'3残基'!$C$6:$C$14</c:f>
              <c:numCache>
                <c:formatCode>General</c:formatCode>
                <c:ptCount val="9"/>
                <c:pt idx="0">
                  <c:v>200</c:v>
                </c:pt>
                <c:pt idx="1">
                  <c:v>250</c:v>
                </c:pt>
                <c:pt idx="2">
                  <c:v>300</c:v>
                </c:pt>
                <c:pt idx="3">
                  <c:v>350</c:v>
                </c:pt>
                <c:pt idx="4">
                  <c:v>400</c:v>
                </c:pt>
                <c:pt idx="5">
                  <c:v>450</c:v>
                </c:pt>
                <c:pt idx="6">
                  <c:v>500</c:v>
                </c:pt>
                <c:pt idx="7">
                  <c:v>550</c:v>
                </c:pt>
                <c:pt idx="8">
                  <c:v>600</c:v>
                </c:pt>
              </c:numCache>
            </c:numRef>
          </c:cat>
          <c:val>
            <c:numRef>
              <c:f>'3残基'!$D$6:$D$14</c:f>
              <c:numCache>
                <c:formatCode>General</c:formatCode>
                <c:ptCount val="9"/>
                <c:pt idx="0">
                  <c:v>1</c:v>
                </c:pt>
                <c:pt idx="1">
                  <c:v>70</c:v>
                </c:pt>
                <c:pt idx="2">
                  <c:v>472</c:v>
                </c:pt>
                <c:pt idx="3">
                  <c:v>2092</c:v>
                </c:pt>
                <c:pt idx="4">
                  <c:v>2905</c:v>
                </c:pt>
                <c:pt idx="5">
                  <c:v>1865</c:v>
                </c:pt>
                <c:pt idx="6">
                  <c:v>524</c:v>
                </c:pt>
                <c:pt idx="7">
                  <c:v>67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7-0A45-8C57-F2BB3BF92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269944768"/>
        <c:axId val="58043328"/>
      </c:barChart>
      <c:catAx>
        <c:axId val="269944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分子量</a:t>
                </a:r>
                <a:endParaRPr lang="en-US" alt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8043328"/>
        <c:crosses val="autoZero"/>
        <c:auto val="1"/>
        <c:lblAlgn val="ctr"/>
        <c:lblOffset val="100"/>
        <c:noMultiLvlLbl val="0"/>
      </c:catAx>
      <c:valAx>
        <c:axId val="58043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69944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'4残基'!$C$8:$C$17</c:f>
              <c:numCache>
                <c:formatCode>General</c:formatCode>
                <c:ptCount val="10"/>
                <c:pt idx="0">
                  <c:v>300</c:v>
                </c:pt>
                <c:pt idx="1">
                  <c:v>350</c:v>
                </c:pt>
                <c:pt idx="2">
                  <c:v>400</c:v>
                </c:pt>
                <c:pt idx="3">
                  <c:v>450</c:v>
                </c:pt>
                <c:pt idx="4">
                  <c:v>500</c:v>
                </c:pt>
                <c:pt idx="5">
                  <c:v>550</c:v>
                </c:pt>
                <c:pt idx="6">
                  <c:v>600</c:v>
                </c:pt>
                <c:pt idx="7">
                  <c:v>650</c:v>
                </c:pt>
                <c:pt idx="8">
                  <c:v>700</c:v>
                </c:pt>
                <c:pt idx="9">
                  <c:v>750</c:v>
                </c:pt>
              </c:numCache>
            </c:numRef>
          </c:cat>
          <c:val>
            <c:numRef>
              <c:f>'4残基'!$D$8:$D$17</c:f>
              <c:numCache>
                <c:formatCode>General</c:formatCode>
                <c:ptCount val="10"/>
                <c:pt idx="0">
                  <c:v>46</c:v>
                </c:pt>
                <c:pt idx="1">
                  <c:v>1237</c:v>
                </c:pt>
                <c:pt idx="2">
                  <c:v>7529</c:v>
                </c:pt>
                <c:pt idx="3">
                  <c:v>29574</c:v>
                </c:pt>
                <c:pt idx="4">
                  <c:v>48918</c:v>
                </c:pt>
                <c:pt idx="5">
                  <c:v>45026</c:v>
                </c:pt>
                <c:pt idx="6">
                  <c:v>21163</c:v>
                </c:pt>
                <c:pt idx="7">
                  <c:v>5604</c:v>
                </c:pt>
                <c:pt idx="8">
                  <c:v>833</c:v>
                </c:pt>
                <c:pt idx="9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C4-9948-B157-DECEE7FDE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269944768"/>
        <c:axId val="58043328"/>
      </c:barChart>
      <c:catAx>
        <c:axId val="269944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分子量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8043328"/>
        <c:crosses val="autoZero"/>
        <c:auto val="1"/>
        <c:lblAlgn val="ctr"/>
        <c:lblOffset val="100"/>
        <c:noMultiLvlLbl val="0"/>
      </c:catAx>
      <c:valAx>
        <c:axId val="58043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69944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DB!$E$7:$E$27</c:f>
              <c:numCache>
                <c:formatCode>General</c:formatCode>
                <c:ptCount val="21"/>
                <c:pt idx="0">
                  <c:v>250</c:v>
                </c:pt>
                <c:pt idx="1">
                  <c:v>300</c:v>
                </c:pt>
                <c:pt idx="2">
                  <c:v>350</c:v>
                </c:pt>
                <c:pt idx="3">
                  <c:v>400</c:v>
                </c:pt>
                <c:pt idx="4">
                  <c:v>450</c:v>
                </c:pt>
                <c:pt idx="5">
                  <c:v>500</c:v>
                </c:pt>
                <c:pt idx="6">
                  <c:v>550</c:v>
                </c:pt>
                <c:pt idx="7">
                  <c:v>600</c:v>
                </c:pt>
                <c:pt idx="8">
                  <c:v>650</c:v>
                </c:pt>
                <c:pt idx="9">
                  <c:v>700</c:v>
                </c:pt>
                <c:pt idx="10">
                  <c:v>750</c:v>
                </c:pt>
                <c:pt idx="11">
                  <c:v>800</c:v>
                </c:pt>
                <c:pt idx="12">
                  <c:v>850</c:v>
                </c:pt>
                <c:pt idx="13">
                  <c:v>900</c:v>
                </c:pt>
                <c:pt idx="14">
                  <c:v>950</c:v>
                </c:pt>
                <c:pt idx="15">
                  <c:v>1000</c:v>
                </c:pt>
                <c:pt idx="16">
                  <c:v>1050</c:v>
                </c:pt>
                <c:pt idx="17">
                  <c:v>1100</c:v>
                </c:pt>
                <c:pt idx="18">
                  <c:v>1150</c:v>
                </c:pt>
                <c:pt idx="19">
                  <c:v>1200</c:v>
                </c:pt>
                <c:pt idx="20">
                  <c:v>1250</c:v>
                </c:pt>
              </c:numCache>
            </c:numRef>
          </c:cat>
          <c:val>
            <c:numRef>
              <c:f>DB!$F$7:$F$27</c:f>
              <c:numCache>
                <c:formatCode>General</c:formatCode>
                <c:ptCount val="21"/>
                <c:pt idx="0">
                  <c:v>0</c:v>
                </c:pt>
                <c:pt idx="1">
                  <c:v>29</c:v>
                </c:pt>
                <c:pt idx="2">
                  <c:v>38</c:v>
                </c:pt>
                <c:pt idx="3">
                  <c:v>171</c:v>
                </c:pt>
                <c:pt idx="4">
                  <c:v>224</c:v>
                </c:pt>
                <c:pt idx="5">
                  <c:v>182</c:v>
                </c:pt>
                <c:pt idx="6">
                  <c:v>185</c:v>
                </c:pt>
                <c:pt idx="7">
                  <c:v>118</c:v>
                </c:pt>
                <c:pt idx="8">
                  <c:v>33</c:v>
                </c:pt>
                <c:pt idx="9">
                  <c:v>13</c:v>
                </c:pt>
                <c:pt idx="10">
                  <c:v>16</c:v>
                </c:pt>
                <c:pt idx="11">
                  <c:v>6</c:v>
                </c:pt>
                <c:pt idx="12">
                  <c:v>1</c:v>
                </c:pt>
                <c:pt idx="13">
                  <c:v>3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2</c:v>
                </c:pt>
                <c:pt idx="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9D-4B4F-9AB1-4ACD3ED3A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39"/>
        <c:axId val="2009708783"/>
        <c:axId val="2009710495"/>
      </c:barChart>
      <c:catAx>
        <c:axId val="20097087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/>
                  <a:t>分子量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09710495"/>
        <c:crosses val="autoZero"/>
        <c:auto val="1"/>
        <c:lblAlgn val="ctr"/>
        <c:lblOffset val="100"/>
        <c:noMultiLvlLbl val="0"/>
      </c:catAx>
      <c:valAx>
        <c:axId val="20097104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0970878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plus>
            <c:min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minus>
            <c:spPr>
              <a:noFill/>
              <a:ln w="2540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Sheet1!$B$22:$M$22</c:f>
              <c:strCache>
                <c:ptCount val="12"/>
                <c:pt idx="0">
                  <c:v>control</c:v>
                </c:pt>
                <c:pt idx="1">
                  <c:v>DCA only</c:v>
                </c:pt>
                <c:pt idx="2">
                  <c:v>QRPRGS</c:v>
                </c:pt>
                <c:pt idx="3">
                  <c:v>QRPRGS + DCA</c:v>
                </c:pt>
                <c:pt idx="4">
                  <c:v>QSKSRR</c:v>
                </c:pt>
                <c:pt idx="5">
                  <c:v>QSKSRR + DCA</c:v>
                </c:pt>
                <c:pt idx="6">
                  <c:v>QLSRRA</c:v>
                </c:pt>
                <c:pt idx="7">
                  <c:v>QLSRRA + DCA</c:v>
                </c:pt>
                <c:pt idx="8">
                  <c:v>PRPRQP</c:v>
                </c:pt>
                <c:pt idx="9">
                  <c:v>PRPRQP + DCA</c:v>
                </c:pt>
                <c:pt idx="10">
                  <c:v>VRFPLL</c:v>
                </c:pt>
                <c:pt idx="11">
                  <c:v>VRFPLL + DCA</c:v>
                </c:pt>
              </c:strCache>
            </c:strRef>
          </c:cat>
          <c:val>
            <c:numRef>
              <c:f>Sheet1!$B$29:$M$29</c:f>
              <c:numCache>
                <c:formatCode>General</c:formatCode>
                <c:ptCount val="12"/>
                <c:pt idx="0">
                  <c:v>-5.7561563522771655E-8</c:v>
                </c:pt>
                <c:pt idx="1">
                  <c:v>99.999999979393081</c:v>
                </c:pt>
                <c:pt idx="2">
                  <c:v>19.186321302997005</c:v>
                </c:pt>
                <c:pt idx="3">
                  <c:v>153.25035921005531</c:v>
                </c:pt>
                <c:pt idx="4">
                  <c:v>12.207730317219582</c:v>
                </c:pt>
                <c:pt idx="5">
                  <c:v>146.48204556468235</c:v>
                </c:pt>
                <c:pt idx="6">
                  <c:v>32.140966737114482</c:v>
                </c:pt>
                <c:pt idx="7">
                  <c:v>144.07460564889598</c:v>
                </c:pt>
                <c:pt idx="8">
                  <c:v>36.623627916124221</c:v>
                </c:pt>
                <c:pt idx="9">
                  <c:v>171.15942006570896</c:v>
                </c:pt>
                <c:pt idx="10">
                  <c:v>33.020816260535618</c:v>
                </c:pt>
                <c:pt idx="11">
                  <c:v>188.79703945980287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1-AC42-BEF3-03E8762E7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5225423"/>
        <c:axId val="1295412271"/>
      </c:barChart>
      <c:catAx>
        <c:axId val="1295225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412271"/>
        <c:crosses val="autoZero"/>
        <c:auto val="1"/>
        <c:lblAlgn val="ctr"/>
        <c:lblOffset val="100"/>
        <c:noMultiLvlLbl val="0"/>
      </c:catAx>
      <c:valAx>
        <c:axId val="1295412271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Relative Luc activity [%]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22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 b="1" i="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 b="0">
                <a:latin typeface="+mj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48519"/>
            <a:ext cx="11099800" cy="69830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2400" b="1" u="sng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3"/>
            <a:ext cx="11099800" cy="4875289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4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183256" y="340852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/4</a:t>
            </a:r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6B9FD-9A17-DA47-BA18-E41A7E29252C}" type="datetime1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5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1"/>
          </a:solidFill>
          <a:latin typeface="+mj-ea"/>
          <a:ea typeface="+mj-ea"/>
          <a:cs typeface="+mn-cs"/>
        </a:defRPr>
      </a:lvl2pPr>
      <a:lvl3pPr marL="1252538" indent="-338138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3637953"/>
            <a:ext cx="11099800" cy="469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今後の予定</a:t>
            </a:r>
            <a:r>
              <a:rPr kumimoji="1" lang="en-US" altLang="ja-JP" dirty="0"/>
              <a:t>(</a:t>
            </a:r>
            <a:r>
              <a:rPr kumimoji="1" lang="ja-JP" altLang="en-US"/>
              <a:t>前回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B6E4A7A-31E8-F7AB-957A-38C0F467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67727"/>
              </p:ext>
            </p:extLst>
          </p:nvPr>
        </p:nvGraphicFramePr>
        <p:xfrm>
          <a:off x="546100" y="4173701"/>
          <a:ext cx="11119874" cy="19444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10/4〜10/7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10/7〜10/11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10/14〜10/19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ペプチドアレイ合成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TGR5</a:t>
                      </a:r>
                      <a:r>
                        <a:rPr kumimoji="1" lang="ja-JP" altLang="en-US"/>
                        <a:t>活性評価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モデルの解析、改善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</a:tbl>
          </a:graphicData>
        </a:graphic>
      </p:graphicFrame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B5B3D5-8931-E5D6-5DA7-65DBB2E90259}"/>
              </a:ext>
            </a:extLst>
          </p:cNvPr>
          <p:cNvGrpSpPr/>
          <p:nvPr/>
        </p:nvGrpSpPr>
        <p:grpSpPr>
          <a:xfrm rot="5400000">
            <a:off x="9866414" y="3745046"/>
            <a:ext cx="353858" cy="3205114"/>
            <a:chOff x="7800489" y="2818451"/>
            <a:chExt cx="840658" cy="2492477"/>
          </a:xfrm>
        </p:grpSpPr>
        <p:sp>
          <p:nvSpPr>
            <p:cNvPr id="17" name="二等辺三角形 23">
              <a:extLst>
                <a:ext uri="{FF2B5EF4-FFF2-40B4-BE49-F238E27FC236}">
                  <a16:creationId xmlns:a16="http://schemas.microsoft.com/office/drawing/2014/main" id="{4D638BC3-D6EB-C369-8F06-41F31AB1094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24">
              <a:extLst>
                <a:ext uri="{FF2B5EF4-FFF2-40B4-BE49-F238E27FC236}">
                  <a16:creationId xmlns:a16="http://schemas.microsoft.com/office/drawing/2014/main" id="{6720C1A0-8C65-0CED-28FD-57BEF7172545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5DF8A0C-F77F-DA00-250B-88A0BEF26505}"/>
              </a:ext>
            </a:extLst>
          </p:cNvPr>
          <p:cNvGrpSpPr/>
          <p:nvPr/>
        </p:nvGrpSpPr>
        <p:grpSpPr>
          <a:xfrm rot="5400000">
            <a:off x="8884884" y="3561993"/>
            <a:ext cx="339565" cy="2516990"/>
            <a:chOff x="7800489" y="2818451"/>
            <a:chExt cx="840658" cy="2492477"/>
          </a:xfrm>
        </p:grpSpPr>
        <p:sp>
          <p:nvSpPr>
            <p:cNvPr id="20" name="二等辺三角形 23">
              <a:extLst>
                <a:ext uri="{FF2B5EF4-FFF2-40B4-BE49-F238E27FC236}">
                  <a16:creationId xmlns:a16="http://schemas.microsoft.com/office/drawing/2014/main" id="{345C67FD-E417-F7FB-EA5B-16E93B85B8B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4">
              <a:extLst>
                <a:ext uri="{FF2B5EF4-FFF2-40B4-BE49-F238E27FC236}">
                  <a16:creationId xmlns:a16="http://schemas.microsoft.com/office/drawing/2014/main" id="{A9A971C1-C327-1B98-1A22-2167D02D163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6025408-6E19-1D4F-5E28-4A0798C7C1EA}"/>
              </a:ext>
            </a:extLst>
          </p:cNvPr>
          <p:cNvGrpSpPr/>
          <p:nvPr/>
        </p:nvGrpSpPr>
        <p:grpSpPr>
          <a:xfrm rot="5400000">
            <a:off x="8532441" y="2936137"/>
            <a:ext cx="353858" cy="5873061"/>
            <a:chOff x="7800489" y="2818451"/>
            <a:chExt cx="840658" cy="2492477"/>
          </a:xfrm>
        </p:grpSpPr>
        <p:sp>
          <p:nvSpPr>
            <p:cNvPr id="23" name="二等辺三角形 23">
              <a:extLst>
                <a:ext uri="{FF2B5EF4-FFF2-40B4-BE49-F238E27FC236}">
                  <a16:creationId xmlns:a16="http://schemas.microsoft.com/office/drawing/2014/main" id="{2DE3125C-DB43-7B86-4ABD-5EAD1EF631D3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4">
              <a:extLst>
                <a:ext uri="{FF2B5EF4-FFF2-40B4-BE49-F238E27FC236}">
                  <a16:creationId xmlns:a16="http://schemas.microsoft.com/office/drawing/2014/main" id="{AB5866F8-5695-9758-EF88-F74CD4CEA10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678AA56A-228A-B649-3C76-0F576FB09635}"/>
              </a:ext>
            </a:extLst>
          </p:cNvPr>
          <p:cNvSpPr txBox="1">
            <a:spLocks/>
          </p:cNvSpPr>
          <p:nvPr/>
        </p:nvSpPr>
        <p:spPr>
          <a:xfrm>
            <a:off x="546099" y="1038483"/>
            <a:ext cx="4926383" cy="2538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今後の方針</a:t>
            </a:r>
            <a:endParaRPr lang="en-US" altLang="ja-JP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b="0"/>
              <a:t>今回構築したモデルで予測された上位のペプチドを合成し、</a:t>
            </a:r>
            <a:r>
              <a:rPr lang="en-US" altLang="ja-JP" b="0" dirty="0"/>
              <a:t>TGR5</a:t>
            </a:r>
            <a:r>
              <a:rPr lang="ja-JP" altLang="en-US" b="0"/>
              <a:t>活性評価を行う。</a:t>
            </a:r>
            <a:endParaRPr lang="en-US" altLang="ja-JP" b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b="0"/>
              <a:t>そこで得られたデータから解析を行う。</a:t>
            </a:r>
            <a:endParaRPr lang="en-US" altLang="ja-JP" b="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C86E519-2E6A-4673-31D5-25C968CAA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82" y="1036851"/>
            <a:ext cx="6350000" cy="254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0FBFF3-1982-6CAD-B28F-A8F66FB930AE}"/>
              </a:ext>
            </a:extLst>
          </p:cNvPr>
          <p:cNvSpPr txBox="1"/>
          <p:nvPr/>
        </p:nvSpPr>
        <p:spPr>
          <a:xfrm>
            <a:off x="6981801" y="3616546"/>
            <a:ext cx="333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モデルによる予測の上位</a:t>
            </a:r>
            <a:r>
              <a:rPr kumimoji="1" lang="en-US" altLang="ja-JP" dirty="0"/>
              <a:t>10</a:t>
            </a:r>
            <a:r>
              <a:rPr kumimoji="1" lang="ja-JP" altLang="en-US"/>
              <a:t>配列</a:t>
            </a:r>
          </a:p>
        </p:txBody>
      </p:sp>
    </p:spTree>
    <p:extLst>
      <p:ext uri="{BB962C8B-B14F-4D97-AF65-F5344CB8AC3E}">
        <p14:creationId xmlns:p14="http://schemas.microsoft.com/office/powerpoint/2010/main" val="121863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C3AC-9E99-53D2-3C62-21F39E50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5CFF35-8015-3A9A-1BD0-0A73501BC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ペプチドアレイでの合成、</a:t>
            </a:r>
            <a:r>
              <a:rPr lang="en-US" altLang="ja-JP" dirty="0"/>
              <a:t>TGR5</a:t>
            </a:r>
            <a:r>
              <a:rPr lang="ja-JP" altLang="en-US"/>
              <a:t>活性の評価</a:t>
            </a:r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841C3BB5-D3D9-3FB0-9B92-D6455F2C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907858"/>
            <a:ext cx="11099800" cy="5601916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目的</a:t>
            </a:r>
            <a:r>
              <a:rPr lang="ja-JP" altLang="en-US" b="0"/>
              <a:t>：機械学習により予測された</a:t>
            </a:r>
            <a:r>
              <a:rPr lang="en-US" altLang="ja-JP" b="0" dirty="0"/>
              <a:t>TGR5</a:t>
            </a:r>
            <a:r>
              <a:rPr lang="ja-JP" altLang="en-US" b="0"/>
              <a:t>活性を示すペプチドをペプチドアレイで合成し、評価する。</a:t>
            </a: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r>
              <a:rPr lang="ja-JP" altLang="en-US"/>
              <a:t>ペプチドの添加に関して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u="sng"/>
              <a:t>方法</a:t>
            </a:r>
            <a:r>
              <a:rPr lang="en-US" altLang="ja-JP" u="sng" dirty="0"/>
              <a:t>: </a:t>
            </a:r>
            <a:r>
              <a:rPr lang="en-US" altLang="ja-JP" b="0" u="sng" dirty="0"/>
              <a:t>1</a:t>
            </a:r>
            <a:r>
              <a:rPr lang="ja-JP" altLang="en-US" b="0" u="sng"/>
              <a:t>スポットあたり</a:t>
            </a:r>
            <a:r>
              <a:rPr lang="en-US" altLang="ja-JP" b="0" u="sng" dirty="0"/>
              <a:t>50µL</a:t>
            </a:r>
            <a:r>
              <a:rPr lang="ja-JP" altLang="en-US" b="0" u="sng"/>
              <a:t>の</a:t>
            </a:r>
            <a:r>
              <a:rPr lang="en-US" altLang="ja-JP" b="0" u="sng" dirty="0"/>
              <a:t>HBSS</a:t>
            </a:r>
            <a:r>
              <a:rPr lang="ja-JP" altLang="en-US" b="0" u="sng"/>
              <a:t>でペプチドを溶出し、溶出液</a:t>
            </a:r>
            <a:r>
              <a:rPr lang="en-US" altLang="ja-JP" b="0" u="sng" dirty="0"/>
              <a:t>50µL</a:t>
            </a:r>
            <a:r>
              <a:rPr lang="ja-JP" altLang="en-US" b="0" u="sng"/>
              <a:t>を</a:t>
            </a:r>
            <a:r>
              <a:rPr lang="en-US" altLang="ja-JP" b="0" u="sng" dirty="0"/>
              <a:t>well</a:t>
            </a:r>
            <a:r>
              <a:rPr lang="ja-JP" altLang="en-US" b="0" u="sng"/>
              <a:t>に添加する。</a:t>
            </a:r>
            <a:endParaRPr lang="en-US" altLang="ja-JP" b="0" u="sng" dirty="0"/>
          </a:p>
          <a:p>
            <a:r>
              <a:rPr lang="en-US" altLang="ja-JP" b="0" dirty="0"/>
              <a:t>8</a:t>
            </a:r>
            <a:r>
              <a:rPr lang="ja-JP" altLang="en-US" b="0"/>
              <a:t>スポット分合成しているため</a:t>
            </a:r>
            <a:r>
              <a:rPr lang="en-US" altLang="ja-JP" b="0" dirty="0"/>
              <a:t>400µL</a:t>
            </a:r>
            <a:r>
              <a:rPr lang="ja-JP" altLang="en-US" b="0"/>
              <a:t>の</a:t>
            </a:r>
            <a:r>
              <a:rPr lang="en-US" altLang="ja-JP" b="0" dirty="0"/>
              <a:t>200µM</a:t>
            </a:r>
            <a:r>
              <a:rPr lang="ja-JP" altLang="en-US" b="0"/>
              <a:t>溶出液が得られる。</a:t>
            </a:r>
            <a:endParaRPr lang="en-US" altLang="ja-JP" b="0" dirty="0"/>
          </a:p>
          <a:p>
            <a:r>
              <a:rPr lang="en-US" altLang="ja-JP" b="0" dirty="0"/>
              <a:t>1</a:t>
            </a:r>
            <a:r>
              <a:rPr lang="ja-JP" altLang="en-US" b="0"/>
              <a:t>スポットあたり約</a:t>
            </a:r>
            <a:r>
              <a:rPr lang="en-US" altLang="ja-JP" b="0" dirty="0"/>
              <a:t>10nmol</a:t>
            </a:r>
            <a:r>
              <a:rPr lang="ja-JP" altLang="en-US" b="0"/>
              <a:t>のペプチドが得られるため、</a:t>
            </a:r>
            <a:r>
              <a:rPr lang="en-US" altLang="ja-JP" b="0" dirty="0"/>
              <a:t>1well</a:t>
            </a:r>
            <a:r>
              <a:rPr lang="ja-JP" altLang="en-US" b="0"/>
              <a:t>あたりのペプチド濃度は約</a:t>
            </a:r>
            <a:r>
              <a:rPr lang="en-US" altLang="ja-JP" b="0" dirty="0"/>
              <a:t>20µM</a:t>
            </a:r>
            <a:r>
              <a:rPr lang="ja-JP" altLang="en-US" b="0"/>
              <a:t>になる。</a:t>
            </a:r>
            <a:endParaRPr lang="en-US" altLang="ja-JP" b="0" dirty="0"/>
          </a:p>
          <a:p>
            <a:pPr lvl="1"/>
            <a:r>
              <a:rPr lang="ja-JP" altLang="en-US" b="0"/>
              <a:t>元々</a:t>
            </a:r>
            <a:r>
              <a:rPr lang="ja-JP" altLang="en-US"/>
              <a:t>の評価系ではペプチドを</a:t>
            </a:r>
            <a:r>
              <a:rPr lang="en-US" altLang="ja-JP" dirty="0"/>
              <a:t>2µM</a:t>
            </a:r>
            <a:r>
              <a:rPr lang="ja-JP" altLang="en-US"/>
              <a:t>で添加していたが、現状ポジコン</a:t>
            </a:r>
            <a:r>
              <a:rPr lang="en-US" altLang="ja-JP" dirty="0"/>
              <a:t>(3</a:t>
            </a:r>
            <a:r>
              <a:rPr lang="ja-JP" altLang="en-US"/>
              <a:t>残基ペプチドで活性がでるもの</a:t>
            </a:r>
            <a:r>
              <a:rPr lang="en-US" altLang="ja-JP" dirty="0"/>
              <a:t>)</a:t>
            </a:r>
            <a:r>
              <a:rPr lang="ja-JP" altLang="en-US"/>
              <a:t>が</a:t>
            </a:r>
            <a:br>
              <a:rPr lang="en-US" altLang="ja-JP" dirty="0"/>
            </a:br>
            <a:r>
              <a:rPr lang="ja-JP" altLang="en-US"/>
              <a:t>ないので、多めに</a:t>
            </a:r>
            <a:r>
              <a:rPr lang="en-US" altLang="ja-JP" dirty="0"/>
              <a:t>20µM</a:t>
            </a:r>
            <a:r>
              <a:rPr lang="ja-JP" altLang="en-US"/>
              <a:t>で添加する。</a:t>
            </a:r>
            <a:endParaRPr lang="en-US" altLang="ja-JP" b="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A78F181-A367-F384-DECC-EAE19C05E59F}"/>
              </a:ext>
            </a:extLst>
          </p:cNvPr>
          <p:cNvGrpSpPr/>
          <p:nvPr/>
        </p:nvGrpSpPr>
        <p:grpSpPr>
          <a:xfrm>
            <a:off x="0" y="1520648"/>
            <a:ext cx="12192001" cy="2073016"/>
            <a:chOff x="-1" y="1152784"/>
            <a:chExt cx="12192001" cy="207301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860ADF7-59A8-735B-FEE4-D593E7650C41}"/>
                </a:ext>
              </a:extLst>
            </p:cNvPr>
            <p:cNvSpPr/>
            <p:nvPr/>
          </p:nvSpPr>
          <p:spPr>
            <a:xfrm>
              <a:off x="-1" y="1155700"/>
              <a:ext cx="12192001" cy="207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図形, 円&#10;&#10;自動的に生成された説明">
              <a:extLst>
                <a:ext uri="{FF2B5EF4-FFF2-40B4-BE49-F238E27FC236}">
                  <a16:creationId xmlns:a16="http://schemas.microsoft.com/office/drawing/2014/main" id="{B7F88217-16D3-1097-8EBD-E1CAC350B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619" y="1821170"/>
              <a:ext cx="1248882" cy="897084"/>
            </a:xfrm>
            <a:prstGeom prst="rect">
              <a:avLst/>
            </a:prstGeom>
          </p:spPr>
        </p:pic>
        <p:pic>
          <p:nvPicPr>
            <p:cNvPr id="6" name="図 5" descr="図形, 円&#10;&#10;自動的に生成された説明">
              <a:extLst>
                <a:ext uri="{FF2B5EF4-FFF2-40B4-BE49-F238E27FC236}">
                  <a16:creationId xmlns:a16="http://schemas.microsoft.com/office/drawing/2014/main" id="{BCA035C4-EEF6-DD0A-30BA-24FD6D11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228" y="1821170"/>
              <a:ext cx="1248882" cy="897084"/>
            </a:xfrm>
            <a:prstGeom prst="rect">
              <a:avLst/>
            </a:prstGeom>
          </p:spPr>
        </p:pic>
        <p:pic>
          <p:nvPicPr>
            <p:cNvPr id="7" name="図 6" descr="図形, 円&#10;&#10;自動的に生成された説明">
              <a:extLst>
                <a:ext uri="{FF2B5EF4-FFF2-40B4-BE49-F238E27FC236}">
                  <a16:creationId xmlns:a16="http://schemas.microsoft.com/office/drawing/2014/main" id="{A762E6F9-2FFF-F321-0168-F4C594EFD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955" y="1821170"/>
              <a:ext cx="1248882" cy="897084"/>
            </a:xfrm>
            <a:prstGeom prst="rect">
              <a:avLst/>
            </a:prstGeom>
          </p:spPr>
        </p:pic>
        <p:pic>
          <p:nvPicPr>
            <p:cNvPr id="8" name="図 7" descr="洗面道具 が含まれている画像&#10;&#10;自動的に生成された説明">
              <a:extLst>
                <a:ext uri="{FF2B5EF4-FFF2-40B4-BE49-F238E27FC236}">
                  <a16:creationId xmlns:a16="http://schemas.microsoft.com/office/drawing/2014/main" id="{CB1DBFAC-E9C1-E36F-2D32-A5C4A591D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623" y="1827997"/>
              <a:ext cx="1283520" cy="897084"/>
            </a:xfrm>
            <a:prstGeom prst="rect">
              <a:avLst/>
            </a:prstGeom>
          </p:spPr>
        </p:pic>
        <p:pic>
          <p:nvPicPr>
            <p:cNvPr id="9" name="図 8" descr="洗面道具 が含まれている画像&#10;&#10;自動的に生成された説明">
              <a:extLst>
                <a:ext uri="{FF2B5EF4-FFF2-40B4-BE49-F238E27FC236}">
                  <a16:creationId xmlns:a16="http://schemas.microsoft.com/office/drawing/2014/main" id="{93A8DBBB-AB87-BB6F-EFBB-805D945FF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7929" y="1821170"/>
              <a:ext cx="1283520" cy="897084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CC92B877-88C8-11DF-B2E7-B19794FD3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1235" y="1896708"/>
              <a:ext cx="373004" cy="746007"/>
            </a:xfrm>
            <a:prstGeom prst="rect">
              <a:avLst/>
            </a:prstGeom>
          </p:spPr>
        </p:pic>
        <p:pic>
          <p:nvPicPr>
            <p:cNvPr id="11" name="図 10" descr="背景パターン&#10;&#10;自動的に生成された説明">
              <a:extLst>
                <a:ext uri="{FF2B5EF4-FFF2-40B4-BE49-F238E27FC236}">
                  <a16:creationId xmlns:a16="http://schemas.microsoft.com/office/drawing/2014/main" id="{3DEF8D6D-BBF2-3525-00BF-8F8C74EBF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24025" y="1715873"/>
              <a:ext cx="377713" cy="1107676"/>
            </a:xfrm>
            <a:prstGeom prst="rect">
              <a:avLst/>
            </a:prstGeom>
          </p:spPr>
        </p:pic>
        <p:sp>
          <p:nvSpPr>
            <p:cNvPr id="12" name="山形 11">
              <a:extLst>
                <a:ext uri="{FF2B5EF4-FFF2-40B4-BE49-F238E27FC236}">
                  <a16:creationId xmlns:a16="http://schemas.microsoft.com/office/drawing/2014/main" id="{AE707A52-9DEF-9EAD-679B-8A6943033AA8}"/>
                </a:ext>
              </a:extLst>
            </p:cNvPr>
            <p:cNvSpPr/>
            <p:nvPr/>
          </p:nvSpPr>
          <p:spPr>
            <a:xfrm>
              <a:off x="1980614" y="2103585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山形 12">
              <a:extLst>
                <a:ext uri="{FF2B5EF4-FFF2-40B4-BE49-F238E27FC236}">
                  <a16:creationId xmlns:a16="http://schemas.microsoft.com/office/drawing/2014/main" id="{4BE859A8-AB89-5167-7DBA-38EA91507D50}"/>
                </a:ext>
              </a:extLst>
            </p:cNvPr>
            <p:cNvSpPr/>
            <p:nvPr/>
          </p:nvSpPr>
          <p:spPr>
            <a:xfrm>
              <a:off x="3879311" y="2106138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山形 13">
              <a:extLst>
                <a:ext uri="{FF2B5EF4-FFF2-40B4-BE49-F238E27FC236}">
                  <a16:creationId xmlns:a16="http://schemas.microsoft.com/office/drawing/2014/main" id="{B120F532-EFFD-99A9-5760-BAB6F9FE9FA2}"/>
                </a:ext>
              </a:extLst>
            </p:cNvPr>
            <p:cNvSpPr/>
            <p:nvPr/>
          </p:nvSpPr>
          <p:spPr>
            <a:xfrm>
              <a:off x="5778038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山形 14">
              <a:extLst>
                <a:ext uri="{FF2B5EF4-FFF2-40B4-BE49-F238E27FC236}">
                  <a16:creationId xmlns:a16="http://schemas.microsoft.com/office/drawing/2014/main" id="{DA6DAE65-FCD7-E967-E961-1ACDBA90213B}"/>
                </a:ext>
              </a:extLst>
            </p:cNvPr>
            <p:cNvSpPr/>
            <p:nvPr/>
          </p:nvSpPr>
          <p:spPr>
            <a:xfrm>
              <a:off x="7711344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山形 15">
              <a:extLst>
                <a:ext uri="{FF2B5EF4-FFF2-40B4-BE49-F238E27FC236}">
                  <a16:creationId xmlns:a16="http://schemas.microsoft.com/office/drawing/2014/main" id="{92BF8904-C33E-084C-CAA3-87CBEB77EFDB}"/>
                </a:ext>
              </a:extLst>
            </p:cNvPr>
            <p:cNvSpPr/>
            <p:nvPr/>
          </p:nvSpPr>
          <p:spPr>
            <a:xfrm>
              <a:off x="9644650" y="2110075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山形 16">
              <a:extLst>
                <a:ext uri="{FF2B5EF4-FFF2-40B4-BE49-F238E27FC236}">
                  <a16:creationId xmlns:a16="http://schemas.microsoft.com/office/drawing/2014/main" id="{28616DD6-F636-1BD7-0EFD-25F9538E424F}"/>
                </a:ext>
              </a:extLst>
            </p:cNvPr>
            <p:cNvSpPr/>
            <p:nvPr/>
          </p:nvSpPr>
          <p:spPr>
            <a:xfrm>
              <a:off x="10667440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pic>
          <p:nvPicPr>
            <p:cNvPr id="18" name="図 17" descr="図形, 矢印&#10;&#10;自動的に生成された説明">
              <a:extLst>
                <a:ext uri="{FF2B5EF4-FFF2-40B4-BE49-F238E27FC236}">
                  <a16:creationId xmlns:a16="http://schemas.microsoft.com/office/drawing/2014/main" id="{B80EB659-0CA1-09E0-D1A2-A1426353D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0631" y="1517445"/>
              <a:ext cx="377713" cy="36028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6F7CB4-0DDF-6A91-5546-19BD97747B6B}"/>
                </a:ext>
              </a:extLst>
            </p:cNvPr>
            <p:cNvSpPr txBox="1"/>
            <p:nvPr/>
          </p:nvSpPr>
          <p:spPr>
            <a:xfrm>
              <a:off x="149810" y="2819555"/>
              <a:ext cx="2026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HEK293T </a:t>
              </a:r>
              <a:r>
                <a:rPr kumimoji="1" lang="ja-JP" altLang="en-US" sz="1400"/>
                <a:t>播種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A735009-4F8C-6CC0-21A9-9D7C314B6CBB}"/>
                </a:ext>
              </a:extLst>
            </p:cNvPr>
            <p:cNvSpPr txBox="1"/>
            <p:nvPr/>
          </p:nvSpPr>
          <p:spPr>
            <a:xfrm>
              <a:off x="1917916" y="2819554"/>
              <a:ext cx="22875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トランスフェクション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B5ADBBE-0963-891F-EFB9-552EBB85614D}"/>
                </a:ext>
              </a:extLst>
            </p:cNvPr>
            <p:cNvSpPr txBox="1"/>
            <p:nvPr/>
          </p:nvSpPr>
          <p:spPr>
            <a:xfrm>
              <a:off x="4150192" y="2819553"/>
              <a:ext cx="1611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培地交換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10B05B7-7A2C-9F04-9DBA-ABF8563E9686}"/>
                </a:ext>
              </a:extLst>
            </p:cNvPr>
            <p:cNvSpPr txBox="1"/>
            <p:nvPr/>
          </p:nvSpPr>
          <p:spPr>
            <a:xfrm>
              <a:off x="6435000" y="2819552"/>
              <a:ext cx="882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継代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F0F3540-10AC-6246-F160-F84F279FB6F0}"/>
                </a:ext>
              </a:extLst>
            </p:cNvPr>
            <p:cNvSpPr txBox="1"/>
            <p:nvPr/>
          </p:nvSpPr>
          <p:spPr>
            <a:xfrm>
              <a:off x="7755288" y="2822528"/>
              <a:ext cx="21059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DCA, </a:t>
              </a:r>
              <a:r>
                <a:rPr kumimoji="1" lang="ja-JP" altLang="en-US" sz="1400"/>
                <a:t>ペプチド添加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F4806E5-A736-CC3F-066A-B05E19386277}"/>
                </a:ext>
              </a:extLst>
            </p:cNvPr>
            <p:cNvSpPr txBox="1"/>
            <p:nvPr/>
          </p:nvSpPr>
          <p:spPr>
            <a:xfrm>
              <a:off x="9547633" y="2819551"/>
              <a:ext cx="14797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ライセート</a:t>
              </a:r>
              <a:endParaRPr kumimoji="1" lang="ja-JP" altLang="en-US" sz="140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3E2ADEA3-749D-93D2-024C-ECC33980B254}"/>
                </a:ext>
              </a:extLst>
            </p:cNvPr>
            <p:cNvSpPr txBox="1"/>
            <p:nvPr/>
          </p:nvSpPr>
          <p:spPr>
            <a:xfrm>
              <a:off x="10572985" y="2819550"/>
              <a:ext cx="14797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発光測定</a:t>
              </a:r>
              <a:endParaRPr kumimoji="1" lang="ja-JP" altLang="en-US" sz="1400"/>
            </a:p>
          </p:txBody>
        </p:sp>
        <p:pic>
          <p:nvPicPr>
            <p:cNvPr id="29" name="図 28" descr="巣蜜, 建物, ミラー が含まれている画像&#10;&#10;自動的に生成された説明">
              <a:extLst>
                <a:ext uri="{FF2B5EF4-FFF2-40B4-BE49-F238E27FC236}">
                  <a16:creationId xmlns:a16="http://schemas.microsoft.com/office/drawing/2014/main" id="{BF33C325-12CF-21AA-61EA-C8B67F49D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5075" y="1529917"/>
              <a:ext cx="539290" cy="319260"/>
            </a:xfrm>
            <a:prstGeom prst="rect">
              <a:avLst/>
            </a:prstGeom>
          </p:spPr>
        </p:pic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6BF41CF5-BB35-9917-857D-AE62C2D62E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6862" y="1383886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13E401E4-937D-1EA5-1D9C-B17D2DE12F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01628" y="1295667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56A6ADDE-6222-FBFB-9064-D0E13C353A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34112" y="1328105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111BA957-F1CF-A67A-FEC2-ADB26CF61F44}"/>
                </a:ext>
              </a:extLst>
            </p:cNvPr>
            <p:cNvGrpSpPr/>
            <p:nvPr/>
          </p:nvGrpSpPr>
          <p:grpSpPr>
            <a:xfrm rot="11694743">
              <a:off x="8467852" y="1535685"/>
              <a:ext cx="244790" cy="360376"/>
              <a:chOff x="2664127" y="3374455"/>
              <a:chExt cx="1201975" cy="1567649"/>
            </a:xfrm>
            <a:solidFill>
              <a:schemeClr val="bg2">
                <a:lumMod val="60000"/>
                <a:lumOff val="40000"/>
              </a:schemeClr>
            </a:solidFill>
          </p:grpSpPr>
          <p:sp>
            <p:nvSpPr>
              <p:cNvPr id="40" name="二等辺三角形 4">
                <a:extLst>
                  <a:ext uri="{FF2B5EF4-FFF2-40B4-BE49-F238E27FC236}">
                    <a16:creationId xmlns:a16="http://schemas.microsoft.com/office/drawing/2014/main" id="{5186C665-5B7B-7F6E-44D5-631CF6D85E01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41" name="フリーフォーム: 図形 9">
                <a:extLst>
                  <a:ext uri="{FF2B5EF4-FFF2-40B4-BE49-F238E27FC236}">
                    <a16:creationId xmlns:a16="http://schemas.microsoft.com/office/drawing/2014/main" id="{A534DBDF-5A3C-CDEE-213E-476FD6AECD35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2D5C568-1422-0186-A514-1D82E1283E67}"/>
                </a:ext>
              </a:extLst>
            </p:cNvPr>
            <p:cNvSpPr txBox="1"/>
            <p:nvPr/>
          </p:nvSpPr>
          <p:spPr>
            <a:xfrm>
              <a:off x="1810434" y="21100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24h</a:t>
              </a:r>
              <a:endParaRPr kumimoji="1" lang="ja-JP" altLang="en-US" sz="140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7A12D7CA-6C77-8EE3-BEDC-546D41F4C524}"/>
                </a:ext>
              </a:extLst>
            </p:cNvPr>
            <p:cNvSpPr txBox="1"/>
            <p:nvPr/>
          </p:nvSpPr>
          <p:spPr>
            <a:xfrm>
              <a:off x="3712282" y="21183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24h</a:t>
              </a:r>
              <a:endParaRPr kumimoji="1" lang="ja-JP" altLang="en-US" sz="140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062FB13B-35C0-0CD7-9102-68BE5F54FC89}"/>
                </a:ext>
              </a:extLst>
            </p:cNvPr>
            <p:cNvSpPr txBox="1"/>
            <p:nvPr/>
          </p:nvSpPr>
          <p:spPr>
            <a:xfrm>
              <a:off x="5607858" y="2118424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4h</a:t>
              </a:r>
              <a:endParaRPr kumimoji="1" lang="ja-JP" altLang="en-US" sz="140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6A5D548-3BFB-691F-54F3-61154B0F06AB}"/>
                </a:ext>
              </a:extLst>
            </p:cNvPr>
            <p:cNvSpPr txBox="1"/>
            <p:nvPr/>
          </p:nvSpPr>
          <p:spPr>
            <a:xfrm>
              <a:off x="7538693" y="21100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/>
                <a:t>20h</a:t>
              </a:r>
              <a:endParaRPr kumimoji="1" lang="ja-JP" altLang="en-US" sz="140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4A948109-9583-9F5B-7F5C-33DF23E122CA}"/>
                </a:ext>
              </a:extLst>
            </p:cNvPr>
            <p:cNvSpPr txBox="1"/>
            <p:nvPr/>
          </p:nvSpPr>
          <p:spPr>
            <a:xfrm>
              <a:off x="9479520" y="21183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/>
                <a:t>2h</a:t>
              </a:r>
              <a:endParaRPr kumimoji="1" lang="ja-JP" altLang="en-US" sz="1400"/>
            </a:p>
          </p:txBody>
        </p:sp>
        <p:sp>
          <p:nvSpPr>
            <p:cNvPr id="39" name="コンテンツ プレースホルダー 2">
              <a:extLst>
                <a:ext uri="{FF2B5EF4-FFF2-40B4-BE49-F238E27FC236}">
                  <a16:creationId xmlns:a16="http://schemas.microsoft.com/office/drawing/2014/main" id="{90A7EAD5-EC72-2316-E642-309F193C87A4}"/>
                </a:ext>
              </a:extLst>
            </p:cNvPr>
            <p:cNvSpPr txBox="1">
              <a:spLocks/>
            </p:cNvSpPr>
            <p:nvPr/>
          </p:nvSpPr>
          <p:spPr>
            <a:xfrm>
              <a:off x="546100" y="1152784"/>
              <a:ext cx="11099800" cy="50403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Clr>
                  <a:schemeClr val="accent4"/>
                </a:buClr>
                <a:buFont typeface="Wingdings" pitchFamily="2" charset="2"/>
                <a:buChar char="l"/>
                <a:defRPr kumimoji="1" sz="20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 kumimoji="1"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252538" indent="-338138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06563" indent="-334963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51063" indent="-322263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itchFamily="2" charset="2"/>
                <a:buNone/>
              </a:pPr>
              <a:r>
                <a:rPr lang="ja-JP" altLang="en-US"/>
                <a:t>方法</a:t>
              </a:r>
              <a:endParaRPr lang="en-US" altLang="ja-JP" dirty="0"/>
            </a:p>
          </p:txBody>
        </p:sp>
      </p:grp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B5A4B9E-9CA2-A456-A3B7-BF91BE4C1905}"/>
              </a:ext>
            </a:extLst>
          </p:cNvPr>
          <p:cNvSpPr txBox="1"/>
          <p:nvPr/>
        </p:nvSpPr>
        <p:spPr>
          <a:xfrm>
            <a:off x="6818596" y="1568987"/>
            <a:ext cx="1490521" cy="578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dirty="0"/>
              <a:t>DCA</a:t>
            </a:r>
            <a:r>
              <a:rPr kumimoji="1" lang="ja-JP" altLang="en-US" sz="1400"/>
              <a:t>は</a:t>
            </a:r>
            <a:r>
              <a:rPr kumimoji="1" lang="en-US" altLang="ja-JP" sz="1400" dirty="0"/>
              <a:t>2µM, </a:t>
            </a:r>
            <a:br>
              <a:rPr kumimoji="1" lang="en-US" altLang="ja-JP" sz="1400" dirty="0"/>
            </a:br>
            <a:r>
              <a:rPr kumimoji="1" lang="ja-JP" altLang="en-US" sz="1400"/>
              <a:t>ペプチドは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0µM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5F8F7BE-1ECF-146D-9C99-1F8DF7244252}"/>
              </a:ext>
            </a:extLst>
          </p:cNvPr>
          <p:cNvSpPr txBox="1"/>
          <p:nvPr/>
        </p:nvSpPr>
        <p:spPr>
          <a:xfrm>
            <a:off x="2759148" y="8248294"/>
            <a:ext cx="3201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2µM * 500µL = 1n mol</a:t>
            </a:r>
            <a:br>
              <a:rPr lang="en-US" altLang="ja-JP" dirty="0"/>
            </a:br>
            <a:r>
              <a:rPr lang="en-US" altLang="ja-JP" dirty="0"/>
              <a:t>10nmol * 8 / 500µL = 160µM</a:t>
            </a:r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00004D2-F890-7C07-CDFE-9812A58204A8}"/>
              </a:ext>
            </a:extLst>
          </p:cNvPr>
          <p:cNvSpPr txBox="1"/>
          <p:nvPr/>
        </p:nvSpPr>
        <p:spPr>
          <a:xfrm>
            <a:off x="8995448" y="1590885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×10</a:t>
            </a:r>
            <a:r>
              <a:rPr lang="ja-JP" altLang="en-US" sz="1400"/>
              <a:t>配列</a:t>
            </a:r>
            <a:endParaRPr kumimoji="1" lang="ja-JP" altLang="en-US" sz="1400"/>
          </a:p>
        </p:txBody>
      </p:sp>
      <p:graphicFrame>
        <p:nvGraphicFramePr>
          <p:cNvPr id="46" name="グラフ 45">
            <a:extLst>
              <a:ext uri="{FF2B5EF4-FFF2-40B4-BE49-F238E27FC236}">
                <a16:creationId xmlns:a16="http://schemas.microsoft.com/office/drawing/2014/main" id="{4D492A22-43E5-8604-F4AE-FCFEF04DD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9951011"/>
              </p:ext>
            </p:extLst>
          </p:nvPr>
        </p:nvGraphicFramePr>
        <p:xfrm>
          <a:off x="7798036" y="7031532"/>
          <a:ext cx="5549900" cy="2433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11C6503-9860-3D2B-C1AF-A9745B33F985}"/>
              </a:ext>
            </a:extLst>
          </p:cNvPr>
          <p:cNvSpPr txBox="1"/>
          <p:nvPr/>
        </p:nvSpPr>
        <p:spPr>
          <a:xfrm>
            <a:off x="8391829" y="9363093"/>
            <a:ext cx="4548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DCA, DCA</a:t>
            </a:r>
            <a:r>
              <a:rPr kumimoji="1" lang="ja-JP" altLang="en-US" sz="1400"/>
              <a:t>結合ペプチドを</a:t>
            </a:r>
            <a:r>
              <a:rPr kumimoji="1" lang="en-US" altLang="ja-JP" sz="1400" dirty="0"/>
              <a:t>2µM</a:t>
            </a:r>
            <a:r>
              <a:rPr kumimoji="1" lang="ja-JP" altLang="en-US" sz="1400"/>
              <a:t>で添加した際の</a:t>
            </a:r>
            <a:r>
              <a:rPr kumimoji="1" lang="en-US" altLang="ja-JP" sz="1400" dirty="0"/>
              <a:t>TGR5</a:t>
            </a:r>
            <a:r>
              <a:rPr kumimoji="1" lang="ja-JP" altLang="en-US" sz="1400"/>
              <a:t>活性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66CCDE8-4118-ABE2-E85B-6D11DB49E9ED}"/>
              </a:ext>
            </a:extLst>
          </p:cNvPr>
          <p:cNvSpPr txBox="1"/>
          <p:nvPr/>
        </p:nvSpPr>
        <p:spPr>
          <a:xfrm>
            <a:off x="2964617" y="7783163"/>
            <a:ext cx="398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スポットで</a:t>
            </a:r>
            <a:r>
              <a:rPr kumimoji="1" lang="en-US" altLang="ja-JP" dirty="0"/>
              <a:t>10nmol -&gt; 500µL</a:t>
            </a:r>
            <a:r>
              <a:rPr kumimoji="1" lang="ja-JP" altLang="en-US"/>
              <a:t>だと</a:t>
            </a:r>
            <a:r>
              <a:rPr lang="en-US" altLang="ja-JP" dirty="0"/>
              <a:t>20µM</a:t>
            </a:r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2BF903B-458C-CDB3-79D0-023B1A23132F}"/>
              </a:ext>
            </a:extLst>
          </p:cNvPr>
          <p:cNvSpPr txBox="1"/>
          <p:nvPr/>
        </p:nvSpPr>
        <p:spPr>
          <a:xfrm>
            <a:off x="2492375" y="-2617643"/>
            <a:ext cx="667669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ja-JP" altLang="en-US" b="0"/>
              <a:t>各配列を</a:t>
            </a:r>
            <a:r>
              <a:rPr lang="en-US" altLang="ja-JP" b="0" dirty="0"/>
              <a:t>8</a:t>
            </a:r>
            <a:r>
              <a:rPr lang="ja-JP" altLang="en-US" b="0"/>
              <a:t>スポット分合成した。</a:t>
            </a:r>
            <a:endParaRPr lang="en-US" altLang="ja-JP" b="0" dirty="0"/>
          </a:p>
          <a:p>
            <a:pPr>
              <a:spcBef>
                <a:spcPts val="600"/>
              </a:spcBef>
            </a:pPr>
            <a:r>
              <a:rPr lang="ja-JP" altLang="en-US" b="0"/>
              <a:t>ペプチドの溶出方法</a:t>
            </a:r>
            <a:endParaRPr lang="en-US" altLang="ja-JP" b="0" dirty="0"/>
          </a:p>
          <a:p>
            <a:pPr lvl="1">
              <a:spcBef>
                <a:spcPts val="600"/>
              </a:spcBef>
            </a:pPr>
            <a:r>
              <a:rPr lang="en-US" altLang="ja-JP" b="0" dirty="0"/>
              <a:t>1</a:t>
            </a:r>
            <a:r>
              <a:rPr lang="ja-JP" altLang="en-US" b="0"/>
              <a:t>スポットあたり</a:t>
            </a:r>
            <a:r>
              <a:rPr lang="en-US" altLang="ja-JP" b="0" dirty="0"/>
              <a:t>50µL</a:t>
            </a:r>
            <a:r>
              <a:rPr lang="ja-JP" altLang="en-US" b="0"/>
              <a:t>の</a:t>
            </a:r>
            <a:r>
              <a:rPr lang="en-US" altLang="ja-JP" b="0" dirty="0"/>
              <a:t>PBS</a:t>
            </a:r>
            <a:r>
              <a:rPr lang="ja-JP" altLang="en-US"/>
              <a:t>でペプチドを溶出する。</a:t>
            </a:r>
            <a:endParaRPr lang="en-US" altLang="ja-JP" dirty="0"/>
          </a:p>
          <a:p>
            <a:pPr lvl="1">
              <a:spcBef>
                <a:spcPts val="600"/>
              </a:spcBef>
            </a:pPr>
            <a:r>
              <a:rPr lang="en-US" altLang="ja-JP" b="0" dirty="0"/>
              <a:t>200µM</a:t>
            </a:r>
            <a:r>
              <a:rPr lang="ja-JP" altLang="en-US" b="0"/>
              <a:t>のペプチド溶出液が</a:t>
            </a:r>
            <a:r>
              <a:rPr lang="en-US" altLang="ja-JP" b="0" dirty="0"/>
              <a:t>400µL</a:t>
            </a:r>
            <a:r>
              <a:rPr lang="ja-JP" altLang="en-US" b="0"/>
              <a:t>得られ、うち</a:t>
            </a:r>
            <a:r>
              <a:rPr lang="en-US" altLang="ja-JP" b="0" dirty="0"/>
              <a:t>50µL</a:t>
            </a:r>
            <a:r>
              <a:rPr lang="ja-JP" altLang="en-US" b="0"/>
              <a:t>を</a:t>
            </a:r>
            <a:r>
              <a:rPr lang="en-US" altLang="ja-JP" b="0" dirty="0"/>
              <a:t>well</a:t>
            </a:r>
            <a:r>
              <a:rPr lang="ja-JP" altLang="en-US" b="0"/>
              <a:t>に添加する</a:t>
            </a:r>
            <a:endParaRPr lang="en-US" altLang="ja-JP" b="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053C492-9DF9-1452-200B-A31F431B83A5}"/>
              </a:ext>
            </a:extLst>
          </p:cNvPr>
          <p:cNvSpPr txBox="1"/>
          <p:nvPr/>
        </p:nvSpPr>
        <p:spPr>
          <a:xfrm>
            <a:off x="766482" y="7031532"/>
            <a:ext cx="261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10nmol / 500µL = 20µM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533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BEB7B0-DE9E-04CC-ECA9-431D8EFAE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ペプチドの残基数について</a:t>
            </a:r>
          </a:p>
        </p:txBody>
      </p:sp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4973FE08-75CB-3524-596D-F53E884E7F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267215"/>
              </p:ext>
            </p:extLst>
          </p:nvPr>
        </p:nvGraphicFramePr>
        <p:xfrm>
          <a:off x="7714226" y="2244874"/>
          <a:ext cx="3931674" cy="18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41FE47F4-4DBB-7845-A34A-5A931764E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4206984"/>
              </p:ext>
            </p:extLst>
          </p:nvPr>
        </p:nvGraphicFramePr>
        <p:xfrm>
          <a:off x="7734300" y="3709585"/>
          <a:ext cx="3931674" cy="18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F57307ED-765A-DC45-8E54-2B9614BC2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821217"/>
              </p:ext>
            </p:extLst>
          </p:nvPr>
        </p:nvGraphicFramePr>
        <p:xfrm>
          <a:off x="7734300" y="5174296"/>
          <a:ext cx="3931674" cy="18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ABFB48E-6A3C-E1A5-6A87-893AA331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3"/>
            <a:ext cx="11099800" cy="4875289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目的：候補ペプチドの残基数を考える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方法：データベースの</a:t>
            </a:r>
            <a:r>
              <a:rPr lang="en-US" altLang="ja-JP" dirty="0"/>
              <a:t>TGR5</a:t>
            </a:r>
            <a:r>
              <a:rPr lang="ja-JP" altLang="en-US"/>
              <a:t>低分子アゴニストの分子量と、</a:t>
            </a:r>
            <a:r>
              <a:rPr lang="en-US" altLang="ja-JP" dirty="0"/>
              <a:t>n</a:t>
            </a:r>
            <a:r>
              <a:rPr lang="ja-JP" altLang="en-US"/>
              <a:t>残基ペプチドの分子量を比較する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結果：</a:t>
            </a:r>
            <a:r>
              <a:rPr kumimoji="1" lang="en-US" altLang="ja-JP" dirty="0"/>
              <a:t> </a:t>
            </a:r>
          </a:p>
          <a:p>
            <a:endParaRPr kumimoji="1" lang="ja-JP" altLang="en-US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B8D94711-1452-0991-ADF4-C197A2219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048519"/>
            <a:ext cx="7168126" cy="698304"/>
          </a:xfrm>
        </p:spPr>
        <p:txBody>
          <a:bodyPr/>
          <a:lstStyle/>
          <a:p>
            <a:r>
              <a:rPr lang="ja-JP" altLang="en-US"/>
              <a:t>候補ペプチドは</a:t>
            </a:r>
            <a:r>
              <a:rPr lang="en-US" altLang="ja-JP" dirty="0"/>
              <a:t>2〜4</a:t>
            </a:r>
            <a:r>
              <a:rPr lang="ja-JP" altLang="en-US"/>
              <a:t>残基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3FDA550-38BA-0B2F-0857-E7D7DDBB6C14}"/>
              </a:ext>
            </a:extLst>
          </p:cNvPr>
          <p:cNvSpPr txBox="1"/>
          <p:nvPr/>
        </p:nvSpPr>
        <p:spPr>
          <a:xfrm>
            <a:off x="10971676" y="2295674"/>
            <a:ext cx="674224" cy="3405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dirty="0"/>
              <a:t>2</a:t>
            </a:r>
            <a:r>
              <a:rPr kumimoji="1" lang="ja-JP" altLang="en-US" sz="1400"/>
              <a:t>残基</a:t>
            </a:r>
            <a:endParaRPr kumimoji="1" lang="en-US" altLang="ja-JP" sz="1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4B3A93-66A3-B29E-C225-32E56E88FDAA}"/>
              </a:ext>
            </a:extLst>
          </p:cNvPr>
          <p:cNvSpPr txBox="1"/>
          <p:nvPr/>
        </p:nvSpPr>
        <p:spPr>
          <a:xfrm>
            <a:off x="10971676" y="3827035"/>
            <a:ext cx="674224" cy="3405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400" dirty="0"/>
              <a:t>3</a:t>
            </a:r>
            <a:r>
              <a:rPr kumimoji="1" lang="ja-JP" altLang="en-US" sz="1400"/>
              <a:t>残基</a:t>
            </a:r>
            <a:endParaRPr kumimoji="1" lang="en-US" altLang="ja-JP" sz="1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76945B3-15BD-4EB8-023C-920843B97621}"/>
              </a:ext>
            </a:extLst>
          </p:cNvPr>
          <p:cNvSpPr txBox="1"/>
          <p:nvPr/>
        </p:nvSpPr>
        <p:spPr>
          <a:xfrm>
            <a:off x="10971676" y="5266938"/>
            <a:ext cx="674224" cy="3405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400" dirty="0"/>
              <a:t>4</a:t>
            </a:r>
            <a:r>
              <a:rPr kumimoji="1" lang="ja-JP" altLang="en-US" sz="1400"/>
              <a:t>残基</a:t>
            </a:r>
            <a:endParaRPr kumimoji="1" lang="en-US" altLang="ja-JP" sz="1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835178-58E3-D03B-FB73-F1C7592B0777}"/>
              </a:ext>
            </a:extLst>
          </p:cNvPr>
          <p:cNvSpPr txBox="1"/>
          <p:nvPr/>
        </p:nvSpPr>
        <p:spPr>
          <a:xfrm>
            <a:off x="2054433" y="2204530"/>
            <a:ext cx="4390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データベース中の</a:t>
            </a:r>
            <a:r>
              <a:rPr kumimoji="1" lang="en-US" altLang="ja-JP" sz="1400" dirty="0"/>
              <a:t>TGR5</a:t>
            </a:r>
            <a:r>
              <a:rPr kumimoji="1" lang="ja-JP" altLang="en-US" sz="1400"/>
              <a:t>低分子アゴニストの分子量分布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409DC61-E66C-3B3D-D979-6D6A760258FF}"/>
              </a:ext>
            </a:extLst>
          </p:cNvPr>
          <p:cNvSpPr txBox="1"/>
          <p:nvPr/>
        </p:nvSpPr>
        <p:spPr>
          <a:xfrm>
            <a:off x="8530586" y="1989359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n</a:t>
            </a:r>
            <a:r>
              <a:rPr kumimoji="1" lang="ja-JP" altLang="en-US" sz="1400"/>
              <a:t>残基ペプチドの分子量分布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A5E4C28-C442-75E0-C9C0-322F4FDB2FE6}"/>
              </a:ext>
            </a:extLst>
          </p:cNvPr>
          <p:cNvSpPr txBox="1"/>
          <p:nvPr/>
        </p:nvSpPr>
        <p:spPr>
          <a:xfrm>
            <a:off x="3937000" y="-8255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aphicFrame>
        <p:nvGraphicFramePr>
          <p:cNvPr id="18" name="グラフ 17">
            <a:extLst>
              <a:ext uri="{FF2B5EF4-FFF2-40B4-BE49-F238E27FC236}">
                <a16:creationId xmlns:a16="http://schemas.microsoft.com/office/drawing/2014/main" id="{4AE0E04A-57CB-BAA0-3F61-EEC7BB9812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092997"/>
              </p:ext>
            </p:extLst>
          </p:nvPr>
        </p:nvGraphicFramePr>
        <p:xfrm>
          <a:off x="1559438" y="2425792"/>
          <a:ext cx="5398650" cy="2445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1334FE3-2336-8F21-CDB7-1D9694251B92}"/>
              </a:ext>
            </a:extLst>
          </p:cNvPr>
          <p:cNvSpPr txBox="1"/>
          <p:nvPr/>
        </p:nvSpPr>
        <p:spPr>
          <a:xfrm>
            <a:off x="546100" y="4925333"/>
            <a:ext cx="6984604" cy="869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/>
              <a:t>データベース中のアゴニストの分子量は</a:t>
            </a:r>
            <a:r>
              <a:rPr kumimoji="1" lang="en-US" altLang="ja-JP" dirty="0"/>
              <a:t>250〜650</a:t>
            </a:r>
            <a:r>
              <a:rPr lang="ja-JP" altLang="en-US"/>
              <a:t>に集中していた。</a:t>
            </a:r>
            <a:endParaRPr lang="en-US" altLang="ja-JP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/>
              <a:t>構造相関を考えると、分子量が近い</a:t>
            </a:r>
            <a:r>
              <a:rPr kumimoji="1" lang="en-US" altLang="ja-JP" dirty="0"/>
              <a:t>2〜4</a:t>
            </a:r>
            <a:r>
              <a:rPr kumimoji="1" lang="ja-JP" altLang="en-US"/>
              <a:t>残基が適切と考えられる。</a:t>
            </a:r>
          </a:p>
        </p:txBody>
      </p:sp>
    </p:spTree>
    <p:extLst>
      <p:ext uri="{BB962C8B-B14F-4D97-AF65-F5344CB8AC3E}">
        <p14:creationId xmlns:p14="http://schemas.microsoft.com/office/powerpoint/2010/main" val="658355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69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今後の予定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0D18B77-4AFB-7EF9-DBE7-BFD0BD483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90162"/>
              </p:ext>
            </p:extLst>
          </p:nvPr>
        </p:nvGraphicFramePr>
        <p:xfrm>
          <a:off x="546100" y="1550777"/>
          <a:ext cx="11119874" cy="24753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10/15〜10/18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10/21〜10/25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10/28〜11/1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ペプチド合成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TGR5</a:t>
                      </a:r>
                      <a:r>
                        <a:rPr kumimoji="1" lang="ja-JP" altLang="en-US"/>
                        <a:t>活性評価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別のペプチドを合成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モデルの解析、改善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628484"/>
                  </a:ext>
                </a:extLst>
              </a:tr>
            </a:tbl>
          </a:graphicData>
        </a:graphic>
      </p:graphicFrame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7720D23F-A4A1-9B20-4E4C-2F2A839D2EDF}"/>
              </a:ext>
            </a:extLst>
          </p:cNvPr>
          <p:cNvGrpSpPr/>
          <p:nvPr/>
        </p:nvGrpSpPr>
        <p:grpSpPr>
          <a:xfrm rot="5400000">
            <a:off x="8067662" y="1193674"/>
            <a:ext cx="353858" cy="3062010"/>
            <a:chOff x="7800489" y="2818451"/>
            <a:chExt cx="840658" cy="2492477"/>
          </a:xfrm>
        </p:grpSpPr>
        <p:sp>
          <p:nvSpPr>
            <p:cNvPr id="8" name="二等辺三角形 23">
              <a:extLst>
                <a:ext uri="{FF2B5EF4-FFF2-40B4-BE49-F238E27FC236}">
                  <a16:creationId xmlns:a16="http://schemas.microsoft.com/office/drawing/2014/main" id="{21321AFC-56F4-5F99-D5FE-6360D9F0B3C0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二等辺三角形 24">
              <a:extLst>
                <a:ext uri="{FF2B5EF4-FFF2-40B4-BE49-F238E27FC236}">
                  <a16:creationId xmlns:a16="http://schemas.microsoft.com/office/drawing/2014/main" id="{84949877-F7C6-7C2D-9D2B-02CF04617877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E0E9E41-972E-42C4-4715-EED24EFAA842}"/>
              </a:ext>
            </a:extLst>
          </p:cNvPr>
          <p:cNvGrpSpPr/>
          <p:nvPr/>
        </p:nvGrpSpPr>
        <p:grpSpPr>
          <a:xfrm rot="5400000">
            <a:off x="6033353" y="1720500"/>
            <a:ext cx="339565" cy="954128"/>
            <a:chOff x="7800489" y="2818451"/>
            <a:chExt cx="840658" cy="2492477"/>
          </a:xfrm>
        </p:grpSpPr>
        <p:sp>
          <p:nvSpPr>
            <p:cNvPr id="11" name="二等辺三角形 23">
              <a:extLst>
                <a:ext uri="{FF2B5EF4-FFF2-40B4-BE49-F238E27FC236}">
                  <a16:creationId xmlns:a16="http://schemas.microsoft.com/office/drawing/2014/main" id="{27353B01-489C-005D-DD41-5D7E3E29F41F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二等辺三角形 24">
              <a:extLst>
                <a:ext uri="{FF2B5EF4-FFF2-40B4-BE49-F238E27FC236}">
                  <a16:creationId xmlns:a16="http://schemas.microsoft.com/office/drawing/2014/main" id="{D8872B46-58D1-BC67-0553-89E7038968F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FC7D326-C9BF-AD85-8DD1-F340F98BF7F2}"/>
              </a:ext>
            </a:extLst>
          </p:cNvPr>
          <p:cNvGrpSpPr/>
          <p:nvPr/>
        </p:nvGrpSpPr>
        <p:grpSpPr>
          <a:xfrm rot="5400000">
            <a:off x="9983071" y="1751143"/>
            <a:ext cx="353858" cy="2921001"/>
            <a:chOff x="7800489" y="2818451"/>
            <a:chExt cx="840658" cy="2492477"/>
          </a:xfrm>
        </p:grpSpPr>
        <p:sp>
          <p:nvSpPr>
            <p:cNvPr id="14" name="二等辺三角形 23">
              <a:extLst>
                <a:ext uri="{FF2B5EF4-FFF2-40B4-BE49-F238E27FC236}">
                  <a16:creationId xmlns:a16="http://schemas.microsoft.com/office/drawing/2014/main" id="{44D752D1-CF3B-553B-B14D-8819FF870EBF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DD21B947-CC9C-819E-B1AD-C243AB067928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A3ED35F-8795-CB52-620A-EE14284095C7}"/>
              </a:ext>
            </a:extLst>
          </p:cNvPr>
          <p:cNvSpPr txBox="1"/>
          <p:nvPr/>
        </p:nvSpPr>
        <p:spPr>
          <a:xfrm>
            <a:off x="1452283" y="6996455"/>
            <a:ext cx="4802918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ペプチドの合成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今週中に終わる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自分が考慮しないといけないことはない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TGR5</a:t>
            </a:r>
            <a:r>
              <a:rPr lang="ja-JP" altLang="en-US"/>
              <a:t>活性評価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ルシフェラーぜの分注しないとだわ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予約も忘れずに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プロトコル作ること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結果は</a:t>
            </a:r>
            <a:r>
              <a:rPr lang="en-US" altLang="ja-JP" dirty="0"/>
              <a:t>25</a:t>
            </a:r>
            <a:r>
              <a:rPr lang="ja-JP" altLang="en-US"/>
              <a:t>にでる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Jphacks</a:t>
            </a:r>
            <a:r>
              <a:rPr lang="ja-JP" altLang="en-US"/>
              <a:t>との兼ね合い、いつ評価するか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ミーティング月曜あるのきついな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コアタイム中になんとかしたい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別のペプチドを合成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これ並行する余裕があるかどうか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未知数すぐる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そもそもアレイ使って大丈夫か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まぁ大丈夫でしょう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In silico</a:t>
            </a:r>
            <a:r>
              <a:rPr lang="ja-JP" altLang="en-US"/>
              <a:t>は一旦おやすみで大丈夫そう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/>
              <a:t>モデル構築の根拠を示せるようにすること</a:t>
            </a:r>
            <a:endParaRPr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これ暇な時にやろう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888AA2F-37C4-5EF6-B46F-640D7B3073D9}"/>
              </a:ext>
            </a:extLst>
          </p:cNvPr>
          <p:cNvGrpSpPr/>
          <p:nvPr/>
        </p:nvGrpSpPr>
        <p:grpSpPr>
          <a:xfrm rot="5400000">
            <a:off x="8532441" y="798060"/>
            <a:ext cx="353858" cy="5873061"/>
            <a:chOff x="7800489" y="2818451"/>
            <a:chExt cx="840658" cy="2492477"/>
          </a:xfrm>
        </p:grpSpPr>
        <p:sp>
          <p:nvSpPr>
            <p:cNvPr id="31" name="二等辺三角形 23">
              <a:extLst>
                <a:ext uri="{FF2B5EF4-FFF2-40B4-BE49-F238E27FC236}">
                  <a16:creationId xmlns:a16="http://schemas.microsoft.com/office/drawing/2014/main" id="{824182AA-BC8C-2085-6991-66DCAC35045E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二等辺三角形 24">
              <a:extLst>
                <a:ext uri="{FF2B5EF4-FFF2-40B4-BE49-F238E27FC236}">
                  <a16:creationId xmlns:a16="http://schemas.microsoft.com/office/drawing/2014/main" id="{B14D1232-D287-D51B-2A00-98350D43DEEB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378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969B6F-6E86-6147-AAA2-BA2A48A8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1B3323-6E92-B839-310D-DA94AF04A4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ペプチドアレイでの合成、</a:t>
            </a:r>
            <a:r>
              <a:rPr lang="en-US" altLang="ja-JP" dirty="0"/>
              <a:t>TGR5</a:t>
            </a:r>
            <a:r>
              <a:rPr lang="ja-JP" altLang="en-US"/>
              <a:t>活性の評価</a:t>
            </a:r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306CA042-D425-AA08-6A95-B60641BD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907858"/>
            <a:ext cx="11099800" cy="5601916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目的</a:t>
            </a:r>
            <a:r>
              <a:rPr lang="ja-JP" altLang="en-US" b="0"/>
              <a:t>：機械学習により予測された</a:t>
            </a:r>
            <a:r>
              <a:rPr lang="en-US" altLang="ja-JP" b="0" dirty="0"/>
              <a:t>TGR5</a:t>
            </a:r>
            <a:r>
              <a:rPr lang="ja-JP" altLang="en-US" b="0"/>
              <a:t>活性を示すペプチドをアレイで合成して評価する。</a:t>
            </a: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>
              <a:spcBef>
                <a:spcPts val="600"/>
              </a:spcBef>
            </a:pPr>
            <a:r>
              <a:rPr lang="ja-JP" altLang="en-US" b="0"/>
              <a:t>ポジコン</a:t>
            </a:r>
            <a:r>
              <a:rPr lang="en-US" altLang="ja-JP" b="0" dirty="0"/>
              <a:t>(3</a:t>
            </a:r>
            <a:r>
              <a:rPr lang="ja-JP" altLang="en-US" b="0"/>
              <a:t>残基ペプチドで活性が出るもの</a:t>
            </a:r>
            <a:r>
              <a:rPr lang="en-US" altLang="ja-JP" b="0" dirty="0"/>
              <a:t>)</a:t>
            </a:r>
            <a:r>
              <a:rPr lang="ja-JP" altLang="en-US" b="0"/>
              <a:t>が現状ないので、各配列を多めに</a:t>
            </a:r>
            <a:r>
              <a:rPr lang="en-US" altLang="ja-JP" b="0" dirty="0"/>
              <a:t>(8</a:t>
            </a:r>
            <a:r>
              <a:rPr lang="ja-JP" altLang="en-US" b="0"/>
              <a:t>スポット分</a:t>
            </a:r>
            <a:r>
              <a:rPr lang="en-US" altLang="ja-JP" b="0" dirty="0"/>
              <a:t>)</a:t>
            </a:r>
            <a:r>
              <a:rPr lang="ja-JP" altLang="en-US" b="0"/>
              <a:t>合成する。</a:t>
            </a:r>
            <a:endParaRPr lang="en-US" altLang="ja-JP" b="0" dirty="0"/>
          </a:p>
          <a:p>
            <a:pPr>
              <a:spcBef>
                <a:spcPts val="600"/>
              </a:spcBef>
            </a:pPr>
            <a:r>
              <a:rPr lang="ja-JP" altLang="en-US" u="sng"/>
              <a:t>ペプチドを加える際どうするか</a:t>
            </a:r>
            <a:endParaRPr lang="en-US" altLang="ja-JP" u="sng" dirty="0"/>
          </a:p>
          <a:p>
            <a:pPr lvl="1">
              <a:spcBef>
                <a:spcPts val="600"/>
              </a:spcBef>
            </a:pPr>
            <a:r>
              <a:rPr lang="ja-JP" altLang="en-US"/>
              <a:t>培地でペプチドを溶出するか</a:t>
            </a:r>
            <a:endParaRPr lang="en-US" altLang="ja-JP" dirty="0"/>
          </a:p>
          <a:p>
            <a:pPr lvl="1">
              <a:spcBef>
                <a:spcPts val="600"/>
              </a:spcBef>
            </a:pPr>
            <a:r>
              <a:rPr lang="en-US" altLang="ja-JP" dirty="0"/>
              <a:t>PBS</a:t>
            </a:r>
            <a:r>
              <a:rPr lang="ja-JP" altLang="en-US"/>
              <a:t>などで溶出するか</a:t>
            </a:r>
            <a:r>
              <a:rPr lang="en-US" altLang="ja-JP" dirty="0"/>
              <a:t> </a:t>
            </a:r>
          </a:p>
          <a:p>
            <a:pPr>
              <a:spcBef>
                <a:spcPts val="600"/>
              </a:spcBef>
            </a:pPr>
            <a:endParaRPr lang="en-US" altLang="ja-JP" b="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597508C-F16C-13E6-EA9B-9A275C8E2D6E}"/>
              </a:ext>
            </a:extLst>
          </p:cNvPr>
          <p:cNvGrpSpPr/>
          <p:nvPr/>
        </p:nvGrpSpPr>
        <p:grpSpPr>
          <a:xfrm>
            <a:off x="0" y="1457584"/>
            <a:ext cx="12192001" cy="2073016"/>
            <a:chOff x="-1" y="1152784"/>
            <a:chExt cx="12192001" cy="207301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FDECA63E-D0C9-F842-F711-9B9C512D16A8}"/>
                </a:ext>
              </a:extLst>
            </p:cNvPr>
            <p:cNvSpPr/>
            <p:nvPr/>
          </p:nvSpPr>
          <p:spPr>
            <a:xfrm>
              <a:off x="-1" y="1155700"/>
              <a:ext cx="12192001" cy="207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図形, 円&#10;&#10;自動的に生成された説明">
              <a:extLst>
                <a:ext uri="{FF2B5EF4-FFF2-40B4-BE49-F238E27FC236}">
                  <a16:creationId xmlns:a16="http://schemas.microsoft.com/office/drawing/2014/main" id="{37EE38E3-924E-EC5A-7745-F11AACDCA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619" y="1821170"/>
              <a:ext cx="1248882" cy="897084"/>
            </a:xfrm>
            <a:prstGeom prst="rect">
              <a:avLst/>
            </a:prstGeom>
          </p:spPr>
        </p:pic>
        <p:pic>
          <p:nvPicPr>
            <p:cNvPr id="6" name="図 5" descr="図形, 円&#10;&#10;自動的に生成された説明">
              <a:extLst>
                <a:ext uri="{FF2B5EF4-FFF2-40B4-BE49-F238E27FC236}">
                  <a16:creationId xmlns:a16="http://schemas.microsoft.com/office/drawing/2014/main" id="{4CC0A39D-219E-E782-4CEC-DBEB566EF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228" y="1821170"/>
              <a:ext cx="1248882" cy="897084"/>
            </a:xfrm>
            <a:prstGeom prst="rect">
              <a:avLst/>
            </a:prstGeom>
          </p:spPr>
        </p:pic>
        <p:pic>
          <p:nvPicPr>
            <p:cNvPr id="7" name="図 6" descr="図形, 円&#10;&#10;自動的に生成された説明">
              <a:extLst>
                <a:ext uri="{FF2B5EF4-FFF2-40B4-BE49-F238E27FC236}">
                  <a16:creationId xmlns:a16="http://schemas.microsoft.com/office/drawing/2014/main" id="{F03BC899-28AC-84EC-50CF-B1CA2F726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955" y="1821170"/>
              <a:ext cx="1248882" cy="897084"/>
            </a:xfrm>
            <a:prstGeom prst="rect">
              <a:avLst/>
            </a:prstGeom>
          </p:spPr>
        </p:pic>
        <p:pic>
          <p:nvPicPr>
            <p:cNvPr id="8" name="図 7" descr="洗面道具 が含まれている画像&#10;&#10;自動的に生成された説明">
              <a:extLst>
                <a:ext uri="{FF2B5EF4-FFF2-40B4-BE49-F238E27FC236}">
                  <a16:creationId xmlns:a16="http://schemas.microsoft.com/office/drawing/2014/main" id="{E7913937-112A-B5C3-65D5-BE3E94789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623" y="1827997"/>
              <a:ext cx="1283520" cy="897084"/>
            </a:xfrm>
            <a:prstGeom prst="rect">
              <a:avLst/>
            </a:prstGeom>
          </p:spPr>
        </p:pic>
        <p:pic>
          <p:nvPicPr>
            <p:cNvPr id="9" name="図 8" descr="洗面道具 が含まれている画像&#10;&#10;自動的に生成された説明">
              <a:extLst>
                <a:ext uri="{FF2B5EF4-FFF2-40B4-BE49-F238E27FC236}">
                  <a16:creationId xmlns:a16="http://schemas.microsoft.com/office/drawing/2014/main" id="{5FA8E675-658C-8DDA-9649-7FF24AA05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7929" y="1821170"/>
              <a:ext cx="1283520" cy="897084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33402A9-5D84-06E7-7658-EFB415958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1235" y="1896708"/>
              <a:ext cx="373004" cy="746007"/>
            </a:xfrm>
            <a:prstGeom prst="rect">
              <a:avLst/>
            </a:prstGeom>
          </p:spPr>
        </p:pic>
        <p:pic>
          <p:nvPicPr>
            <p:cNvPr id="11" name="図 10" descr="背景パターン&#10;&#10;自動的に生成された説明">
              <a:extLst>
                <a:ext uri="{FF2B5EF4-FFF2-40B4-BE49-F238E27FC236}">
                  <a16:creationId xmlns:a16="http://schemas.microsoft.com/office/drawing/2014/main" id="{22AD618F-48D2-E37F-CF68-67066F8EE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24025" y="1715873"/>
              <a:ext cx="377713" cy="1107676"/>
            </a:xfrm>
            <a:prstGeom prst="rect">
              <a:avLst/>
            </a:prstGeom>
          </p:spPr>
        </p:pic>
        <p:sp>
          <p:nvSpPr>
            <p:cNvPr id="12" name="山形 11">
              <a:extLst>
                <a:ext uri="{FF2B5EF4-FFF2-40B4-BE49-F238E27FC236}">
                  <a16:creationId xmlns:a16="http://schemas.microsoft.com/office/drawing/2014/main" id="{BB36ED99-43FF-B508-1A23-394879C47AD9}"/>
                </a:ext>
              </a:extLst>
            </p:cNvPr>
            <p:cNvSpPr/>
            <p:nvPr/>
          </p:nvSpPr>
          <p:spPr>
            <a:xfrm>
              <a:off x="1980614" y="2103585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山形 12">
              <a:extLst>
                <a:ext uri="{FF2B5EF4-FFF2-40B4-BE49-F238E27FC236}">
                  <a16:creationId xmlns:a16="http://schemas.microsoft.com/office/drawing/2014/main" id="{22077A75-E07B-5EED-60B4-3B02733FB7A0}"/>
                </a:ext>
              </a:extLst>
            </p:cNvPr>
            <p:cNvSpPr/>
            <p:nvPr/>
          </p:nvSpPr>
          <p:spPr>
            <a:xfrm>
              <a:off x="3879311" y="2106138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山形 13">
              <a:extLst>
                <a:ext uri="{FF2B5EF4-FFF2-40B4-BE49-F238E27FC236}">
                  <a16:creationId xmlns:a16="http://schemas.microsoft.com/office/drawing/2014/main" id="{60FF9872-023C-64F2-296F-E048E515C97B}"/>
                </a:ext>
              </a:extLst>
            </p:cNvPr>
            <p:cNvSpPr/>
            <p:nvPr/>
          </p:nvSpPr>
          <p:spPr>
            <a:xfrm>
              <a:off x="5778038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山形 14">
              <a:extLst>
                <a:ext uri="{FF2B5EF4-FFF2-40B4-BE49-F238E27FC236}">
                  <a16:creationId xmlns:a16="http://schemas.microsoft.com/office/drawing/2014/main" id="{B6862FEA-3320-34B9-BD2D-2309EB2EEC2C}"/>
                </a:ext>
              </a:extLst>
            </p:cNvPr>
            <p:cNvSpPr/>
            <p:nvPr/>
          </p:nvSpPr>
          <p:spPr>
            <a:xfrm>
              <a:off x="7711344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山形 15">
              <a:extLst>
                <a:ext uri="{FF2B5EF4-FFF2-40B4-BE49-F238E27FC236}">
                  <a16:creationId xmlns:a16="http://schemas.microsoft.com/office/drawing/2014/main" id="{79B14B5C-763A-CE4D-C76D-F5A6BCF9D29B}"/>
                </a:ext>
              </a:extLst>
            </p:cNvPr>
            <p:cNvSpPr/>
            <p:nvPr/>
          </p:nvSpPr>
          <p:spPr>
            <a:xfrm>
              <a:off x="9644650" y="2110075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山形 16">
              <a:extLst>
                <a:ext uri="{FF2B5EF4-FFF2-40B4-BE49-F238E27FC236}">
                  <a16:creationId xmlns:a16="http://schemas.microsoft.com/office/drawing/2014/main" id="{D90306BA-C800-47E6-653F-B522243C9705}"/>
                </a:ext>
              </a:extLst>
            </p:cNvPr>
            <p:cNvSpPr/>
            <p:nvPr/>
          </p:nvSpPr>
          <p:spPr>
            <a:xfrm>
              <a:off x="10667440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pic>
          <p:nvPicPr>
            <p:cNvPr id="18" name="図 17" descr="図形, 矢印&#10;&#10;自動的に生成された説明">
              <a:extLst>
                <a:ext uri="{FF2B5EF4-FFF2-40B4-BE49-F238E27FC236}">
                  <a16:creationId xmlns:a16="http://schemas.microsoft.com/office/drawing/2014/main" id="{F2DF7EEB-20B4-444E-07B5-271C231DF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0631" y="1517445"/>
              <a:ext cx="377713" cy="36028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54B67A2-4AEA-2F74-10BC-CF684F5C6A3F}"/>
                </a:ext>
              </a:extLst>
            </p:cNvPr>
            <p:cNvSpPr txBox="1"/>
            <p:nvPr/>
          </p:nvSpPr>
          <p:spPr>
            <a:xfrm>
              <a:off x="149810" y="2819555"/>
              <a:ext cx="2026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HEK293T </a:t>
              </a:r>
              <a:r>
                <a:rPr kumimoji="1" lang="ja-JP" altLang="en-US" sz="1400"/>
                <a:t>播種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2DACDFF9-79E8-F119-FB02-4E765EB4BFFE}"/>
                </a:ext>
              </a:extLst>
            </p:cNvPr>
            <p:cNvSpPr txBox="1"/>
            <p:nvPr/>
          </p:nvSpPr>
          <p:spPr>
            <a:xfrm>
              <a:off x="1917916" y="2819554"/>
              <a:ext cx="22875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トランスフェクション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752136A5-BE01-20B2-0B83-3E777B7D3745}"/>
                </a:ext>
              </a:extLst>
            </p:cNvPr>
            <p:cNvSpPr txBox="1"/>
            <p:nvPr/>
          </p:nvSpPr>
          <p:spPr>
            <a:xfrm>
              <a:off x="4150192" y="2819553"/>
              <a:ext cx="1611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培地交換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4F89A7B-692C-2E02-3B74-F56CA5D93294}"/>
                </a:ext>
              </a:extLst>
            </p:cNvPr>
            <p:cNvSpPr txBox="1"/>
            <p:nvPr/>
          </p:nvSpPr>
          <p:spPr>
            <a:xfrm>
              <a:off x="6435000" y="2819552"/>
              <a:ext cx="882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継代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4F405FEC-36AE-5C34-EB83-5404EE8C0237}"/>
                </a:ext>
              </a:extLst>
            </p:cNvPr>
            <p:cNvSpPr txBox="1"/>
            <p:nvPr/>
          </p:nvSpPr>
          <p:spPr>
            <a:xfrm>
              <a:off x="7755288" y="2822528"/>
              <a:ext cx="21059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DCA, </a:t>
              </a:r>
              <a:r>
                <a:rPr kumimoji="1" lang="ja-JP" altLang="en-US" sz="1400"/>
                <a:t>ペプチド添加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C3A4C5E-144E-81E9-1448-89BD824F524E}"/>
                </a:ext>
              </a:extLst>
            </p:cNvPr>
            <p:cNvSpPr txBox="1"/>
            <p:nvPr/>
          </p:nvSpPr>
          <p:spPr>
            <a:xfrm>
              <a:off x="9547633" y="2819551"/>
              <a:ext cx="14797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ライセート</a:t>
              </a:r>
              <a:endParaRPr kumimoji="1" lang="ja-JP" altLang="en-US" sz="140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FA8A4CD3-5D41-E9FD-5E19-D383BD55ED2B}"/>
                </a:ext>
              </a:extLst>
            </p:cNvPr>
            <p:cNvSpPr txBox="1"/>
            <p:nvPr/>
          </p:nvSpPr>
          <p:spPr>
            <a:xfrm>
              <a:off x="10572985" y="2819550"/>
              <a:ext cx="14797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発光測定</a:t>
              </a:r>
              <a:endParaRPr kumimoji="1" lang="ja-JP" altLang="en-US" sz="1400"/>
            </a:p>
          </p:txBody>
        </p:sp>
        <p:pic>
          <p:nvPicPr>
            <p:cNvPr id="29" name="図 28" descr="巣蜜, 建物, ミラー が含まれている画像&#10;&#10;自動的に生成された説明">
              <a:extLst>
                <a:ext uri="{FF2B5EF4-FFF2-40B4-BE49-F238E27FC236}">
                  <a16:creationId xmlns:a16="http://schemas.microsoft.com/office/drawing/2014/main" id="{6A8BACEC-3CBD-8A57-96EA-B05F89F8A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5075" y="1529917"/>
              <a:ext cx="539290" cy="319260"/>
            </a:xfrm>
            <a:prstGeom prst="rect">
              <a:avLst/>
            </a:prstGeom>
          </p:spPr>
        </p:pic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6DD2F5CC-972E-8551-D274-908C6A89B7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6862" y="1383886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2C633089-C76A-F21F-D999-F86D8A86B3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01628" y="1295667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C7311BAC-1B0A-E956-240C-53E505209D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34112" y="1328105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9F364839-CAB6-CA70-EF3D-C311705632E0}"/>
                </a:ext>
              </a:extLst>
            </p:cNvPr>
            <p:cNvGrpSpPr/>
            <p:nvPr/>
          </p:nvGrpSpPr>
          <p:grpSpPr>
            <a:xfrm rot="11694743">
              <a:off x="8467852" y="1535685"/>
              <a:ext cx="244790" cy="360376"/>
              <a:chOff x="2664127" y="3374455"/>
              <a:chExt cx="1201975" cy="1567649"/>
            </a:xfrm>
            <a:solidFill>
              <a:schemeClr val="bg2">
                <a:lumMod val="60000"/>
                <a:lumOff val="40000"/>
              </a:schemeClr>
            </a:solidFill>
          </p:grpSpPr>
          <p:sp>
            <p:nvSpPr>
              <p:cNvPr id="40" name="二等辺三角形 4">
                <a:extLst>
                  <a:ext uri="{FF2B5EF4-FFF2-40B4-BE49-F238E27FC236}">
                    <a16:creationId xmlns:a16="http://schemas.microsoft.com/office/drawing/2014/main" id="{F5A0A14A-D739-D8B3-4B62-F8C4520616D5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41" name="フリーフォーム: 図形 9">
                <a:extLst>
                  <a:ext uri="{FF2B5EF4-FFF2-40B4-BE49-F238E27FC236}">
                    <a16:creationId xmlns:a16="http://schemas.microsoft.com/office/drawing/2014/main" id="{9433C55F-D193-45E2-1F29-F936B2BA2194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6EFABD56-1FAB-E7C6-634A-F557ED3C54B1}"/>
                </a:ext>
              </a:extLst>
            </p:cNvPr>
            <p:cNvSpPr txBox="1"/>
            <p:nvPr/>
          </p:nvSpPr>
          <p:spPr>
            <a:xfrm>
              <a:off x="1810434" y="21100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24h</a:t>
              </a:r>
              <a:endParaRPr kumimoji="1" lang="ja-JP" altLang="en-US" sz="140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FC08EEB3-A3C7-329A-3F73-2DB1D695D7DC}"/>
                </a:ext>
              </a:extLst>
            </p:cNvPr>
            <p:cNvSpPr txBox="1"/>
            <p:nvPr/>
          </p:nvSpPr>
          <p:spPr>
            <a:xfrm>
              <a:off x="3712282" y="21183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24h</a:t>
              </a:r>
              <a:endParaRPr kumimoji="1" lang="ja-JP" altLang="en-US" sz="140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1965C9CA-8136-0687-6402-BAB04D70CE8E}"/>
                </a:ext>
              </a:extLst>
            </p:cNvPr>
            <p:cNvSpPr txBox="1"/>
            <p:nvPr/>
          </p:nvSpPr>
          <p:spPr>
            <a:xfrm>
              <a:off x="5607858" y="2118424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4h</a:t>
              </a:r>
              <a:endParaRPr kumimoji="1" lang="ja-JP" altLang="en-US" sz="140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423ED608-56B8-9B2B-C249-3381C95B2318}"/>
                </a:ext>
              </a:extLst>
            </p:cNvPr>
            <p:cNvSpPr txBox="1"/>
            <p:nvPr/>
          </p:nvSpPr>
          <p:spPr>
            <a:xfrm>
              <a:off x="7538693" y="21100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/>
                <a:t>20h</a:t>
              </a:r>
              <a:endParaRPr kumimoji="1" lang="ja-JP" altLang="en-US" sz="140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5FFDB98-0DD5-54C4-7223-BCCFF1CB0918}"/>
                </a:ext>
              </a:extLst>
            </p:cNvPr>
            <p:cNvSpPr txBox="1"/>
            <p:nvPr/>
          </p:nvSpPr>
          <p:spPr>
            <a:xfrm>
              <a:off x="9479520" y="21183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/>
                <a:t>2h</a:t>
              </a:r>
              <a:endParaRPr kumimoji="1" lang="ja-JP" altLang="en-US" sz="1400"/>
            </a:p>
          </p:txBody>
        </p:sp>
        <p:sp>
          <p:nvSpPr>
            <p:cNvPr id="39" name="コンテンツ プレースホルダー 2">
              <a:extLst>
                <a:ext uri="{FF2B5EF4-FFF2-40B4-BE49-F238E27FC236}">
                  <a16:creationId xmlns:a16="http://schemas.microsoft.com/office/drawing/2014/main" id="{152D2B54-7D2F-082B-F342-4F07669A73E5}"/>
                </a:ext>
              </a:extLst>
            </p:cNvPr>
            <p:cNvSpPr txBox="1">
              <a:spLocks/>
            </p:cNvSpPr>
            <p:nvPr/>
          </p:nvSpPr>
          <p:spPr>
            <a:xfrm>
              <a:off x="546100" y="1152784"/>
              <a:ext cx="11099800" cy="50403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Clr>
                  <a:schemeClr val="accent4"/>
                </a:buClr>
                <a:buFont typeface="Wingdings" pitchFamily="2" charset="2"/>
                <a:buChar char="l"/>
                <a:defRPr kumimoji="1" sz="20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 kumimoji="1"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252538" indent="-338138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06563" indent="-334963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51063" indent="-322263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itchFamily="2" charset="2"/>
                <a:buNone/>
              </a:pPr>
              <a:r>
                <a:rPr lang="ja-JP" altLang="en-US"/>
                <a:t>方法</a:t>
              </a:r>
              <a:endParaRPr lang="en-US" altLang="ja-JP" dirty="0"/>
            </a:p>
          </p:txBody>
        </p:sp>
      </p:grp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F095E58-4821-C4D0-0FA0-EE11FCE73E39}"/>
              </a:ext>
            </a:extLst>
          </p:cNvPr>
          <p:cNvSpPr txBox="1"/>
          <p:nvPr/>
        </p:nvSpPr>
        <p:spPr>
          <a:xfrm>
            <a:off x="6638680" y="1553221"/>
            <a:ext cx="1578913" cy="578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dirty="0"/>
              <a:t>DCA</a:t>
            </a:r>
            <a:r>
              <a:rPr kumimoji="1" lang="ja-JP" altLang="en-US" sz="1400"/>
              <a:t>は</a:t>
            </a:r>
            <a:r>
              <a:rPr kumimoji="1" lang="en-US" altLang="ja-JP" sz="1400" dirty="0"/>
              <a:t>2µM, </a:t>
            </a:r>
            <a:br>
              <a:rPr kumimoji="1" lang="en-US" altLang="ja-JP" sz="1400" dirty="0"/>
            </a:br>
            <a:r>
              <a:rPr kumimoji="1" lang="ja-JP" altLang="en-US" sz="1400"/>
              <a:t>ペプチドは</a:t>
            </a:r>
            <a:r>
              <a:rPr kumimoji="1" lang="en-US" altLang="ja-JP" sz="1400" dirty="0"/>
              <a:t>160µM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185ADAF-74D2-44D0-F4DE-7E140103407F}"/>
              </a:ext>
            </a:extLst>
          </p:cNvPr>
          <p:cNvSpPr txBox="1"/>
          <p:nvPr/>
        </p:nvSpPr>
        <p:spPr>
          <a:xfrm>
            <a:off x="3686111" y="7492158"/>
            <a:ext cx="3201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2µM * 500µL = 1n mol</a:t>
            </a:r>
            <a:br>
              <a:rPr lang="en-US" altLang="ja-JP" dirty="0"/>
            </a:br>
            <a:r>
              <a:rPr lang="en-US" altLang="ja-JP" dirty="0"/>
              <a:t>10nmol * 8 / 500µL = 160µM</a:t>
            </a:r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AE1076D-6F5F-DCB3-5FFD-73854B56BE8C}"/>
              </a:ext>
            </a:extLst>
          </p:cNvPr>
          <p:cNvSpPr txBox="1"/>
          <p:nvPr/>
        </p:nvSpPr>
        <p:spPr>
          <a:xfrm>
            <a:off x="8995448" y="1527821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×10</a:t>
            </a:r>
            <a:r>
              <a:rPr lang="ja-JP" altLang="en-US" sz="1400"/>
              <a:t>配列</a:t>
            </a:r>
            <a:endParaRPr kumimoji="1" lang="ja-JP" altLang="en-US" sz="1400"/>
          </a:p>
        </p:txBody>
      </p:sp>
      <p:graphicFrame>
        <p:nvGraphicFramePr>
          <p:cNvPr id="46" name="グラフ 45">
            <a:extLst>
              <a:ext uri="{FF2B5EF4-FFF2-40B4-BE49-F238E27FC236}">
                <a16:creationId xmlns:a16="http://schemas.microsoft.com/office/drawing/2014/main" id="{5D76C83D-E461-3C83-54BC-270B1FF116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608908"/>
              </p:ext>
            </p:extLst>
          </p:nvPr>
        </p:nvGraphicFramePr>
        <p:xfrm>
          <a:off x="6608665" y="4190232"/>
          <a:ext cx="5549900" cy="2433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9734D16-FB45-E075-0AD1-E7951E6E1E8F}"/>
              </a:ext>
            </a:extLst>
          </p:cNvPr>
          <p:cNvSpPr txBox="1"/>
          <p:nvPr/>
        </p:nvSpPr>
        <p:spPr>
          <a:xfrm>
            <a:off x="7202458" y="6521793"/>
            <a:ext cx="4548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DCA, DCA</a:t>
            </a:r>
            <a:r>
              <a:rPr kumimoji="1" lang="ja-JP" altLang="en-US" sz="1400"/>
              <a:t>結合ペプチドを</a:t>
            </a:r>
            <a:r>
              <a:rPr kumimoji="1" lang="en-US" altLang="ja-JP" sz="1400" dirty="0"/>
              <a:t>2µM</a:t>
            </a:r>
            <a:r>
              <a:rPr kumimoji="1" lang="ja-JP" altLang="en-US" sz="1400"/>
              <a:t>で添加した際の</a:t>
            </a:r>
            <a:r>
              <a:rPr kumimoji="1" lang="en-US" altLang="ja-JP" sz="1400" dirty="0"/>
              <a:t>TGR5</a:t>
            </a:r>
            <a:r>
              <a:rPr kumimoji="1" lang="ja-JP" altLang="en-US" sz="1400"/>
              <a:t>活性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A5F1B9B-EECC-692F-98D9-C42158530838}"/>
              </a:ext>
            </a:extLst>
          </p:cNvPr>
          <p:cNvSpPr txBox="1"/>
          <p:nvPr/>
        </p:nvSpPr>
        <p:spPr>
          <a:xfrm>
            <a:off x="3616769" y="7031532"/>
            <a:ext cx="398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スポットで</a:t>
            </a:r>
            <a:r>
              <a:rPr kumimoji="1" lang="en-US" altLang="ja-JP" dirty="0"/>
              <a:t>10nmol -&gt; 500µL</a:t>
            </a:r>
            <a:r>
              <a:rPr kumimoji="1" lang="ja-JP" altLang="en-US"/>
              <a:t>だと</a:t>
            </a:r>
            <a:r>
              <a:rPr lang="en-US" altLang="ja-JP" dirty="0"/>
              <a:t>20µM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97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素材集</a:t>
            </a:r>
          </a:p>
        </p:txBody>
      </p:sp>
      <p:pic>
        <p:nvPicPr>
          <p:cNvPr id="16" name="図 15" descr="巣蜜, 建物, ミラー が含まれている画像&#10;&#10;自動的に生成された説明">
            <a:extLst>
              <a:ext uri="{FF2B5EF4-FFF2-40B4-BE49-F238E27FC236}">
                <a16:creationId xmlns:a16="http://schemas.microsoft.com/office/drawing/2014/main" id="{1D2721EE-CDF6-2723-5F42-7A778A6E52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22" y="1459222"/>
            <a:ext cx="1587500" cy="939800"/>
          </a:xfrm>
          <a:prstGeom prst="rect">
            <a:avLst/>
          </a:prstGeom>
        </p:spPr>
      </p:pic>
      <p:pic>
        <p:nvPicPr>
          <p:cNvPr id="18" name="図 17" descr="図形, 矢印&#10;&#10;自動的に生成された説明">
            <a:extLst>
              <a:ext uri="{FF2B5EF4-FFF2-40B4-BE49-F238E27FC236}">
                <a16:creationId xmlns:a16="http://schemas.microsoft.com/office/drawing/2014/main" id="{EC0A1FA9-5D5B-58B5-1E97-DE2015A4BF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611" y="2466286"/>
            <a:ext cx="492637" cy="4699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5FF0AA2-CB5C-D0DD-F01B-9F662F5229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227" y="2914574"/>
            <a:ext cx="513124" cy="1026247"/>
          </a:xfrm>
          <a:prstGeom prst="rect">
            <a:avLst/>
          </a:prstGeom>
        </p:spPr>
      </p:pic>
      <p:pic>
        <p:nvPicPr>
          <p:cNvPr id="22" name="図 21" descr="背景パターン&#10;&#10;自動的に生成された説明">
            <a:extLst>
              <a:ext uri="{FF2B5EF4-FFF2-40B4-BE49-F238E27FC236}">
                <a16:creationId xmlns:a16="http://schemas.microsoft.com/office/drawing/2014/main" id="{5434239A-8B98-543D-152A-8C832CF2FE6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2" y="1876690"/>
            <a:ext cx="676214" cy="1983054"/>
          </a:xfrm>
          <a:prstGeom prst="rect">
            <a:avLst/>
          </a:prstGeom>
        </p:spPr>
      </p:pic>
      <p:pic>
        <p:nvPicPr>
          <p:cNvPr id="26" name="図 25" descr="ダイアグラム&#10;&#10;低い精度で自動的に生成された説明">
            <a:extLst>
              <a:ext uri="{FF2B5EF4-FFF2-40B4-BE49-F238E27FC236}">
                <a16:creationId xmlns:a16="http://schemas.microsoft.com/office/drawing/2014/main" id="{A51E6FAD-F4B6-D44D-3059-D5006F095FA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4" y="1067113"/>
            <a:ext cx="2305783" cy="1611569"/>
          </a:xfrm>
          <a:prstGeom prst="rect">
            <a:avLst/>
          </a:prstGeom>
        </p:spPr>
      </p:pic>
      <p:pic>
        <p:nvPicPr>
          <p:cNvPr id="28" name="図 27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B4245E6D-394C-C910-C428-32CB856ED7C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433" y="1157008"/>
            <a:ext cx="2209434" cy="1544228"/>
          </a:xfrm>
          <a:prstGeom prst="rect">
            <a:avLst/>
          </a:prstGeom>
        </p:spPr>
      </p:pic>
      <p:pic>
        <p:nvPicPr>
          <p:cNvPr id="30" name="図 29" descr="ダイアグラム&#10;&#10;自動的に生成された説明">
            <a:extLst>
              <a:ext uri="{FF2B5EF4-FFF2-40B4-BE49-F238E27FC236}">
                <a16:creationId xmlns:a16="http://schemas.microsoft.com/office/drawing/2014/main" id="{F7BB396B-089F-6019-752C-C7EF107744D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74" y="2914574"/>
            <a:ext cx="2391961" cy="1802276"/>
          </a:xfrm>
          <a:prstGeom prst="rect">
            <a:avLst/>
          </a:prstGeom>
        </p:spPr>
      </p:pic>
      <p:pic>
        <p:nvPicPr>
          <p:cNvPr id="32" name="図 31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983C9901-2A7E-0A6B-4270-306CF53D1F1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806" y="2630557"/>
            <a:ext cx="2391961" cy="1802276"/>
          </a:xfrm>
          <a:prstGeom prst="rect">
            <a:avLst/>
          </a:prstGeom>
        </p:spPr>
      </p:pic>
      <p:pic>
        <p:nvPicPr>
          <p:cNvPr id="3" name="図 2" descr="図形, 円&#10;&#10;自動的に生成された説明">
            <a:extLst>
              <a:ext uri="{FF2B5EF4-FFF2-40B4-BE49-F238E27FC236}">
                <a16:creationId xmlns:a16="http://schemas.microsoft.com/office/drawing/2014/main" id="{AE5E1DC3-04D7-8A10-2314-17AE2BED3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72" y="5369457"/>
            <a:ext cx="1587500" cy="1140317"/>
          </a:xfrm>
          <a:prstGeom prst="rect">
            <a:avLst/>
          </a:prstGeom>
        </p:spPr>
      </p:pic>
      <p:sp>
        <p:nvSpPr>
          <p:cNvPr id="2" name="山形 1">
            <a:extLst>
              <a:ext uri="{FF2B5EF4-FFF2-40B4-BE49-F238E27FC236}">
                <a16:creationId xmlns:a16="http://schemas.microsoft.com/office/drawing/2014/main" id="{57F379B0-6B86-480F-CE5C-EE6CD4B817E1}"/>
              </a:ext>
            </a:extLst>
          </p:cNvPr>
          <p:cNvSpPr/>
          <p:nvPr/>
        </p:nvSpPr>
        <p:spPr>
          <a:xfrm>
            <a:off x="9513843" y="4501678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8C07547-E8E0-D81E-39D1-0781AFCBA57A}"/>
              </a:ext>
            </a:extLst>
          </p:cNvPr>
          <p:cNvSpPr>
            <a:spLocks noChangeAspect="1"/>
          </p:cNvSpPr>
          <p:nvPr/>
        </p:nvSpPr>
        <p:spPr>
          <a:xfrm>
            <a:off x="7468688" y="1323193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13DF3B36-46D7-5F19-E254-C48487CB4B47}"/>
              </a:ext>
            </a:extLst>
          </p:cNvPr>
          <p:cNvSpPr>
            <a:spLocks noChangeAspect="1"/>
          </p:cNvSpPr>
          <p:nvPr/>
        </p:nvSpPr>
        <p:spPr>
          <a:xfrm>
            <a:off x="7563454" y="1234974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36048A23-EDC5-A5E2-B44A-F263FDB892BE}"/>
              </a:ext>
            </a:extLst>
          </p:cNvPr>
          <p:cNvSpPr>
            <a:spLocks noChangeAspect="1"/>
          </p:cNvSpPr>
          <p:nvPr/>
        </p:nvSpPr>
        <p:spPr>
          <a:xfrm>
            <a:off x="7695938" y="1267412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58A7EAF2-E71F-BBD9-A258-2710F568D617}"/>
              </a:ext>
            </a:extLst>
          </p:cNvPr>
          <p:cNvSpPr>
            <a:spLocks noChangeAspect="1"/>
          </p:cNvSpPr>
          <p:nvPr/>
        </p:nvSpPr>
        <p:spPr>
          <a:xfrm>
            <a:off x="7801941" y="117278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FC24DCA8-5AAC-9E8B-8AB5-4C9BF49FF420}"/>
              </a:ext>
            </a:extLst>
          </p:cNvPr>
          <p:cNvSpPr>
            <a:spLocks noChangeAspect="1"/>
          </p:cNvSpPr>
          <p:nvPr/>
        </p:nvSpPr>
        <p:spPr>
          <a:xfrm>
            <a:off x="7931468" y="1201821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DCCD1A78-C6EB-F0B0-FEBB-5484AB3D0051}"/>
              </a:ext>
            </a:extLst>
          </p:cNvPr>
          <p:cNvSpPr>
            <a:spLocks noChangeAspect="1"/>
          </p:cNvSpPr>
          <p:nvPr/>
        </p:nvSpPr>
        <p:spPr>
          <a:xfrm>
            <a:off x="8037471" y="111265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電子機器, コンパクトディスク が含まれている画像&#10;&#10;自動的に生成された説明">
            <a:extLst>
              <a:ext uri="{FF2B5EF4-FFF2-40B4-BE49-F238E27FC236}">
                <a16:creationId xmlns:a16="http://schemas.microsoft.com/office/drawing/2014/main" id="{9B2CB778-4614-47B1-AFA0-EC1FF60848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8" t="3148" r="3607" b="3180"/>
          <a:stretch/>
        </p:blipFill>
        <p:spPr>
          <a:xfrm>
            <a:off x="4412197" y="4833930"/>
            <a:ext cx="1572768" cy="1323144"/>
          </a:xfrm>
          <a:prstGeom prst="rect">
            <a:avLst/>
          </a:prstGeom>
        </p:spPr>
      </p:pic>
      <p:pic>
        <p:nvPicPr>
          <p:cNvPr id="12" name="図 11" descr="アイコン&#10;&#10;自動的に生成された説明">
            <a:extLst>
              <a:ext uri="{FF2B5EF4-FFF2-40B4-BE49-F238E27FC236}">
                <a16:creationId xmlns:a16="http://schemas.microsoft.com/office/drawing/2014/main" id="{B4CB8EA3-D32E-96DF-9C95-69D5C39CF3E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9" t="5254" r="3904" b="4055"/>
          <a:stretch/>
        </p:blipFill>
        <p:spPr>
          <a:xfrm>
            <a:off x="2427575" y="4909277"/>
            <a:ext cx="1499615" cy="1251060"/>
          </a:xfrm>
          <a:prstGeom prst="rect">
            <a:avLst/>
          </a:prstGeom>
        </p:spPr>
      </p:pic>
      <p:sp>
        <p:nvSpPr>
          <p:cNvPr id="13" name="正方形/長方形 4">
            <a:extLst>
              <a:ext uri="{FF2B5EF4-FFF2-40B4-BE49-F238E27FC236}">
                <a16:creationId xmlns:a16="http://schemas.microsoft.com/office/drawing/2014/main" id="{1E8B63AB-37BF-1FA0-D110-753243F42601}"/>
              </a:ext>
            </a:extLst>
          </p:cNvPr>
          <p:cNvSpPr/>
          <p:nvPr/>
        </p:nvSpPr>
        <p:spPr>
          <a:xfrm>
            <a:off x="9745392" y="1600921"/>
            <a:ext cx="1603289" cy="551538"/>
          </a:xfrm>
          <a:custGeom>
            <a:avLst/>
            <a:gdLst>
              <a:gd name="connsiteX0" fmla="*/ 0 w 2387065"/>
              <a:gd name="connsiteY0" fmla="*/ 0 h 1232034"/>
              <a:gd name="connsiteX1" fmla="*/ 2387065 w 2387065"/>
              <a:gd name="connsiteY1" fmla="*/ 0 h 1232034"/>
              <a:gd name="connsiteX2" fmla="*/ 2387065 w 2387065"/>
              <a:gd name="connsiteY2" fmla="*/ 1232034 h 1232034"/>
              <a:gd name="connsiteX3" fmla="*/ 0 w 2387065"/>
              <a:gd name="connsiteY3" fmla="*/ 1232034 h 1232034"/>
              <a:gd name="connsiteX4" fmla="*/ 0 w 2387065"/>
              <a:gd name="connsiteY4" fmla="*/ 0 h 1232034"/>
              <a:gd name="connsiteX0" fmla="*/ 0 w 3080084"/>
              <a:gd name="connsiteY0" fmla="*/ 0 h 1232034"/>
              <a:gd name="connsiteX1" fmla="*/ 3080084 w 3080084"/>
              <a:gd name="connsiteY1" fmla="*/ 9625 h 1232034"/>
              <a:gd name="connsiteX2" fmla="*/ 2387065 w 3080084"/>
              <a:gd name="connsiteY2" fmla="*/ 1232034 h 1232034"/>
              <a:gd name="connsiteX3" fmla="*/ 0 w 3080084"/>
              <a:gd name="connsiteY3" fmla="*/ 1232034 h 1232034"/>
              <a:gd name="connsiteX4" fmla="*/ 0 w 3080084"/>
              <a:gd name="connsiteY4" fmla="*/ 0 h 1232034"/>
              <a:gd name="connsiteX0" fmla="*/ 702644 w 3080084"/>
              <a:gd name="connsiteY0" fmla="*/ 0 h 1232034"/>
              <a:gd name="connsiteX1" fmla="*/ 3080084 w 3080084"/>
              <a:gd name="connsiteY1" fmla="*/ 9625 h 1232034"/>
              <a:gd name="connsiteX2" fmla="*/ 2387065 w 3080084"/>
              <a:gd name="connsiteY2" fmla="*/ 1232034 h 1232034"/>
              <a:gd name="connsiteX3" fmla="*/ 0 w 3080084"/>
              <a:gd name="connsiteY3" fmla="*/ 1232034 h 1232034"/>
              <a:gd name="connsiteX4" fmla="*/ 702644 w 3080084"/>
              <a:gd name="connsiteY4" fmla="*/ 0 h 1232034"/>
              <a:gd name="connsiteX0" fmla="*/ 385010 w 3080084"/>
              <a:gd name="connsiteY0" fmla="*/ 356135 h 1222409"/>
              <a:gd name="connsiteX1" fmla="*/ 3080084 w 3080084"/>
              <a:gd name="connsiteY1" fmla="*/ 0 h 1222409"/>
              <a:gd name="connsiteX2" fmla="*/ 2387065 w 3080084"/>
              <a:gd name="connsiteY2" fmla="*/ 1222409 h 1222409"/>
              <a:gd name="connsiteX3" fmla="*/ 0 w 3080084"/>
              <a:gd name="connsiteY3" fmla="*/ 1222409 h 1222409"/>
              <a:gd name="connsiteX4" fmla="*/ 385010 w 3080084"/>
              <a:gd name="connsiteY4" fmla="*/ 356135 h 1222409"/>
              <a:gd name="connsiteX0" fmla="*/ 385010 w 2656573"/>
              <a:gd name="connsiteY0" fmla="*/ 38501 h 904775"/>
              <a:gd name="connsiteX1" fmla="*/ 2656573 w 2656573"/>
              <a:gd name="connsiteY1" fmla="*/ 0 h 904775"/>
              <a:gd name="connsiteX2" fmla="*/ 2387065 w 2656573"/>
              <a:gd name="connsiteY2" fmla="*/ 904775 h 904775"/>
              <a:gd name="connsiteX3" fmla="*/ 0 w 2656573"/>
              <a:gd name="connsiteY3" fmla="*/ 904775 h 904775"/>
              <a:gd name="connsiteX4" fmla="*/ 385010 w 2656573"/>
              <a:gd name="connsiteY4" fmla="*/ 38501 h 904775"/>
              <a:gd name="connsiteX0" fmla="*/ 385010 w 2675823"/>
              <a:gd name="connsiteY0" fmla="*/ 0 h 866274"/>
              <a:gd name="connsiteX1" fmla="*/ 2675823 w 2675823"/>
              <a:gd name="connsiteY1" fmla="*/ 9625 h 866274"/>
              <a:gd name="connsiteX2" fmla="*/ 2387065 w 2675823"/>
              <a:gd name="connsiteY2" fmla="*/ 866274 h 866274"/>
              <a:gd name="connsiteX3" fmla="*/ 0 w 2675823"/>
              <a:gd name="connsiteY3" fmla="*/ 866274 h 866274"/>
              <a:gd name="connsiteX4" fmla="*/ 385010 w 2675823"/>
              <a:gd name="connsiteY4" fmla="*/ 0 h 866274"/>
              <a:gd name="connsiteX0" fmla="*/ 385010 w 2746816"/>
              <a:gd name="connsiteY0" fmla="*/ 12301 h 878575"/>
              <a:gd name="connsiteX1" fmla="*/ 2746816 w 2746816"/>
              <a:gd name="connsiteY1" fmla="*/ 0 h 878575"/>
              <a:gd name="connsiteX2" fmla="*/ 2387065 w 2746816"/>
              <a:gd name="connsiteY2" fmla="*/ 878575 h 878575"/>
              <a:gd name="connsiteX3" fmla="*/ 0 w 2746816"/>
              <a:gd name="connsiteY3" fmla="*/ 878575 h 878575"/>
              <a:gd name="connsiteX4" fmla="*/ 385010 w 2746816"/>
              <a:gd name="connsiteY4" fmla="*/ 12301 h 878575"/>
              <a:gd name="connsiteX0" fmla="*/ 385010 w 2723152"/>
              <a:gd name="connsiteY0" fmla="*/ 0 h 866274"/>
              <a:gd name="connsiteX1" fmla="*/ 2723152 w 2723152"/>
              <a:gd name="connsiteY1" fmla="*/ 20590 h 866274"/>
              <a:gd name="connsiteX2" fmla="*/ 2387065 w 2723152"/>
              <a:gd name="connsiteY2" fmla="*/ 866274 h 866274"/>
              <a:gd name="connsiteX3" fmla="*/ 0 w 2723152"/>
              <a:gd name="connsiteY3" fmla="*/ 866274 h 866274"/>
              <a:gd name="connsiteX4" fmla="*/ 385010 w 2723152"/>
              <a:gd name="connsiteY4" fmla="*/ 0 h 866274"/>
              <a:gd name="connsiteX0" fmla="*/ 385010 w 2728534"/>
              <a:gd name="connsiteY0" fmla="*/ 4344 h 870618"/>
              <a:gd name="connsiteX1" fmla="*/ 2728534 w 2728534"/>
              <a:gd name="connsiteY1" fmla="*/ 0 h 870618"/>
              <a:gd name="connsiteX2" fmla="*/ 2387065 w 2728534"/>
              <a:gd name="connsiteY2" fmla="*/ 870618 h 870618"/>
              <a:gd name="connsiteX3" fmla="*/ 0 w 2728534"/>
              <a:gd name="connsiteY3" fmla="*/ 870618 h 870618"/>
              <a:gd name="connsiteX4" fmla="*/ 385010 w 2728534"/>
              <a:gd name="connsiteY4" fmla="*/ 4344 h 870618"/>
              <a:gd name="connsiteX0" fmla="*/ 385010 w 2717770"/>
              <a:gd name="connsiteY0" fmla="*/ 0 h 866274"/>
              <a:gd name="connsiteX1" fmla="*/ 2717770 w 2717770"/>
              <a:gd name="connsiteY1" fmla="*/ 5630 h 866274"/>
              <a:gd name="connsiteX2" fmla="*/ 2387065 w 2717770"/>
              <a:gd name="connsiteY2" fmla="*/ 866274 h 866274"/>
              <a:gd name="connsiteX3" fmla="*/ 0 w 2717770"/>
              <a:gd name="connsiteY3" fmla="*/ 866274 h 866274"/>
              <a:gd name="connsiteX4" fmla="*/ 385010 w 2717770"/>
              <a:gd name="connsiteY4" fmla="*/ 0 h 86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7770" h="866274">
                <a:moveTo>
                  <a:pt x="385010" y="0"/>
                </a:moveTo>
                <a:lnTo>
                  <a:pt x="2717770" y="5630"/>
                </a:lnTo>
                <a:lnTo>
                  <a:pt x="2387065" y="866274"/>
                </a:lnTo>
                <a:lnTo>
                  <a:pt x="0" y="866274"/>
                </a:lnTo>
                <a:lnTo>
                  <a:pt x="38501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89DC9F5-A891-CEFA-7059-D4AD4192BB2B}"/>
              </a:ext>
            </a:extLst>
          </p:cNvPr>
          <p:cNvGrpSpPr/>
          <p:nvPr/>
        </p:nvGrpSpPr>
        <p:grpSpPr>
          <a:xfrm>
            <a:off x="9907289" y="1737446"/>
            <a:ext cx="90425" cy="275761"/>
            <a:chOff x="1188125" y="2041981"/>
            <a:chExt cx="90425" cy="275761"/>
          </a:xfrm>
        </p:grpSpPr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0E7612F7-71B0-B48D-6425-F51FA0A819A4}"/>
                </a:ext>
              </a:extLst>
            </p:cNvPr>
            <p:cNvSpPr/>
            <p:nvPr/>
          </p:nvSpPr>
          <p:spPr>
            <a:xfrm>
              <a:off x="1188125" y="2225667"/>
              <a:ext cx="90000" cy="9207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007CB6FB-2C20-FF12-6FD7-1407CC49DBBD}"/>
                </a:ext>
              </a:extLst>
            </p:cNvPr>
            <p:cNvSpPr/>
            <p:nvPr/>
          </p:nvSpPr>
          <p:spPr>
            <a:xfrm>
              <a:off x="1188550" y="2133600"/>
              <a:ext cx="90000" cy="9207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>
              <a:extLst>
                <a:ext uri="{FF2B5EF4-FFF2-40B4-BE49-F238E27FC236}">
                  <a16:creationId xmlns:a16="http://schemas.microsoft.com/office/drawing/2014/main" id="{2C03CFB2-434F-4B90-01AB-06875C358F9E}"/>
                </a:ext>
              </a:extLst>
            </p:cNvPr>
            <p:cNvSpPr/>
            <p:nvPr/>
          </p:nvSpPr>
          <p:spPr>
            <a:xfrm>
              <a:off x="1188125" y="2041981"/>
              <a:ext cx="90000" cy="9207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8ACAB62-6941-CC50-01B9-64CA287B6F71}"/>
              </a:ext>
            </a:extLst>
          </p:cNvPr>
          <p:cNvCxnSpPr>
            <a:cxnSpLocks/>
          </p:cNvCxnSpPr>
          <p:nvPr/>
        </p:nvCxnSpPr>
        <p:spPr>
          <a:xfrm>
            <a:off x="9951064" y="2010040"/>
            <a:ext cx="0" cy="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円/楕円 22">
            <a:extLst>
              <a:ext uri="{FF2B5EF4-FFF2-40B4-BE49-F238E27FC236}">
                <a16:creationId xmlns:a16="http://schemas.microsoft.com/office/drawing/2014/main" id="{B248D804-33F1-5EB1-C712-E9C7D26A5CFD}"/>
              </a:ext>
            </a:extLst>
          </p:cNvPr>
          <p:cNvSpPr/>
          <p:nvPr/>
        </p:nvSpPr>
        <p:spPr>
          <a:xfrm>
            <a:off x="9907289" y="2049728"/>
            <a:ext cx="90000" cy="523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98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083666" y="2853387"/>
            <a:ext cx="1201975" cy="1567649"/>
            <a:chOff x="2664127" y="3374455"/>
            <a:chExt cx="1201975" cy="1567649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3762700" y="2453659"/>
            <a:ext cx="851900" cy="2201196"/>
            <a:chOff x="4004187" y="2684206"/>
            <a:chExt cx="851900" cy="2201196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5262743" y="3209365"/>
            <a:ext cx="2359742" cy="1445491"/>
            <a:chOff x="4837472" y="2490841"/>
            <a:chExt cx="2359742" cy="1445491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2672807" y="2453659"/>
            <a:ext cx="840658" cy="2492477"/>
            <a:chOff x="7800489" y="2818451"/>
            <a:chExt cx="840658" cy="2492477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7466643" y="2683751"/>
            <a:ext cx="525780" cy="791898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7831288" y="2120241"/>
            <a:ext cx="648000" cy="648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8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308118" y="4654856"/>
            <a:ext cx="938304" cy="840658"/>
            <a:chOff x="1572269" y="4816089"/>
            <a:chExt cx="938304" cy="840658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256388" y="6352685"/>
            <a:ext cx="1380066" cy="202200"/>
          </a:xfrm>
          <a:custGeom>
            <a:avLst/>
            <a:gdLst>
              <a:gd name="connsiteX0" fmla="*/ 0 w 1380066"/>
              <a:gd name="connsiteY0" fmla="*/ 202199 h 202200"/>
              <a:gd name="connsiteX1" fmla="*/ 1380066 w 1380066"/>
              <a:gd name="connsiteY1" fmla="*/ 0 h 2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0066" h="202200" extrusionOk="0">
                <a:moveTo>
                  <a:pt x="0" y="202199"/>
                </a:moveTo>
                <a:cubicBezTo>
                  <a:pt x="579868" y="55242"/>
                  <a:pt x="825186" y="128242"/>
                  <a:pt x="1380066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0875218" y="3429000"/>
            <a:ext cx="75875" cy="2144636"/>
          </a:xfrm>
          <a:custGeom>
            <a:avLst/>
            <a:gdLst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  <a:gd name="connsiteX4" fmla="*/ 0 w 75875"/>
              <a:gd name="connsiteY4" fmla="*/ 0 h 2144636"/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75" h="2144636" stroke="0" extrusionOk="0">
                <a:moveTo>
                  <a:pt x="0" y="0"/>
                </a:moveTo>
                <a:cubicBezTo>
                  <a:pt x="42231" y="260"/>
                  <a:pt x="75694" y="3473"/>
                  <a:pt x="75875" y="6323"/>
                </a:cubicBezTo>
                <a:cubicBezTo>
                  <a:pt x="36033" y="809005"/>
                  <a:pt x="117564" y="1463863"/>
                  <a:pt x="75875" y="2138313"/>
                </a:cubicBezTo>
                <a:cubicBezTo>
                  <a:pt x="75472" y="2141552"/>
                  <a:pt x="38285" y="2141821"/>
                  <a:pt x="0" y="2144636"/>
                </a:cubicBezTo>
                <a:cubicBezTo>
                  <a:pt x="132240" y="1282501"/>
                  <a:pt x="-92512" y="751834"/>
                  <a:pt x="0" y="0"/>
                </a:cubicBezTo>
                <a:close/>
              </a:path>
              <a:path w="75875" h="2144636" fill="none" extrusionOk="0">
                <a:moveTo>
                  <a:pt x="0" y="0"/>
                </a:moveTo>
                <a:cubicBezTo>
                  <a:pt x="42382" y="80"/>
                  <a:pt x="76249" y="3222"/>
                  <a:pt x="75875" y="6323"/>
                </a:cubicBezTo>
                <a:cubicBezTo>
                  <a:pt x="-24092" y="939947"/>
                  <a:pt x="-16176" y="1075997"/>
                  <a:pt x="75875" y="2138313"/>
                </a:cubicBezTo>
                <a:cubicBezTo>
                  <a:pt x="70834" y="2143479"/>
                  <a:pt x="44604" y="2144902"/>
                  <a:pt x="0" y="2144636"/>
                </a:cubicBezTo>
              </a:path>
              <a:path w="75875" h="2144636" fill="none" stroke="0" extrusionOk="0">
                <a:moveTo>
                  <a:pt x="0" y="0"/>
                </a:moveTo>
                <a:cubicBezTo>
                  <a:pt x="42098" y="-180"/>
                  <a:pt x="76088" y="3017"/>
                  <a:pt x="75875" y="6323"/>
                </a:cubicBezTo>
                <a:cubicBezTo>
                  <a:pt x="233756" y="726300"/>
                  <a:pt x="144075" y="1627586"/>
                  <a:pt x="75875" y="2138313"/>
                </a:cubicBezTo>
                <a:cubicBezTo>
                  <a:pt x="81323" y="2141035"/>
                  <a:pt x="43270" y="2142597"/>
                  <a:pt x="0" y="2144636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8613397" y="3987244"/>
            <a:ext cx="1716014" cy="36933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232946" y="5356494"/>
            <a:ext cx="1116215" cy="1248435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3724405" y="5310395"/>
            <a:ext cx="1797864" cy="1126627"/>
          </a:xfrm>
          <a:custGeom>
            <a:avLst/>
            <a:gdLst>
              <a:gd name="connsiteX0" fmla="*/ 0 w 1797864"/>
              <a:gd name="connsiteY0" fmla="*/ 281657 h 1126627"/>
              <a:gd name="connsiteX1" fmla="*/ 1234551 w 1797864"/>
              <a:gd name="connsiteY1" fmla="*/ 281657 h 1126627"/>
              <a:gd name="connsiteX2" fmla="*/ 1234551 w 1797864"/>
              <a:gd name="connsiteY2" fmla="*/ 0 h 1126627"/>
              <a:gd name="connsiteX3" fmla="*/ 1797864 w 1797864"/>
              <a:gd name="connsiteY3" fmla="*/ 563314 h 1126627"/>
              <a:gd name="connsiteX4" fmla="*/ 1234551 w 1797864"/>
              <a:gd name="connsiteY4" fmla="*/ 1126627 h 1126627"/>
              <a:gd name="connsiteX5" fmla="*/ 1234551 w 1797864"/>
              <a:gd name="connsiteY5" fmla="*/ 844970 h 1126627"/>
              <a:gd name="connsiteX6" fmla="*/ 0 w 1797864"/>
              <a:gd name="connsiteY6" fmla="*/ 844970 h 1126627"/>
              <a:gd name="connsiteX7" fmla="*/ 0 w 1797864"/>
              <a:gd name="connsiteY7" fmla="*/ 281657 h 112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7864" h="1126627" fill="none" extrusionOk="0">
                <a:moveTo>
                  <a:pt x="0" y="281657"/>
                </a:moveTo>
                <a:cubicBezTo>
                  <a:pt x="441140" y="341876"/>
                  <a:pt x="815292" y="313239"/>
                  <a:pt x="1234551" y="281657"/>
                </a:cubicBezTo>
                <a:cubicBezTo>
                  <a:pt x="1258466" y="194755"/>
                  <a:pt x="1214082" y="130057"/>
                  <a:pt x="1234551" y="0"/>
                </a:cubicBezTo>
                <a:cubicBezTo>
                  <a:pt x="1321461" y="170749"/>
                  <a:pt x="1683272" y="515097"/>
                  <a:pt x="1797864" y="563314"/>
                </a:cubicBezTo>
                <a:cubicBezTo>
                  <a:pt x="1683170" y="648249"/>
                  <a:pt x="1372263" y="1063564"/>
                  <a:pt x="1234551" y="1126627"/>
                </a:cubicBezTo>
                <a:cubicBezTo>
                  <a:pt x="1228919" y="1080683"/>
                  <a:pt x="1223293" y="925170"/>
                  <a:pt x="1234551" y="844970"/>
                </a:cubicBezTo>
                <a:cubicBezTo>
                  <a:pt x="625859" y="796345"/>
                  <a:pt x="503036" y="798970"/>
                  <a:pt x="0" y="844970"/>
                </a:cubicBezTo>
                <a:cubicBezTo>
                  <a:pt x="12149" y="711576"/>
                  <a:pt x="-34350" y="429484"/>
                  <a:pt x="0" y="281657"/>
                </a:cubicBezTo>
                <a:close/>
              </a:path>
              <a:path w="1797864" h="1126627" stroke="0" extrusionOk="0">
                <a:moveTo>
                  <a:pt x="0" y="281657"/>
                </a:moveTo>
                <a:cubicBezTo>
                  <a:pt x="501690" y="291445"/>
                  <a:pt x="664348" y="302673"/>
                  <a:pt x="1234551" y="281657"/>
                </a:cubicBezTo>
                <a:cubicBezTo>
                  <a:pt x="1244995" y="149561"/>
                  <a:pt x="1246456" y="46048"/>
                  <a:pt x="1234551" y="0"/>
                </a:cubicBezTo>
                <a:cubicBezTo>
                  <a:pt x="1416517" y="201720"/>
                  <a:pt x="1516224" y="323140"/>
                  <a:pt x="1797864" y="563314"/>
                </a:cubicBezTo>
                <a:cubicBezTo>
                  <a:pt x="1604474" y="781173"/>
                  <a:pt x="1263864" y="996785"/>
                  <a:pt x="1234551" y="1126627"/>
                </a:cubicBezTo>
                <a:cubicBezTo>
                  <a:pt x="1244859" y="1090226"/>
                  <a:pt x="1246547" y="961132"/>
                  <a:pt x="1234551" y="844970"/>
                </a:cubicBezTo>
                <a:cubicBezTo>
                  <a:pt x="826782" y="735023"/>
                  <a:pt x="170652" y="758181"/>
                  <a:pt x="0" y="844970"/>
                </a:cubicBezTo>
                <a:cubicBezTo>
                  <a:pt x="-923" y="604596"/>
                  <a:pt x="-16096" y="399535"/>
                  <a:pt x="0" y="281657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529301" y="2977937"/>
            <a:ext cx="2457450" cy="55340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7701975" y="5031844"/>
            <a:ext cx="866523" cy="923145"/>
            <a:chOff x="5897144" y="3284788"/>
            <a:chExt cx="866523" cy="923145"/>
          </a:xfrm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9108725-9831-27F9-3FD3-71FC27129266}"/>
              </a:ext>
            </a:extLst>
          </p:cNvPr>
          <p:cNvGrpSpPr/>
          <p:nvPr/>
        </p:nvGrpSpPr>
        <p:grpSpPr>
          <a:xfrm>
            <a:off x="616017" y="1348268"/>
            <a:ext cx="6533120" cy="4938925"/>
            <a:chOff x="0" y="1396394"/>
            <a:chExt cx="6533120" cy="4938925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0811D00-B639-7D58-D363-8290AD29E62C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EE3C2FA-C4E2-9188-98AB-D6750654E01E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①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ひとつめ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0B182-1E03-FE3F-38CF-BE77E0F38AC6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636C0C-4196-FBC8-E6B1-2A2B6B9C99B7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③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みっつめ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B58024-0DF9-700C-3393-339C7F03622C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243A9B-ED86-339C-E2EB-EFDFA00CF9EF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➁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ふたつめ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510278-8BCC-2772-B7D4-6900CC651828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12" name="二等辺三角形 11">
                <a:extLst>
                  <a:ext uri="{FF2B5EF4-FFF2-40B4-BE49-F238E27FC236}">
                    <a16:creationId xmlns:a16="http://schemas.microsoft.com/office/drawing/2014/main" id="{88C38720-FF04-C2D5-1BFB-D6E04C38989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DCA25AA5-6EC2-3A91-C987-1FA6D6720F6A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9545FA0-67FF-9A70-C888-13A69A398782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15" name="二等辺三角形 14">
                <a:extLst>
                  <a:ext uri="{FF2B5EF4-FFF2-40B4-BE49-F238E27FC236}">
                    <a16:creationId xmlns:a16="http://schemas.microsoft.com/office/drawing/2014/main" id="{3767BD8E-FB78-2A44-9179-41A94C34D17A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55A6798D-20C7-E00B-7A02-153B6F17D07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CC218CC-EEBC-1865-D9BB-837546C65874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18" name="二等辺三角形 17">
                <a:extLst>
                  <a:ext uri="{FF2B5EF4-FFF2-40B4-BE49-F238E27FC236}">
                    <a16:creationId xmlns:a16="http://schemas.microsoft.com/office/drawing/2014/main" id="{F2F7520D-B9C9-EE46-43C0-1974C9EE110E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1521E69-6981-7659-CD42-1242DA64643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BABD0C2-66B5-256B-4604-E348FEFAC56D}"/>
                </a:ext>
              </a:extLst>
            </p:cNvPr>
            <p:cNvSpPr txBox="1"/>
            <p:nvPr/>
          </p:nvSpPr>
          <p:spPr>
            <a:xfrm>
              <a:off x="4832338" y="2938238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D28F20-D312-FC56-A45A-9A9DD0F018F0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2857B8-91F1-CA95-91BD-24CB159AB079}"/>
                </a:ext>
              </a:extLst>
            </p:cNvPr>
            <p:cNvSpPr txBox="1"/>
            <p:nvPr/>
          </p:nvSpPr>
          <p:spPr>
            <a:xfrm>
              <a:off x="0" y="2983833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7462655" y="1651262"/>
            <a:ext cx="323850" cy="3238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8108150" y="1651112"/>
            <a:ext cx="324000" cy="324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7730366" y="2165069"/>
            <a:ext cx="342900" cy="3332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8528263" y="3060360"/>
            <a:ext cx="2901487" cy="1236539"/>
          </a:xfrm>
          <a:custGeom>
            <a:avLst/>
            <a:gdLst>
              <a:gd name="connsiteX0" fmla="*/ 0 w 2901487"/>
              <a:gd name="connsiteY0" fmla="*/ 618270 h 1236539"/>
              <a:gd name="connsiteX1" fmla="*/ 1450744 w 2901487"/>
              <a:gd name="connsiteY1" fmla="*/ 0 h 1236539"/>
              <a:gd name="connsiteX2" fmla="*/ 2901488 w 2901487"/>
              <a:gd name="connsiteY2" fmla="*/ 618270 h 1236539"/>
              <a:gd name="connsiteX3" fmla="*/ 1450744 w 2901487"/>
              <a:gd name="connsiteY3" fmla="*/ 1236540 h 1236539"/>
              <a:gd name="connsiteX4" fmla="*/ 0 w 2901487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1487" h="1236539" fill="none" extrusionOk="0">
                <a:moveTo>
                  <a:pt x="0" y="618270"/>
                </a:moveTo>
                <a:cubicBezTo>
                  <a:pt x="84712" y="196294"/>
                  <a:pt x="764269" y="7572"/>
                  <a:pt x="1450744" y="0"/>
                </a:cubicBezTo>
                <a:cubicBezTo>
                  <a:pt x="2280633" y="48997"/>
                  <a:pt x="2861081" y="275941"/>
                  <a:pt x="2901488" y="618270"/>
                </a:cubicBezTo>
                <a:cubicBezTo>
                  <a:pt x="3011552" y="975692"/>
                  <a:pt x="2166690" y="1197621"/>
                  <a:pt x="1450744" y="1236540"/>
                </a:cubicBezTo>
                <a:cubicBezTo>
                  <a:pt x="618922" y="1245671"/>
                  <a:pt x="36345" y="910461"/>
                  <a:pt x="0" y="618270"/>
                </a:cubicBezTo>
                <a:close/>
              </a:path>
              <a:path w="2901487" h="1236539" stroke="0" extrusionOk="0">
                <a:moveTo>
                  <a:pt x="0" y="618270"/>
                </a:moveTo>
                <a:cubicBezTo>
                  <a:pt x="-7565" y="290082"/>
                  <a:pt x="641644" y="-3252"/>
                  <a:pt x="1450744" y="0"/>
                </a:cubicBezTo>
                <a:cubicBezTo>
                  <a:pt x="2306126" y="-7995"/>
                  <a:pt x="2871529" y="331374"/>
                  <a:pt x="2901488" y="618270"/>
                </a:cubicBezTo>
                <a:cubicBezTo>
                  <a:pt x="2849516" y="977102"/>
                  <a:pt x="2227727" y="1265205"/>
                  <a:pt x="1450744" y="1236540"/>
                </a:cubicBezTo>
                <a:cubicBezTo>
                  <a:pt x="683291" y="1214685"/>
                  <a:pt x="-15441" y="963273"/>
                  <a:pt x="0" y="618270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9518584" y="1567812"/>
            <a:ext cx="2235127" cy="2177274"/>
          </a:xfrm>
          <a:custGeom>
            <a:avLst/>
            <a:gdLst>
              <a:gd name="connsiteX0" fmla="*/ 0 w 2235127"/>
              <a:gd name="connsiteY0" fmla="*/ 1088637 h 2177274"/>
              <a:gd name="connsiteX1" fmla="*/ 1117564 w 2235127"/>
              <a:gd name="connsiteY1" fmla="*/ 0 h 2177274"/>
              <a:gd name="connsiteX2" fmla="*/ 2235128 w 2235127"/>
              <a:gd name="connsiteY2" fmla="*/ 1088637 h 2177274"/>
              <a:gd name="connsiteX3" fmla="*/ 1117564 w 2235127"/>
              <a:gd name="connsiteY3" fmla="*/ 2177274 h 2177274"/>
              <a:gd name="connsiteX4" fmla="*/ 0 w 2235127"/>
              <a:gd name="connsiteY4" fmla="*/ 1088637 h 217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127" h="2177274" fill="none" extrusionOk="0">
                <a:moveTo>
                  <a:pt x="0" y="1088637"/>
                </a:moveTo>
                <a:cubicBezTo>
                  <a:pt x="-78231" y="501361"/>
                  <a:pt x="470933" y="81460"/>
                  <a:pt x="1117564" y="0"/>
                </a:cubicBezTo>
                <a:cubicBezTo>
                  <a:pt x="1655506" y="-29676"/>
                  <a:pt x="2249283" y="494351"/>
                  <a:pt x="2235128" y="1088637"/>
                </a:cubicBezTo>
                <a:cubicBezTo>
                  <a:pt x="2256564" y="1635402"/>
                  <a:pt x="1745396" y="2193472"/>
                  <a:pt x="1117564" y="2177274"/>
                </a:cubicBezTo>
                <a:cubicBezTo>
                  <a:pt x="511602" y="2187319"/>
                  <a:pt x="85868" y="1650356"/>
                  <a:pt x="0" y="1088637"/>
                </a:cubicBezTo>
                <a:close/>
              </a:path>
              <a:path w="2235127" h="2177274" stroke="0" extrusionOk="0">
                <a:moveTo>
                  <a:pt x="0" y="1088637"/>
                </a:moveTo>
                <a:cubicBezTo>
                  <a:pt x="44180" y="558178"/>
                  <a:pt x="501211" y="-92223"/>
                  <a:pt x="1117564" y="0"/>
                </a:cubicBezTo>
                <a:cubicBezTo>
                  <a:pt x="1755182" y="98031"/>
                  <a:pt x="2176597" y="447074"/>
                  <a:pt x="2235128" y="1088637"/>
                </a:cubicBezTo>
                <a:cubicBezTo>
                  <a:pt x="2248407" y="1590409"/>
                  <a:pt x="1732930" y="2112771"/>
                  <a:pt x="1117564" y="2177274"/>
                </a:cubicBezTo>
                <a:cubicBezTo>
                  <a:pt x="512908" y="2113663"/>
                  <a:pt x="14757" y="1627634"/>
                  <a:pt x="0" y="108863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8795580" y="3503340"/>
            <a:ext cx="3160032" cy="167421"/>
          </a:xfrm>
          <a:custGeom>
            <a:avLst/>
            <a:gdLst>
              <a:gd name="connsiteX0" fmla="*/ 0 w 3160032"/>
              <a:gd name="connsiteY0" fmla="*/ 0 h 167421"/>
              <a:gd name="connsiteX1" fmla="*/ 3160032 w 3160032"/>
              <a:gd name="connsiteY1" fmla="*/ 0 h 167421"/>
              <a:gd name="connsiteX2" fmla="*/ 3160032 w 3160032"/>
              <a:gd name="connsiteY2" fmla="*/ 167421 h 167421"/>
              <a:gd name="connsiteX3" fmla="*/ 0 w 3160032"/>
              <a:gd name="connsiteY3" fmla="*/ 167421 h 167421"/>
              <a:gd name="connsiteX4" fmla="*/ 0 w 3160032"/>
              <a:gd name="connsiteY4" fmla="*/ 0 h 1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0032" h="167421" fill="none" extrusionOk="0">
                <a:moveTo>
                  <a:pt x="0" y="0"/>
                </a:moveTo>
                <a:cubicBezTo>
                  <a:pt x="1576265" y="-130857"/>
                  <a:pt x="1695485" y="63250"/>
                  <a:pt x="3160032" y="0"/>
                </a:cubicBezTo>
                <a:cubicBezTo>
                  <a:pt x="3149888" y="54417"/>
                  <a:pt x="3161660" y="117978"/>
                  <a:pt x="3160032" y="167421"/>
                </a:cubicBezTo>
                <a:cubicBezTo>
                  <a:pt x="2559770" y="222085"/>
                  <a:pt x="1098592" y="215523"/>
                  <a:pt x="0" y="167421"/>
                </a:cubicBezTo>
                <a:cubicBezTo>
                  <a:pt x="-5" y="147243"/>
                  <a:pt x="-2866" y="55723"/>
                  <a:pt x="0" y="0"/>
                </a:cubicBezTo>
                <a:close/>
              </a:path>
              <a:path w="3160032" h="167421" stroke="0" extrusionOk="0">
                <a:moveTo>
                  <a:pt x="0" y="0"/>
                </a:moveTo>
                <a:cubicBezTo>
                  <a:pt x="1189394" y="93023"/>
                  <a:pt x="2837410" y="111448"/>
                  <a:pt x="3160032" y="0"/>
                </a:cubicBezTo>
                <a:cubicBezTo>
                  <a:pt x="3145341" y="75065"/>
                  <a:pt x="3161279" y="142728"/>
                  <a:pt x="3160032" y="167421"/>
                </a:cubicBezTo>
                <a:cubicBezTo>
                  <a:pt x="2786659" y="165537"/>
                  <a:pt x="902558" y="243552"/>
                  <a:pt x="0" y="167421"/>
                </a:cubicBezTo>
                <a:cubicBezTo>
                  <a:pt x="-7129" y="150251"/>
                  <a:pt x="4229" y="45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8265921" y="4413059"/>
            <a:ext cx="1869719" cy="1886551"/>
          </a:xfrm>
          <a:custGeom>
            <a:avLst/>
            <a:gdLst>
              <a:gd name="connsiteX0" fmla="*/ 0 w 1869719"/>
              <a:gd name="connsiteY0" fmla="*/ 871682 h 1886551"/>
              <a:gd name="connsiteX1" fmla="*/ 871682 w 1869719"/>
              <a:gd name="connsiteY1" fmla="*/ 871682 h 1886551"/>
              <a:gd name="connsiteX2" fmla="*/ 871682 w 1869719"/>
              <a:gd name="connsiteY2" fmla="*/ 0 h 1886551"/>
              <a:gd name="connsiteX3" fmla="*/ 998037 w 1869719"/>
              <a:gd name="connsiteY3" fmla="*/ 0 h 1886551"/>
              <a:gd name="connsiteX4" fmla="*/ 998037 w 1869719"/>
              <a:gd name="connsiteY4" fmla="*/ 871682 h 1886551"/>
              <a:gd name="connsiteX5" fmla="*/ 1869719 w 1869719"/>
              <a:gd name="connsiteY5" fmla="*/ 871682 h 1886551"/>
              <a:gd name="connsiteX6" fmla="*/ 1869719 w 1869719"/>
              <a:gd name="connsiteY6" fmla="*/ 1014869 h 1886551"/>
              <a:gd name="connsiteX7" fmla="*/ 998037 w 1869719"/>
              <a:gd name="connsiteY7" fmla="*/ 1014869 h 1886551"/>
              <a:gd name="connsiteX8" fmla="*/ 998037 w 1869719"/>
              <a:gd name="connsiteY8" fmla="*/ 1886551 h 1886551"/>
              <a:gd name="connsiteX9" fmla="*/ 871682 w 1869719"/>
              <a:gd name="connsiteY9" fmla="*/ 1886551 h 1886551"/>
              <a:gd name="connsiteX10" fmla="*/ 871682 w 1869719"/>
              <a:gd name="connsiteY10" fmla="*/ 1014869 h 1886551"/>
              <a:gd name="connsiteX11" fmla="*/ 0 w 1869719"/>
              <a:gd name="connsiteY11" fmla="*/ 1014869 h 1886551"/>
              <a:gd name="connsiteX12" fmla="*/ 0 w 1869719"/>
              <a:gd name="connsiteY12" fmla="*/ 871682 h 188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719" h="1886551" fill="none" extrusionOk="0">
                <a:moveTo>
                  <a:pt x="0" y="871682"/>
                </a:moveTo>
                <a:cubicBezTo>
                  <a:pt x="150577" y="878137"/>
                  <a:pt x="691672" y="826285"/>
                  <a:pt x="871682" y="871682"/>
                </a:cubicBezTo>
                <a:cubicBezTo>
                  <a:pt x="944600" y="699805"/>
                  <a:pt x="866968" y="165485"/>
                  <a:pt x="871682" y="0"/>
                </a:cubicBezTo>
                <a:cubicBezTo>
                  <a:pt x="917842" y="-3582"/>
                  <a:pt x="948566" y="-7301"/>
                  <a:pt x="998037" y="0"/>
                </a:cubicBezTo>
                <a:cubicBezTo>
                  <a:pt x="1034408" y="206213"/>
                  <a:pt x="958303" y="545702"/>
                  <a:pt x="998037" y="871682"/>
                </a:cubicBezTo>
                <a:cubicBezTo>
                  <a:pt x="1403914" y="918941"/>
                  <a:pt x="1768096" y="817161"/>
                  <a:pt x="1869719" y="871682"/>
                </a:cubicBezTo>
                <a:cubicBezTo>
                  <a:pt x="1862247" y="898346"/>
                  <a:pt x="1867979" y="944707"/>
                  <a:pt x="1869719" y="1014869"/>
                </a:cubicBezTo>
                <a:cubicBezTo>
                  <a:pt x="1548144" y="940983"/>
                  <a:pt x="1153210" y="1019821"/>
                  <a:pt x="998037" y="1014869"/>
                </a:cubicBezTo>
                <a:cubicBezTo>
                  <a:pt x="1038278" y="1306496"/>
                  <a:pt x="926672" y="1453007"/>
                  <a:pt x="998037" y="1886551"/>
                </a:cubicBezTo>
                <a:cubicBezTo>
                  <a:pt x="957192" y="1890993"/>
                  <a:pt x="910226" y="1892254"/>
                  <a:pt x="871682" y="1886551"/>
                </a:cubicBezTo>
                <a:cubicBezTo>
                  <a:pt x="900212" y="1470477"/>
                  <a:pt x="885227" y="1205920"/>
                  <a:pt x="871682" y="1014869"/>
                </a:cubicBezTo>
                <a:cubicBezTo>
                  <a:pt x="678222" y="1052749"/>
                  <a:pt x="371283" y="1038878"/>
                  <a:pt x="0" y="1014869"/>
                </a:cubicBezTo>
                <a:cubicBezTo>
                  <a:pt x="7573" y="960095"/>
                  <a:pt x="-108" y="893456"/>
                  <a:pt x="0" y="871682"/>
                </a:cubicBezTo>
                <a:close/>
              </a:path>
              <a:path w="1869719" h="1886551" stroke="0" extrusionOk="0">
                <a:moveTo>
                  <a:pt x="0" y="871682"/>
                </a:moveTo>
                <a:cubicBezTo>
                  <a:pt x="344289" y="885060"/>
                  <a:pt x="600800" y="905684"/>
                  <a:pt x="871682" y="871682"/>
                </a:cubicBezTo>
                <a:cubicBezTo>
                  <a:pt x="931893" y="628664"/>
                  <a:pt x="943650" y="370527"/>
                  <a:pt x="871682" y="0"/>
                </a:cubicBezTo>
                <a:cubicBezTo>
                  <a:pt x="893890" y="9838"/>
                  <a:pt x="946111" y="7517"/>
                  <a:pt x="998037" y="0"/>
                </a:cubicBezTo>
                <a:cubicBezTo>
                  <a:pt x="992055" y="159455"/>
                  <a:pt x="932820" y="532460"/>
                  <a:pt x="998037" y="871682"/>
                </a:cubicBezTo>
                <a:cubicBezTo>
                  <a:pt x="1357843" y="820993"/>
                  <a:pt x="1686362" y="905907"/>
                  <a:pt x="1869719" y="871682"/>
                </a:cubicBezTo>
                <a:cubicBezTo>
                  <a:pt x="1875174" y="925174"/>
                  <a:pt x="1873986" y="947346"/>
                  <a:pt x="1869719" y="1014869"/>
                </a:cubicBezTo>
                <a:cubicBezTo>
                  <a:pt x="1764808" y="1082825"/>
                  <a:pt x="1290886" y="1035898"/>
                  <a:pt x="998037" y="1014869"/>
                </a:cubicBezTo>
                <a:cubicBezTo>
                  <a:pt x="975473" y="1296156"/>
                  <a:pt x="935667" y="1781961"/>
                  <a:pt x="998037" y="1886551"/>
                </a:cubicBezTo>
                <a:cubicBezTo>
                  <a:pt x="962951" y="1880256"/>
                  <a:pt x="921537" y="1889798"/>
                  <a:pt x="871682" y="1886551"/>
                </a:cubicBezTo>
                <a:cubicBezTo>
                  <a:pt x="818077" y="1555126"/>
                  <a:pt x="859397" y="1130088"/>
                  <a:pt x="871682" y="1014869"/>
                </a:cubicBezTo>
                <a:cubicBezTo>
                  <a:pt x="608586" y="952921"/>
                  <a:pt x="306780" y="1005001"/>
                  <a:pt x="0" y="1014869"/>
                </a:cubicBezTo>
                <a:cubicBezTo>
                  <a:pt x="-3635" y="972697"/>
                  <a:pt x="-10926" y="894203"/>
                  <a:pt x="0" y="8716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7090921" y="4792728"/>
            <a:ext cx="1253486" cy="1236539"/>
          </a:xfrm>
          <a:custGeom>
            <a:avLst/>
            <a:gdLst>
              <a:gd name="connsiteX0" fmla="*/ 0 w 1253486"/>
              <a:gd name="connsiteY0" fmla="*/ 618270 h 1236539"/>
              <a:gd name="connsiteX1" fmla="*/ 626743 w 1253486"/>
              <a:gd name="connsiteY1" fmla="*/ 0 h 1236539"/>
              <a:gd name="connsiteX2" fmla="*/ 1253486 w 1253486"/>
              <a:gd name="connsiteY2" fmla="*/ 618270 h 1236539"/>
              <a:gd name="connsiteX3" fmla="*/ 626743 w 1253486"/>
              <a:gd name="connsiteY3" fmla="*/ 1236540 h 1236539"/>
              <a:gd name="connsiteX4" fmla="*/ 0 w 1253486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486" h="1236539" extrusionOk="0">
                <a:moveTo>
                  <a:pt x="0" y="618270"/>
                </a:moveTo>
                <a:cubicBezTo>
                  <a:pt x="11333" y="288976"/>
                  <a:pt x="265442" y="19656"/>
                  <a:pt x="626743" y="0"/>
                </a:cubicBezTo>
                <a:cubicBezTo>
                  <a:pt x="963521" y="-49908"/>
                  <a:pt x="1223269" y="275473"/>
                  <a:pt x="1253486" y="618270"/>
                </a:cubicBezTo>
                <a:cubicBezTo>
                  <a:pt x="1256702" y="984230"/>
                  <a:pt x="1029945" y="1242942"/>
                  <a:pt x="626743" y="1236540"/>
                </a:cubicBezTo>
                <a:cubicBezTo>
                  <a:pt x="282897" y="1246744"/>
                  <a:pt x="5423" y="961932"/>
                  <a:pt x="0" y="618270"/>
                </a:cubicBezTo>
                <a:close/>
              </a:path>
            </a:pathLst>
          </a:custGeom>
          <a:noFill/>
          <a:ln w="76200">
            <a:solidFill>
              <a:schemeClr val="accent4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358102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433311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8202685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814819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0" y="1994510"/>
            <a:ext cx="4333735" cy="345266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3975496" y="2474477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7479722" y="2962880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018889" y="24904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3993897" y="27670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7550470" y="297207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7495981" y="324874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4678821" y="1901851"/>
            <a:ext cx="638334" cy="948153"/>
            <a:chOff x="2664127" y="3374455"/>
            <a:chExt cx="1201975" cy="1567649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8176087" y="2353531"/>
            <a:ext cx="638334" cy="948153"/>
            <a:chOff x="2664127" y="3374455"/>
            <a:chExt cx="1201975" cy="1567649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5963376" y="5058404"/>
            <a:ext cx="595261" cy="523221"/>
            <a:chOff x="1572269" y="4816089"/>
            <a:chExt cx="938304" cy="840658"/>
          </a:xfrm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6871061" y="3852436"/>
            <a:ext cx="595261" cy="523221"/>
            <a:chOff x="1572269" y="4816089"/>
            <a:chExt cx="938304" cy="840658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5622654" y="3077138"/>
            <a:ext cx="595261" cy="523221"/>
            <a:chOff x="1572269" y="4816089"/>
            <a:chExt cx="938304" cy="840658"/>
          </a:xfrm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4798844" y="4214160"/>
            <a:ext cx="595261" cy="523221"/>
            <a:chOff x="1572269" y="4816089"/>
            <a:chExt cx="938304" cy="840658"/>
          </a:xfrm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B6B826D6-55BD-C047-852B-751AD301312E}" vid="{E253BDFC-1559-934D-B6B9-CF9A302D71D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7063</TotalTime>
  <Words>842</Words>
  <Application>Microsoft Macintosh PowerPoint</Application>
  <PresentationFormat>ワイド画面</PresentationFormat>
  <Paragraphs>178</Paragraphs>
  <Slides>12</Slides>
  <Notes>0</Notes>
  <HiddenSlides>8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ＭＳ Ｐゴシック</vt:lpstr>
      <vt:lpstr>游ゴシック</vt:lpstr>
      <vt:lpstr>游ゴシック Medium</vt:lpstr>
      <vt:lpstr>Arial</vt:lpstr>
      <vt:lpstr>Wingdings</vt:lpstr>
      <vt:lpstr>研究発表スライドマスタ</vt:lpstr>
      <vt:lpstr>PowerPoint プレゼンテーション</vt:lpstr>
      <vt:lpstr>PowerPoint プレゼンテーション</vt:lpstr>
      <vt:lpstr>候補ペプチドは2〜4残基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NAKAMURA Yusaku</dc:creator>
  <cp:lastModifiedBy>NAKAMURA Yusaku</cp:lastModifiedBy>
  <cp:revision>3</cp:revision>
  <dcterms:created xsi:type="dcterms:W3CDTF">2024-10-10T06:09:43Z</dcterms:created>
  <dcterms:modified xsi:type="dcterms:W3CDTF">2024-10-15T03:52:53Z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