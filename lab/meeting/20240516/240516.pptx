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96" r:id="rId5"/>
    <p:sldId id="295" r:id="rId6"/>
    <p:sldId id="311" r:id="rId7"/>
    <p:sldId id="305" r:id="rId8"/>
    <p:sldId id="307" r:id="rId9"/>
    <p:sldId id="306" r:id="rId10"/>
    <p:sldId id="309" r:id="rId11"/>
    <p:sldId id="312" r:id="rId12"/>
    <p:sldId id="310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8F8F8"/>
    <a:srgbClr val="3B6FBB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71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17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733" y="3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yutteee/univ/latex/&#30740;&#31350;/2/Book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yutteee/univ/latex/&#30740;&#31350;/3/resul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Sheet1!$B$47:$E$47</c:f>
                <c:numCache>
                  <c:formatCode>General</c:formatCode>
                  <c:ptCount val="4"/>
                  <c:pt idx="1">
                    <c:v>63023.584905660333</c:v>
                  </c:pt>
                  <c:pt idx="3">
                    <c:v>273944.82758620707</c:v>
                  </c:pt>
                </c:numCache>
              </c:numRef>
            </c:plus>
            <c:minus>
              <c:numRef>
                <c:f>Sheet1!$B$47:$E$47</c:f>
                <c:numCache>
                  <c:formatCode>General</c:formatCode>
                  <c:ptCount val="4"/>
                  <c:pt idx="1">
                    <c:v>63023.584905660333</c:v>
                  </c:pt>
                  <c:pt idx="3">
                    <c:v>273944.82758620707</c:v>
                  </c:pt>
                </c:numCache>
              </c:numRef>
            </c:minus>
            <c:spPr>
              <a:noFill/>
              <a:ln w="12700" cap="flat" cmpd="sng" algn="ctr">
                <a:solidFill>
                  <a:schemeClr val="tx1"/>
                </a:solidFill>
                <a:round/>
              </a:ln>
              <a:effectLst/>
            </c:spPr>
          </c:errBars>
          <c:cat>
            <c:strRef>
              <c:f>Sheet1!$C$53:$F$53</c:f>
              <c:strCache>
                <c:ptCount val="4"/>
                <c:pt idx="0">
                  <c:v>DNAなし</c:v>
                </c:pt>
                <c:pt idx="1">
                  <c:v>DNAあり</c:v>
                </c:pt>
                <c:pt idx="2">
                  <c:v>DNAなし</c:v>
                </c:pt>
                <c:pt idx="3">
                  <c:v>DNAあり</c:v>
                </c:pt>
              </c:strCache>
            </c:strRef>
          </c:cat>
          <c:val>
            <c:numRef>
              <c:f>Sheet1!$B$46:$E$46</c:f>
              <c:numCache>
                <c:formatCode>General</c:formatCode>
                <c:ptCount val="4"/>
                <c:pt idx="0">
                  <c:v>500.0000000000004</c:v>
                </c:pt>
                <c:pt idx="1">
                  <c:v>183523.58490566039</c:v>
                </c:pt>
                <c:pt idx="2">
                  <c:v>1999.9999999999982</c:v>
                </c:pt>
                <c:pt idx="3">
                  <c:v>4609255.1724137943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04-CF47-A312-69B0FD4519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6903887"/>
        <c:axId val="47152175"/>
      </c:barChart>
      <c:catAx>
        <c:axId val="46903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47152175"/>
        <c:crosses val="autoZero"/>
        <c:auto val="1"/>
        <c:lblAlgn val="ctr"/>
        <c:lblOffset val="100"/>
        <c:noMultiLvlLbl val="0"/>
      </c:catAx>
      <c:valAx>
        <c:axId val="4715217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1600" b="1" dirty="0"/>
                  <a:t>Luc</a:t>
                </a:r>
                <a:r>
                  <a:rPr lang="en-US" sz="1600" b="1" baseline="0" dirty="0"/>
                  <a:t> activity</a:t>
                </a:r>
                <a:r>
                  <a:rPr lang="en-US" sz="1600" b="1" dirty="0"/>
                  <a:t> [-]</a:t>
                </a:r>
                <a:endParaRPr lang="ja-JP" sz="1600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ja-JP"/>
            </a:p>
          </c:txPr>
        </c:title>
        <c:numFmt formatCode="General" sourceLinked="1"/>
        <c:majorTickMark val="in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469038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5310933803777"/>
          <c:y val="3.416098417987419E-2"/>
          <c:w val="0.83173492832916196"/>
          <c:h val="0.92842922508290615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errBars>
            <c:errBarType val="both"/>
            <c:errValType val="cust"/>
            <c:noEndCap val="0"/>
            <c:plus>
              <c:numRef>
                <c:f>Sheet1!$B$28:$I$28</c:f>
                <c:numCache>
                  <c:formatCode>General</c:formatCode>
                  <c:ptCount val="8"/>
                  <c:pt idx="0">
                    <c:v>3.2366675823025002</c:v>
                  </c:pt>
                  <c:pt idx="1">
                    <c:v>24.037740626834424</c:v>
                  </c:pt>
                  <c:pt idx="2">
                    <c:v>0.75470226497672044</c:v>
                  </c:pt>
                  <c:pt idx="3">
                    <c:v>18.582048776929167</c:v>
                  </c:pt>
                  <c:pt idx="4">
                    <c:v>8.054982092444849</c:v>
                  </c:pt>
                  <c:pt idx="5">
                    <c:v>33.931685262444397</c:v>
                  </c:pt>
                  <c:pt idx="6">
                    <c:v>9.1012345222664681</c:v>
                  </c:pt>
                  <c:pt idx="7">
                    <c:v>18.958747776136605</c:v>
                  </c:pt>
                </c:numCache>
              </c:numRef>
            </c:plus>
            <c:minus>
              <c:numRef>
                <c:f>Sheet1!$B$28:$I$28</c:f>
                <c:numCache>
                  <c:formatCode>General</c:formatCode>
                  <c:ptCount val="8"/>
                  <c:pt idx="0">
                    <c:v>3.2366675823025002</c:v>
                  </c:pt>
                  <c:pt idx="1">
                    <c:v>24.037740626834424</c:v>
                  </c:pt>
                  <c:pt idx="2">
                    <c:v>0.75470226497672044</c:v>
                  </c:pt>
                  <c:pt idx="3">
                    <c:v>18.582048776929167</c:v>
                  </c:pt>
                  <c:pt idx="4">
                    <c:v>8.054982092444849</c:v>
                  </c:pt>
                  <c:pt idx="5">
                    <c:v>33.931685262444397</c:v>
                  </c:pt>
                  <c:pt idx="6">
                    <c:v>9.1012345222664681</c:v>
                  </c:pt>
                  <c:pt idx="7">
                    <c:v>18.958747776136605</c:v>
                  </c:pt>
                </c:numCache>
              </c:numRef>
            </c:minus>
            <c:spPr>
              <a:noFill/>
              <a:ln w="15875" cap="flat" cmpd="sng" algn="ctr">
                <a:solidFill>
                  <a:schemeClr val="tx1"/>
                </a:solidFill>
                <a:round/>
              </a:ln>
              <a:effectLst/>
            </c:spPr>
          </c:errBars>
          <c:cat>
            <c:strRef>
              <c:f>Sheet1!$B$30:$I$30</c:f>
              <c:strCache>
                <c:ptCount val="8"/>
                <c:pt idx="0">
                  <c:v>control</c:v>
                </c:pt>
                <c:pt idx="1">
                  <c:v>DCA only</c:v>
                </c:pt>
                <c:pt idx="2">
                  <c:v>QLSRRA</c:v>
                </c:pt>
                <c:pt idx="3">
                  <c:v>QLSRRA +DCA</c:v>
                </c:pt>
                <c:pt idx="4">
                  <c:v>VRFPLL</c:v>
                </c:pt>
                <c:pt idx="5">
                  <c:v>VRFPLL +DCA</c:v>
                </c:pt>
                <c:pt idx="6">
                  <c:v>QSKSRR</c:v>
                </c:pt>
                <c:pt idx="7">
                  <c:v>QSKSRR +DCA</c:v>
                </c:pt>
              </c:strCache>
            </c:strRef>
          </c:cat>
          <c:val>
            <c:numRef>
              <c:f>Sheet1!$B$27:$I$27</c:f>
              <c:numCache>
                <c:formatCode>General</c:formatCode>
                <c:ptCount val="8"/>
                <c:pt idx="0">
                  <c:v>6.4520083540763186E-9</c:v>
                </c:pt>
                <c:pt idx="1">
                  <c:v>100.00000005749814</c:v>
                </c:pt>
                <c:pt idx="2">
                  <c:v>4.2831039187564778E-2</c:v>
                </c:pt>
                <c:pt idx="3">
                  <c:v>134.06604131637079</c:v>
                </c:pt>
                <c:pt idx="4">
                  <c:v>9.6623204265659215</c:v>
                </c:pt>
                <c:pt idx="5">
                  <c:v>80.948022967734289</c:v>
                </c:pt>
                <c:pt idx="6">
                  <c:v>4.8672449811789908</c:v>
                </c:pt>
                <c:pt idx="7">
                  <c:v>67.726276066030863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70-7C44-B0AE-2ECE602997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49632768"/>
        <c:axId val="2124795136"/>
      </c:barChart>
      <c:catAx>
        <c:axId val="204963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2124795136"/>
        <c:crosses val="autoZero"/>
        <c:auto val="1"/>
        <c:lblAlgn val="ctr"/>
        <c:lblOffset val="100"/>
        <c:noMultiLvlLbl val="0"/>
      </c:catAx>
      <c:valAx>
        <c:axId val="2124795136"/>
        <c:scaling>
          <c:orientation val="minMax"/>
          <c:max val="16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Relative Luc activity [%]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20496327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b="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064B9691-87D6-48EF-9BFD-698344D045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86BE10E-3BBD-4023-B684-892AE173FF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2328F-004D-4D3A-9F80-6B7A705D1367}" type="datetimeFigureOut">
              <a:rPr kumimoji="1" lang="ja-JP" altLang="en-US" smtClean="0"/>
              <a:t>2024/5/22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6367B9F-A0B4-4348-9C4B-89D15EDCB2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2CC2C2F-D89E-474B-9003-7069E7D90C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CC25F-5D23-455B-B707-89EC30CA97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7490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00887C-0EF1-4AC1-9E9B-79863B12620D}" type="datetimeFigureOut">
              <a:rPr kumimoji="1" lang="ja-JP" altLang="en-US" smtClean="0"/>
              <a:t>2024/5/22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A420A-BDF0-4775-9670-07D3BFB5E9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9677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524000" y="2570163"/>
            <a:ext cx="9144000" cy="2387600"/>
          </a:xfrm>
        </p:spPr>
        <p:txBody>
          <a:bodyPr anchor="b">
            <a:noAutofit/>
          </a:bodyPr>
          <a:lstStyle>
            <a:lvl1pPr algn="l">
              <a:defRPr sz="48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発表の内容と構成が想像できる</a:t>
            </a:r>
            <a:br>
              <a:rPr kumimoji="1" lang="en-US" altLang="ja-JP" dirty="0"/>
            </a:br>
            <a:r>
              <a:rPr kumimoji="1" lang="ja-JP" altLang="en-US" dirty="0"/>
              <a:t>発表題目をここに書く．</a:t>
            </a:r>
            <a:br>
              <a:rPr kumimoji="1" lang="en-US" altLang="ja-JP" dirty="0"/>
            </a:br>
            <a:r>
              <a:rPr kumimoji="1" lang="ja-JP" altLang="en-US" dirty="0"/>
              <a:t>単語の途中で改行しない．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524000" y="5110163"/>
            <a:ext cx="9144000" cy="561975"/>
          </a:xfrm>
        </p:spPr>
        <p:txBody>
          <a:bodyPr>
            <a:noAutofit/>
          </a:bodyPr>
          <a:lstStyle>
            <a:lvl1pPr marL="0" indent="0" algn="l">
              <a:buNone/>
              <a:defRPr sz="3600"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発表者名</a:t>
            </a:r>
            <a:endParaRPr kumimoji="1" lang="en-US" altLang="ja-JP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5740400"/>
            <a:ext cx="9144000" cy="469900"/>
          </a:xfrm>
        </p:spPr>
        <p:txBody>
          <a:bodyPr/>
          <a:lstStyle>
            <a:lvl1pPr marL="0" indent="0" algn="l">
              <a:buNone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身分や所属など．関連する</a:t>
            </a:r>
            <a:r>
              <a:rPr kumimoji="1" lang="en-US" altLang="ja-JP" dirty="0"/>
              <a:t>SNS</a:t>
            </a:r>
            <a:r>
              <a:rPr kumimoji="1" lang="ja-JP" altLang="en-US" dirty="0"/>
              <a:t>アカウントなども．</a:t>
            </a:r>
          </a:p>
        </p:txBody>
      </p:sp>
      <p:cxnSp>
        <p:nvCxnSpPr>
          <p:cNvPr id="13" name="直線コネクタ 12"/>
          <p:cNvCxnSpPr/>
          <p:nvPr userDrawn="1"/>
        </p:nvCxnSpPr>
        <p:spPr>
          <a:xfrm flipV="1">
            <a:off x="0" y="5029200"/>
            <a:ext cx="12192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14"/>
          <p:cNvSpPr>
            <a:spLocks noGrp="1"/>
          </p:cNvSpPr>
          <p:nvPr>
            <p:ph type="body" sz="quarter" idx="12" hasCustomPrompt="1"/>
          </p:nvPr>
        </p:nvSpPr>
        <p:spPr>
          <a:xfrm>
            <a:off x="8420098" y="152399"/>
            <a:ext cx="3594101" cy="378541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会議名と日程を書いておく</a:t>
            </a:r>
          </a:p>
        </p:txBody>
      </p:sp>
      <p:sp>
        <p:nvSpPr>
          <p:cNvPr id="17" name="図プレースホルダー 16"/>
          <p:cNvSpPr>
            <a:spLocks noGrp="1"/>
          </p:cNvSpPr>
          <p:nvPr>
            <p:ph type="pic" sz="quarter" idx="13" hasCustomPrompt="1"/>
          </p:nvPr>
        </p:nvSpPr>
        <p:spPr>
          <a:xfrm>
            <a:off x="1523999" y="647700"/>
            <a:ext cx="9144000" cy="1841500"/>
          </a:xfr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kumimoji="1" lang="ja-JP" altLang="en-US" dirty="0"/>
              <a:t>題目の説明の助けになる図や動画があれば載せる．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12593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46100" y="6021647"/>
            <a:ext cx="11099800" cy="725176"/>
          </a:xfrm>
        </p:spPr>
        <p:txBody>
          <a:bodyPr>
            <a:noAutofit/>
          </a:bodyPr>
          <a:lstStyle>
            <a:lvl1pPr algn="ctr">
              <a:defRPr sz="2400" b="1" u="sng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546100" y="1038484"/>
            <a:ext cx="11099800" cy="4797052"/>
          </a:xfrm>
        </p:spPr>
        <p:txBody>
          <a:bodyPr/>
          <a:lstStyle>
            <a:lvl1pPr marL="457200" indent="-457200"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210574" y="348226"/>
            <a:ext cx="11455400" cy="469900"/>
          </a:xfrm>
        </p:spPr>
        <p:txBody>
          <a:bodyPr/>
          <a:lstStyle>
            <a:lvl1pPr marL="0" indent="0">
              <a:buNone/>
              <a:defRPr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11343514" y="340852"/>
            <a:ext cx="848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A53700-8F90-3442-A47C-78139B6BC0ED}" type="slidenum">
              <a:rPr kumimoji="1" lang="ja-JP" altLang="en-US" sz="24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r>
              <a:rPr kumimoji="1" lang="en-US" altLang="ja-JP" sz="2400" dirty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/8</a:t>
            </a:r>
            <a:endParaRPr kumimoji="1" lang="ja-JP" altLang="en-US" sz="24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0" y="825500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984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カー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638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3D9B2-A3E9-9949-B706-993C7CA3857D}" type="datetime1">
              <a:rPr kumimoji="1" lang="ja-JP" altLang="en-US" smtClean="0"/>
              <a:t>2024/5/22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B92D0-3845-473E-8E13-C70357A36C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934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6088" indent="-446088" algn="l" defTabSz="914400" rtl="0" eaLnBrk="1" latinLnBrk="0" hangingPunct="1">
        <a:lnSpc>
          <a:spcPct val="110000"/>
        </a:lnSpc>
        <a:spcBef>
          <a:spcPts val="1800"/>
        </a:spcBef>
        <a:buClr>
          <a:schemeClr val="accent4"/>
        </a:buClr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游ゴシック" panose="020B0400000000000000" pitchFamily="50" charset="-128"/>
          <a:ea typeface="游ゴシック" panose="020B0400000000000000" pitchFamily="50" charset="-128"/>
          <a:cs typeface="+mn-cs"/>
        </a:defRPr>
      </a:lvl1pPr>
      <a:lvl2pPr marL="898525" indent="-441325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2538" indent="-338138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706563" indent="-334963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151063" indent="-322263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6F0535-4030-4C35-945F-92B4531071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Luc</a:t>
            </a:r>
            <a:r>
              <a:rPr kumimoji="1" lang="ja-JP" altLang="en-US"/>
              <a:t>レポーター遺伝子発現系を使った</a:t>
            </a:r>
            <a:r>
              <a:rPr kumimoji="1" lang="en-US" altLang="ja-JP" dirty="0"/>
              <a:t>TGR5</a:t>
            </a:r>
            <a:r>
              <a:rPr kumimoji="1" lang="ja-JP" altLang="en-US"/>
              <a:t>アゴニストペプチドの探索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2FD679A-CDD2-4005-984B-113143E13B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/>
              <a:t>中村</a:t>
            </a:r>
            <a:r>
              <a:rPr kumimoji="1" lang="en-US" altLang="ja-JP" dirty="0"/>
              <a:t> </a:t>
            </a:r>
            <a:r>
              <a:rPr kumimoji="1" lang="ja-JP" altLang="en-US"/>
              <a:t>優作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7B2A5E6-B11B-4CED-B03E-250BCC2703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名古屋大学</a:t>
            </a:r>
            <a:r>
              <a:rPr kumimoji="1" lang="en-US" altLang="ja-JP" dirty="0"/>
              <a:t> </a:t>
            </a:r>
            <a:r>
              <a:rPr kumimoji="1" lang="ja-JP" altLang="en-US"/>
              <a:t>生命分子工学専攻</a:t>
            </a:r>
            <a:r>
              <a:rPr lang="en-US" altLang="ja-JP" dirty="0"/>
              <a:t> </a:t>
            </a:r>
            <a:r>
              <a:rPr lang="ja-JP" altLang="en-US"/>
              <a:t>本多研究室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F08FD74-8A95-4CC4-8A3E-A416E77C6F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kumimoji="1" lang="en-US" altLang="ja-JP" dirty="0"/>
              <a:t>2024/05/20 </a:t>
            </a:r>
            <a:r>
              <a:rPr kumimoji="1" lang="ja-JP" altLang="en-US"/>
              <a:t>ミーティング</a:t>
            </a:r>
            <a:endParaRPr kumimoji="1" lang="ja-JP" altLang="en-US" dirty="0"/>
          </a:p>
        </p:txBody>
      </p:sp>
      <p:sp>
        <p:nvSpPr>
          <p:cNvPr id="6" name="図プレースホルダー 5">
            <a:extLst>
              <a:ext uri="{FF2B5EF4-FFF2-40B4-BE49-F238E27FC236}">
                <a16:creationId xmlns:a16="http://schemas.microsoft.com/office/drawing/2014/main" id="{0AFE5A35-E172-4CE5-9706-822A88371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62107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FD98EC-8D25-482F-8132-04421A268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目的：</a:t>
            </a:r>
            <a:r>
              <a:rPr kumimoji="1" lang="en-US" altLang="ja-JP" dirty="0"/>
              <a:t>TGR5</a:t>
            </a:r>
            <a:r>
              <a:rPr kumimoji="1" lang="ja-JP" altLang="en-US"/>
              <a:t>に結合して活性化する作用を持つ生理活性ペプチドの探索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CDB890-8D30-437B-8CC3-08166F8C7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038484"/>
            <a:ext cx="5549900" cy="4797052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ja-JP" dirty="0">
                <a:solidFill>
                  <a:schemeClr val="accent4"/>
                </a:solidFill>
              </a:rPr>
              <a:t>TGR5</a:t>
            </a:r>
          </a:p>
          <a:p>
            <a:r>
              <a:rPr kumimoji="1" lang="ja-JP" altLang="en-US"/>
              <a:t>肝臓、褐色脂肪細胞、骨格筋などで発現している胆汁酸受容体</a:t>
            </a:r>
            <a:endParaRPr kumimoji="1" lang="en-US" altLang="ja-JP" dirty="0"/>
          </a:p>
          <a:p>
            <a:r>
              <a:rPr kumimoji="1" lang="ja-JP" altLang="en-US"/>
              <a:t>胆汁酸と結合し、腸内</a:t>
            </a:r>
            <a:r>
              <a:rPr kumimoji="1" lang="en-US" altLang="ja-JP" dirty="0"/>
              <a:t>L</a:t>
            </a:r>
            <a:r>
              <a:rPr kumimoji="1" lang="ja-JP" altLang="en-US"/>
              <a:t>細胞における</a:t>
            </a:r>
            <a:br>
              <a:rPr lang="en-US" altLang="ja-JP" dirty="0"/>
            </a:br>
            <a:r>
              <a:rPr kumimoji="1" lang="en-US" altLang="ja-JP" dirty="0"/>
              <a:t>GLP-1</a:t>
            </a:r>
            <a:r>
              <a:rPr kumimoji="1" lang="ja-JP" altLang="en-US"/>
              <a:t>分泌を促進</a:t>
            </a:r>
            <a:endParaRPr kumimoji="1" lang="en-US" altLang="ja-JP" dirty="0"/>
          </a:p>
          <a:p>
            <a:r>
              <a:rPr lang="ja-JP" altLang="en-US"/>
              <a:t>膵</a:t>
            </a:r>
            <a:r>
              <a:rPr lang="en-US" altLang="ja-JP" dirty="0"/>
              <a:t>β</a:t>
            </a:r>
            <a:r>
              <a:rPr lang="ja-JP" altLang="en-US"/>
              <a:t>細胞におけるインスリン分泌を促進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      </a:t>
            </a:r>
            <a:r>
              <a:rPr lang="ja-JP" altLang="en-US" sz="2400"/>
              <a:t>抗肥満、血糖降下作用</a:t>
            </a:r>
            <a:endParaRPr kumimoji="1" lang="en-US" altLang="ja-JP" sz="240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573968E-BF17-4017-AA59-5326CD607C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目的：</a:t>
            </a:r>
            <a:r>
              <a:rPr kumimoji="1" lang="en-US" altLang="ja-JP" dirty="0"/>
              <a:t>TGR5</a:t>
            </a:r>
            <a:r>
              <a:rPr kumimoji="1" lang="ja-JP" altLang="en-US"/>
              <a:t>アゴニストペプチドの探索</a:t>
            </a:r>
          </a:p>
        </p:txBody>
      </p:sp>
      <p:pic>
        <p:nvPicPr>
          <p:cNvPr id="6" name="図 5" descr="ダイアグラム&#10;&#10;自動的に生成された説明">
            <a:extLst>
              <a:ext uri="{FF2B5EF4-FFF2-40B4-BE49-F238E27FC236}">
                <a16:creationId xmlns:a16="http://schemas.microsoft.com/office/drawing/2014/main" id="{7DE73FBD-8BBA-D42D-1823-06E86157B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1035" y="1460632"/>
            <a:ext cx="5354865" cy="3743667"/>
          </a:xfrm>
          <a:prstGeom prst="rect">
            <a:avLst/>
          </a:prstGeom>
        </p:spPr>
      </p:pic>
      <p:sp>
        <p:nvSpPr>
          <p:cNvPr id="8" name="矢印: 右 43">
            <a:extLst>
              <a:ext uri="{FF2B5EF4-FFF2-40B4-BE49-F238E27FC236}">
                <a16:creationId xmlns:a16="http://schemas.microsoft.com/office/drawing/2014/main" id="{AE349380-FE7B-C12C-93D5-398105AD1057}"/>
              </a:ext>
            </a:extLst>
          </p:cNvPr>
          <p:cNvSpPr/>
          <p:nvPr/>
        </p:nvSpPr>
        <p:spPr>
          <a:xfrm>
            <a:off x="1354364" y="4506831"/>
            <a:ext cx="498929" cy="522369"/>
          </a:xfrm>
          <a:custGeom>
            <a:avLst/>
            <a:gdLst>
              <a:gd name="connsiteX0" fmla="*/ 0 w 498929"/>
              <a:gd name="connsiteY0" fmla="*/ 130592 h 522369"/>
              <a:gd name="connsiteX1" fmla="*/ 249465 w 498929"/>
              <a:gd name="connsiteY1" fmla="*/ 130592 h 522369"/>
              <a:gd name="connsiteX2" fmla="*/ 249465 w 498929"/>
              <a:gd name="connsiteY2" fmla="*/ 0 h 522369"/>
              <a:gd name="connsiteX3" fmla="*/ 498929 w 498929"/>
              <a:gd name="connsiteY3" fmla="*/ 261185 h 522369"/>
              <a:gd name="connsiteX4" fmla="*/ 249465 w 498929"/>
              <a:gd name="connsiteY4" fmla="*/ 522369 h 522369"/>
              <a:gd name="connsiteX5" fmla="*/ 249465 w 498929"/>
              <a:gd name="connsiteY5" fmla="*/ 391777 h 522369"/>
              <a:gd name="connsiteX6" fmla="*/ 0 w 498929"/>
              <a:gd name="connsiteY6" fmla="*/ 391777 h 522369"/>
              <a:gd name="connsiteX7" fmla="*/ 0 w 498929"/>
              <a:gd name="connsiteY7" fmla="*/ 130592 h 522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8929" h="522369" fill="none" extrusionOk="0">
                <a:moveTo>
                  <a:pt x="0" y="130592"/>
                </a:moveTo>
                <a:cubicBezTo>
                  <a:pt x="58281" y="110792"/>
                  <a:pt x="216793" y="137704"/>
                  <a:pt x="249465" y="130592"/>
                </a:cubicBezTo>
                <a:cubicBezTo>
                  <a:pt x="244161" y="95101"/>
                  <a:pt x="256580" y="25222"/>
                  <a:pt x="249465" y="0"/>
                </a:cubicBezTo>
                <a:cubicBezTo>
                  <a:pt x="344950" y="124713"/>
                  <a:pt x="443456" y="238460"/>
                  <a:pt x="498929" y="261185"/>
                </a:cubicBezTo>
                <a:cubicBezTo>
                  <a:pt x="470940" y="333259"/>
                  <a:pt x="369056" y="411150"/>
                  <a:pt x="249465" y="522369"/>
                </a:cubicBezTo>
                <a:cubicBezTo>
                  <a:pt x="239601" y="468735"/>
                  <a:pt x="259018" y="409973"/>
                  <a:pt x="249465" y="391777"/>
                </a:cubicBezTo>
                <a:cubicBezTo>
                  <a:pt x="222764" y="407238"/>
                  <a:pt x="39990" y="385987"/>
                  <a:pt x="0" y="391777"/>
                </a:cubicBezTo>
                <a:cubicBezTo>
                  <a:pt x="1799" y="347423"/>
                  <a:pt x="-8568" y="224152"/>
                  <a:pt x="0" y="130592"/>
                </a:cubicBezTo>
                <a:close/>
              </a:path>
              <a:path w="498929" h="522369" stroke="0" extrusionOk="0">
                <a:moveTo>
                  <a:pt x="0" y="130592"/>
                </a:moveTo>
                <a:cubicBezTo>
                  <a:pt x="27971" y="139355"/>
                  <a:pt x="156677" y="151221"/>
                  <a:pt x="249465" y="130592"/>
                </a:cubicBezTo>
                <a:cubicBezTo>
                  <a:pt x="253428" y="100803"/>
                  <a:pt x="246703" y="13629"/>
                  <a:pt x="249465" y="0"/>
                </a:cubicBezTo>
                <a:cubicBezTo>
                  <a:pt x="281200" y="77888"/>
                  <a:pt x="468262" y="187695"/>
                  <a:pt x="498929" y="261185"/>
                </a:cubicBezTo>
                <a:cubicBezTo>
                  <a:pt x="479908" y="295024"/>
                  <a:pt x="317340" y="450265"/>
                  <a:pt x="249465" y="522369"/>
                </a:cubicBezTo>
                <a:cubicBezTo>
                  <a:pt x="239478" y="494807"/>
                  <a:pt x="244607" y="438750"/>
                  <a:pt x="249465" y="391777"/>
                </a:cubicBezTo>
                <a:cubicBezTo>
                  <a:pt x="206012" y="398113"/>
                  <a:pt x="95558" y="406906"/>
                  <a:pt x="0" y="391777"/>
                </a:cubicBezTo>
                <a:cubicBezTo>
                  <a:pt x="180" y="281764"/>
                  <a:pt x="-23212" y="208737"/>
                  <a:pt x="0" y="130592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accent4"/>
            </a:solidFill>
            <a:extLst>
              <a:ext uri="{C807C97D-BFC1-408E-A445-0C87EB9F89A2}">
                <ask:lineSketchStyleProps xmlns:ask="http://schemas.microsoft.com/office/drawing/2018/sketchyshapes" sd="3864781296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56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0F3569-1852-543B-15EF-BBAFF3E48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038484"/>
            <a:ext cx="11099800" cy="469900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/>
              <a:t>目的：</a:t>
            </a:r>
            <a:r>
              <a:rPr kumimoji="1" lang="en-US" altLang="ja-JP" dirty="0"/>
              <a:t>DCA</a:t>
            </a:r>
            <a:r>
              <a:rPr kumimoji="1" lang="ja-JP" altLang="en-US"/>
              <a:t>結合ペプチドの</a:t>
            </a:r>
            <a:r>
              <a:rPr kumimoji="1" lang="en-US" altLang="ja-JP" dirty="0"/>
              <a:t>TGR5</a:t>
            </a:r>
            <a:r>
              <a:rPr kumimoji="1" lang="ja-JP" altLang="en-US"/>
              <a:t>活性の検証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45B93E8-FD2E-DDCD-20CE-12425D7A9B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/>
              <a:t>清水翔太さんによる先行研究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0923BCB-C544-5646-02E7-1DB1F66FC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" y="1508383"/>
            <a:ext cx="11099800" cy="1703143"/>
          </a:xfrm>
          <a:prstGeom prst="rect">
            <a:avLst/>
          </a:prstGeom>
        </p:spPr>
      </p:pic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819B5316-C681-4217-C761-841B57A552F9}"/>
              </a:ext>
            </a:extLst>
          </p:cNvPr>
          <p:cNvSpPr txBox="1">
            <a:spLocks/>
          </p:cNvSpPr>
          <p:nvPr/>
        </p:nvSpPr>
        <p:spPr>
          <a:xfrm>
            <a:off x="546100" y="1542344"/>
            <a:ext cx="11099800" cy="469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ja-JP" altLang="en-US"/>
              <a:t>方法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5B4E8F4-4322-1A40-B331-8A645D3F2808}"/>
              </a:ext>
            </a:extLst>
          </p:cNvPr>
          <p:cNvSpPr txBox="1"/>
          <p:nvPr/>
        </p:nvSpPr>
        <p:spPr>
          <a:xfrm>
            <a:off x="558728" y="2888221"/>
            <a:ext cx="14590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HEK293T </a:t>
            </a:r>
            <a:r>
              <a:rPr kumimoji="1" lang="ja-JP" altLang="en-US" sz="1600"/>
              <a:t>播種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6227822-4B56-A49D-7621-3746D7885DD0}"/>
              </a:ext>
            </a:extLst>
          </p:cNvPr>
          <p:cNvSpPr txBox="1"/>
          <p:nvPr/>
        </p:nvSpPr>
        <p:spPr>
          <a:xfrm>
            <a:off x="2804445" y="2889395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/>
              <a:t>トランスフェクション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08EC289-2F4C-2F76-D713-7522D47BEE20}"/>
              </a:ext>
            </a:extLst>
          </p:cNvPr>
          <p:cNvSpPr txBox="1"/>
          <p:nvPr/>
        </p:nvSpPr>
        <p:spPr>
          <a:xfrm>
            <a:off x="5638097" y="2886342"/>
            <a:ext cx="19859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/>
              <a:t>DCA, </a:t>
            </a:r>
            <a:r>
              <a:rPr lang="ja-JP" altLang="en-US" sz="1600"/>
              <a:t>ペプチド添加</a:t>
            </a:r>
            <a:endParaRPr kumimoji="1" lang="ja-JP" altLang="en-US" sz="160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BDE7CF2-EECF-B822-B8AA-6367367E666C}"/>
              </a:ext>
            </a:extLst>
          </p:cNvPr>
          <p:cNvSpPr txBox="1"/>
          <p:nvPr/>
        </p:nvSpPr>
        <p:spPr>
          <a:xfrm>
            <a:off x="10597331" y="288634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/>
              <a:t>発光測定</a:t>
            </a:r>
            <a:endParaRPr kumimoji="1" lang="ja-JP" altLang="en-US" sz="160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005B22E-1E95-D1FE-423F-39650D557CE9}"/>
              </a:ext>
            </a:extLst>
          </p:cNvPr>
          <p:cNvSpPr txBox="1"/>
          <p:nvPr/>
        </p:nvSpPr>
        <p:spPr>
          <a:xfrm>
            <a:off x="8426863" y="2886342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/>
              <a:t>ライセート</a:t>
            </a:r>
            <a:endParaRPr kumimoji="1" lang="ja-JP" altLang="en-US" sz="1600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039E0856-9D73-CB73-D689-F412FD444848}"/>
              </a:ext>
            </a:extLst>
          </p:cNvPr>
          <p:cNvSpPr txBox="1">
            <a:spLocks/>
          </p:cNvSpPr>
          <p:nvPr/>
        </p:nvSpPr>
        <p:spPr>
          <a:xfrm>
            <a:off x="546101" y="5028180"/>
            <a:ext cx="5656304" cy="15611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ja-JP" altLang="en-US"/>
              <a:t>結果</a:t>
            </a:r>
            <a:endParaRPr lang="en-US" altLang="ja-JP" dirty="0"/>
          </a:p>
          <a:p>
            <a:r>
              <a:rPr lang="en-US" altLang="ja-JP" sz="2000" dirty="0"/>
              <a:t>PRPRQP</a:t>
            </a:r>
            <a:r>
              <a:rPr lang="ja-JP" altLang="en-US" sz="2000"/>
              <a:t>以外の</a:t>
            </a:r>
            <a:r>
              <a:rPr lang="en-US" altLang="ja-JP" sz="2000" dirty="0"/>
              <a:t>4</a:t>
            </a:r>
            <a:r>
              <a:rPr lang="ja-JP" altLang="en-US" sz="2000"/>
              <a:t>種で</a:t>
            </a:r>
            <a:r>
              <a:rPr lang="en-US" altLang="ja-JP" sz="2000" dirty="0" err="1"/>
              <a:t>luc</a:t>
            </a:r>
            <a:r>
              <a:rPr lang="ja-JP" altLang="en-US" sz="2000"/>
              <a:t>活性</a:t>
            </a:r>
            <a:endParaRPr lang="en-US" altLang="ja-JP" dirty="0"/>
          </a:p>
          <a:p>
            <a:pPr>
              <a:lnSpc>
                <a:spcPct val="100000"/>
              </a:lnSpc>
            </a:pPr>
            <a:r>
              <a:rPr lang="en-US" altLang="ja-JP" sz="1800" dirty="0"/>
              <a:t>QLSRRA, QRPRGS, QSKSRR</a:t>
            </a:r>
            <a:r>
              <a:rPr lang="ja-JP" altLang="en-US" sz="1800"/>
              <a:t>が</a:t>
            </a:r>
            <a:r>
              <a:rPr lang="en-US" altLang="ja-JP" sz="1800" dirty="0"/>
              <a:t>DCA</a:t>
            </a:r>
            <a:r>
              <a:rPr lang="ja-JP" altLang="en-US" sz="1800"/>
              <a:t>と相加効果</a:t>
            </a:r>
            <a:endParaRPr lang="en-US" altLang="ja-JP" sz="1800" dirty="0"/>
          </a:p>
          <a:p>
            <a:pPr>
              <a:lnSpc>
                <a:spcPct val="100000"/>
              </a:lnSpc>
            </a:pPr>
            <a:endParaRPr lang="en-US" altLang="ja-JP" sz="1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D7F09C0-F0CE-93AC-DCB0-6943CD2A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735" y="3366069"/>
            <a:ext cx="5377239" cy="3361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コンテンツ プレースホルダー 2">
                <a:extLst>
                  <a:ext uri="{FF2B5EF4-FFF2-40B4-BE49-F238E27FC236}">
                    <a16:creationId xmlns:a16="http://schemas.microsoft.com/office/drawing/2014/main" id="{0D86672F-E90D-AE88-683B-A043A3C30D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2431" y="4379502"/>
                <a:ext cx="5463569" cy="75480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457200" indent="-457200" algn="l" defTabSz="914400" rtl="0" eaLnBrk="1" latinLnBrk="0" hangingPunct="1">
                  <a:lnSpc>
                    <a:spcPct val="110000"/>
                  </a:lnSpc>
                  <a:spcBef>
                    <a:spcPts val="1800"/>
                  </a:spcBef>
                  <a:buClr>
                    <a:schemeClr val="accent4"/>
                  </a:buClr>
                  <a:buFont typeface="Wingdings" panose="05000000000000000000" pitchFamily="2" charset="2"/>
                  <a:buChar char="l"/>
                  <a:defRPr kumimoji="1" sz="2000" b="1" kern="1200">
                    <a:solidFill>
                      <a:schemeClr val="tx1"/>
                    </a:solidFill>
                    <a:latin typeface="游ゴシック" panose="020B0400000000000000" pitchFamily="50" charset="-128"/>
                    <a:ea typeface="游ゴシック" panose="020B0400000000000000" pitchFamily="50" charset="-128"/>
                    <a:cs typeface="+mn-cs"/>
                  </a:defRPr>
                </a:lvl1pPr>
                <a:lvl2pPr marL="800100" marR="0" indent="-342900" algn="l" defTabSz="914400" rtl="0" eaLnBrk="1" fontAlgn="auto" latinLnBrk="0" hangingPunct="1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l"/>
                  <a:tabLst/>
                  <a:defRPr kumimoji="1" sz="1800" kern="1200">
                    <a:solidFill>
                      <a:schemeClr val="tx1"/>
                    </a:solidFill>
                    <a:latin typeface="游ゴシック Medium" panose="020B0500000000000000" pitchFamily="50" charset="-128"/>
                    <a:ea typeface="游ゴシック Medium" panose="020B0500000000000000" pitchFamily="50" charset="-128"/>
                    <a:cs typeface="+mn-cs"/>
                  </a:defRPr>
                </a:lvl2pPr>
                <a:lvl3pPr marL="1252538" indent="-338138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Font typeface="Wingdings" panose="05000000000000000000" pitchFamily="2" charset="2"/>
                  <a:buChar char="l"/>
                  <a:defRPr kumimoji="1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706563" indent="-334963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Font typeface="Wingdings" panose="05000000000000000000" pitchFamily="2" charset="2"/>
                  <a:buChar char="l"/>
                  <a:defRPr kumimoji="1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151063" indent="-322263" algn="l" defTabSz="914400" rtl="0" eaLnBrk="1" latinLnBrk="0" hangingPunct="1">
                  <a:lnSpc>
                    <a:spcPct val="110000"/>
                  </a:lnSpc>
                  <a:spcBef>
                    <a:spcPts val="0"/>
                  </a:spcBef>
                  <a:buFont typeface="Wingdings" panose="05000000000000000000" pitchFamily="2" charset="2"/>
                  <a:buChar char="l"/>
                  <a:defRPr kumimoji="1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𝐿𝑢𝑐</m:t>
                      </m:r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𝑎𝑐𝑡𝑖𝑣𝑖𝑡𝑦</m:t>
                      </m:r>
                      <m:r>
                        <a:rPr lang="en-US" altLang="ja-JP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1600" b="0" i="1">
                              <a:latin typeface="Cambria Math" panose="02040503050406030204" pitchFamily="18" charset="0"/>
                            </a:rPr>
                            <m:t>ホタルルシフェラーゼ</m:t>
                          </m:r>
                          <m:r>
                            <a:rPr lang="ja-JP" altLang="en-US" sz="1600" b="0" i="1" smtClean="0">
                              <a:latin typeface="Cambria Math" panose="02040503050406030204" pitchFamily="18" charset="0"/>
                            </a:rPr>
                            <m:t>活性</m:t>
                          </m:r>
                        </m:num>
                        <m:den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ja-JP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𝑔𝑎𝑙</m:t>
                          </m:r>
                          <m:r>
                            <a:rPr lang="ja-JP" altLang="en-US" sz="16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活性</m:t>
                          </m:r>
                        </m:den>
                      </m:f>
                    </m:oMath>
                  </m:oMathPara>
                </a14:m>
                <a:endParaRPr lang="en-US" altLang="ja-JP" sz="1600" b="0" dirty="0"/>
              </a:p>
            </p:txBody>
          </p:sp>
        </mc:Choice>
        <mc:Fallback xmlns="">
          <p:sp>
            <p:nvSpPr>
              <p:cNvPr id="15" name="コンテンツ プレースホルダー 2">
                <a:extLst>
                  <a:ext uri="{FF2B5EF4-FFF2-40B4-BE49-F238E27FC236}">
                    <a16:creationId xmlns:a16="http://schemas.microsoft.com/office/drawing/2014/main" id="{0D86672F-E90D-AE88-683B-A043A3C30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31" y="4379502"/>
                <a:ext cx="5463569" cy="7548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D80B910F-DEE5-6B21-A569-3827427EB8B3}"/>
              </a:ext>
            </a:extLst>
          </p:cNvPr>
          <p:cNvGrpSpPr/>
          <p:nvPr/>
        </p:nvGrpSpPr>
        <p:grpSpPr>
          <a:xfrm>
            <a:off x="2410649" y="3114355"/>
            <a:ext cx="1360668" cy="1098594"/>
            <a:chOff x="5741765" y="2218921"/>
            <a:chExt cx="1360668" cy="10985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四角形: 角を丸くする 19">
                  <a:extLst>
                    <a:ext uri="{FF2B5EF4-FFF2-40B4-BE49-F238E27FC236}">
                      <a16:creationId xmlns:a16="http://schemas.microsoft.com/office/drawing/2014/main" id="{F5A2CE78-78A0-67DB-52CC-AEBD46454CEE}"/>
                    </a:ext>
                  </a:extLst>
                </p:cNvPr>
                <p:cNvSpPr/>
                <p:nvPr/>
              </p:nvSpPr>
              <p:spPr>
                <a:xfrm>
                  <a:off x="5741765" y="2515630"/>
                  <a:ext cx="1360668" cy="801885"/>
                </a:xfrm>
                <a:prstGeom prst="roundRect">
                  <a:avLst>
                    <a:gd name="adj" fmla="val 10379"/>
                  </a:avLst>
                </a:prstGeom>
                <a:solidFill>
                  <a:schemeClr val="accent4"/>
                </a:solidFill>
                <a:ln>
                  <a:solidFill>
                    <a:schemeClr val="accent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kumimoji="1" lang="en-US" altLang="ja-JP" sz="1400" dirty="0"/>
                    <a:t>hTGR5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altLang="ja-JP" sz="1400" dirty="0"/>
                    <a:t>CRE-</a:t>
                  </a:r>
                  <a:r>
                    <a:rPr lang="en-US" altLang="ja-JP" sz="1400" dirty="0" err="1"/>
                    <a:t>luc</a:t>
                  </a:r>
                  <a:endParaRPr lang="en-US" altLang="ja-JP" sz="1400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1400" b="0" i="0" smtClean="0">
                          <a:latin typeface="Cambria Math" panose="02040503050406030204" pitchFamily="18" charset="0"/>
                          <a:ea typeface="+mj-ea"/>
                        </a:rPr>
                        <m:t>β</m:t>
                      </m:r>
                    </m:oMath>
                  </a14:m>
                  <a:r>
                    <a:rPr kumimoji="1" lang="en-US" altLang="ja-JP" sz="1400" dirty="0">
                      <a:latin typeface="+mj-ea"/>
                      <a:ea typeface="+mj-ea"/>
                    </a:rPr>
                    <a:t>-</a:t>
                  </a:r>
                  <a:r>
                    <a:rPr kumimoji="1" lang="en-US" altLang="ja-JP" sz="1400" dirty="0"/>
                    <a:t>gal</a:t>
                  </a:r>
                </a:p>
              </p:txBody>
            </p:sp>
          </mc:Choice>
          <mc:Fallback xmlns="">
            <p:sp>
              <p:nvSpPr>
                <p:cNvPr id="18" name="四角形: 角を丸くする 19">
                  <a:extLst>
                    <a:ext uri="{FF2B5EF4-FFF2-40B4-BE49-F238E27FC236}">
                      <a16:creationId xmlns:a16="http://schemas.microsoft.com/office/drawing/2014/main" id="{F5A2CE78-78A0-67DB-52CC-AEBD46454CE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1765" y="2515630"/>
                  <a:ext cx="1360668" cy="801885"/>
                </a:xfrm>
                <a:prstGeom prst="roundRect">
                  <a:avLst>
                    <a:gd name="adj" fmla="val 10379"/>
                  </a:avLst>
                </a:prstGeom>
                <a:blipFill>
                  <a:blip r:embed="rId5"/>
                  <a:stretch>
                    <a:fillRect b="-3077"/>
                  </a:stretch>
                </a:blipFill>
                <a:ln>
                  <a:solidFill>
                    <a:schemeClr val="accent4"/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二等辺三角形 21">
              <a:extLst>
                <a:ext uri="{FF2B5EF4-FFF2-40B4-BE49-F238E27FC236}">
                  <a16:creationId xmlns:a16="http://schemas.microsoft.com/office/drawing/2014/main" id="{76D66BCF-73EF-021C-365A-42E78A8EB452}"/>
                </a:ext>
              </a:extLst>
            </p:cNvPr>
            <p:cNvSpPr/>
            <p:nvPr/>
          </p:nvSpPr>
          <p:spPr>
            <a:xfrm rot="1659079">
              <a:off x="6715802" y="2218921"/>
              <a:ext cx="273017" cy="496283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1AEF9F1-F015-05CA-010E-3A66CFE22F68}"/>
              </a:ext>
            </a:extLst>
          </p:cNvPr>
          <p:cNvSpPr txBox="1"/>
          <p:nvPr/>
        </p:nvSpPr>
        <p:spPr>
          <a:xfrm>
            <a:off x="5938274" y="1603308"/>
            <a:ext cx="10237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20µM/well</a:t>
            </a:r>
            <a:endParaRPr kumimoji="1" lang="ja-JP" altLang="en-US" sz="140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D4224C6-74DF-0402-9853-5A39CD121EEE}"/>
              </a:ext>
            </a:extLst>
          </p:cNvPr>
          <p:cNvSpPr txBox="1"/>
          <p:nvPr/>
        </p:nvSpPr>
        <p:spPr>
          <a:xfrm>
            <a:off x="3174870" y="1622495"/>
            <a:ext cx="1164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各</a:t>
            </a:r>
            <a:r>
              <a:rPr kumimoji="1" lang="en-US" altLang="ja-JP" sz="1400" dirty="0"/>
              <a:t>0.5µL/well</a:t>
            </a:r>
            <a:endParaRPr kumimoji="1" lang="ja-JP" altLang="en-US" sz="1400"/>
          </a:p>
        </p:txBody>
      </p:sp>
    </p:spTree>
    <p:extLst>
      <p:ext uri="{BB962C8B-B14F-4D97-AF65-F5344CB8AC3E}">
        <p14:creationId xmlns:p14="http://schemas.microsoft.com/office/powerpoint/2010/main" val="2320715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C715C5-9302-B4E9-6EEA-75830CA35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ルシフェラーゼ発現による評価系の再現に成功</a:t>
            </a:r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0B57AAC-E32B-4799-6FB2-5E73968E0A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1</a:t>
            </a:r>
            <a:r>
              <a:rPr kumimoji="1" lang="ja-JP" altLang="en-US"/>
              <a:t>：評価系の再現実験</a:t>
            </a:r>
          </a:p>
        </p:txBody>
      </p:sp>
      <p:pic>
        <p:nvPicPr>
          <p:cNvPr id="25" name="コンテンツ プレースホルダー 24" descr="テーブル が含まれている画像&#10;&#10;自動的に生成された説明">
            <a:extLst>
              <a:ext uri="{FF2B5EF4-FFF2-40B4-BE49-F238E27FC236}">
                <a16:creationId xmlns:a16="http://schemas.microsoft.com/office/drawing/2014/main" id="{CA8F095A-C2BE-631D-0DA9-FF1D16BEB0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80" y="1528344"/>
            <a:ext cx="11113194" cy="1696552"/>
          </a:xfrm>
        </p:spPr>
      </p:pic>
      <p:sp>
        <p:nvSpPr>
          <p:cNvPr id="26" name="コンテンツ プレースホルダー 2">
            <a:extLst>
              <a:ext uri="{FF2B5EF4-FFF2-40B4-BE49-F238E27FC236}">
                <a16:creationId xmlns:a16="http://schemas.microsoft.com/office/drawing/2014/main" id="{5F368097-DC22-B974-0B5F-D63FC5EBE35D}"/>
              </a:ext>
            </a:extLst>
          </p:cNvPr>
          <p:cNvSpPr txBox="1">
            <a:spLocks/>
          </p:cNvSpPr>
          <p:nvPr/>
        </p:nvSpPr>
        <p:spPr>
          <a:xfrm>
            <a:off x="546100" y="1038484"/>
            <a:ext cx="11099800" cy="469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/>
              <a:t>目的：ルシフェラーゼ発現による評価系の再現</a:t>
            </a:r>
            <a:endParaRPr lang="en-US" altLang="ja-JP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5BBF33BC-8D10-FFB5-E599-A5D827DAAD89}"/>
              </a:ext>
            </a:extLst>
          </p:cNvPr>
          <p:cNvSpPr txBox="1"/>
          <p:nvPr/>
        </p:nvSpPr>
        <p:spPr>
          <a:xfrm>
            <a:off x="641024" y="2888221"/>
            <a:ext cx="14590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HEK293T </a:t>
            </a:r>
            <a:r>
              <a:rPr kumimoji="1" lang="ja-JP" altLang="en-US" sz="1600"/>
              <a:t>播種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7704912-1EBA-DB54-65C9-F17ACDA3E2B9}"/>
              </a:ext>
            </a:extLst>
          </p:cNvPr>
          <p:cNvSpPr txBox="1"/>
          <p:nvPr/>
        </p:nvSpPr>
        <p:spPr>
          <a:xfrm>
            <a:off x="2731293" y="2889395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/>
              <a:t>トランスフェクション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5C9C26BC-F868-A5A8-FD15-870296E79279}"/>
              </a:ext>
            </a:extLst>
          </p:cNvPr>
          <p:cNvSpPr txBox="1"/>
          <p:nvPr/>
        </p:nvSpPr>
        <p:spPr>
          <a:xfrm>
            <a:off x="6109377" y="2888221"/>
            <a:ext cx="9989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DCA</a:t>
            </a:r>
            <a:r>
              <a:rPr kumimoji="1" lang="ja-JP" altLang="en-US" sz="1600"/>
              <a:t>添加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F3E94FA-19E0-3067-4D9A-925CFA8CDB9C}"/>
              </a:ext>
            </a:extLst>
          </p:cNvPr>
          <p:cNvSpPr txBox="1"/>
          <p:nvPr/>
        </p:nvSpPr>
        <p:spPr>
          <a:xfrm>
            <a:off x="10576013" y="288634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/>
              <a:t>発光測定</a:t>
            </a:r>
            <a:endParaRPr kumimoji="1" lang="ja-JP" altLang="en-US" sz="160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E9406CC-BCAB-7D1D-0935-242A53FD0107}"/>
              </a:ext>
            </a:extLst>
          </p:cNvPr>
          <p:cNvSpPr txBox="1"/>
          <p:nvPr/>
        </p:nvSpPr>
        <p:spPr>
          <a:xfrm>
            <a:off x="8280559" y="2886342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/>
              <a:t>ライセート</a:t>
            </a:r>
            <a:endParaRPr kumimoji="1" lang="ja-JP" altLang="en-US" sz="1600"/>
          </a:p>
        </p:txBody>
      </p:sp>
      <p:sp>
        <p:nvSpPr>
          <p:cNvPr id="34" name="コンテンツ プレースホルダー 2">
            <a:extLst>
              <a:ext uri="{FF2B5EF4-FFF2-40B4-BE49-F238E27FC236}">
                <a16:creationId xmlns:a16="http://schemas.microsoft.com/office/drawing/2014/main" id="{A5DDC3A8-C074-77D8-F236-30754A0E15F9}"/>
              </a:ext>
            </a:extLst>
          </p:cNvPr>
          <p:cNvSpPr txBox="1">
            <a:spLocks/>
          </p:cNvSpPr>
          <p:nvPr/>
        </p:nvSpPr>
        <p:spPr>
          <a:xfrm>
            <a:off x="546100" y="3282046"/>
            <a:ext cx="5332187" cy="25534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/>
              <a:t>結果</a:t>
            </a:r>
            <a:endParaRPr lang="en-US" altLang="ja-JP" dirty="0"/>
          </a:p>
          <a:p>
            <a:r>
              <a:rPr lang="en-US" altLang="ja-JP" dirty="0"/>
              <a:t>TGR5</a:t>
            </a:r>
            <a:r>
              <a:rPr lang="ja-JP" altLang="en-US"/>
              <a:t>が導入された細胞で発光</a:t>
            </a:r>
            <a:endParaRPr lang="en-US" altLang="ja-JP" dirty="0"/>
          </a:p>
          <a:p>
            <a:r>
              <a:rPr lang="en-US" altLang="ja-JP" dirty="0"/>
              <a:t>TGR5</a:t>
            </a:r>
            <a:r>
              <a:rPr lang="ja-JP" altLang="en-US"/>
              <a:t>が導入された細胞に</a:t>
            </a:r>
            <a:r>
              <a:rPr lang="en-US" altLang="ja-JP" dirty="0"/>
              <a:t>DCA</a:t>
            </a:r>
            <a:r>
              <a:rPr lang="ja-JP" altLang="en-US"/>
              <a:t>を添加するとより強い発光</a:t>
            </a:r>
            <a:endParaRPr lang="en-US" altLang="ja-JP" dirty="0"/>
          </a:p>
        </p:txBody>
      </p:sp>
      <p:sp>
        <p:nvSpPr>
          <p:cNvPr id="35" name="コンテンツ プレースホルダー 2">
            <a:extLst>
              <a:ext uri="{FF2B5EF4-FFF2-40B4-BE49-F238E27FC236}">
                <a16:creationId xmlns:a16="http://schemas.microsoft.com/office/drawing/2014/main" id="{C2328E98-3AE9-DF91-72A3-CCB046C30752}"/>
              </a:ext>
            </a:extLst>
          </p:cNvPr>
          <p:cNvSpPr txBox="1">
            <a:spLocks/>
          </p:cNvSpPr>
          <p:nvPr/>
        </p:nvSpPr>
        <p:spPr>
          <a:xfrm>
            <a:off x="546100" y="1529611"/>
            <a:ext cx="11099800" cy="469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/>
              <a:t>方法</a:t>
            </a:r>
            <a:endParaRPr lang="en-US" altLang="ja-JP" dirty="0"/>
          </a:p>
        </p:txBody>
      </p:sp>
      <p:graphicFrame>
        <p:nvGraphicFramePr>
          <p:cNvPr id="36" name="グラフ 35">
            <a:extLst>
              <a:ext uri="{FF2B5EF4-FFF2-40B4-BE49-F238E27FC236}">
                <a16:creationId xmlns:a16="http://schemas.microsoft.com/office/drawing/2014/main" id="{E56EE965-F1C9-CB4C-1171-A7EF5C946E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1340431"/>
              </p:ext>
            </p:extLst>
          </p:nvPr>
        </p:nvGraphicFramePr>
        <p:xfrm>
          <a:off x="5878287" y="3347356"/>
          <a:ext cx="5672690" cy="26742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1DA68E27-F643-65B7-0608-7C17153AE7C2}"/>
              </a:ext>
            </a:extLst>
          </p:cNvPr>
          <p:cNvSpPr txBox="1"/>
          <p:nvPr/>
        </p:nvSpPr>
        <p:spPr>
          <a:xfrm>
            <a:off x="9352482" y="5899187"/>
            <a:ext cx="923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DCA</a:t>
            </a:r>
            <a:r>
              <a:rPr kumimoji="1" lang="ja-JP" altLang="en-US" sz="1400">
                <a:latin typeface="Arial" panose="020B0604020202020204" pitchFamily="34" charset="0"/>
                <a:cs typeface="Arial" panose="020B0604020202020204" pitchFamily="34" charset="0"/>
              </a:rPr>
              <a:t>添加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E9452893-4E15-5EE2-C98F-F94CA787B4AE}"/>
              </a:ext>
            </a:extLst>
          </p:cNvPr>
          <p:cNvSpPr txBox="1"/>
          <p:nvPr/>
        </p:nvSpPr>
        <p:spPr>
          <a:xfrm>
            <a:off x="10428579" y="5899187"/>
            <a:ext cx="923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latin typeface="Arial" panose="020B0604020202020204" pitchFamily="34" charset="0"/>
                <a:cs typeface="Arial" panose="020B0604020202020204" pitchFamily="34" charset="0"/>
              </a:rPr>
              <a:t>DCA</a:t>
            </a:r>
            <a:r>
              <a:rPr kumimoji="1" lang="ja-JP" altLang="en-US" sz="1400">
                <a:latin typeface="Arial" panose="020B0604020202020204" pitchFamily="34" charset="0"/>
                <a:cs typeface="Arial" panose="020B0604020202020204" pitchFamily="34" charset="0"/>
              </a:rPr>
              <a:t>添加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F84B10AB-8446-6C68-7D84-54ACB4A0B613}"/>
              </a:ext>
            </a:extLst>
          </p:cNvPr>
          <p:cNvSpPr txBox="1"/>
          <p:nvPr/>
        </p:nvSpPr>
        <p:spPr>
          <a:xfrm>
            <a:off x="5938274" y="1603308"/>
            <a:ext cx="10237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20µM/well</a:t>
            </a:r>
            <a:endParaRPr kumimoji="1" lang="ja-JP" altLang="en-US" sz="140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F912EEF-19A3-3378-B231-3DBD979F3409}"/>
              </a:ext>
            </a:extLst>
          </p:cNvPr>
          <p:cNvSpPr txBox="1"/>
          <p:nvPr/>
        </p:nvSpPr>
        <p:spPr>
          <a:xfrm>
            <a:off x="3174870" y="1622495"/>
            <a:ext cx="1164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各</a:t>
            </a:r>
            <a:r>
              <a:rPr kumimoji="1" lang="en-US" altLang="ja-JP" sz="1400" dirty="0"/>
              <a:t>0.5µL/well</a:t>
            </a:r>
            <a:endParaRPr kumimoji="1" lang="ja-JP" altLang="en-US" sz="1400"/>
          </a:p>
        </p:txBody>
      </p:sp>
    </p:spTree>
    <p:extLst>
      <p:ext uri="{BB962C8B-B14F-4D97-AF65-F5344CB8AC3E}">
        <p14:creationId xmlns:p14="http://schemas.microsoft.com/office/powerpoint/2010/main" val="2130769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C715C5-9302-B4E9-6EEA-75830CA35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ある程度の再現は取れたが結果のばらつきが大きかった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0B57AAC-E32B-4799-6FB2-5E73968E0A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2</a:t>
            </a:r>
            <a:r>
              <a:rPr kumimoji="1" lang="ja-JP" altLang="en-US"/>
              <a:t>：修論の再現実験</a:t>
            </a:r>
          </a:p>
        </p:txBody>
      </p:sp>
      <p:sp>
        <p:nvSpPr>
          <p:cNvPr id="26" name="コンテンツ プレースホルダー 2">
            <a:extLst>
              <a:ext uri="{FF2B5EF4-FFF2-40B4-BE49-F238E27FC236}">
                <a16:creationId xmlns:a16="http://schemas.microsoft.com/office/drawing/2014/main" id="{5F368097-DC22-B974-0B5F-D63FC5EBE35D}"/>
              </a:ext>
            </a:extLst>
          </p:cNvPr>
          <p:cNvSpPr txBox="1">
            <a:spLocks/>
          </p:cNvSpPr>
          <p:nvPr/>
        </p:nvSpPr>
        <p:spPr>
          <a:xfrm>
            <a:off x="546100" y="1038484"/>
            <a:ext cx="11099800" cy="469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/>
              <a:t>結果</a:t>
            </a:r>
            <a:endParaRPr lang="en-US" altLang="ja-JP" dirty="0"/>
          </a:p>
        </p:txBody>
      </p:sp>
      <p:sp>
        <p:nvSpPr>
          <p:cNvPr id="34" name="コンテンツ プレースホルダー 2">
            <a:extLst>
              <a:ext uri="{FF2B5EF4-FFF2-40B4-BE49-F238E27FC236}">
                <a16:creationId xmlns:a16="http://schemas.microsoft.com/office/drawing/2014/main" id="{A5DDC3A8-C074-77D8-F236-30754A0E15F9}"/>
              </a:ext>
            </a:extLst>
          </p:cNvPr>
          <p:cNvSpPr txBox="1">
            <a:spLocks/>
          </p:cNvSpPr>
          <p:nvPr/>
        </p:nvSpPr>
        <p:spPr>
          <a:xfrm>
            <a:off x="546100" y="4956012"/>
            <a:ext cx="10983507" cy="995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1800"/>
              <a:t>先行研究で活性が高かった、</a:t>
            </a:r>
            <a:r>
              <a:rPr lang="en-US" altLang="ja-JP" sz="1800" dirty="0"/>
              <a:t>QLSRRA+DCA</a:t>
            </a:r>
            <a:r>
              <a:rPr lang="ja-JP" altLang="en-US" sz="1800"/>
              <a:t>共添加の系で高い活性</a:t>
            </a:r>
            <a:endParaRPr lang="en-US" altLang="ja-JP" sz="1800" dirty="0"/>
          </a:p>
          <a:p>
            <a:r>
              <a:rPr lang="en-US" altLang="ja-JP" sz="1800" dirty="0"/>
              <a:t>DCA only, VRFPLL+DCA</a:t>
            </a:r>
            <a:r>
              <a:rPr lang="ja-JP" altLang="en-US" sz="1800"/>
              <a:t>の系などで、誤差が大きい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</p:txBody>
      </p:sp>
      <p:graphicFrame>
        <p:nvGraphicFramePr>
          <p:cNvPr id="3" name="グラフ 2">
            <a:extLst>
              <a:ext uri="{FF2B5EF4-FFF2-40B4-BE49-F238E27FC236}">
                <a16:creationId xmlns:a16="http://schemas.microsoft.com/office/drawing/2014/main" id="{7A3BD49D-174D-ED59-1E22-D918EFAEAA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8179608"/>
              </p:ext>
            </p:extLst>
          </p:nvPr>
        </p:nvGraphicFramePr>
        <p:xfrm>
          <a:off x="5764466" y="1508383"/>
          <a:ext cx="5886076" cy="29062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7" name="Picture 2">
            <a:extLst>
              <a:ext uri="{FF2B5EF4-FFF2-40B4-BE49-F238E27FC236}">
                <a16:creationId xmlns:a16="http://schemas.microsoft.com/office/drawing/2014/main" id="{2D1BECF6-163B-BCC6-E9D4-C571DB3B2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47" y="1508383"/>
            <a:ext cx="5102071" cy="2906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2D76BFF-3F17-D3C3-C893-485F384CF927}"/>
              </a:ext>
            </a:extLst>
          </p:cNvPr>
          <p:cNvSpPr txBox="1"/>
          <p:nvPr/>
        </p:nvSpPr>
        <p:spPr>
          <a:xfrm>
            <a:off x="9346300" y="1438022"/>
            <a:ext cx="224145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📌</a:t>
            </a:r>
            <a:r>
              <a:rPr kumimoji="1" lang="ja-JP" altLang="en-US" sz="1400"/>
              <a:t>清水さんが残した</a:t>
            </a:r>
            <a:r>
              <a:rPr lang="en-US" altLang="ja-JP" sz="1400" dirty="0"/>
              <a:t>3</a:t>
            </a:r>
            <a:r>
              <a:rPr lang="ja-JP" altLang="en-US" sz="1400"/>
              <a:t>種類のペプチドを使用</a:t>
            </a:r>
            <a:endParaRPr kumimoji="1" lang="ja-JP" altLang="en-US" sz="140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DFE86A4-D3A1-8D18-7165-6D0F1CED0CAA}"/>
              </a:ext>
            </a:extLst>
          </p:cNvPr>
          <p:cNvSpPr txBox="1"/>
          <p:nvPr/>
        </p:nvSpPr>
        <p:spPr>
          <a:xfrm>
            <a:off x="804927" y="4459166"/>
            <a:ext cx="47007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ペプチド添加と</a:t>
            </a:r>
            <a:r>
              <a:rPr kumimoji="1" lang="en-US" altLang="ja-JP" sz="1400" dirty="0"/>
              <a:t>DCA</a:t>
            </a:r>
            <a:r>
              <a:rPr kumimoji="1" lang="ja-JP" altLang="en-US" sz="1400"/>
              <a:t>共添加での</a:t>
            </a:r>
            <a:r>
              <a:rPr kumimoji="1" lang="en-US" altLang="ja-JP" sz="1400" dirty="0"/>
              <a:t>Relative Luc activity(</a:t>
            </a:r>
            <a:r>
              <a:rPr kumimoji="1" lang="ja-JP" altLang="en-US" sz="1400"/>
              <a:t>清水</a:t>
            </a:r>
            <a:r>
              <a:rPr kumimoji="1" lang="en-US" altLang="ja-JP" sz="1400" dirty="0"/>
              <a:t>)</a:t>
            </a:r>
            <a:endParaRPr kumimoji="1" lang="ja-JP" altLang="en-US" sz="140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83E6136-BF3E-F944-B5B9-36A5C6B6AD5C}"/>
              </a:ext>
            </a:extLst>
          </p:cNvPr>
          <p:cNvSpPr txBox="1"/>
          <p:nvPr/>
        </p:nvSpPr>
        <p:spPr>
          <a:xfrm>
            <a:off x="6357149" y="4485042"/>
            <a:ext cx="47007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ペプチド添加と</a:t>
            </a:r>
            <a:r>
              <a:rPr kumimoji="1" lang="en-US" altLang="ja-JP" sz="1400" dirty="0"/>
              <a:t>DCA</a:t>
            </a:r>
            <a:r>
              <a:rPr kumimoji="1" lang="ja-JP" altLang="en-US" sz="1400"/>
              <a:t>共添加での</a:t>
            </a:r>
            <a:r>
              <a:rPr kumimoji="1" lang="en-US" altLang="ja-JP" sz="1400" dirty="0"/>
              <a:t>Relative Luc activity(</a:t>
            </a:r>
            <a:r>
              <a:rPr kumimoji="1" lang="ja-JP" altLang="en-US" sz="1400"/>
              <a:t>中村</a:t>
            </a:r>
            <a:r>
              <a:rPr kumimoji="1" lang="en-US" altLang="ja-JP" sz="1400" dirty="0"/>
              <a:t>)</a:t>
            </a:r>
            <a:endParaRPr kumimoji="1" lang="ja-JP" altLang="en-US" sz="1400"/>
          </a:p>
        </p:txBody>
      </p:sp>
    </p:spTree>
    <p:extLst>
      <p:ext uri="{BB962C8B-B14F-4D97-AF65-F5344CB8AC3E}">
        <p14:creationId xmlns:p14="http://schemas.microsoft.com/office/powerpoint/2010/main" val="777783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57B0FE-A842-20DE-C5FF-A59BB0188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720506"/>
            <a:ext cx="11099800" cy="50263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/>
              <a:t>考察</a:t>
            </a:r>
            <a:endParaRPr lang="en-US" altLang="ja-JP" dirty="0"/>
          </a:p>
          <a:p>
            <a:r>
              <a:rPr lang="ja-JP" altLang="en-US"/>
              <a:t>コラーゲンコート濃度が低い</a:t>
            </a:r>
            <a:endParaRPr lang="en-US" altLang="ja-JP" dirty="0"/>
          </a:p>
          <a:p>
            <a:pPr lvl="1"/>
            <a:r>
              <a:rPr lang="en-US" altLang="ja-JP" dirty="0" err="1"/>
              <a:t>Cellmatrix</a:t>
            </a:r>
            <a:r>
              <a:rPr lang="en-US" altLang="ja-JP" dirty="0"/>
              <a:t> </a:t>
            </a:r>
            <a:r>
              <a:rPr lang="en-US" altLang="ja-JP" dirty="0" err="1"/>
              <a:t>typeIC</a:t>
            </a:r>
            <a:r>
              <a:rPr lang="en-US" altLang="ja-JP" dirty="0"/>
              <a:t> (3mg/mL)</a:t>
            </a:r>
            <a:r>
              <a:rPr lang="ja-JP" altLang="en-US"/>
              <a:t>を</a:t>
            </a:r>
            <a:r>
              <a:rPr lang="en-US" altLang="ja-JP" dirty="0"/>
              <a:t>0.02N</a:t>
            </a:r>
            <a:r>
              <a:rPr lang="ja-JP" altLang="en-US"/>
              <a:t>酢酸で</a:t>
            </a:r>
            <a:r>
              <a:rPr lang="en-US" altLang="ja-JP" dirty="0"/>
              <a:t>50µg/mL</a:t>
            </a:r>
            <a:r>
              <a:rPr lang="ja-JP" altLang="en-US"/>
              <a:t>に希釈</a:t>
            </a:r>
            <a:r>
              <a:rPr lang="en-US" altLang="ja-JP" dirty="0"/>
              <a:t>(1/60</a:t>
            </a:r>
            <a:r>
              <a:rPr lang="ja-JP" altLang="en-US"/>
              <a:t>希釈</a:t>
            </a:r>
            <a:r>
              <a:rPr lang="en-US" altLang="ja-JP" dirty="0"/>
              <a:t>)</a:t>
            </a:r>
            <a:r>
              <a:rPr lang="ja-JP" altLang="en-US"/>
              <a:t>している</a:t>
            </a:r>
            <a:endParaRPr lang="en-US" altLang="ja-JP" dirty="0"/>
          </a:p>
          <a:p>
            <a:pPr lvl="1"/>
            <a:r>
              <a:rPr lang="ja-JP" altLang="en-US"/>
              <a:t>コラーゲンコートの濃度が薄く、細胞が剥がれてしまう？</a:t>
            </a:r>
            <a:endParaRPr kumimoji="1" lang="en-US" altLang="ja-JP" dirty="0"/>
          </a:p>
          <a:p>
            <a:r>
              <a:rPr lang="ja-JP" altLang="en-US"/>
              <a:t>手技の問題</a:t>
            </a:r>
            <a:endParaRPr lang="en-US" altLang="ja-JP" dirty="0"/>
          </a:p>
          <a:p>
            <a:pPr lvl="1"/>
            <a:r>
              <a:rPr lang="en-US" altLang="ja-JP" dirty="0"/>
              <a:t>dish</a:t>
            </a:r>
            <a:r>
              <a:rPr lang="ja-JP" altLang="en-US"/>
              <a:t>を傾けて壁面に沿ってゆっくり添加</a:t>
            </a:r>
            <a:r>
              <a:rPr lang="en-US" altLang="ja-JP" dirty="0"/>
              <a:t> -&gt; </a:t>
            </a:r>
            <a:r>
              <a:rPr lang="ja-JP" altLang="en-US"/>
              <a:t>傾けてた</a:t>
            </a:r>
            <a:r>
              <a:rPr lang="en-US" altLang="ja-JP" dirty="0"/>
              <a:t>dish</a:t>
            </a:r>
            <a:r>
              <a:rPr lang="ja-JP" altLang="en-US"/>
              <a:t>を戻すときに流れている？</a:t>
            </a:r>
            <a:endParaRPr lang="en-US" altLang="ja-JP" dirty="0"/>
          </a:p>
          <a:p>
            <a:pPr lvl="2"/>
            <a:r>
              <a:rPr lang="ja-JP" altLang="en-US"/>
              <a:t>ゆっくりと</a:t>
            </a:r>
            <a:r>
              <a:rPr lang="en-US" altLang="ja-JP" dirty="0"/>
              <a:t>dish</a:t>
            </a:r>
            <a:r>
              <a:rPr lang="ja-JP" altLang="en-US"/>
              <a:t>を戻す様に気をつける</a:t>
            </a:r>
            <a:endParaRPr lang="en-US" altLang="ja-JP" dirty="0"/>
          </a:p>
          <a:p>
            <a:pPr lvl="1"/>
            <a:r>
              <a:rPr lang="en-US" altLang="ja-JP" dirty="0"/>
              <a:t>12well</a:t>
            </a:r>
            <a:r>
              <a:rPr lang="ja-JP" altLang="en-US"/>
              <a:t>分全て吸ってから添加</a:t>
            </a:r>
            <a:r>
              <a:rPr lang="en-US" altLang="ja-JP" dirty="0"/>
              <a:t> -&gt; </a:t>
            </a:r>
            <a:r>
              <a:rPr lang="ja-JP" altLang="en-US"/>
              <a:t>空気に晒される時間が長く、細胞がダメージを受ける？</a:t>
            </a:r>
            <a:endParaRPr lang="en-US" altLang="ja-JP" dirty="0"/>
          </a:p>
          <a:p>
            <a:pPr lvl="2"/>
            <a:r>
              <a:rPr lang="en-US" altLang="ja-JP" dirty="0"/>
              <a:t>3well</a:t>
            </a:r>
            <a:r>
              <a:rPr lang="ja-JP" altLang="en-US"/>
              <a:t>ずつで吸って添加をする様にする</a:t>
            </a:r>
            <a:endParaRPr lang="en-US" altLang="ja-JP" dirty="0"/>
          </a:p>
          <a:p>
            <a:r>
              <a:rPr kumimoji="1" lang="en-US" altLang="ja-JP" dirty="0"/>
              <a:t>Lipofecta</a:t>
            </a:r>
            <a:r>
              <a:rPr lang="en-US" altLang="ja-JP" dirty="0"/>
              <a:t>mine</a:t>
            </a:r>
            <a:r>
              <a:rPr lang="ja-JP" altLang="en-US"/>
              <a:t>濃度が高い</a:t>
            </a:r>
            <a:endParaRPr lang="en-US" altLang="ja-JP" dirty="0"/>
          </a:p>
          <a:p>
            <a:pPr lvl="1"/>
            <a:r>
              <a:rPr lang="en-US" altLang="ja-JP" dirty="0"/>
              <a:t>1.5µL/well</a:t>
            </a:r>
            <a:r>
              <a:rPr lang="ja-JP" altLang="en-US"/>
              <a:t>でトランスフェクションを行っている</a:t>
            </a:r>
            <a:endParaRPr lang="en-US" altLang="ja-JP" dirty="0"/>
          </a:p>
          <a:p>
            <a:pPr lvl="1"/>
            <a:r>
              <a:rPr lang="en-US" altLang="ja-JP" dirty="0"/>
              <a:t>Lipofectamine</a:t>
            </a:r>
            <a:r>
              <a:rPr lang="ja-JP" altLang="en-US"/>
              <a:t>濃度が高く、細胞がダメージを受けて剥がれやすくなっている？</a:t>
            </a:r>
          </a:p>
          <a:p>
            <a:pPr marL="457200" lvl="1" indent="0">
              <a:buNone/>
            </a:pPr>
            <a:endParaRPr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6C43D2D-F987-8A59-8FC5-E7FACC7882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/>
              <a:t>実験方法の検討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3B11C39-9140-1433-B4F0-BF17B8523376}"/>
              </a:ext>
            </a:extLst>
          </p:cNvPr>
          <p:cNvSpPr txBox="1"/>
          <p:nvPr/>
        </p:nvSpPr>
        <p:spPr>
          <a:xfrm>
            <a:off x="546100" y="1038484"/>
            <a:ext cx="805180" cy="461665"/>
          </a:xfrm>
          <a:prstGeom prst="rect">
            <a:avLst/>
          </a:prstGeom>
          <a:solidFill>
            <a:srgbClr val="46877B"/>
          </a:solidFill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課題</a:t>
            </a:r>
            <a:endParaRPr lang="ja-JP" altLang="en-US" sz="24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6E38AE91-D0BB-5937-9EF8-09837F09D98D}"/>
              </a:ext>
            </a:extLst>
          </p:cNvPr>
          <p:cNvSpPr txBox="1">
            <a:spLocks/>
          </p:cNvSpPr>
          <p:nvPr/>
        </p:nvSpPr>
        <p:spPr>
          <a:xfrm>
            <a:off x="1351280" y="1038484"/>
            <a:ext cx="10294620" cy="4616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ja-JP" altLang="en-US" u="sng"/>
              <a:t>トランスフェクション後の細胞が剥がれ、</a:t>
            </a:r>
            <a:r>
              <a:rPr lang="en-US" altLang="ja-JP" u="sng" dirty="0"/>
              <a:t>well</a:t>
            </a:r>
            <a:r>
              <a:rPr lang="ja-JP" altLang="en-US" u="sng"/>
              <a:t>ごとの細胞数にばらつきが生じる</a:t>
            </a:r>
          </a:p>
        </p:txBody>
      </p:sp>
    </p:spTree>
    <p:extLst>
      <p:ext uri="{BB962C8B-B14F-4D97-AF65-F5344CB8AC3E}">
        <p14:creationId xmlns:p14="http://schemas.microsoft.com/office/powerpoint/2010/main" val="1855204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457B0FE-A842-20DE-C5FF-A59BB0188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720507"/>
            <a:ext cx="11099800" cy="5026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/>
              <a:t>ボトルネック</a:t>
            </a:r>
            <a:endParaRPr lang="en-US" altLang="ja-JP" dirty="0"/>
          </a:p>
          <a:p>
            <a:r>
              <a:rPr kumimoji="1" lang="ja-JP" altLang="en-US"/>
              <a:t>トランスフェクションの時間</a:t>
            </a:r>
            <a:endParaRPr kumimoji="1" lang="en-US" altLang="ja-JP" dirty="0"/>
          </a:p>
          <a:p>
            <a:pPr lvl="1"/>
            <a:r>
              <a:rPr lang="en-US" altLang="ja-JP" dirty="0"/>
              <a:t>4</a:t>
            </a:r>
            <a:r>
              <a:rPr lang="ja-JP" altLang="en-US"/>
              <a:t>時間トランスフェクションを行った後、成長培地に交換する</a:t>
            </a:r>
            <a:endParaRPr lang="en-US" altLang="ja-JP" dirty="0"/>
          </a:p>
          <a:p>
            <a:pPr lvl="2"/>
            <a:r>
              <a:rPr lang="ja-JP" altLang="en-US"/>
              <a:t>これ以上実験系が増えると</a:t>
            </a:r>
            <a:r>
              <a:rPr lang="en-US" altLang="ja-JP" dirty="0"/>
              <a:t>1</a:t>
            </a:r>
            <a:r>
              <a:rPr lang="ja-JP" altLang="en-US"/>
              <a:t>日で実験が完了できなくなる</a:t>
            </a:r>
            <a:endParaRPr lang="en-US" altLang="ja-JP" dirty="0"/>
          </a:p>
          <a:p>
            <a:pPr lvl="1"/>
            <a:r>
              <a:rPr lang="en-US" altLang="ja-JP" dirty="0"/>
              <a:t>24</a:t>
            </a:r>
            <a:r>
              <a:rPr lang="ja-JP" altLang="en-US"/>
              <a:t>時間でもいいのではないか？</a:t>
            </a:r>
            <a:endParaRPr lang="en-US" altLang="ja-JP" dirty="0"/>
          </a:p>
          <a:p>
            <a:r>
              <a:rPr lang="en-US" altLang="ja-JP" dirty="0"/>
              <a:t>DCA</a:t>
            </a:r>
            <a:r>
              <a:rPr lang="ja-JP" altLang="en-US"/>
              <a:t>添加後の</a:t>
            </a:r>
            <a:r>
              <a:rPr lang="en-US" altLang="ja-JP" dirty="0"/>
              <a:t>5</a:t>
            </a:r>
            <a:r>
              <a:rPr lang="ja-JP" altLang="en-US"/>
              <a:t>時間待ち</a:t>
            </a:r>
            <a:endParaRPr lang="en-US" altLang="ja-JP" dirty="0"/>
          </a:p>
          <a:p>
            <a:pPr lvl="1"/>
            <a:r>
              <a:rPr lang="ja-JP" altLang="en-US"/>
              <a:t>これ以上実験系が増えると</a:t>
            </a:r>
            <a:r>
              <a:rPr lang="en-US" altLang="ja-JP" dirty="0"/>
              <a:t>1</a:t>
            </a:r>
            <a:r>
              <a:rPr lang="ja-JP" altLang="en-US"/>
              <a:t>日で実験が完了できなくなる</a:t>
            </a:r>
            <a:endParaRPr lang="en-US" altLang="ja-JP" dirty="0"/>
          </a:p>
          <a:p>
            <a:pPr lvl="1"/>
            <a:r>
              <a:rPr kumimoji="1" lang="ja-JP" altLang="en-US"/>
              <a:t>もっと短い時間でもいいのではないか？</a:t>
            </a:r>
            <a:endParaRPr kumimoji="1" lang="en-US" altLang="ja-JP" dirty="0"/>
          </a:p>
          <a:p>
            <a:pPr lvl="2"/>
            <a:r>
              <a:rPr lang="en-US" altLang="ja-JP" dirty="0"/>
              <a:t>1, 3, 5</a:t>
            </a:r>
            <a:r>
              <a:rPr lang="ja-JP" altLang="en-US"/>
              <a:t>時間などで検討してみる</a:t>
            </a:r>
            <a:endParaRPr kumimoji="1" lang="en-US" altLang="ja-JP" dirty="0"/>
          </a:p>
          <a:p>
            <a:r>
              <a:rPr lang="en-US" altLang="ja-JP" dirty="0"/>
              <a:t>12well</a:t>
            </a:r>
            <a:r>
              <a:rPr lang="ja-JP" altLang="en-US"/>
              <a:t>だと</a:t>
            </a:r>
            <a:r>
              <a:rPr lang="en-US" altLang="ja-JP" dirty="0"/>
              <a:t>dish</a:t>
            </a:r>
            <a:r>
              <a:rPr lang="ja-JP" altLang="en-US"/>
              <a:t>一枚あたりで評価できる系が少ない</a:t>
            </a:r>
            <a:endParaRPr kumimoji="1" lang="en-US" altLang="ja-JP" dirty="0"/>
          </a:p>
          <a:p>
            <a:pPr lvl="1"/>
            <a:r>
              <a:rPr lang="en-US" altLang="ja-JP" dirty="0"/>
              <a:t>dish</a:t>
            </a:r>
            <a:r>
              <a:rPr lang="ja-JP" altLang="en-US"/>
              <a:t>一枚で評価できるのはペプチド</a:t>
            </a:r>
            <a:r>
              <a:rPr lang="en-US" altLang="ja-JP" dirty="0"/>
              <a:t>2</a:t>
            </a:r>
            <a:r>
              <a:rPr lang="ja-JP" altLang="en-US"/>
              <a:t>種類分</a:t>
            </a:r>
            <a:endParaRPr lang="en-US" altLang="ja-JP" dirty="0"/>
          </a:p>
          <a:p>
            <a:pPr lvl="1"/>
            <a:r>
              <a:rPr lang="ja-JP" altLang="en-US"/>
              <a:t>今後他のペプチドを評価する場合、</a:t>
            </a:r>
            <a:r>
              <a:rPr lang="en-US" altLang="ja-JP" dirty="0"/>
              <a:t>12well</a:t>
            </a:r>
            <a:r>
              <a:rPr lang="ja-JP" altLang="en-US"/>
              <a:t>だとスループット性が低い</a:t>
            </a:r>
            <a:endParaRPr lang="en-US" altLang="ja-JP" dirty="0"/>
          </a:p>
          <a:p>
            <a:pPr lvl="1"/>
            <a:r>
              <a:rPr lang="en-US" altLang="ja-JP" dirty="0"/>
              <a:t>24well</a:t>
            </a:r>
            <a:r>
              <a:rPr lang="ja-JP" altLang="en-US"/>
              <a:t>でも再現できるか検討する</a:t>
            </a:r>
            <a:endParaRPr lang="en-US" altLang="ja-JP" dirty="0"/>
          </a:p>
          <a:p>
            <a:pPr lvl="1"/>
            <a:endParaRPr lang="en-US" altLang="ja-JP" dirty="0"/>
          </a:p>
          <a:p>
            <a:pPr lvl="1"/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6C43D2D-F987-8A59-8FC5-E7FACC7882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/>
              <a:t>実験方法の検討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3B11C39-9140-1433-B4F0-BF17B8523376}"/>
              </a:ext>
            </a:extLst>
          </p:cNvPr>
          <p:cNvSpPr txBox="1"/>
          <p:nvPr/>
        </p:nvSpPr>
        <p:spPr>
          <a:xfrm>
            <a:off x="546100" y="1038484"/>
            <a:ext cx="805180" cy="461665"/>
          </a:xfrm>
          <a:prstGeom prst="rect">
            <a:avLst/>
          </a:prstGeom>
          <a:solidFill>
            <a:srgbClr val="46877B"/>
          </a:solidFill>
        </p:spPr>
        <p:txBody>
          <a:bodyPr wrap="square">
            <a:spAutoFit/>
          </a:bodyPr>
          <a:lstStyle/>
          <a:p>
            <a:r>
              <a:rPr lang="ja-JP" altLang="en-US" sz="2400" b="1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課題</a:t>
            </a:r>
            <a:endParaRPr lang="ja-JP" altLang="en-US" sz="24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6E38AE91-D0BB-5937-9EF8-09837F09D98D}"/>
              </a:ext>
            </a:extLst>
          </p:cNvPr>
          <p:cNvSpPr txBox="1">
            <a:spLocks/>
          </p:cNvSpPr>
          <p:nvPr/>
        </p:nvSpPr>
        <p:spPr>
          <a:xfrm>
            <a:off x="1351280" y="1038484"/>
            <a:ext cx="10294620" cy="4616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ja-JP" altLang="en-US" u="sng"/>
              <a:t>実験方法の煩雑さ</a:t>
            </a:r>
          </a:p>
        </p:txBody>
      </p:sp>
    </p:spTree>
    <p:extLst>
      <p:ext uri="{BB962C8B-B14F-4D97-AF65-F5344CB8AC3E}">
        <p14:creationId xmlns:p14="http://schemas.microsoft.com/office/powerpoint/2010/main" val="2715661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962B5B0-2098-10E7-EB7A-EE6773B581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ja-JP" dirty="0"/>
              <a:t>TGR5</a:t>
            </a:r>
            <a:r>
              <a:rPr kumimoji="1" lang="ja-JP" altLang="en-US"/>
              <a:t>アゴニスト構造類似ペプチドの検討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5C436BE-83F9-E5F7-A079-73A32AE791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886" y="1608101"/>
            <a:ext cx="2867075" cy="2262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8E525AF-B083-B810-A2A1-33621D313F5C}"/>
              </a:ext>
            </a:extLst>
          </p:cNvPr>
          <p:cNvSpPr txBox="1"/>
          <p:nvPr/>
        </p:nvSpPr>
        <p:spPr>
          <a:xfrm>
            <a:off x="7641278" y="3957385"/>
            <a:ext cx="40046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3-</a:t>
            </a:r>
            <a:r>
              <a:rPr kumimoji="1" lang="ja-JP" altLang="en-US" sz="1400"/>
              <a:t>アリール</a:t>
            </a:r>
            <a:r>
              <a:rPr kumimoji="1" lang="en-US" altLang="ja-JP" sz="1400" dirty="0"/>
              <a:t>-4-</a:t>
            </a:r>
            <a:r>
              <a:rPr kumimoji="1" lang="ja-JP" altLang="en-US" sz="1400"/>
              <a:t>イソオキサゾールカルボキサミド</a:t>
            </a:r>
            <a:endParaRPr kumimoji="1" lang="en-US" altLang="ja-JP" sz="1400" dirty="0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C8683B70-025F-BDB5-92BB-2E765AEAC9F3}"/>
              </a:ext>
            </a:extLst>
          </p:cNvPr>
          <p:cNvSpPr txBox="1">
            <a:spLocks/>
          </p:cNvSpPr>
          <p:nvPr/>
        </p:nvSpPr>
        <p:spPr>
          <a:xfrm>
            <a:off x="546100" y="4411744"/>
            <a:ext cx="11099800" cy="2335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ja-JP" dirty="0"/>
              <a:t>SMILES</a:t>
            </a:r>
            <a:r>
              <a:rPr lang="ja-JP" altLang="en-US"/>
              <a:t>表記</a:t>
            </a:r>
            <a:endParaRPr lang="en-US" altLang="ja-JP" dirty="0"/>
          </a:p>
          <a:p>
            <a:r>
              <a:rPr lang="ja-JP" altLang="en-US"/>
              <a:t>化学構造情報をグラフに基づく線表記で記述したもの</a:t>
            </a:r>
            <a:endParaRPr lang="en-US" altLang="ja-JP" dirty="0"/>
          </a:p>
          <a:p>
            <a:r>
              <a:rPr lang="ja-JP" altLang="en-US"/>
              <a:t>化合物グラフを文字列に置き換えてコンピュータに認識させる表現</a:t>
            </a:r>
            <a:endParaRPr lang="en-US" altLang="ja-JP" dirty="0"/>
          </a:p>
          <a:p>
            <a:pPr marL="0" indent="0" algn="ctr">
              <a:buNone/>
            </a:pPr>
            <a:r>
              <a:rPr lang="en-US" altLang="ja-JP" u="sng" dirty="0"/>
              <a:t>SMILES</a:t>
            </a:r>
            <a:r>
              <a:rPr lang="ja-JP" altLang="en-US" u="sng"/>
              <a:t>表記を用いて構造相関の評価をする</a:t>
            </a:r>
            <a:endParaRPr lang="en-US" altLang="ja-JP" u="sng" dirty="0"/>
          </a:p>
        </p:txBody>
      </p:sp>
      <p:sp>
        <p:nvSpPr>
          <p:cNvPr id="8" name="矢印: 右 43">
            <a:extLst>
              <a:ext uri="{FF2B5EF4-FFF2-40B4-BE49-F238E27FC236}">
                <a16:creationId xmlns:a16="http://schemas.microsoft.com/office/drawing/2014/main" id="{372D8554-8C65-CFDF-5404-37BF8CBF827E}"/>
              </a:ext>
            </a:extLst>
          </p:cNvPr>
          <p:cNvSpPr/>
          <p:nvPr/>
        </p:nvSpPr>
        <p:spPr>
          <a:xfrm>
            <a:off x="2640323" y="6101854"/>
            <a:ext cx="734473" cy="507562"/>
          </a:xfrm>
          <a:custGeom>
            <a:avLst/>
            <a:gdLst>
              <a:gd name="connsiteX0" fmla="*/ 0 w 734473"/>
              <a:gd name="connsiteY0" fmla="*/ 126891 h 507562"/>
              <a:gd name="connsiteX1" fmla="*/ 480692 w 734473"/>
              <a:gd name="connsiteY1" fmla="*/ 126891 h 507562"/>
              <a:gd name="connsiteX2" fmla="*/ 480692 w 734473"/>
              <a:gd name="connsiteY2" fmla="*/ 0 h 507562"/>
              <a:gd name="connsiteX3" fmla="*/ 734473 w 734473"/>
              <a:gd name="connsiteY3" fmla="*/ 253781 h 507562"/>
              <a:gd name="connsiteX4" fmla="*/ 480692 w 734473"/>
              <a:gd name="connsiteY4" fmla="*/ 507562 h 507562"/>
              <a:gd name="connsiteX5" fmla="*/ 480692 w 734473"/>
              <a:gd name="connsiteY5" fmla="*/ 380672 h 507562"/>
              <a:gd name="connsiteX6" fmla="*/ 0 w 734473"/>
              <a:gd name="connsiteY6" fmla="*/ 380672 h 507562"/>
              <a:gd name="connsiteX7" fmla="*/ 0 w 734473"/>
              <a:gd name="connsiteY7" fmla="*/ 126891 h 50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4473" h="507562" fill="none" extrusionOk="0">
                <a:moveTo>
                  <a:pt x="0" y="126891"/>
                </a:moveTo>
                <a:cubicBezTo>
                  <a:pt x="192481" y="154949"/>
                  <a:pt x="310360" y="129811"/>
                  <a:pt x="480692" y="126891"/>
                </a:cubicBezTo>
                <a:cubicBezTo>
                  <a:pt x="484954" y="86457"/>
                  <a:pt x="483259" y="31308"/>
                  <a:pt x="480692" y="0"/>
                </a:cubicBezTo>
                <a:cubicBezTo>
                  <a:pt x="523480" y="86056"/>
                  <a:pt x="684626" y="224945"/>
                  <a:pt x="734473" y="253781"/>
                </a:cubicBezTo>
                <a:cubicBezTo>
                  <a:pt x="642701" y="388504"/>
                  <a:pt x="606022" y="387735"/>
                  <a:pt x="480692" y="507562"/>
                </a:cubicBezTo>
                <a:cubicBezTo>
                  <a:pt x="482917" y="455664"/>
                  <a:pt x="484048" y="427735"/>
                  <a:pt x="480692" y="380672"/>
                </a:cubicBezTo>
                <a:cubicBezTo>
                  <a:pt x="305932" y="385734"/>
                  <a:pt x="57583" y="421685"/>
                  <a:pt x="0" y="380672"/>
                </a:cubicBezTo>
                <a:cubicBezTo>
                  <a:pt x="-21124" y="263037"/>
                  <a:pt x="-22315" y="177354"/>
                  <a:pt x="0" y="126891"/>
                </a:cubicBezTo>
                <a:close/>
              </a:path>
              <a:path w="734473" h="507562" stroke="0" extrusionOk="0">
                <a:moveTo>
                  <a:pt x="0" y="126891"/>
                </a:moveTo>
                <a:cubicBezTo>
                  <a:pt x="94521" y="109598"/>
                  <a:pt x="255922" y="89233"/>
                  <a:pt x="480692" y="126891"/>
                </a:cubicBezTo>
                <a:cubicBezTo>
                  <a:pt x="490109" y="74255"/>
                  <a:pt x="483650" y="44922"/>
                  <a:pt x="480692" y="0"/>
                </a:cubicBezTo>
                <a:cubicBezTo>
                  <a:pt x="514358" y="26525"/>
                  <a:pt x="634986" y="163277"/>
                  <a:pt x="734473" y="253781"/>
                </a:cubicBezTo>
                <a:cubicBezTo>
                  <a:pt x="610152" y="380504"/>
                  <a:pt x="515087" y="489814"/>
                  <a:pt x="480692" y="507562"/>
                </a:cubicBezTo>
                <a:cubicBezTo>
                  <a:pt x="489282" y="486557"/>
                  <a:pt x="470742" y="408672"/>
                  <a:pt x="480692" y="380672"/>
                </a:cubicBezTo>
                <a:cubicBezTo>
                  <a:pt x="371089" y="353725"/>
                  <a:pt x="233785" y="356440"/>
                  <a:pt x="0" y="380672"/>
                </a:cubicBezTo>
                <a:cubicBezTo>
                  <a:pt x="9779" y="327071"/>
                  <a:pt x="6664" y="231570"/>
                  <a:pt x="0" y="126891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accent4"/>
            </a:solidFill>
            <a:extLst>
              <a:ext uri="{C807C97D-BFC1-408E-A445-0C87EB9F89A2}">
                <ask:lineSketchStyleProps xmlns:ask="http://schemas.microsoft.com/office/drawing/2018/sketchyshapes" sd="3864781296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745F7F19-C8CC-2BEC-6FA3-A55CEA060C3B}"/>
              </a:ext>
            </a:extLst>
          </p:cNvPr>
          <p:cNvSpPr txBox="1">
            <a:spLocks/>
          </p:cNvSpPr>
          <p:nvPr/>
        </p:nvSpPr>
        <p:spPr>
          <a:xfrm>
            <a:off x="546098" y="1941922"/>
            <a:ext cx="6993926" cy="1998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3-</a:t>
            </a:r>
            <a:r>
              <a:rPr lang="ja-JP" altLang="en-US"/>
              <a:t>アリール</a:t>
            </a:r>
            <a:r>
              <a:rPr lang="en-US" altLang="ja-JP" dirty="0"/>
              <a:t>-4-</a:t>
            </a:r>
            <a:r>
              <a:rPr lang="ja-JP" altLang="en-US"/>
              <a:t>イソオキサゾールカルボキサミドは</a:t>
            </a:r>
            <a:r>
              <a:rPr lang="en-US" altLang="ja-JP" dirty="0"/>
              <a:t>TGR5</a:t>
            </a:r>
            <a:r>
              <a:rPr lang="ja-JP" altLang="en-US"/>
              <a:t>の低分子アゴニスト</a:t>
            </a:r>
            <a:endParaRPr lang="en-US" altLang="ja-JP" dirty="0"/>
          </a:p>
          <a:p>
            <a:r>
              <a:rPr lang="en-US" altLang="ja-JP" dirty="0"/>
              <a:t>QPF, QPY</a:t>
            </a:r>
            <a:r>
              <a:rPr lang="ja-JP" altLang="en-US"/>
              <a:t>などが構造類似</a:t>
            </a:r>
            <a:endParaRPr lang="en-US" altLang="ja-JP" u="sng" dirty="0"/>
          </a:p>
          <a:p>
            <a:pPr marL="0" indent="0" algn="ctr">
              <a:buNone/>
            </a:pPr>
            <a:r>
              <a:rPr lang="en-US" altLang="ja-JP" u="sng" dirty="0"/>
              <a:t>TGR5</a:t>
            </a:r>
            <a:r>
              <a:rPr lang="ja-JP" altLang="en-US" u="sng"/>
              <a:t>アゴニストである可能性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</p:txBody>
      </p:sp>
      <p:sp>
        <p:nvSpPr>
          <p:cNvPr id="13" name="矢印: 右 43">
            <a:extLst>
              <a:ext uri="{FF2B5EF4-FFF2-40B4-BE49-F238E27FC236}">
                <a16:creationId xmlns:a16="http://schemas.microsoft.com/office/drawing/2014/main" id="{0F269A06-1CA8-D49F-2C28-4701713997C4}"/>
              </a:ext>
            </a:extLst>
          </p:cNvPr>
          <p:cNvSpPr/>
          <p:nvPr/>
        </p:nvSpPr>
        <p:spPr>
          <a:xfrm>
            <a:off x="1407829" y="3362840"/>
            <a:ext cx="734473" cy="507562"/>
          </a:xfrm>
          <a:custGeom>
            <a:avLst/>
            <a:gdLst>
              <a:gd name="connsiteX0" fmla="*/ 0 w 734473"/>
              <a:gd name="connsiteY0" fmla="*/ 126891 h 507562"/>
              <a:gd name="connsiteX1" fmla="*/ 480692 w 734473"/>
              <a:gd name="connsiteY1" fmla="*/ 126891 h 507562"/>
              <a:gd name="connsiteX2" fmla="*/ 480692 w 734473"/>
              <a:gd name="connsiteY2" fmla="*/ 0 h 507562"/>
              <a:gd name="connsiteX3" fmla="*/ 734473 w 734473"/>
              <a:gd name="connsiteY3" fmla="*/ 253781 h 507562"/>
              <a:gd name="connsiteX4" fmla="*/ 480692 w 734473"/>
              <a:gd name="connsiteY4" fmla="*/ 507562 h 507562"/>
              <a:gd name="connsiteX5" fmla="*/ 480692 w 734473"/>
              <a:gd name="connsiteY5" fmla="*/ 380672 h 507562"/>
              <a:gd name="connsiteX6" fmla="*/ 0 w 734473"/>
              <a:gd name="connsiteY6" fmla="*/ 380672 h 507562"/>
              <a:gd name="connsiteX7" fmla="*/ 0 w 734473"/>
              <a:gd name="connsiteY7" fmla="*/ 126891 h 50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4473" h="507562" fill="none" extrusionOk="0">
                <a:moveTo>
                  <a:pt x="0" y="126891"/>
                </a:moveTo>
                <a:cubicBezTo>
                  <a:pt x="192481" y="154949"/>
                  <a:pt x="310360" y="129811"/>
                  <a:pt x="480692" y="126891"/>
                </a:cubicBezTo>
                <a:cubicBezTo>
                  <a:pt x="484954" y="86457"/>
                  <a:pt x="483259" y="31308"/>
                  <a:pt x="480692" y="0"/>
                </a:cubicBezTo>
                <a:cubicBezTo>
                  <a:pt x="523480" y="86056"/>
                  <a:pt x="684626" y="224945"/>
                  <a:pt x="734473" y="253781"/>
                </a:cubicBezTo>
                <a:cubicBezTo>
                  <a:pt x="642701" y="388504"/>
                  <a:pt x="606022" y="387735"/>
                  <a:pt x="480692" y="507562"/>
                </a:cubicBezTo>
                <a:cubicBezTo>
                  <a:pt x="482917" y="455664"/>
                  <a:pt x="484048" y="427735"/>
                  <a:pt x="480692" y="380672"/>
                </a:cubicBezTo>
                <a:cubicBezTo>
                  <a:pt x="305932" y="385734"/>
                  <a:pt x="57583" y="421685"/>
                  <a:pt x="0" y="380672"/>
                </a:cubicBezTo>
                <a:cubicBezTo>
                  <a:pt x="-21124" y="263037"/>
                  <a:pt x="-22315" y="177354"/>
                  <a:pt x="0" y="126891"/>
                </a:cubicBezTo>
                <a:close/>
              </a:path>
              <a:path w="734473" h="507562" stroke="0" extrusionOk="0">
                <a:moveTo>
                  <a:pt x="0" y="126891"/>
                </a:moveTo>
                <a:cubicBezTo>
                  <a:pt x="94521" y="109598"/>
                  <a:pt x="255922" y="89233"/>
                  <a:pt x="480692" y="126891"/>
                </a:cubicBezTo>
                <a:cubicBezTo>
                  <a:pt x="490109" y="74255"/>
                  <a:pt x="483650" y="44922"/>
                  <a:pt x="480692" y="0"/>
                </a:cubicBezTo>
                <a:cubicBezTo>
                  <a:pt x="514358" y="26525"/>
                  <a:pt x="634986" y="163277"/>
                  <a:pt x="734473" y="253781"/>
                </a:cubicBezTo>
                <a:cubicBezTo>
                  <a:pt x="610152" y="380504"/>
                  <a:pt x="515087" y="489814"/>
                  <a:pt x="480692" y="507562"/>
                </a:cubicBezTo>
                <a:cubicBezTo>
                  <a:pt x="489282" y="486557"/>
                  <a:pt x="470742" y="408672"/>
                  <a:pt x="480692" y="380672"/>
                </a:cubicBezTo>
                <a:cubicBezTo>
                  <a:pt x="371089" y="353725"/>
                  <a:pt x="233785" y="356440"/>
                  <a:pt x="0" y="380672"/>
                </a:cubicBezTo>
                <a:cubicBezTo>
                  <a:pt x="9779" y="327071"/>
                  <a:pt x="6664" y="231570"/>
                  <a:pt x="0" y="126891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accent4"/>
            </a:solidFill>
            <a:extLst>
              <a:ext uri="{C807C97D-BFC1-408E-A445-0C87EB9F89A2}">
                <ask:lineSketchStyleProps xmlns:ask="http://schemas.microsoft.com/office/drawing/2018/sketchyshapes" sd="3864781296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EAEF1EBF-20BC-9EAE-982F-E35E3998BE1B}"/>
              </a:ext>
            </a:extLst>
          </p:cNvPr>
          <p:cNvSpPr txBox="1">
            <a:spLocks/>
          </p:cNvSpPr>
          <p:nvPr/>
        </p:nvSpPr>
        <p:spPr>
          <a:xfrm>
            <a:off x="546100" y="1038484"/>
            <a:ext cx="5549900" cy="469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ja-JP" dirty="0"/>
              <a:t>TGR5</a:t>
            </a:r>
            <a:r>
              <a:rPr lang="ja-JP" altLang="en-US"/>
              <a:t>アゴニストに構造類似のペプチド</a:t>
            </a:r>
            <a:endParaRPr lang="en-US" altLang="ja-JP" dirty="0"/>
          </a:p>
        </p:txBody>
      </p:sp>
      <p:pic>
        <p:nvPicPr>
          <p:cNvPr id="16" name="図 15" descr="グラフ&#10;&#10;自動的に生成された説明">
            <a:extLst>
              <a:ext uri="{FF2B5EF4-FFF2-40B4-BE49-F238E27FC236}">
                <a16:creationId xmlns:a16="http://schemas.microsoft.com/office/drawing/2014/main" id="{C0F32B7D-A256-956C-7098-BA693B75F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0422" y="4814934"/>
            <a:ext cx="1509363" cy="985279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487EE33-2402-B82A-1011-3C5E16A56387}"/>
              </a:ext>
            </a:extLst>
          </p:cNvPr>
          <p:cNvSpPr txBox="1"/>
          <p:nvPr/>
        </p:nvSpPr>
        <p:spPr>
          <a:xfrm>
            <a:off x="9574144" y="5800214"/>
            <a:ext cx="1590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/>
              <a:t>例：</a:t>
            </a:r>
            <a:r>
              <a:rPr kumimoji="1" lang="en-US" altLang="ja-JP" b="1" dirty="0"/>
              <a:t>CC(=O)C</a:t>
            </a:r>
            <a:endParaRPr kumimoji="1" lang="ja-JP" altLang="en-US" b="1"/>
          </a:p>
        </p:txBody>
      </p:sp>
    </p:spTree>
    <p:extLst>
      <p:ext uri="{BB962C8B-B14F-4D97-AF65-F5344CB8AC3E}">
        <p14:creationId xmlns:p14="http://schemas.microsoft.com/office/powerpoint/2010/main" val="1354837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3B5946-ED6D-089E-C48F-A17D118D0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038484"/>
            <a:ext cx="11099800" cy="469900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/>
              <a:t>短期予定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CE3F74-8A89-FDDF-93AC-6086F7A6ED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/>
              <a:t>今後の予定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DB6E4A7A-31E8-F7AB-957A-38C0F4677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986824"/>
              </p:ext>
            </p:extLst>
          </p:nvPr>
        </p:nvGraphicFramePr>
        <p:xfrm>
          <a:off x="546100" y="1480103"/>
          <a:ext cx="11119874" cy="194442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28836">
                  <a:extLst>
                    <a:ext uri="{9D8B030D-6E8A-4147-A177-3AD203B41FA5}">
                      <a16:colId xmlns:a16="http://schemas.microsoft.com/office/drawing/2014/main" val="3371328493"/>
                    </a:ext>
                  </a:extLst>
                </a:gridCol>
                <a:gridCol w="2111604">
                  <a:extLst>
                    <a:ext uri="{9D8B030D-6E8A-4147-A177-3AD203B41FA5}">
                      <a16:colId xmlns:a16="http://schemas.microsoft.com/office/drawing/2014/main" val="2336952824"/>
                    </a:ext>
                  </a:extLst>
                </a:gridCol>
                <a:gridCol w="2055044">
                  <a:extLst>
                    <a:ext uri="{9D8B030D-6E8A-4147-A177-3AD203B41FA5}">
                      <a16:colId xmlns:a16="http://schemas.microsoft.com/office/drawing/2014/main" val="3322159680"/>
                    </a:ext>
                  </a:extLst>
                </a:gridCol>
                <a:gridCol w="1824390">
                  <a:extLst>
                    <a:ext uri="{9D8B030D-6E8A-4147-A177-3AD203B41FA5}">
                      <a16:colId xmlns:a16="http://schemas.microsoft.com/office/drawing/2014/main" val="1025667938"/>
                    </a:ext>
                  </a:extLst>
                </a:gridCol>
              </a:tblGrid>
              <a:tr h="400465"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5/20〜5/24</a:t>
                      </a:r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5/27〜5/31</a:t>
                      </a:r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6/3〜6/7</a:t>
                      </a:r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672014"/>
                  </a:ext>
                </a:extLst>
              </a:tr>
              <a:tr h="48201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dirty="0"/>
                        <a:t>24well, </a:t>
                      </a:r>
                      <a:r>
                        <a:rPr kumimoji="1" lang="ja-JP" altLang="en-US"/>
                        <a:t>コラーゲンコート濃度の検討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361630"/>
                  </a:ext>
                </a:extLst>
              </a:tr>
              <a:tr h="530970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ja-JP" dirty="0"/>
                        <a:t>DCA</a:t>
                      </a:r>
                      <a:r>
                        <a:rPr kumimoji="1" lang="ja-JP" altLang="en-US"/>
                        <a:t>後の待ち時間</a:t>
                      </a:r>
                      <a:r>
                        <a:rPr kumimoji="1" lang="en-US" altLang="ja-JP" dirty="0"/>
                        <a:t>, Lipofectamine</a:t>
                      </a:r>
                      <a:r>
                        <a:rPr kumimoji="1" lang="ja-JP" altLang="en-US"/>
                        <a:t>濃度の検討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393681"/>
                  </a:ext>
                </a:extLst>
              </a:tr>
              <a:tr h="53097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/>
                        <a:t>自動合成した</a:t>
                      </a:r>
                      <a:r>
                        <a:rPr kumimoji="1" lang="en-US" altLang="ja-JP" dirty="0"/>
                        <a:t>5</a:t>
                      </a:r>
                      <a:r>
                        <a:rPr kumimoji="1" lang="ja-JP" altLang="en-US"/>
                        <a:t>配列について評価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299942"/>
                  </a:ext>
                </a:extLst>
              </a:tr>
            </a:tbl>
          </a:graphicData>
        </a:graphic>
      </p:graphicFrame>
      <p:sp>
        <p:nvSpPr>
          <p:cNvPr id="15" name="コンテンツ プレースホルダー 2">
            <a:extLst>
              <a:ext uri="{FF2B5EF4-FFF2-40B4-BE49-F238E27FC236}">
                <a16:creationId xmlns:a16="http://schemas.microsoft.com/office/drawing/2014/main" id="{D0B811FE-8E4F-9370-B4A4-9EF0C74C17BB}"/>
              </a:ext>
            </a:extLst>
          </p:cNvPr>
          <p:cNvSpPr txBox="1">
            <a:spLocks/>
          </p:cNvSpPr>
          <p:nvPr/>
        </p:nvSpPr>
        <p:spPr>
          <a:xfrm>
            <a:off x="546100" y="3598131"/>
            <a:ext cx="11099800" cy="31231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ja-JP" altLang="en-US"/>
              <a:t>長期予定</a:t>
            </a:r>
            <a:endParaRPr lang="en-US" altLang="ja-JP" dirty="0"/>
          </a:p>
          <a:p>
            <a:r>
              <a:rPr lang="ja-JP" altLang="en-US"/>
              <a:t>その他の候補ペプチドについても評価する</a:t>
            </a:r>
            <a:endParaRPr lang="en-US" altLang="ja-JP" dirty="0"/>
          </a:p>
          <a:p>
            <a:pPr lvl="1"/>
            <a:r>
              <a:rPr lang="ja-JP" altLang="en-US"/>
              <a:t>清水さんの修論でスクリーニングした、その他の胆汁酸結合ペプチドについて評価する</a:t>
            </a:r>
            <a:endParaRPr lang="en-US" altLang="ja-JP" dirty="0"/>
          </a:p>
          <a:p>
            <a:pPr lvl="2"/>
            <a:r>
              <a:rPr lang="en-US" altLang="ja-JP" dirty="0"/>
              <a:t>DCA</a:t>
            </a:r>
            <a:r>
              <a:rPr lang="ja-JP" altLang="en-US"/>
              <a:t>のみに活性を示す配列、</a:t>
            </a:r>
            <a:r>
              <a:rPr lang="en-US" altLang="ja-JP" dirty="0"/>
              <a:t>DCA</a:t>
            </a:r>
            <a:r>
              <a:rPr lang="ja-JP" altLang="en-US"/>
              <a:t>と</a:t>
            </a:r>
            <a:r>
              <a:rPr lang="en-US" altLang="ja-JP" dirty="0"/>
              <a:t>CA</a:t>
            </a:r>
            <a:r>
              <a:rPr lang="ja-JP" altLang="en-US"/>
              <a:t>に活性を示す配列など</a:t>
            </a:r>
            <a:endParaRPr lang="en-US" altLang="ja-JP" dirty="0"/>
          </a:p>
          <a:p>
            <a:r>
              <a:rPr lang="en-US" altLang="ja-JP" dirty="0"/>
              <a:t>TGR5</a:t>
            </a:r>
            <a:r>
              <a:rPr lang="ja-JP" altLang="en-US"/>
              <a:t>の活性化に</a:t>
            </a:r>
            <a:r>
              <a:rPr lang="en-US" altLang="ja-JP" dirty="0"/>
              <a:t>DCA</a:t>
            </a:r>
            <a:r>
              <a:rPr lang="ja-JP" altLang="en-US"/>
              <a:t>結合ペプチドがどの様に関与しているかを調査する</a:t>
            </a:r>
            <a:endParaRPr lang="en-US" altLang="ja-JP" dirty="0"/>
          </a:p>
          <a:p>
            <a:pPr lvl="1"/>
            <a:r>
              <a:rPr lang="ja-JP" altLang="en-US"/>
              <a:t>ペプチドが阻害剤の影響を受けるのかどうか</a:t>
            </a:r>
            <a:endParaRPr lang="en-US" altLang="ja-JP" dirty="0"/>
          </a:p>
          <a:p>
            <a:r>
              <a:rPr lang="ja-JP" altLang="en-US"/>
              <a:t>構造相関を評価する手法について調べる</a:t>
            </a:r>
            <a:endParaRPr lang="en-US" altLang="ja-JP" dirty="0"/>
          </a:p>
          <a:p>
            <a:endParaRPr lang="ja-JP" altLang="en-US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95B5B3D5-8931-E5D6-5DA7-65DBB2E90259}"/>
              </a:ext>
            </a:extLst>
          </p:cNvPr>
          <p:cNvGrpSpPr/>
          <p:nvPr/>
        </p:nvGrpSpPr>
        <p:grpSpPr>
          <a:xfrm rot="5400000">
            <a:off x="7996110" y="1028524"/>
            <a:ext cx="353858" cy="3205114"/>
            <a:chOff x="7800489" y="2818451"/>
            <a:chExt cx="840658" cy="2492477"/>
          </a:xfrm>
        </p:grpSpPr>
        <p:sp>
          <p:nvSpPr>
            <p:cNvPr id="17" name="二等辺三角形 23">
              <a:extLst>
                <a:ext uri="{FF2B5EF4-FFF2-40B4-BE49-F238E27FC236}">
                  <a16:creationId xmlns:a16="http://schemas.microsoft.com/office/drawing/2014/main" id="{4D638BC3-D6EB-C369-8F06-41F31AB1094A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二等辺三角形 24">
              <a:extLst>
                <a:ext uri="{FF2B5EF4-FFF2-40B4-BE49-F238E27FC236}">
                  <a16:creationId xmlns:a16="http://schemas.microsoft.com/office/drawing/2014/main" id="{6720C1A0-8C65-0CED-28FD-57BEF7172545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45DF8A0C-F77F-DA00-250B-88A0BEF26505}"/>
              </a:ext>
            </a:extLst>
          </p:cNvPr>
          <p:cNvGrpSpPr/>
          <p:nvPr/>
        </p:nvGrpSpPr>
        <p:grpSpPr>
          <a:xfrm rot="5400000">
            <a:off x="6534010" y="1118214"/>
            <a:ext cx="339565" cy="2033518"/>
            <a:chOff x="7800489" y="2818451"/>
            <a:chExt cx="840658" cy="2492477"/>
          </a:xfrm>
        </p:grpSpPr>
        <p:sp>
          <p:nvSpPr>
            <p:cNvPr id="20" name="二等辺三角形 23">
              <a:extLst>
                <a:ext uri="{FF2B5EF4-FFF2-40B4-BE49-F238E27FC236}">
                  <a16:creationId xmlns:a16="http://schemas.microsoft.com/office/drawing/2014/main" id="{345C67FD-E417-F7FB-EA5B-16E93B85B8BD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二等辺三角形 24">
              <a:extLst>
                <a:ext uri="{FF2B5EF4-FFF2-40B4-BE49-F238E27FC236}">
                  <a16:creationId xmlns:a16="http://schemas.microsoft.com/office/drawing/2014/main" id="{A9A971C1-C327-1B98-1A22-2167D02D163F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E6025408-6E19-1D4F-5E28-4A0798C7C1EA}"/>
              </a:ext>
            </a:extLst>
          </p:cNvPr>
          <p:cNvGrpSpPr/>
          <p:nvPr/>
        </p:nvGrpSpPr>
        <p:grpSpPr>
          <a:xfrm rot="5400000">
            <a:off x="9906936" y="1617035"/>
            <a:ext cx="353858" cy="3124070"/>
            <a:chOff x="7800489" y="2818451"/>
            <a:chExt cx="840658" cy="2492477"/>
          </a:xfrm>
        </p:grpSpPr>
        <p:sp>
          <p:nvSpPr>
            <p:cNvPr id="23" name="二等辺三角形 23">
              <a:extLst>
                <a:ext uri="{FF2B5EF4-FFF2-40B4-BE49-F238E27FC236}">
                  <a16:creationId xmlns:a16="http://schemas.microsoft.com/office/drawing/2014/main" id="{2DE3125C-DB43-7B86-4ABD-5EAD1EF631D3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二等辺三角形 24">
              <a:extLst>
                <a:ext uri="{FF2B5EF4-FFF2-40B4-BE49-F238E27FC236}">
                  <a16:creationId xmlns:a16="http://schemas.microsoft.com/office/drawing/2014/main" id="{AB5866F8-5695-9758-EF88-F74CD4CEA10D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3781050"/>
      </p:ext>
    </p:extLst>
  </p:cSld>
  <p:clrMapOvr>
    <a:masterClrMapping/>
  </p:clrMapOvr>
</p:sld>
</file>

<file path=ppt/theme/theme1.xml><?xml version="1.0" encoding="utf-8"?>
<a:theme xmlns:a="http://schemas.openxmlformats.org/drawingml/2006/main" name="研究発表スライドマスタ">
  <a:themeElements>
    <a:clrScheme name="ユーザー定義 8">
      <a:dk1>
        <a:srgbClr val="4D4D4D"/>
      </a:dk1>
      <a:lt1>
        <a:srgbClr val="F8F8F8"/>
      </a:lt1>
      <a:dk2>
        <a:srgbClr val="7F7F7F"/>
      </a:dk2>
      <a:lt2>
        <a:srgbClr val="B2B2B2"/>
      </a:lt2>
      <a:accent1>
        <a:srgbClr val="2E5B96"/>
      </a:accent1>
      <a:accent2>
        <a:srgbClr val="C03936"/>
      </a:accent2>
      <a:accent3>
        <a:srgbClr val="ED7D31"/>
      </a:accent3>
      <a:accent4>
        <a:srgbClr val="3E9288"/>
      </a:accent4>
      <a:accent5>
        <a:srgbClr val="4747C1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2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ンプレート" id="{C36DDFBE-2617-C04C-9453-0179DC134B9E}" vid="{77943A8D-9CC8-A648-86C8-297ABC15E614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7783413B678BA4F83764129A5DB4607" ma:contentTypeVersion="0" ma:contentTypeDescription="新しいドキュメントを作成します。" ma:contentTypeScope="" ma:versionID="36bbfa3e05015206d9e02241ed477da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fa5fc393d419cfd9816b88a984ff78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EFD21F3-24CC-4605-A5CE-D678D2531A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74453E-F96D-478A-A3EE-1788D5BEB2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B33ED81-A378-482E-B710-0D21A32023B2}">
  <ds:schemaRefs>
    <ds:schemaRef ds:uri="http://www.w3.org/XML/1998/namespace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研究発表スライドマスタ</Template>
  <TotalTime>6971</TotalTime>
  <Words>799</Words>
  <Application>Microsoft Macintosh PowerPoint</Application>
  <PresentationFormat>ワイド画面</PresentationFormat>
  <Paragraphs>112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6" baseType="lpstr">
      <vt:lpstr>游ゴシック</vt:lpstr>
      <vt:lpstr>游ゴシック Medium</vt:lpstr>
      <vt:lpstr>Arial</vt:lpstr>
      <vt:lpstr>Cambria Math</vt:lpstr>
      <vt:lpstr>Segoe UI</vt:lpstr>
      <vt:lpstr>Wingdings</vt:lpstr>
      <vt:lpstr>研究発表スライドマスタ</vt:lpstr>
      <vt:lpstr>Lucレポーター遺伝子発現系を使ったTGR5アゴニストペプチドの探索</vt:lpstr>
      <vt:lpstr>目的：TGR5に結合して活性化する作用を持つ生理活性ペプチドの探索</vt:lpstr>
      <vt:lpstr>PowerPoint プレゼンテーション</vt:lpstr>
      <vt:lpstr>ルシフェラーゼ発現による評価系の再現に成功</vt:lpstr>
      <vt:lpstr>ある程度の再現は取れたが結果のばらつきが大きかった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Lucレポーター遺伝子発現系を使ったTGR5アゴニストペプチドの探索</dc:title>
  <dc:creator>NAKAMURA Yusaku</dc:creator>
  <cp:lastModifiedBy>NAKAMURA Yusaku</cp:lastModifiedBy>
  <cp:revision>11</cp:revision>
  <dcterms:created xsi:type="dcterms:W3CDTF">2024-05-15T07:34:30Z</dcterms:created>
  <dcterms:modified xsi:type="dcterms:W3CDTF">2024-05-22T06:26:37Z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0x010100E7783413B678BA4F83764129A5DB4607</vt:lpwstr>
  </property>
</Properties>
</file>