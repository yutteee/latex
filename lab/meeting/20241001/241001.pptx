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95" r:id="rId5"/>
    <p:sldId id="340" r:id="rId6"/>
    <p:sldId id="360" r:id="rId7"/>
    <p:sldId id="362" r:id="rId8"/>
    <p:sldId id="310" r:id="rId9"/>
    <p:sldId id="361" r:id="rId10"/>
    <p:sldId id="332" r:id="rId11"/>
    <p:sldId id="357" r:id="rId12"/>
    <p:sldId id="359" r:id="rId13"/>
    <p:sldId id="323" r:id="rId14"/>
    <p:sldId id="331" r:id="rId15"/>
    <p:sldId id="298" r:id="rId16"/>
    <p:sldId id="304" r:id="rId17"/>
    <p:sldId id="300" r:id="rId18"/>
    <p:sldId id="302" r:id="rId19"/>
    <p:sldId id="301" r:id="rId20"/>
    <p:sldId id="303" r:id="rId2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8F8F8"/>
    <a:srgbClr val="3B6FBB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32" autoAdjust="0"/>
    <p:restoredTop sz="94660"/>
  </p:normalViewPr>
  <p:slideViewPr>
    <p:cSldViewPr snapToGrid="0">
      <p:cViewPr>
        <p:scale>
          <a:sx n="102" d="100"/>
          <a:sy n="102" d="100"/>
        </p:scale>
        <p:origin x="1424" y="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733" y="3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064B9691-87D6-48EF-9BFD-698344D045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86BE10E-3BBD-4023-B684-892AE173FF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02328F-004D-4D3A-9F80-6B7A705D1367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6367B9F-A0B4-4348-9C4B-89D15EDCB2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2CC2C2F-D89E-474B-9003-7069E7D90C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DCC25F-5D23-455B-B707-89EC30CA97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57490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00887C-0EF1-4AC1-9E9B-79863B12620D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A420A-BDF0-4775-9670-07D3BFB5E9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9677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	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9A420A-BDF0-4775-9670-07D3BFB5E94B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8580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TGR5</a:t>
            </a:r>
            <a:r>
              <a:rPr kumimoji="1" lang="ja-JP" altLang="en-US"/>
              <a:t>活性評価系の改善について話します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9A420A-BDF0-4775-9670-07D3BFB5E94B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1601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524000" y="2570163"/>
            <a:ext cx="9144000" cy="2387600"/>
          </a:xfrm>
        </p:spPr>
        <p:txBody>
          <a:bodyPr anchor="b">
            <a:noAutofit/>
          </a:bodyPr>
          <a:lstStyle>
            <a:lvl1pPr algn="l">
              <a:defRPr sz="4800" b="1" i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 dirty="0"/>
              <a:t>発表の内容と構成が想像できる</a:t>
            </a:r>
            <a:br>
              <a:rPr kumimoji="1" lang="en-US" altLang="ja-JP" dirty="0"/>
            </a:br>
            <a:r>
              <a:rPr kumimoji="1" lang="ja-JP" altLang="en-US" dirty="0"/>
              <a:t>発表題目をここに書く．</a:t>
            </a:r>
            <a:br>
              <a:rPr kumimoji="1" lang="en-US" altLang="ja-JP" dirty="0"/>
            </a:br>
            <a:r>
              <a:rPr kumimoji="1" lang="ja-JP" altLang="en-US" dirty="0"/>
              <a:t>単語の途中で改行しない．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524000" y="5110163"/>
            <a:ext cx="9144000" cy="561975"/>
          </a:xfrm>
        </p:spPr>
        <p:txBody>
          <a:bodyPr>
            <a:noAutofit/>
          </a:bodyPr>
          <a:lstStyle>
            <a:lvl1pPr marL="0" indent="0" algn="l">
              <a:buNone/>
              <a:defRPr sz="3600" b="1" i="0"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/>
              <a:t>発表者名</a:t>
            </a:r>
            <a:endParaRPr kumimoji="1" lang="en-US" altLang="ja-JP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1" hasCustomPrompt="1"/>
          </p:nvPr>
        </p:nvSpPr>
        <p:spPr>
          <a:xfrm>
            <a:off x="1524000" y="5740400"/>
            <a:ext cx="9144000" cy="469900"/>
          </a:xfrm>
        </p:spPr>
        <p:txBody>
          <a:bodyPr/>
          <a:lstStyle>
            <a:lvl1pPr marL="0" indent="0" algn="l">
              <a:buNone/>
              <a:defRPr b="0">
                <a:latin typeface="+mj-lt"/>
                <a:ea typeface="+mn-ea"/>
              </a:defRPr>
            </a:lvl1pPr>
          </a:lstStyle>
          <a:p>
            <a:pPr lvl="0"/>
            <a:r>
              <a:rPr kumimoji="1" lang="ja-JP" altLang="en-US" dirty="0"/>
              <a:t>身分や所属など．関連する</a:t>
            </a:r>
            <a:r>
              <a:rPr kumimoji="1" lang="en-US" altLang="ja-JP" dirty="0"/>
              <a:t>SNS</a:t>
            </a:r>
            <a:r>
              <a:rPr kumimoji="1" lang="ja-JP" altLang="en-US" dirty="0"/>
              <a:t>アカウントなども．</a:t>
            </a:r>
          </a:p>
        </p:txBody>
      </p:sp>
      <p:cxnSp>
        <p:nvCxnSpPr>
          <p:cNvPr id="13" name="直線コネクタ 12"/>
          <p:cNvCxnSpPr/>
          <p:nvPr userDrawn="1"/>
        </p:nvCxnSpPr>
        <p:spPr>
          <a:xfrm flipV="1">
            <a:off x="0" y="5029200"/>
            <a:ext cx="121920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プレースホルダー 14"/>
          <p:cNvSpPr>
            <a:spLocks noGrp="1"/>
          </p:cNvSpPr>
          <p:nvPr>
            <p:ph type="body" sz="quarter" idx="12" hasCustomPrompt="1"/>
          </p:nvPr>
        </p:nvSpPr>
        <p:spPr>
          <a:xfrm>
            <a:off x="8420098" y="152399"/>
            <a:ext cx="3594101" cy="378541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pPr lvl="0"/>
            <a:r>
              <a:rPr kumimoji="1" lang="ja-JP" altLang="en-US" dirty="0"/>
              <a:t>会議名と日程を書いておく</a:t>
            </a:r>
          </a:p>
        </p:txBody>
      </p:sp>
      <p:sp>
        <p:nvSpPr>
          <p:cNvPr id="17" name="図プレースホルダー 16"/>
          <p:cNvSpPr>
            <a:spLocks noGrp="1"/>
          </p:cNvSpPr>
          <p:nvPr>
            <p:ph type="pic" sz="quarter" idx="13" hasCustomPrompt="1"/>
          </p:nvPr>
        </p:nvSpPr>
        <p:spPr>
          <a:xfrm>
            <a:off x="1523999" y="647700"/>
            <a:ext cx="9144000" cy="1841500"/>
          </a:xfrm>
        </p:spPr>
        <p:txBody>
          <a:bodyPr/>
          <a:lstStyle>
            <a:lvl1pPr marL="0" indent="0">
              <a:buNone/>
              <a:defRPr>
                <a:solidFill>
                  <a:schemeClr val="bg2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r>
              <a:rPr kumimoji="1" lang="ja-JP" altLang="en-US" dirty="0"/>
              <a:t>題目の説明の助けになる図や動画があれば載せる．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212593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パラグラフ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546100" y="6048519"/>
            <a:ext cx="11099800" cy="698304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2400" b="1" u="sng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 dirty="0"/>
              <a:t>話題について伝えるべきメッセージ（問いの答え）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546100" y="1038483"/>
            <a:ext cx="11099800" cy="4875289"/>
          </a:xfrm>
        </p:spPr>
        <p:txBody>
          <a:bodyPr/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+mn-ea"/>
                <a:ea typeface="+mn-ea"/>
              </a:defRPr>
            </a:lvl1pPr>
            <a:lvl2pPr marL="800100" marR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en-US" altLang="ja-JP" dirty="0" err="1"/>
              <a:t>afa</a:t>
            </a:r>
            <a:endParaRPr kumimoji="1" lang="en-US" altLang="ja-JP" dirty="0"/>
          </a:p>
          <a:p>
            <a:pPr lvl="0"/>
            <a:r>
              <a:rPr kumimoji="1" lang="ja-JP" altLang="en-US"/>
              <a:t>メッセージの補足説明（根拠／解説／具体例）</a:t>
            </a:r>
            <a:endParaRPr kumimoji="1" lang="en-US" altLang="ja-JP" dirty="0"/>
          </a:p>
          <a:p>
            <a:pPr lvl="1"/>
            <a:r>
              <a:rPr kumimoji="1" lang="ja-JP" altLang="en-US"/>
              <a:t>第２段</a:t>
            </a:r>
            <a:endParaRPr kumimoji="1" lang="en-US" altLang="ja-JP" dirty="0"/>
          </a:p>
          <a:p>
            <a:pPr lvl="2"/>
            <a:r>
              <a:rPr kumimoji="1" lang="ja-JP" altLang="en-US"/>
              <a:t>第３段</a:t>
            </a:r>
            <a:endParaRPr kumimoji="1" lang="en-US" altLang="ja-JP" dirty="0"/>
          </a:p>
          <a:p>
            <a:pPr lvl="3"/>
            <a:r>
              <a:rPr kumimoji="1" lang="ja-JP" altLang="en-US"/>
              <a:t>第４段</a:t>
            </a:r>
            <a:endParaRPr kumimoji="1" lang="en-US" altLang="ja-JP" dirty="0"/>
          </a:p>
          <a:p>
            <a:pPr lvl="4"/>
            <a:r>
              <a:rPr kumimoji="1" lang="ja-JP" altLang="en-US"/>
              <a:t>第５弾</a:t>
            </a:r>
            <a:endParaRPr kumimoji="1" lang="en-US" altLang="ja-JP" dirty="0"/>
          </a:p>
          <a:p>
            <a:pPr lvl="4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1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11" hasCustomPrompt="1"/>
          </p:nvPr>
        </p:nvSpPr>
        <p:spPr>
          <a:xfrm>
            <a:off x="210574" y="348226"/>
            <a:ext cx="11455400" cy="469900"/>
          </a:xfrm>
        </p:spPr>
        <p:txBody>
          <a:bodyPr/>
          <a:lstStyle>
            <a:lvl1pPr marL="0" indent="0">
              <a:buNone/>
              <a:defRPr b="0">
                <a:latin typeface="+mn-ea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スライドの話題＝問い</a:t>
            </a:r>
            <a:r>
              <a:rPr kumimoji="1" lang="en-US" altLang="ja-JP" dirty="0"/>
              <a:t>=</a:t>
            </a:r>
            <a:r>
              <a:rPr kumimoji="1" lang="ja-JP" altLang="en-US" dirty="0"/>
              <a:t>論点</a:t>
            </a:r>
            <a:endParaRPr kumimoji="1" lang="en-US" altLang="ja-JP" dirty="0"/>
          </a:p>
        </p:txBody>
      </p:sp>
      <p:sp>
        <p:nvSpPr>
          <p:cNvPr id="23" name="テキスト ボックス 22"/>
          <p:cNvSpPr txBox="1"/>
          <p:nvPr userDrawn="1"/>
        </p:nvSpPr>
        <p:spPr>
          <a:xfrm>
            <a:off x="11183256" y="340852"/>
            <a:ext cx="817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F8A53700-8F90-3442-A47C-78139B6BC0ED}" type="slidenum">
              <a:rPr kumimoji="1" lang="ja-JP" altLang="en-US" sz="240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r>
              <a:rPr kumimoji="1" lang="en-US" altLang="ja-JP" sz="2400" dirty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/4</a:t>
            </a:r>
            <a:endParaRPr kumimoji="1" lang="ja-JP" altLang="en-US" sz="240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26" name="直線コネクタ 25"/>
          <p:cNvCxnSpPr/>
          <p:nvPr userDrawn="1"/>
        </p:nvCxnSpPr>
        <p:spPr>
          <a:xfrm>
            <a:off x="0" y="825500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984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カー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4638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ED4E34-ACE4-D746-9011-2033A5C1C853}" type="datetime1">
              <a:rPr kumimoji="1" lang="ja-JP" altLang="en-US" smtClean="0"/>
              <a:t>2024/10/1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1B92D0-3845-473E-8E13-C70357A36C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9340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46088" indent="-446088" algn="l" defTabSz="914400" rtl="0" eaLnBrk="1" latinLnBrk="0" hangingPunct="1">
        <a:lnSpc>
          <a:spcPct val="150000"/>
        </a:lnSpc>
        <a:spcBef>
          <a:spcPts val="1800"/>
        </a:spcBef>
        <a:buClr>
          <a:schemeClr val="accent4"/>
        </a:buClr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ea"/>
          <a:ea typeface="+mn-ea"/>
          <a:cs typeface="+mn-cs"/>
        </a:defRPr>
      </a:lvl1pPr>
      <a:lvl2pPr marL="898525" indent="-441325" algn="l" defTabSz="914400" rtl="0" eaLnBrk="1" latinLnBrk="0" hangingPunct="1">
        <a:lnSpc>
          <a:spcPct val="150000"/>
        </a:lnSpc>
        <a:spcBef>
          <a:spcPts val="0"/>
        </a:spcBef>
        <a:buFont typeface="Wingdings" panose="05000000000000000000" pitchFamily="2" charset="2"/>
        <a:buChar char="l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252538" indent="-338138" algn="l" defTabSz="914400" rtl="0" eaLnBrk="1" latinLnBrk="0" hangingPunct="1">
        <a:lnSpc>
          <a:spcPct val="150000"/>
        </a:lnSpc>
        <a:spcBef>
          <a:spcPts val="0"/>
        </a:spcBef>
        <a:buFont typeface="Wingdings" panose="05000000000000000000" pitchFamily="2" charset="2"/>
        <a:buChar char="l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706563" indent="-334963" algn="l" defTabSz="914400" rtl="0" eaLnBrk="1" latinLnBrk="0" hangingPunct="1">
        <a:lnSpc>
          <a:spcPct val="150000"/>
        </a:lnSpc>
        <a:spcBef>
          <a:spcPts val="0"/>
        </a:spcBef>
        <a:buFont typeface="Wingdings" panose="05000000000000000000" pitchFamily="2" charset="2"/>
        <a:buChar char="l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151063" indent="-322263" algn="l" defTabSz="914400" rtl="0" eaLnBrk="1" latinLnBrk="0" hangingPunct="1">
        <a:lnSpc>
          <a:spcPct val="150000"/>
        </a:lnSpc>
        <a:spcBef>
          <a:spcPts val="0"/>
        </a:spcBef>
        <a:buFont typeface="Wingdings" panose="05000000000000000000" pitchFamily="2" charset="2"/>
        <a:buChar char="l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link.springer.com/article/10.1007/s11030-023-10640-8" TargetMode="External"/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12" Type="http://schemas.openxmlformats.org/officeDocument/2006/relationships/image" Target="../media/image2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6.png"/><Relationship Id="rId5" Type="http://schemas.openxmlformats.org/officeDocument/2006/relationships/image" Target="../media/image4.png"/><Relationship Id="rId10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573968E-BF17-4017-AA59-5326CD607C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/>
              <a:t>ペプチドアレイでの合成の検討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65E77F6-0F96-342E-6E11-60CC86EF2347}"/>
              </a:ext>
            </a:extLst>
          </p:cNvPr>
          <p:cNvSpPr/>
          <p:nvPr/>
        </p:nvSpPr>
        <p:spPr>
          <a:xfrm>
            <a:off x="-1" y="853393"/>
            <a:ext cx="12192001" cy="23732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 descr="図形, 円&#10;&#10;自動的に生成された説明">
            <a:extLst>
              <a:ext uri="{FF2B5EF4-FFF2-40B4-BE49-F238E27FC236}">
                <a16:creationId xmlns:a16="http://schemas.microsoft.com/office/drawing/2014/main" id="{BB0A1A60-92EC-2CDA-5418-504AD11B0B7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619" y="1821170"/>
            <a:ext cx="1248882" cy="897084"/>
          </a:xfrm>
          <a:prstGeom prst="rect">
            <a:avLst/>
          </a:prstGeom>
        </p:spPr>
      </p:pic>
      <p:pic>
        <p:nvPicPr>
          <p:cNvPr id="9" name="図 8" descr="図形, 円&#10;&#10;自動的に生成された説明">
            <a:extLst>
              <a:ext uri="{FF2B5EF4-FFF2-40B4-BE49-F238E27FC236}">
                <a16:creationId xmlns:a16="http://schemas.microsoft.com/office/drawing/2014/main" id="{7FC772CE-A73E-CB32-EEA1-7F7FF4F7325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228" y="1821170"/>
            <a:ext cx="1248882" cy="897084"/>
          </a:xfrm>
          <a:prstGeom prst="rect">
            <a:avLst/>
          </a:prstGeom>
        </p:spPr>
      </p:pic>
      <p:pic>
        <p:nvPicPr>
          <p:cNvPr id="10" name="図 9" descr="図形, 円&#10;&#10;自動的に生成された説明">
            <a:extLst>
              <a:ext uri="{FF2B5EF4-FFF2-40B4-BE49-F238E27FC236}">
                <a16:creationId xmlns:a16="http://schemas.microsoft.com/office/drawing/2014/main" id="{BD0FE388-2FAD-C8F1-9548-7318C44FD99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955" y="1821170"/>
            <a:ext cx="1248882" cy="897084"/>
          </a:xfrm>
          <a:prstGeom prst="rect">
            <a:avLst/>
          </a:prstGeom>
        </p:spPr>
      </p:pic>
      <p:pic>
        <p:nvPicPr>
          <p:cNvPr id="11" name="図 10" descr="洗面道具 が含まれている画像&#10;&#10;自動的に生成された説明">
            <a:extLst>
              <a:ext uri="{FF2B5EF4-FFF2-40B4-BE49-F238E27FC236}">
                <a16:creationId xmlns:a16="http://schemas.microsoft.com/office/drawing/2014/main" id="{156A0A23-2A94-A148-A8A4-04056EC8D3C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623" y="1827997"/>
            <a:ext cx="1283520" cy="897084"/>
          </a:xfrm>
          <a:prstGeom prst="rect">
            <a:avLst/>
          </a:prstGeom>
        </p:spPr>
      </p:pic>
      <p:pic>
        <p:nvPicPr>
          <p:cNvPr id="12" name="図 11" descr="洗面道具 が含まれている画像&#10;&#10;自動的に生成された説明">
            <a:extLst>
              <a:ext uri="{FF2B5EF4-FFF2-40B4-BE49-F238E27FC236}">
                <a16:creationId xmlns:a16="http://schemas.microsoft.com/office/drawing/2014/main" id="{F8865273-665C-FAF1-ECCC-8A58E73020D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7929" y="1821170"/>
            <a:ext cx="1283520" cy="897084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4389BD6F-6BAB-754B-8E0C-97DE54769F4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1235" y="1896708"/>
            <a:ext cx="373004" cy="746007"/>
          </a:xfrm>
          <a:prstGeom prst="rect">
            <a:avLst/>
          </a:prstGeom>
        </p:spPr>
      </p:pic>
      <p:pic>
        <p:nvPicPr>
          <p:cNvPr id="14" name="図 13" descr="背景パターン&#10;&#10;自動的に生成された説明">
            <a:extLst>
              <a:ext uri="{FF2B5EF4-FFF2-40B4-BE49-F238E27FC236}">
                <a16:creationId xmlns:a16="http://schemas.microsoft.com/office/drawing/2014/main" id="{29FCD7DE-AFE5-A359-6889-011C3174C65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4025" y="1715873"/>
            <a:ext cx="377713" cy="1107676"/>
          </a:xfrm>
          <a:prstGeom prst="rect">
            <a:avLst/>
          </a:prstGeom>
        </p:spPr>
      </p:pic>
      <p:sp>
        <p:nvSpPr>
          <p:cNvPr id="15" name="山形 14">
            <a:extLst>
              <a:ext uri="{FF2B5EF4-FFF2-40B4-BE49-F238E27FC236}">
                <a16:creationId xmlns:a16="http://schemas.microsoft.com/office/drawing/2014/main" id="{46F855BA-FF20-F145-755B-EB2E69AB4DE6}"/>
              </a:ext>
            </a:extLst>
          </p:cNvPr>
          <p:cNvSpPr/>
          <p:nvPr/>
        </p:nvSpPr>
        <p:spPr>
          <a:xfrm>
            <a:off x="1980614" y="2103585"/>
            <a:ext cx="263384" cy="332252"/>
          </a:xfrm>
          <a:prstGeom prst="chevron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6" name="山形 15">
            <a:extLst>
              <a:ext uri="{FF2B5EF4-FFF2-40B4-BE49-F238E27FC236}">
                <a16:creationId xmlns:a16="http://schemas.microsoft.com/office/drawing/2014/main" id="{8CC88078-5B3D-CE10-E006-9E47A8734725}"/>
              </a:ext>
            </a:extLst>
          </p:cNvPr>
          <p:cNvSpPr/>
          <p:nvPr/>
        </p:nvSpPr>
        <p:spPr>
          <a:xfrm>
            <a:off x="3879311" y="2106138"/>
            <a:ext cx="263384" cy="332252"/>
          </a:xfrm>
          <a:prstGeom prst="chevron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7" name="山形 16">
            <a:extLst>
              <a:ext uri="{FF2B5EF4-FFF2-40B4-BE49-F238E27FC236}">
                <a16:creationId xmlns:a16="http://schemas.microsoft.com/office/drawing/2014/main" id="{BF5D478D-4098-3CCB-FE02-3424B772DE68}"/>
              </a:ext>
            </a:extLst>
          </p:cNvPr>
          <p:cNvSpPr/>
          <p:nvPr/>
        </p:nvSpPr>
        <p:spPr>
          <a:xfrm>
            <a:off x="5778038" y="2102711"/>
            <a:ext cx="263384" cy="332252"/>
          </a:xfrm>
          <a:prstGeom prst="chevron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8" name="山形 17">
            <a:extLst>
              <a:ext uri="{FF2B5EF4-FFF2-40B4-BE49-F238E27FC236}">
                <a16:creationId xmlns:a16="http://schemas.microsoft.com/office/drawing/2014/main" id="{8F4FCD35-8BFA-19F7-3337-B9EC37DD52FA}"/>
              </a:ext>
            </a:extLst>
          </p:cNvPr>
          <p:cNvSpPr/>
          <p:nvPr/>
        </p:nvSpPr>
        <p:spPr>
          <a:xfrm>
            <a:off x="7711344" y="2102711"/>
            <a:ext cx="263384" cy="332252"/>
          </a:xfrm>
          <a:prstGeom prst="chevron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9" name="山形 18">
            <a:extLst>
              <a:ext uri="{FF2B5EF4-FFF2-40B4-BE49-F238E27FC236}">
                <a16:creationId xmlns:a16="http://schemas.microsoft.com/office/drawing/2014/main" id="{6CD3AE25-0AC6-1415-BDBC-B4FC9F237EAF}"/>
              </a:ext>
            </a:extLst>
          </p:cNvPr>
          <p:cNvSpPr/>
          <p:nvPr/>
        </p:nvSpPr>
        <p:spPr>
          <a:xfrm>
            <a:off x="9644650" y="2110075"/>
            <a:ext cx="263384" cy="332252"/>
          </a:xfrm>
          <a:prstGeom prst="chevron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0" name="山形 19">
            <a:extLst>
              <a:ext uri="{FF2B5EF4-FFF2-40B4-BE49-F238E27FC236}">
                <a16:creationId xmlns:a16="http://schemas.microsoft.com/office/drawing/2014/main" id="{E5841974-0285-FBD5-D8B2-9510EF2441C6}"/>
              </a:ext>
            </a:extLst>
          </p:cNvPr>
          <p:cNvSpPr/>
          <p:nvPr/>
        </p:nvSpPr>
        <p:spPr>
          <a:xfrm>
            <a:off x="10667440" y="2102711"/>
            <a:ext cx="263384" cy="332252"/>
          </a:xfrm>
          <a:prstGeom prst="chevron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21" name="図 20" descr="図形, 矢印&#10;&#10;自動的に生成された説明">
            <a:extLst>
              <a:ext uri="{FF2B5EF4-FFF2-40B4-BE49-F238E27FC236}">
                <a16:creationId xmlns:a16="http://schemas.microsoft.com/office/drawing/2014/main" id="{1E3308F1-8488-0F21-BE0C-73DFB4421B8B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0631" y="1517445"/>
            <a:ext cx="377713" cy="360280"/>
          </a:xfrm>
          <a:prstGeom prst="rect">
            <a:avLst/>
          </a:prstGeom>
        </p:spPr>
      </p:pic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2C3ABCB-49D4-CADB-1C1F-5F339BE7FA99}"/>
              </a:ext>
            </a:extLst>
          </p:cNvPr>
          <p:cNvSpPr txBox="1"/>
          <p:nvPr/>
        </p:nvSpPr>
        <p:spPr>
          <a:xfrm>
            <a:off x="149810" y="2819555"/>
            <a:ext cx="20264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/>
              <a:t>HEK293T </a:t>
            </a:r>
            <a:r>
              <a:rPr kumimoji="1" lang="ja-JP" altLang="en-US" sz="1400"/>
              <a:t>播種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02ED733-636A-2570-B3E0-4D7DC1069A52}"/>
              </a:ext>
            </a:extLst>
          </p:cNvPr>
          <p:cNvSpPr txBox="1"/>
          <p:nvPr/>
        </p:nvSpPr>
        <p:spPr>
          <a:xfrm>
            <a:off x="1917916" y="2819554"/>
            <a:ext cx="22875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/>
              <a:t>トランスフェクション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9C37D88-4DA1-981F-05B7-75CC1FB5406E}"/>
              </a:ext>
            </a:extLst>
          </p:cNvPr>
          <p:cNvSpPr txBox="1"/>
          <p:nvPr/>
        </p:nvSpPr>
        <p:spPr>
          <a:xfrm>
            <a:off x="4150192" y="2819553"/>
            <a:ext cx="1611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/>
              <a:t>培地交換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CE0CF4C-8D7C-47A3-392D-DEFA1EB151E9}"/>
              </a:ext>
            </a:extLst>
          </p:cNvPr>
          <p:cNvSpPr txBox="1"/>
          <p:nvPr/>
        </p:nvSpPr>
        <p:spPr>
          <a:xfrm>
            <a:off x="6435000" y="2819552"/>
            <a:ext cx="8827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/>
              <a:t>継代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2BB03CE-5D8A-3BD9-A39D-081B2665BDE4}"/>
              </a:ext>
            </a:extLst>
          </p:cNvPr>
          <p:cNvSpPr txBox="1"/>
          <p:nvPr/>
        </p:nvSpPr>
        <p:spPr>
          <a:xfrm>
            <a:off x="7755288" y="2822528"/>
            <a:ext cx="21059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/>
              <a:t>DCA, </a:t>
            </a:r>
            <a:r>
              <a:rPr kumimoji="1" lang="ja-JP" altLang="en-US" sz="1400"/>
              <a:t>ペプチド添加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21A0AA00-C78D-8944-0ED2-94822B6B974A}"/>
              </a:ext>
            </a:extLst>
          </p:cNvPr>
          <p:cNvSpPr txBox="1"/>
          <p:nvPr/>
        </p:nvSpPr>
        <p:spPr>
          <a:xfrm>
            <a:off x="9547633" y="2819551"/>
            <a:ext cx="14797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/>
              <a:t>ライセート</a:t>
            </a:r>
            <a:endParaRPr kumimoji="1" lang="ja-JP" altLang="en-US" sz="140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976EEF6-03D4-44AF-102C-B43AF397AADD}"/>
              </a:ext>
            </a:extLst>
          </p:cNvPr>
          <p:cNvSpPr txBox="1"/>
          <p:nvPr/>
        </p:nvSpPr>
        <p:spPr>
          <a:xfrm>
            <a:off x="10572985" y="2819550"/>
            <a:ext cx="14797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/>
              <a:t>発光測定</a:t>
            </a:r>
            <a:endParaRPr kumimoji="1" lang="ja-JP" altLang="en-US" sz="1400"/>
          </a:p>
        </p:txBody>
      </p:sp>
      <p:pic>
        <p:nvPicPr>
          <p:cNvPr id="29" name="図 28" descr="巣蜜, 建物, ミラー が含まれている画像&#10;&#10;自動的に生成された説明">
            <a:extLst>
              <a:ext uri="{FF2B5EF4-FFF2-40B4-BE49-F238E27FC236}">
                <a16:creationId xmlns:a16="http://schemas.microsoft.com/office/drawing/2014/main" id="{2CDC2D83-44C1-B52C-15CF-77D132A46E51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5386" y="1351826"/>
            <a:ext cx="727448" cy="430649"/>
          </a:xfrm>
          <a:prstGeom prst="rect">
            <a:avLst/>
          </a:prstGeom>
        </p:spPr>
      </p:pic>
      <p:sp>
        <p:nvSpPr>
          <p:cNvPr id="30" name="円/楕円 29">
            <a:extLst>
              <a:ext uri="{FF2B5EF4-FFF2-40B4-BE49-F238E27FC236}">
                <a16:creationId xmlns:a16="http://schemas.microsoft.com/office/drawing/2014/main" id="{FA5B8E77-B357-FE86-8892-7369ED657116}"/>
              </a:ext>
            </a:extLst>
          </p:cNvPr>
          <p:cNvSpPr>
            <a:spLocks noChangeAspect="1"/>
          </p:cNvSpPr>
          <p:nvPr/>
        </p:nvSpPr>
        <p:spPr>
          <a:xfrm>
            <a:off x="8738666" y="1304373"/>
            <a:ext cx="144000" cy="144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円/楕円 30">
            <a:extLst>
              <a:ext uri="{FF2B5EF4-FFF2-40B4-BE49-F238E27FC236}">
                <a16:creationId xmlns:a16="http://schemas.microsoft.com/office/drawing/2014/main" id="{05EBD06C-383C-D5D8-CF90-3FE94E256964}"/>
              </a:ext>
            </a:extLst>
          </p:cNvPr>
          <p:cNvSpPr>
            <a:spLocks noChangeAspect="1"/>
          </p:cNvSpPr>
          <p:nvPr/>
        </p:nvSpPr>
        <p:spPr>
          <a:xfrm>
            <a:off x="8833432" y="1216154"/>
            <a:ext cx="144000" cy="144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円/楕円 31">
            <a:extLst>
              <a:ext uri="{FF2B5EF4-FFF2-40B4-BE49-F238E27FC236}">
                <a16:creationId xmlns:a16="http://schemas.microsoft.com/office/drawing/2014/main" id="{2E5489C3-DE5B-475A-25CC-809AF851FABC}"/>
              </a:ext>
            </a:extLst>
          </p:cNvPr>
          <p:cNvSpPr>
            <a:spLocks noChangeAspect="1"/>
          </p:cNvSpPr>
          <p:nvPr/>
        </p:nvSpPr>
        <p:spPr>
          <a:xfrm>
            <a:off x="8965916" y="1248592"/>
            <a:ext cx="144000" cy="144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円/楕円 32">
            <a:extLst>
              <a:ext uri="{FF2B5EF4-FFF2-40B4-BE49-F238E27FC236}">
                <a16:creationId xmlns:a16="http://schemas.microsoft.com/office/drawing/2014/main" id="{78361C19-B9AF-751B-0A5F-B1A84556FD8C}"/>
              </a:ext>
            </a:extLst>
          </p:cNvPr>
          <p:cNvSpPr>
            <a:spLocks noChangeAspect="1"/>
          </p:cNvSpPr>
          <p:nvPr/>
        </p:nvSpPr>
        <p:spPr>
          <a:xfrm>
            <a:off x="9071919" y="1153965"/>
            <a:ext cx="144000" cy="144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円/楕円 33">
            <a:extLst>
              <a:ext uri="{FF2B5EF4-FFF2-40B4-BE49-F238E27FC236}">
                <a16:creationId xmlns:a16="http://schemas.microsoft.com/office/drawing/2014/main" id="{2B7AF985-510F-3A99-AE7E-3BE61F4BAE62}"/>
              </a:ext>
            </a:extLst>
          </p:cNvPr>
          <p:cNvSpPr>
            <a:spLocks noChangeAspect="1"/>
          </p:cNvSpPr>
          <p:nvPr/>
        </p:nvSpPr>
        <p:spPr>
          <a:xfrm>
            <a:off x="9201446" y="1183001"/>
            <a:ext cx="144000" cy="144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円/楕円 34">
            <a:extLst>
              <a:ext uri="{FF2B5EF4-FFF2-40B4-BE49-F238E27FC236}">
                <a16:creationId xmlns:a16="http://schemas.microsoft.com/office/drawing/2014/main" id="{56DD798C-52B9-A7F9-0CCC-392F3EF69747}"/>
              </a:ext>
            </a:extLst>
          </p:cNvPr>
          <p:cNvSpPr>
            <a:spLocks noChangeAspect="1"/>
          </p:cNvSpPr>
          <p:nvPr/>
        </p:nvSpPr>
        <p:spPr>
          <a:xfrm>
            <a:off x="9307449" y="1093835"/>
            <a:ext cx="144000" cy="144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F74A5F1B-3333-65D0-0F0D-4D0F9EB4D56F}"/>
              </a:ext>
            </a:extLst>
          </p:cNvPr>
          <p:cNvGrpSpPr/>
          <p:nvPr/>
        </p:nvGrpSpPr>
        <p:grpSpPr>
          <a:xfrm rot="11694743">
            <a:off x="8467852" y="1535685"/>
            <a:ext cx="244790" cy="360376"/>
            <a:chOff x="2664127" y="3374455"/>
            <a:chExt cx="1201975" cy="1567649"/>
          </a:xfrm>
          <a:solidFill>
            <a:schemeClr val="bg2">
              <a:lumMod val="60000"/>
              <a:lumOff val="40000"/>
            </a:schemeClr>
          </a:solidFill>
        </p:grpSpPr>
        <p:sp>
          <p:nvSpPr>
            <p:cNvPr id="42" name="二等辺三角形 4">
              <a:extLst>
                <a:ext uri="{FF2B5EF4-FFF2-40B4-BE49-F238E27FC236}">
                  <a16:creationId xmlns:a16="http://schemas.microsoft.com/office/drawing/2014/main" id="{F7E02531-D7CF-E412-A865-D4629E573AF0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3" name="フリーフォーム: 図形 9">
              <a:extLst>
                <a:ext uri="{FF2B5EF4-FFF2-40B4-BE49-F238E27FC236}">
                  <a16:creationId xmlns:a16="http://schemas.microsoft.com/office/drawing/2014/main" id="{D4A6A757-5C83-D623-18A4-6ADC2AB5F2C9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59AEB355-7F5D-D4FF-B38C-3312D0EB3A5F}"/>
              </a:ext>
            </a:extLst>
          </p:cNvPr>
          <p:cNvSpPr txBox="1"/>
          <p:nvPr/>
        </p:nvSpPr>
        <p:spPr>
          <a:xfrm>
            <a:off x="1810434" y="2110075"/>
            <a:ext cx="6037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/>
              <a:t>24h</a:t>
            </a:r>
            <a:endParaRPr kumimoji="1" lang="ja-JP" altLang="en-US" sz="140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F394A55-8A54-2D73-2D06-3B4C25BD81BB}"/>
              </a:ext>
            </a:extLst>
          </p:cNvPr>
          <p:cNvSpPr txBox="1"/>
          <p:nvPr/>
        </p:nvSpPr>
        <p:spPr>
          <a:xfrm>
            <a:off x="3712282" y="2118375"/>
            <a:ext cx="6037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/>
              <a:t>24h</a:t>
            </a:r>
            <a:endParaRPr kumimoji="1" lang="ja-JP" altLang="en-US" sz="140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CDDFC07F-59D2-901C-6E1B-BB9278274FC5}"/>
              </a:ext>
            </a:extLst>
          </p:cNvPr>
          <p:cNvSpPr txBox="1"/>
          <p:nvPr/>
        </p:nvSpPr>
        <p:spPr>
          <a:xfrm>
            <a:off x="5607858" y="2118424"/>
            <a:ext cx="6037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/>
              <a:t>4h</a:t>
            </a:r>
            <a:endParaRPr kumimoji="1" lang="ja-JP" altLang="en-US" sz="140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55A5312F-0C83-9013-E7FA-A18BACA800E9}"/>
              </a:ext>
            </a:extLst>
          </p:cNvPr>
          <p:cNvSpPr txBox="1"/>
          <p:nvPr/>
        </p:nvSpPr>
        <p:spPr>
          <a:xfrm>
            <a:off x="7538693" y="2110075"/>
            <a:ext cx="6037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dirty="0"/>
              <a:t>20h</a:t>
            </a:r>
            <a:endParaRPr kumimoji="1" lang="ja-JP" altLang="en-US" sz="140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42B35918-BD1D-CB27-DE46-7BA569F72D2D}"/>
              </a:ext>
            </a:extLst>
          </p:cNvPr>
          <p:cNvSpPr txBox="1"/>
          <p:nvPr/>
        </p:nvSpPr>
        <p:spPr>
          <a:xfrm>
            <a:off x="9479520" y="2118375"/>
            <a:ext cx="6037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dirty="0"/>
              <a:t>2h</a:t>
            </a:r>
            <a:endParaRPr kumimoji="1" lang="ja-JP" altLang="en-US" sz="1400"/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7FD746FB-8DC7-90C8-3114-B24C5A7D1F68}"/>
              </a:ext>
            </a:extLst>
          </p:cNvPr>
          <p:cNvSpPr txBox="1"/>
          <p:nvPr/>
        </p:nvSpPr>
        <p:spPr>
          <a:xfrm>
            <a:off x="5973095" y="990745"/>
            <a:ext cx="1830949" cy="837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1600" dirty="0"/>
              <a:t>12well plate</a:t>
            </a:r>
            <a:endParaRPr kumimoji="1" lang="en-US" altLang="ja-JP" sz="1600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è"/>
            </a:pPr>
            <a:r>
              <a:rPr lang="en-US" altLang="ja-JP" b="1" u="sng" dirty="0">
                <a:solidFill>
                  <a:schemeClr val="accent4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24well plate</a:t>
            </a:r>
            <a:endParaRPr kumimoji="1" lang="en-US" altLang="ja-JP" b="1" u="sng" dirty="0">
              <a:solidFill>
                <a:schemeClr val="accent4"/>
              </a:solidFill>
              <a:latin typeface="Yu Gothic" panose="020B0400000000000000" pitchFamily="34" charset="-128"/>
              <a:ea typeface="Yu Gothic" panose="020B04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BB27A3DC-B2A2-C681-212E-589E318A7002}"/>
              </a:ext>
            </a:extLst>
          </p:cNvPr>
          <p:cNvSpPr txBox="1"/>
          <p:nvPr/>
        </p:nvSpPr>
        <p:spPr>
          <a:xfrm>
            <a:off x="9482660" y="991480"/>
            <a:ext cx="1661032" cy="837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sz="1600" dirty="0"/>
              <a:t>20µM</a:t>
            </a:r>
            <a:r>
              <a:rPr kumimoji="1" lang="ja-JP" altLang="en-US" sz="1600"/>
              <a:t>で添加</a:t>
            </a:r>
            <a:endParaRPr kumimoji="1" lang="en-US" altLang="ja-JP" sz="1600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è"/>
            </a:pPr>
            <a:r>
              <a:rPr lang="en-US" altLang="ja-JP" b="1" u="sng" dirty="0">
                <a:solidFill>
                  <a:schemeClr val="accent4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2µM</a:t>
            </a:r>
            <a:r>
              <a:rPr lang="ja-JP" altLang="en-US" b="1" u="sng">
                <a:solidFill>
                  <a:schemeClr val="accent4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Arial" panose="020B0604020202020204" pitchFamily="34" charset="0"/>
              </a:rPr>
              <a:t>で添加</a:t>
            </a:r>
            <a:endParaRPr kumimoji="1" lang="en-US" altLang="ja-JP" b="1" u="sng" dirty="0">
              <a:solidFill>
                <a:schemeClr val="accent4"/>
              </a:solidFill>
              <a:latin typeface="Yu Gothic" panose="020B0400000000000000" pitchFamily="34" charset="-128"/>
              <a:ea typeface="Yu Gothic" panose="020B04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1CDB890-8D30-437B-8CC3-08166F8C7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038484"/>
            <a:ext cx="11099800" cy="504035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/>
              <a:t>TGR5</a:t>
            </a:r>
            <a:r>
              <a:rPr lang="ja-JP" altLang="en-US"/>
              <a:t>活性評価系の改善</a:t>
            </a:r>
            <a:endParaRPr lang="en-US" altLang="ja-JP" dirty="0"/>
          </a:p>
        </p:txBody>
      </p:sp>
      <p:sp>
        <p:nvSpPr>
          <p:cNvPr id="61" name="コンテンツ プレースホルダー 2">
            <a:extLst>
              <a:ext uri="{FF2B5EF4-FFF2-40B4-BE49-F238E27FC236}">
                <a16:creationId xmlns:a16="http://schemas.microsoft.com/office/drawing/2014/main" id="{9E08C481-B2FE-48D4-4FAC-18B8EA22AD18}"/>
              </a:ext>
            </a:extLst>
          </p:cNvPr>
          <p:cNvSpPr txBox="1">
            <a:spLocks/>
          </p:cNvSpPr>
          <p:nvPr/>
        </p:nvSpPr>
        <p:spPr>
          <a:xfrm>
            <a:off x="546099" y="3345789"/>
            <a:ext cx="11099800" cy="34010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4"/>
              </a:buClr>
              <a:buFont typeface="Wingdings" panose="05000000000000000000" pitchFamily="2" charset="2"/>
              <a:buChar char="l"/>
              <a:defRPr kumimoji="1" sz="20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800100" marR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kumimoji="1" sz="1800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1252538" indent="-338138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6563" indent="-334963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1063" indent="-322263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ja-JP" altLang="en-US"/>
              <a:t>評価系の改善により、ペプチドアレイでの合成が可能</a:t>
            </a:r>
            <a:endParaRPr lang="en-US" altLang="ja-JP" dirty="0"/>
          </a:p>
          <a:p>
            <a:r>
              <a:rPr lang="ja-JP" altLang="en-US" sz="1800" b="0"/>
              <a:t>元々</a:t>
            </a:r>
            <a:r>
              <a:rPr lang="en-US" altLang="ja-JP" sz="1800" b="0" dirty="0"/>
              <a:t>1mL</a:t>
            </a:r>
            <a:r>
              <a:rPr lang="ja-JP" altLang="en-US" sz="1800" b="0"/>
              <a:t>中</a:t>
            </a:r>
            <a:r>
              <a:rPr lang="en-US" altLang="ja-JP" sz="1800" b="0" dirty="0"/>
              <a:t>20µM</a:t>
            </a:r>
            <a:r>
              <a:rPr lang="ja-JP" altLang="en-US" sz="1800" b="0"/>
              <a:t>のペプチドが必要</a:t>
            </a:r>
            <a:r>
              <a:rPr lang="en-US" altLang="ja-JP" sz="1800" b="0" dirty="0"/>
              <a:t> -&gt; 20nmol</a:t>
            </a:r>
            <a:r>
              <a:rPr lang="ja-JP" altLang="en-US" sz="1800" b="0"/>
              <a:t>のペプチドが必要</a:t>
            </a:r>
            <a:endParaRPr lang="en-US" altLang="ja-JP" sz="1800" b="0" dirty="0"/>
          </a:p>
          <a:p>
            <a:r>
              <a:rPr lang="ja-JP" altLang="en-US" sz="1800" b="0"/>
              <a:t>評価系改善後、</a:t>
            </a:r>
            <a:r>
              <a:rPr lang="en-US" altLang="ja-JP" sz="1800" b="0" dirty="0"/>
              <a:t>500µL</a:t>
            </a:r>
            <a:r>
              <a:rPr lang="ja-JP" altLang="en-US" sz="1800" b="0"/>
              <a:t>中</a:t>
            </a:r>
            <a:r>
              <a:rPr lang="en-US" altLang="ja-JP" sz="1800" b="0" dirty="0"/>
              <a:t>2µM</a:t>
            </a:r>
            <a:r>
              <a:rPr lang="ja-JP" altLang="en-US" sz="1800" b="0"/>
              <a:t>のペプチドが必要</a:t>
            </a:r>
            <a:r>
              <a:rPr lang="en-US" altLang="ja-JP" sz="1800" b="0" dirty="0"/>
              <a:t> -&gt; 1nmol</a:t>
            </a:r>
            <a:r>
              <a:rPr lang="ja-JP" altLang="en-US" sz="1800" b="0"/>
              <a:t>のペプチドで十分</a:t>
            </a:r>
            <a:endParaRPr lang="en-US" altLang="ja-JP" sz="1800" b="0" dirty="0"/>
          </a:p>
          <a:p>
            <a:pPr marL="0" indent="0">
              <a:buNone/>
            </a:pPr>
            <a:r>
              <a:rPr lang="ja-JP" altLang="en-US"/>
              <a:t>ペプチドアレイでの合成</a:t>
            </a:r>
            <a:endParaRPr lang="en-US" altLang="ja-JP" dirty="0"/>
          </a:p>
          <a:p>
            <a:r>
              <a:rPr lang="ja-JP" altLang="en-US" sz="1800" b="0"/>
              <a:t>活性化メンブレンの作成まで行った。</a:t>
            </a:r>
            <a:endParaRPr lang="en-US" altLang="ja-JP" sz="1800" b="0" dirty="0"/>
          </a:p>
          <a:p>
            <a:r>
              <a:rPr lang="ja-JP" altLang="en-US" sz="1800" b="0"/>
              <a:t>来週</a:t>
            </a:r>
            <a:r>
              <a:rPr lang="en-US" altLang="ja-JP" sz="1800" b="0" dirty="0"/>
              <a:t>(10/7〜)</a:t>
            </a:r>
            <a:r>
              <a:rPr lang="ja-JP" altLang="en-US" sz="1800" b="0"/>
              <a:t>より合成をする予定。</a:t>
            </a:r>
            <a:endParaRPr lang="en-US" altLang="ja-JP" sz="1800" b="0" dirty="0"/>
          </a:p>
          <a:p>
            <a:r>
              <a:rPr lang="ja-JP" altLang="en-US" sz="1800" b="0"/>
              <a:t>ポジコン</a:t>
            </a:r>
            <a:r>
              <a:rPr lang="en-US" altLang="ja-JP" sz="1800" b="0" dirty="0"/>
              <a:t>(3</a:t>
            </a:r>
            <a:r>
              <a:rPr lang="ja-JP" altLang="en-US" sz="1800" b="0"/>
              <a:t>残基ペプチドで活性がでるもの</a:t>
            </a:r>
            <a:r>
              <a:rPr lang="en-US" altLang="ja-JP" sz="1800" b="0" dirty="0"/>
              <a:t>)</a:t>
            </a:r>
            <a:r>
              <a:rPr lang="ja-JP" altLang="en-US" sz="1800" b="0"/>
              <a:t>がないので、各配列で</a:t>
            </a:r>
            <a:r>
              <a:rPr lang="en-US" altLang="ja-JP" sz="1800" b="0" dirty="0"/>
              <a:t>10</a:t>
            </a:r>
            <a:r>
              <a:rPr lang="ja-JP" altLang="en-US" sz="1800" b="0"/>
              <a:t>スポット分合成する。</a:t>
            </a:r>
            <a:endParaRPr lang="en-US" altLang="ja-JP" sz="1800" b="0" dirty="0"/>
          </a:p>
          <a:p>
            <a:endParaRPr lang="en-US" altLang="ja-JP" sz="1800" dirty="0"/>
          </a:p>
        </p:txBody>
      </p:sp>
    </p:spTree>
    <p:extLst>
      <p:ext uri="{BB962C8B-B14F-4D97-AF65-F5344CB8AC3E}">
        <p14:creationId xmlns:p14="http://schemas.microsoft.com/office/powerpoint/2010/main" val="38856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DC4A6FD-FCA9-3B84-36DA-61EEAC9BD9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ja-JP" altLang="en-US"/>
              <a:t>機械学習による</a:t>
            </a:r>
            <a:r>
              <a:rPr lang="en-US" altLang="ja-JP" dirty="0"/>
              <a:t>TGR5</a:t>
            </a:r>
            <a:r>
              <a:rPr lang="ja-JP" altLang="en-US"/>
              <a:t>アゴニストペプチドの予測方法</a:t>
            </a:r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B86E036-FB2D-984F-375A-DC86DB52AEFA}"/>
              </a:ext>
            </a:extLst>
          </p:cNvPr>
          <p:cNvSpPr/>
          <p:nvPr/>
        </p:nvSpPr>
        <p:spPr>
          <a:xfrm>
            <a:off x="546101" y="1047740"/>
            <a:ext cx="3184327" cy="4252543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FBCFF5C-78FC-52B6-6D69-C7CF02AB4C96}"/>
              </a:ext>
            </a:extLst>
          </p:cNvPr>
          <p:cNvSpPr/>
          <p:nvPr/>
        </p:nvSpPr>
        <p:spPr>
          <a:xfrm>
            <a:off x="3099472" y="1518362"/>
            <a:ext cx="3184327" cy="4252543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BC1DFE4-0E5B-4649-D83E-E98371FDAE1B}"/>
              </a:ext>
            </a:extLst>
          </p:cNvPr>
          <p:cNvSpPr/>
          <p:nvPr/>
        </p:nvSpPr>
        <p:spPr>
          <a:xfrm>
            <a:off x="5780522" y="1955932"/>
            <a:ext cx="3184327" cy="4252543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D2EC542-3C82-3325-2DA8-15FC54D8D000}"/>
              </a:ext>
            </a:extLst>
          </p:cNvPr>
          <p:cNvSpPr/>
          <p:nvPr/>
        </p:nvSpPr>
        <p:spPr>
          <a:xfrm>
            <a:off x="8461572" y="2494280"/>
            <a:ext cx="3184327" cy="4252543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7DC439FB-9318-2675-9191-762AFE623C92}"/>
              </a:ext>
            </a:extLst>
          </p:cNvPr>
          <p:cNvGrpSpPr/>
          <p:nvPr/>
        </p:nvGrpSpPr>
        <p:grpSpPr>
          <a:xfrm rot="18715861" flipV="1">
            <a:off x="3627498" y="821939"/>
            <a:ext cx="638334" cy="948153"/>
            <a:chOff x="2664127" y="3374455"/>
            <a:chExt cx="1201975" cy="1567649"/>
          </a:xfrm>
        </p:grpSpPr>
        <p:sp>
          <p:nvSpPr>
            <p:cNvPr id="17" name="二等辺三角形 14">
              <a:extLst>
                <a:ext uri="{FF2B5EF4-FFF2-40B4-BE49-F238E27FC236}">
                  <a16:creationId xmlns:a16="http://schemas.microsoft.com/office/drawing/2014/main" id="{AE934572-4DB0-7008-0B26-A546FE54E714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8" name="フリーフォーム: 図形 15">
              <a:extLst>
                <a:ext uri="{FF2B5EF4-FFF2-40B4-BE49-F238E27FC236}">
                  <a16:creationId xmlns:a16="http://schemas.microsoft.com/office/drawing/2014/main" id="{96C2C0A0-68E2-78C6-7CCA-11026D8C1D65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7236B427-5E9D-AE12-A4FB-2854CF784DFF}"/>
              </a:ext>
            </a:extLst>
          </p:cNvPr>
          <p:cNvSpPr txBox="1"/>
          <p:nvPr/>
        </p:nvSpPr>
        <p:spPr>
          <a:xfrm>
            <a:off x="546100" y="1048905"/>
            <a:ext cx="16962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/>
              <a:t>1. </a:t>
            </a:r>
            <a:r>
              <a:rPr lang="ja-JP" altLang="en-US" sz="2000" b="1"/>
              <a:t>データ取得</a:t>
            </a:r>
            <a:endParaRPr kumimoji="1" lang="en-US" altLang="ja-JP" sz="2000" b="1" dirty="0"/>
          </a:p>
        </p:txBody>
      </p:sp>
      <p:pic>
        <p:nvPicPr>
          <p:cNvPr id="26" name="図 25" descr="アイコン&#10;&#10;自動的に生成された説明">
            <a:extLst>
              <a:ext uri="{FF2B5EF4-FFF2-40B4-BE49-F238E27FC236}">
                <a16:creationId xmlns:a16="http://schemas.microsoft.com/office/drawing/2014/main" id="{99E90E1D-607F-0B79-8824-AD3389C98F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404" y="1782654"/>
            <a:ext cx="1752600" cy="381000"/>
          </a:xfrm>
          <a:prstGeom prst="rect">
            <a:avLst/>
          </a:prstGeom>
        </p:spPr>
      </p:pic>
      <p:pic>
        <p:nvPicPr>
          <p:cNvPr id="27" name="Picture 4" descr="BindingDB: Measured Binding Data for Protein-Ligand and Other Molecular  Systems | Collection | Library Digital Collections | UC San Diego Library">
            <a:extLst>
              <a:ext uri="{FF2B5EF4-FFF2-40B4-BE49-F238E27FC236}">
                <a16:creationId xmlns:a16="http://schemas.microsoft.com/office/drawing/2014/main" id="{BC97AE12-B00D-AF44-0204-F0C6283E2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364" y="2274255"/>
            <a:ext cx="1651056" cy="470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AA94A382-4507-E2E8-8DC7-16B6C1C14723}"/>
              </a:ext>
            </a:extLst>
          </p:cNvPr>
          <p:cNvGrpSpPr/>
          <p:nvPr/>
        </p:nvGrpSpPr>
        <p:grpSpPr>
          <a:xfrm flipV="1">
            <a:off x="837740" y="2883408"/>
            <a:ext cx="331139" cy="698305"/>
            <a:chOff x="7800489" y="2818451"/>
            <a:chExt cx="840658" cy="2492477"/>
          </a:xfrm>
        </p:grpSpPr>
        <p:sp>
          <p:nvSpPr>
            <p:cNvPr id="29" name="二等辺三角形 23">
              <a:extLst>
                <a:ext uri="{FF2B5EF4-FFF2-40B4-BE49-F238E27FC236}">
                  <a16:creationId xmlns:a16="http://schemas.microsoft.com/office/drawing/2014/main" id="{1838B2F5-7BE3-86E9-0609-C0905634433D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二等辺三角形 24">
              <a:extLst>
                <a:ext uri="{FF2B5EF4-FFF2-40B4-BE49-F238E27FC236}">
                  <a16:creationId xmlns:a16="http://schemas.microsoft.com/office/drawing/2014/main" id="{5218ADC1-585F-917B-EBF9-2BE36022BC7F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75A4CB8E-AFE0-3D4B-9F0D-5EE7AF831DD8}"/>
              </a:ext>
            </a:extLst>
          </p:cNvPr>
          <p:cNvSpPr txBox="1"/>
          <p:nvPr/>
        </p:nvSpPr>
        <p:spPr>
          <a:xfrm>
            <a:off x="1209303" y="2898007"/>
            <a:ext cx="2002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TGR5</a:t>
            </a:r>
            <a:r>
              <a:rPr kumimoji="1" lang="ja-JP" altLang="en-US"/>
              <a:t>の</a:t>
            </a:r>
            <a:r>
              <a:rPr kumimoji="1" lang="en-US" altLang="ja-JP" dirty="0"/>
              <a:t>EC50</a:t>
            </a:r>
            <a:r>
              <a:rPr lang="ja-JP" altLang="en-US"/>
              <a:t>の</a:t>
            </a:r>
            <a:r>
              <a:rPr kumimoji="1" lang="ja-JP" altLang="en-US"/>
              <a:t>データを取得</a:t>
            </a:r>
          </a:p>
        </p:txBody>
      </p: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E4A21D83-F8BF-255A-51FC-472141820442}"/>
              </a:ext>
            </a:extLst>
          </p:cNvPr>
          <p:cNvGrpSpPr/>
          <p:nvPr/>
        </p:nvGrpSpPr>
        <p:grpSpPr>
          <a:xfrm flipV="1">
            <a:off x="837740" y="3671567"/>
            <a:ext cx="331139" cy="698305"/>
            <a:chOff x="7800489" y="2818451"/>
            <a:chExt cx="840658" cy="2492477"/>
          </a:xfrm>
        </p:grpSpPr>
        <p:sp>
          <p:nvSpPr>
            <p:cNvPr id="33" name="二等辺三角形 23">
              <a:extLst>
                <a:ext uri="{FF2B5EF4-FFF2-40B4-BE49-F238E27FC236}">
                  <a16:creationId xmlns:a16="http://schemas.microsoft.com/office/drawing/2014/main" id="{7536CD5E-4C0D-3E0F-6952-7EA82B1FA0E9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二等辺三角形 24">
              <a:extLst>
                <a:ext uri="{FF2B5EF4-FFF2-40B4-BE49-F238E27FC236}">
                  <a16:creationId xmlns:a16="http://schemas.microsoft.com/office/drawing/2014/main" id="{956E151D-8A2B-68F5-CE32-993A7C0A3652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1853878F-B7B7-F48C-5718-9C4958F65AF8}"/>
              </a:ext>
            </a:extLst>
          </p:cNvPr>
          <p:cNvSpPr txBox="1"/>
          <p:nvPr/>
        </p:nvSpPr>
        <p:spPr>
          <a:xfrm>
            <a:off x="1209303" y="3801590"/>
            <a:ext cx="2002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重複、欠損値削除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FE9C2972-305D-8FC0-6529-C7C0BB4EE39B}"/>
              </a:ext>
            </a:extLst>
          </p:cNvPr>
          <p:cNvSpPr txBox="1"/>
          <p:nvPr/>
        </p:nvSpPr>
        <p:spPr>
          <a:xfrm>
            <a:off x="546100" y="4523773"/>
            <a:ext cx="2002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>
                <a:solidFill>
                  <a:schemeClr val="accent4"/>
                </a:solidFill>
              </a:rPr>
              <a:t>1773</a:t>
            </a:r>
            <a:r>
              <a:rPr kumimoji="1" lang="ja-JP" altLang="en-US" b="1">
                <a:solidFill>
                  <a:schemeClr val="accent4"/>
                </a:solidFill>
              </a:rPr>
              <a:t>件</a:t>
            </a:r>
            <a:r>
              <a:rPr kumimoji="1" lang="ja-JP" altLang="en-US" b="1"/>
              <a:t>のデータ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5A9D8FE1-4D3C-A741-8B0A-217002ECD8E5}"/>
              </a:ext>
            </a:extLst>
          </p:cNvPr>
          <p:cNvSpPr txBox="1"/>
          <p:nvPr/>
        </p:nvSpPr>
        <p:spPr>
          <a:xfrm>
            <a:off x="3099472" y="1530533"/>
            <a:ext cx="19575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dirty="0"/>
              <a:t>2. </a:t>
            </a:r>
            <a:r>
              <a:rPr kumimoji="1" lang="ja-JP" altLang="en-US" sz="2000" b="1"/>
              <a:t>データ前処理</a:t>
            </a:r>
            <a:endParaRPr kumimoji="1" lang="en-US" altLang="ja-JP" sz="2000" b="1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2C5808A1-22BB-A69E-292A-B7D72A12BC03}"/>
              </a:ext>
            </a:extLst>
          </p:cNvPr>
          <p:cNvSpPr txBox="1"/>
          <p:nvPr/>
        </p:nvSpPr>
        <p:spPr>
          <a:xfrm>
            <a:off x="3108071" y="1940103"/>
            <a:ext cx="2657493" cy="1805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EC50</a:t>
            </a:r>
            <a:r>
              <a:rPr lang="ja-JP" altLang="en-US"/>
              <a:t>から、データを活性があるものとないものに分類</a:t>
            </a:r>
            <a:endParaRPr lang="en-US" altLang="ja-JP" dirty="0"/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kumimoji="1" lang="en-US" altLang="ja-JP" dirty="0"/>
              <a:t>1773</a:t>
            </a:r>
            <a:r>
              <a:rPr kumimoji="1" lang="ja-JP" altLang="en-US"/>
              <a:t>件のアゴニストの</a:t>
            </a:r>
            <a:r>
              <a:rPr kumimoji="1" lang="en-US" altLang="ja-JP" dirty="0"/>
              <a:t>ECFP</a:t>
            </a:r>
            <a:r>
              <a:rPr kumimoji="1" lang="ja-JP" altLang="en-US"/>
              <a:t>フィンガープリントを作成</a:t>
            </a:r>
            <a:r>
              <a:rPr kumimoji="1" lang="en-US" altLang="ja-JP" dirty="0"/>
              <a:t>(radius=4)</a:t>
            </a:r>
            <a:endParaRPr kumimoji="1" lang="ja-JP" altLang="en-US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A67D44BC-7332-7D34-E9BB-ECEA7BC5F0AD}"/>
              </a:ext>
            </a:extLst>
          </p:cNvPr>
          <p:cNvSpPr txBox="1"/>
          <p:nvPr/>
        </p:nvSpPr>
        <p:spPr>
          <a:xfrm>
            <a:off x="5786873" y="1955352"/>
            <a:ext cx="9909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/>
              <a:t>3</a:t>
            </a:r>
            <a:r>
              <a:rPr kumimoji="1" lang="en-US" altLang="ja-JP" sz="2000" b="1" dirty="0"/>
              <a:t>. </a:t>
            </a:r>
            <a:r>
              <a:rPr lang="ja-JP" altLang="en-US" sz="2000" b="1"/>
              <a:t>学習</a:t>
            </a:r>
            <a:endParaRPr kumimoji="1" lang="en-US" altLang="ja-JP" sz="2000" b="1" dirty="0"/>
          </a:p>
        </p:txBody>
      </p: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7A832316-D9A4-7AC9-CAFD-353ADF4FF30F}"/>
              </a:ext>
            </a:extLst>
          </p:cNvPr>
          <p:cNvGrpSpPr/>
          <p:nvPr/>
        </p:nvGrpSpPr>
        <p:grpSpPr>
          <a:xfrm rot="18715861" flipV="1">
            <a:off x="6078417" y="1256511"/>
            <a:ext cx="638334" cy="948153"/>
            <a:chOff x="2664127" y="3374455"/>
            <a:chExt cx="1201975" cy="1567649"/>
          </a:xfrm>
        </p:grpSpPr>
        <p:sp>
          <p:nvSpPr>
            <p:cNvPr id="41" name="二等辺三角形 14">
              <a:extLst>
                <a:ext uri="{FF2B5EF4-FFF2-40B4-BE49-F238E27FC236}">
                  <a16:creationId xmlns:a16="http://schemas.microsoft.com/office/drawing/2014/main" id="{D05AE310-F75F-0FBB-1C9E-38E22D4FA72F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2" name="フリーフォーム: 図形 15">
              <a:extLst>
                <a:ext uri="{FF2B5EF4-FFF2-40B4-BE49-F238E27FC236}">
                  <a16:creationId xmlns:a16="http://schemas.microsoft.com/office/drawing/2014/main" id="{8A6BBA95-DAB9-4FAA-9BAB-851B4059BBC2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CC8FE183-594F-AFAD-8837-69E0B7E74104}"/>
              </a:ext>
            </a:extLst>
          </p:cNvPr>
          <p:cNvSpPr txBox="1"/>
          <p:nvPr/>
        </p:nvSpPr>
        <p:spPr>
          <a:xfrm>
            <a:off x="8460939" y="2503902"/>
            <a:ext cx="9909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dirty="0"/>
              <a:t>4. </a:t>
            </a:r>
            <a:r>
              <a:rPr kumimoji="1" lang="ja-JP" altLang="en-US" sz="2000" b="1"/>
              <a:t>予測</a:t>
            </a:r>
            <a:endParaRPr kumimoji="1" lang="en-US" altLang="ja-JP" sz="2000" b="1" dirty="0"/>
          </a:p>
        </p:txBody>
      </p:sp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DA8485FA-0B98-E453-03D2-F17AB250E4CD}"/>
              </a:ext>
            </a:extLst>
          </p:cNvPr>
          <p:cNvGrpSpPr/>
          <p:nvPr/>
        </p:nvGrpSpPr>
        <p:grpSpPr>
          <a:xfrm rot="18715861" flipV="1">
            <a:off x="8752483" y="1805061"/>
            <a:ext cx="638334" cy="948153"/>
            <a:chOff x="2664127" y="3374455"/>
            <a:chExt cx="1201975" cy="1567649"/>
          </a:xfrm>
        </p:grpSpPr>
        <p:sp>
          <p:nvSpPr>
            <p:cNvPr id="49" name="二等辺三角形 14">
              <a:extLst>
                <a:ext uri="{FF2B5EF4-FFF2-40B4-BE49-F238E27FC236}">
                  <a16:creationId xmlns:a16="http://schemas.microsoft.com/office/drawing/2014/main" id="{B96C48B8-44E6-8782-119E-FF8EF2F8412F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0" name="フリーフォーム: 図形 15">
              <a:extLst>
                <a:ext uri="{FF2B5EF4-FFF2-40B4-BE49-F238E27FC236}">
                  <a16:creationId xmlns:a16="http://schemas.microsoft.com/office/drawing/2014/main" id="{7D3F8FB1-0841-0F73-9386-EB2935596396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B1CC9D91-16B2-30A2-7CAB-C04B395B9164}"/>
              </a:ext>
            </a:extLst>
          </p:cNvPr>
          <p:cNvSpPr txBox="1"/>
          <p:nvPr/>
        </p:nvSpPr>
        <p:spPr>
          <a:xfrm>
            <a:off x="5789755" y="2346911"/>
            <a:ext cx="2657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ランダムフォレストモデルを作成</a:t>
            </a:r>
            <a:endParaRPr lang="en-US" altLang="ja-JP" dirty="0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E524E086-4C6E-40AD-B97F-9CB3CE3A4D8D}"/>
              </a:ext>
            </a:extLst>
          </p:cNvPr>
          <p:cNvSpPr txBox="1"/>
          <p:nvPr/>
        </p:nvSpPr>
        <p:spPr>
          <a:xfrm>
            <a:off x="8456660" y="2898006"/>
            <a:ext cx="3152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作成したモデルにより、</a:t>
            </a:r>
            <a:r>
              <a:rPr lang="en-US" altLang="ja-JP" dirty="0"/>
              <a:t>3</a:t>
            </a:r>
            <a:r>
              <a:rPr lang="ja-JP" altLang="en-US"/>
              <a:t>残基ペプチドの</a:t>
            </a:r>
            <a:r>
              <a:rPr lang="en-US" altLang="ja-JP" dirty="0"/>
              <a:t>TGR5</a:t>
            </a:r>
            <a:r>
              <a:rPr lang="ja-JP" altLang="en-US"/>
              <a:t>活性予測</a:t>
            </a:r>
            <a:endParaRPr lang="en-US" altLang="ja-JP" dirty="0"/>
          </a:p>
        </p:txBody>
      </p:sp>
      <p:pic>
        <p:nvPicPr>
          <p:cNvPr id="58" name="図 57" descr="時計と文字の加工写真&#10;&#10;低い精度で自動的に生成された説明">
            <a:extLst>
              <a:ext uri="{FF2B5EF4-FFF2-40B4-BE49-F238E27FC236}">
                <a16:creationId xmlns:a16="http://schemas.microsoft.com/office/drawing/2014/main" id="{CE900928-B0A1-EDFF-C09A-DA48BEFDA2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525" y="4536151"/>
            <a:ext cx="745384" cy="966239"/>
          </a:xfrm>
          <a:prstGeom prst="rect">
            <a:avLst/>
          </a:prstGeom>
        </p:spPr>
      </p:pic>
      <p:pic>
        <p:nvPicPr>
          <p:cNvPr id="60" name="図 59" descr="時計 が含まれている画像&#10;&#10;自動的に生成された説明">
            <a:extLst>
              <a:ext uri="{FF2B5EF4-FFF2-40B4-BE49-F238E27FC236}">
                <a16:creationId xmlns:a16="http://schemas.microsoft.com/office/drawing/2014/main" id="{CCF14995-31B7-980F-0408-FA1D8DED4D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436" y="4538178"/>
            <a:ext cx="745384" cy="973700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F3EB4C75-5B57-29ED-8FE9-C82AB29FF7C6}"/>
              </a:ext>
            </a:extLst>
          </p:cNvPr>
          <p:cNvSpPr txBox="1"/>
          <p:nvPr/>
        </p:nvSpPr>
        <p:spPr>
          <a:xfrm>
            <a:off x="3226518" y="3920944"/>
            <a:ext cx="25533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/>
              <a:t>原子からある距離にある部分構造を数え</a:t>
            </a:r>
            <a:r>
              <a:rPr lang="ja-JP" altLang="en-US" sz="1600"/>
              <a:t>るもの</a:t>
            </a:r>
            <a:endParaRPr kumimoji="1" lang="ja-JP" altLang="en-US" sz="1600"/>
          </a:p>
        </p:txBody>
      </p:sp>
      <p:pic>
        <p:nvPicPr>
          <p:cNvPr id="63" name="図 62" descr="グラフ, レーダー チャート&#10;&#10;自動的に生成された説明">
            <a:extLst>
              <a:ext uri="{FF2B5EF4-FFF2-40B4-BE49-F238E27FC236}">
                <a16:creationId xmlns:a16="http://schemas.microsoft.com/office/drawing/2014/main" id="{8059396F-2A37-7F02-AE56-75A0F98DA7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6015" y="2959018"/>
            <a:ext cx="671072" cy="686679"/>
          </a:xfrm>
          <a:prstGeom prst="rect">
            <a:avLst/>
          </a:prstGeom>
        </p:spPr>
      </p:pic>
      <p:pic>
        <p:nvPicPr>
          <p:cNvPr id="65" name="図 64" descr="グラフ, レーダー チャート&#10;&#10;自動的に生成された説明">
            <a:extLst>
              <a:ext uri="{FF2B5EF4-FFF2-40B4-BE49-F238E27FC236}">
                <a16:creationId xmlns:a16="http://schemas.microsoft.com/office/drawing/2014/main" id="{063D376D-245F-259E-2AF7-3F5D44F15CB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4607" y="4431416"/>
            <a:ext cx="756623" cy="577976"/>
          </a:xfrm>
          <a:prstGeom prst="rect">
            <a:avLst/>
          </a:prstGeom>
        </p:spPr>
      </p:pic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58E98143-947B-9C11-08D9-780100D58567}"/>
              </a:ext>
            </a:extLst>
          </p:cNvPr>
          <p:cNvSpPr txBox="1"/>
          <p:nvPr/>
        </p:nvSpPr>
        <p:spPr>
          <a:xfrm>
            <a:off x="6765284" y="3584052"/>
            <a:ext cx="1051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存在する？</a:t>
            </a:r>
          </a:p>
        </p:txBody>
      </p:sp>
      <p:cxnSp>
        <p:nvCxnSpPr>
          <p:cNvPr id="68" name="直線矢印コネクタ 67">
            <a:extLst>
              <a:ext uri="{FF2B5EF4-FFF2-40B4-BE49-F238E27FC236}">
                <a16:creationId xmlns:a16="http://schemas.microsoft.com/office/drawing/2014/main" id="{844A74F9-7D08-D4D3-D869-22E1236EB54B}"/>
              </a:ext>
            </a:extLst>
          </p:cNvPr>
          <p:cNvCxnSpPr>
            <a:cxnSpLocks/>
          </p:cNvCxnSpPr>
          <p:nvPr/>
        </p:nvCxnSpPr>
        <p:spPr>
          <a:xfrm flipH="1">
            <a:off x="7026015" y="3981321"/>
            <a:ext cx="131136" cy="3606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F0F96F31-92B0-CB83-42F6-BF72912925FF}"/>
              </a:ext>
            </a:extLst>
          </p:cNvPr>
          <p:cNvSpPr txBox="1"/>
          <p:nvPr/>
        </p:nvSpPr>
        <p:spPr>
          <a:xfrm>
            <a:off x="6373237" y="4974204"/>
            <a:ext cx="1051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存在する？</a:t>
            </a:r>
          </a:p>
        </p:txBody>
      </p:sp>
      <p:cxnSp>
        <p:nvCxnSpPr>
          <p:cNvPr id="74" name="直線矢印コネクタ 73">
            <a:extLst>
              <a:ext uri="{FF2B5EF4-FFF2-40B4-BE49-F238E27FC236}">
                <a16:creationId xmlns:a16="http://schemas.microsoft.com/office/drawing/2014/main" id="{6B92E5FA-C0A8-CA6D-737A-0CE3839A99D9}"/>
              </a:ext>
            </a:extLst>
          </p:cNvPr>
          <p:cNvCxnSpPr>
            <a:cxnSpLocks/>
          </p:cNvCxnSpPr>
          <p:nvPr/>
        </p:nvCxnSpPr>
        <p:spPr>
          <a:xfrm>
            <a:off x="7349633" y="3981321"/>
            <a:ext cx="154675" cy="3606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B4BCF696-9C13-F63D-5756-A74BE5A41536}"/>
              </a:ext>
            </a:extLst>
          </p:cNvPr>
          <p:cNvSpPr txBox="1"/>
          <p:nvPr/>
        </p:nvSpPr>
        <p:spPr>
          <a:xfrm>
            <a:off x="7365962" y="4369354"/>
            <a:ext cx="843501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活性なし</a:t>
            </a:r>
          </a:p>
        </p:txBody>
      </p:sp>
      <p:cxnSp>
        <p:nvCxnSpPr>
          <p:cNvPr id="84" name="直線矢印コネクタ 83">
            <a:extLst>
              <a:ext uri="{FF2B5EF4-FFF2-40B4-BE49-F238E27FC236}">
                <a16:creationId xmlns:a16="http://schemas.microsoft.com/office/drawing/2014/main" id="{EA8FBFEC-087F-1C24-3374-2E3E6433CB5E}"/>
              </a:ext>
            </a:extLst>
          </p:cNvPr>
          <p:cNvCxnSpPr>
            <a:cxnSpLocks/>
          </p:cNvCxnSpPr>
          <p:nvPr/>
        </p:nvCxnSpPr>
        <p:spPr>
          <a:xfrm flipH="1">
            <a:off x="6633727" y="5295751"/>
            <a:ext cx="131136" cy="3606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B50CB7C7-ADD4-66B3-9AE4-C6A47CA27B09}"/>
              </a:ext>
            </a:extLst>
          </p:cNvPr>
          <p:cNvCxnSpPr>
            <a:cxnSpLocks/>
          </p:cNvCxnSpPr>
          <p:nvPr/>
        </p:nvCxnSpPr>
        <p:spPr>
          <a:xfrm>
            <a:off x="6957345" y="5295751"/>
            <a:ext cx="154675" cy="3606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4420F098-EBD7-2338-32B9-28FB911C9D2D}"/>
              </a:ext>
            </a:extLst>
          </p:cNvPr>
          <p:cNvSpPr txBox="1"/>
          <p:nvPr/>
        </p:nvSpPr>
        <p:spPr>
          <a:xfrm>
            <a:off x="6973674" y="5683784"/>
            <a:ext cx="843501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活性なし</a:t>
            </a:r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4A406EBA-1DCB-E02F-798D-DAC4132C5E4D}"/>
              </a:ext>
            </a:extLst>
          </p:cNvPr>
          <p:cNvSpPr txBox="1"/>
          <p:nvPr/>
        </p:nvSpPr>
        <p:spPr>
          <a:xfrm>
            <a:off x="6040344" y="5673399"/>
            <a:ext cx="846707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活性あり</a:t>
            </a:r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F4E3C0C7-5F81-3C57-2EF2-9C44CA427304}"/>
              </a:ext>
            </a:extLst>
          </p:cNvPr>
          <p:cNvSpPr txBox="1"/>
          <p:nvPr/>
        </p:nvSpPr>
        <p:spPr>
          <a:xfrm>
            <a:off x="6591293" y="3961388"/>
            <a:ext cx="4635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yes</a:t>
            </a:r>
            <a:endParaRPr kumimoji="1" lang="ja-JP" altLang="en-US" sz="1400"/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84217DA9-A4D1-D962-80A5-92F9EA7A20CB}"/>
              </a:ext>
            </a:extLst>
          </p:cNvPr>
          <p:cNvSpPr txBox="1"/>
          <p:nvPr/>
        </p:nvSpPr>
        <p:spPr>
          <a:xfrm>
            <a:off x="6249748" y="5271277"/>
            <a:ext cx="4635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yes</a:t>
            </a:r>
            <a:endParaRPr kumimoji="1" lang="ja-JP" altLang="en-US" sz="1400"/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C6FFB430-9FEB-3945-48C8-C8968F982647}"/>
              </a:ext>
            </a:extLst>
          </p:cNvPr>
          <p:cNvSpPr txBox="1"/>
          <p:nvPr/>
        </p:nvSpPr>
        <p:spPr>
          <a:xfrm>
            <a:off x="6999132" y="5270334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no</a:t>
            </a:r>
            <a:endParaRPr kumimoji="1" lang="ja-JP" altLang="en-US" sz="1400"/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33F35555-5F87-7462-3FEF-9C293C3201B2}"/>
              </a:ext>
            </a:extLst>
          </p:cNvPr>
          <p:cNvSpPr txBox="1"/>
          <p:nvPr/>
        </p:nvSpPr>
        <p:spPr>
          <a:xfrm>
            <a:off x="7414749" y="3949700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no</a:t>
            </a:r>
            <a:endParaRPr kumimoji="1" lang="ja-JP" altLang="en-US" sz="1400"/>
          </a:p>
        </p:txBody>
      </p:sp>
      <p:grpSp>
        <p:nvGrpSpPr>
          <p:cNvPr id="92" name="グループ化 91">
            <a:extLst>
              <a:ext uri="{FF2B5EF4-FFF2-40B4-BE49-F238E27FC236}">
                <a16:creationId xmlns:a16="http://schemas.microsoft.com/office/drawing/2014/main" id="{5C944289-E039-92D2-9A6E-6018CDB32D0C}"/>
              </a:ext>
            </a:extLst>
          </p:cNvPr>
          <p:cNvGrpSpPr/>
          <p:nvPr/>
        </p:nvGrpSpPr>
        <p:grpSpPr>
          <a:xfrm>
            <a:off x="9062566" y="3881228"/>
            <a:ext cx="2002107" cy="1407709"/>
            <a:chOff x="1303915" y="4739882"/>
            <a:chExt cx="2002107" cy="1407709"/>
          </a:xfrm>
        </p:grpSpPr>
        <p:sp>
          <p:nvSpPr>
            <p:cNvPr id="93" name="円/楕円 92">
              <a:extLst>
                <a:ext uri="{FF2B5EF4-FFF2-40B4-BE49-F238E27FC236}">
                  <a16:creationId xmlns:a16="http://schemas.microsoft.com/office/drawing/2014/main" id="{4F730690-F978-E7D8-F5FF-B845CAA8628E}"/>
                </a:ext>
              </a:extLst>
            </p:cNvPr>
            <p:cNvSpPr>
              <a:spLocks/>
            </p:cNvSpPr>
            <p:nvPr/>
          </p:nvSpPr>
          <p:spPr>
            <a:xfrm rot="20259329">
              <a:off x="1303915" y="5276535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4" name="円/楕円 93">
              <a:extLst>
                <a:ext uri="{FF2B5EF4-FFF2-40B4-BE49-F238E27FC236}">
                  <a16:creationId xmlns:a16="http://schemas.microsoft.com/office/drawing/2014/main" id="{8D3C6183-3B26-E9BA-438E-4BAD94A778F6}"/>
                </a:ext>
              </a:extLst>
            </p:cNvPr>
            <p:cNvSpPr>
              <a:spLocks/>
            </p:cNvSpPr>
            <p:nvPr/>
          </p:nvSpPr>
          <p:spPr>
            <a:xfrm rot="20259329">
              <a:off x="1513199" y="5400296"/>
              <a:ext cx="288000" cy="288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5" name="円/楕円 94">
              <a:extLst>
                <a:ext uri="{FF2B5EF4-FFF2-40B4-BE49-F238E27FC236}">
                  <a16:creationId xmlns:a16="http://schemas.microsoft.com/office/drawing/2014/main" id="{3237EF84-F2BD-C4F9-F738-6C46F9E35BA5}"/>
                </a:ext>
              </a:extLst>
            </p:cNvPr>
            <p:cNvSpPr>
              <a:spLocks/>
            </p:cNvSpPr>
            <p:nvPr/>
          </p:nvSpPr>
          <p:spPr>
            <a:xfrm rot="20259329">
              <a:off x="1787160" y="5400295"/>
              <a:ext cx="288000" cy="2880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6" name="円/楕円 95">
              <a:extLst>
                <a:ext uri="{FF2B5EF4-FFF2-40B4-BE49-F238E27FC236}">
                  <a16:creationId xmlns:a16="http://schemas.microsoft.com/office/drawing/2014/main" id="{7A21FAF0-B07F-C1F9-C01C-7944F4F5B6C5}"/>
                </a:ext>
              </a:extLst>
            </p:cNvPr>
            <p:cNvSpPr>
              <a:spLocks/>
            </p:cNvSpPr>
            <p:nvPr/>
          </p:nvSpPr>
          <p:spPr>
            <a:xfrm>
              <a:off x="1572877" y="4960471"/>
              <a:ext cx="288000" cy="288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7" name="円/楕円 96">
              <a:extLst>
                <a:ext uri="{FF2B5EF4-FFF2-40B4-BE49-F238E27FC236}">
                  <a16:creationId xmlns:a16="http://schemas.microsoft.com/office/drawing/2014/main" id="{09C86104-DF01-A759-476C-7A401D3E8BF0}"/>
                </a:ext>
              </a:extLst>
            </p:cNvPr>
            <p:cNvSpPr>
              <a:spLocks/>
            </p:cNvSpPr>
            <p:nvPr/>
          </p:nvSpPr>
          <p:spPr>
            <a:xfrm>
              <a:off x="2060135" y="4739882"/>
              <a:ext cx="288000" cy="288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8" name="円/楕円 97">
              <a:extLst>
                <a:ext uri="{FF2B5EF4-FFF2-40B4-BE49-F238E27FC236}">
                  <a16:creationId xmlns:a16="http://schemas.microsoft.com/office/drawing/2014/main" id="{3845E7A2-662A-997E-7748-DF9CF8E68B48}"/>
                </a:ext>
              </a:extLst>
            </p:cNvPr>
            <p:cNvSpPr>
              <a:spLocks/>
            </p:cNvSpPr>
            <p:nvPr/>
          </p:nvSpPr>
          <p:spPr>
            <a:xfrm>
              <a:off x="1777609" y="4762662"/>
              <a:ext cx="288000" cy="288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9" name="テキスト ボックス 98">
              <a:extLst>
                <a:ext uri="{FF2B5EF4-FFF2-40B4-BE49-F238E27FC236}">
                  <a16:creationId xmlns:a16="http://schemas.microsoft.com/office/drawing/2014/main" id="{A0F3F7D7-354B-C144-5B5C-F93DFA786214}"/>
                </a:ext>
              </a:extLst>
            </p:cNvPr>
            <p:cNvSpPr txBox="1"/>
            <p:nvPr/>
          </p:nvSpPr>
          <p:spPr>
            <a:xfrm>
              <a:off x="1423156" y="5809037"/>
              <a:ext cx="177087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600" dirty="0">
                  <a:latin typeface="+mn-ea"/>
                </a:rPr>
                <a:t>3</a:t>
              </a:r>
              <a:r>
                <a:rPr lang="ja-JP" altLang="en-US" sz="1600">
                  <a:latin typeface="+mn-ea"/>
                </a:rPr>
                <a:t>残基ペプチド</a:t>
              </a:r>
              <a:endParaRPr lang="en-US" altLang="ja-JP" sz="1600" b="0" dirty="0">
                <a:latin typeface="+mn-ea"/>
              </a:endParaRPr>
            </a:p>
          </p:txBody>
        </p:sp>
        <p:sp>
          <p:nvSpPr>
            <p:cNvPr id="100" name="テキスト ボックス 99">
              <a:extLst>
                <a:ext uri="{FF2B5EF4-FFF2-40B4-BE49-F238E27FC236}">
                  <a16:creationId xmlns:a16="http://schemas.microsoft.com/office/drawing/2014/main" id="{F9CB1FEA-96F5-85BA-F76E-CC3701C1C53B}"/>
                </a:ext>
              </a:extLst>
            </p:cNvPr>
            <p:cNvSpPr txBox="1"/>
            <p:nvPr/>
          </p:nvSpPr>
          <p:spPr>
            <a:xfrm>
              <a:off x="2024125" y="5123549"/>
              <a:ext cx="128189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b="1" dirty="0">
                  <a:solidFill>
                    <a:schemeClr val="accent4"/>
                  </a:solidFill>
                </a:rPr>
                <a:t>×8000</a:t>
              </a:r>
            </a:p>
          </p:txBody>
        </p:sp>
      </p:grpSp>
      <p:grpSp>
        <p:nvGrpSpPr>
          <p:cNvPr id="101" name="グループ化 100">
            <a:extLst>
              <a:ext uri="{FF2B5EF4-FFF2-40B4-BE49-F238E27FC236}">
                <a16:creationId xmlns:a16="http://schemas.microsoft.com/office/drawing/2014/main" id="{EB0DBDC5-7681-9C85-00BE-D17D476DE91C}"/>
              </a:ext>
            </a:extLst>
          </p:cNvPr>
          <p:cNvGrpSpPr/>
          <p:nvPr/>
        </p:nvGrpSpPr>
        <p:grpSpPr>
          <a:xfrm flipV="1">
            <a:off x="9818786" y="5400770"/>
            <a:ext cx="331139" cy="664263"/>
            <a:chOff x="7800489" y="2818451"/>
            <a:chExt cx="840658" cy="2492477"/>
          </a:xfrm>
        </p:grpSpPr>
        <p:sp>
          <p:nvSpPr>
            <p:cNvPr id="102" name="二等辺三角形 23">
              <a:extLst>
                <a:ext uri="{FF2B5EF4-FFF2-40B4-BE49-F238E27FC236}">
                  <a16:creationId xmlns:a16="http://schemas.microsoft.com/office/drawing/2014/main" id="{4CCC3C90-14E9-B980-7FEE-4A05D7541C81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3" name="二等辺三角形 24">
              <a:extLst>
                <a:ext uri="{FF2B5EF4-FFF2-40B4-BE49-F238E27FC236}">
                  <a16:creationId xmlns:a16="http://schemas.microsoft.com/office/drawing/2014/main" id="{63C63DFC-B735-A21B-ECA1-E259025E979D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2E27EF93-CF98-56D5-B2D7-136756DEA1E8}"/>
              </a:ext>
            </a:extLst>
          </p:cNvPr>
          <p:cNvSpPr txBox="1"/>
          <p:nvPr/>
        </p:nvSpPr>
        <p:spPr>
          <a:xfrm>
            <a:off x="9040933" y="6180036"/>
            <a:ext cx="1920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モデルによる予測</a:t>
            </a:r>
          </a:p>
        </p:txBody>
      </p: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BC946A80-9105-38C7-5D81-4B18682AA250}"/>
              </a:ext>
            </a:extLst>
          </p:cNvPr>
          <p:cNvSpPr txBox="1"/>
          <p:nvPr/>
        </p:nvSpPr>
        <p:spPr>
          <a:xfrm>
            <a:off x="426566" y="6421032"/>
            <a:ext cx="77828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1400" b="1" i="0">
                <a:effectLst/>
                <a:latin typeface="Merriweather Sans" panose="020F0502020204030204" pitchFamily="34" charset="0"/>
              </a:rPr>
              <a:t>参考</a:t>
            </a:r>
            <a:r>
              <a:rPr lang="en-US" altLang="ja-JP" sz="1400" b="1" i="0" dirty="0">
                <a:effectLst/>
                <a:latin typeface="Merriweather Sans" panose="020F0502020204030204" pitchFamily="34" charset="0"/>
              </a:rPr>
              <a:t> : </a:t>
            </a:r>
            <a:r>
              <a:rPr lang="en" altLang="ja-JP" sz="1400" b="1" i="0" dirty="0">
                <a:effectLst/>
                <a:latin typeface="Merriweather Sans" panose="020F0502020204030204" pitchFamily="34" charset="0"/>
                <a:hlinkClick r:id="rId8"/>
              </a:rPr>
              <a:t>Classification of FLT3 inhibitors and SAR analysis by machine learning methods</a:t>
            </a:r>
            <a:endParaRPr lang="en" altLang="ja-JP" sz="1400" b="1" i="0" dirty="0">
              <a:effectLst/>
              <a:latin typeface="Merriweather Sans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889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CD34BE3C-380F-EE12-52C6-88CF5A7445A4}"/>
              </a:ext>
            </a:extLst>
          </p:cNvPr>
          <p:cNvSpPr/>
          <p:nvPr/>
        </p:nvSpPr>
        <p:spPr>
          <a:xfrm>
            <a:off x="0" y="3737600"/>
            <a:ext cx="12192000" cy="312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F899B64-748C-37D9-360D-87AE9BA7C7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/>
              <a:t>データ前処理の方法を変更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BFBBD2B-F7B8-BA7B-5274-AEC26600F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7224" y="4147797"/>
            <a:ext cx="3028750" cy="219691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78EAFC71-41ED-77DB-0BE6-A19D29C1C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9217" y="1038483"/>
            <a:ext cx="2996757" cy="2196911"/>
          </a:xfrm>
          <a:prstGeom prst="rect">
            <a:avLst/>
          </a:prstGeom>
        </p:spPr>
      </p:pic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AF39D72B-D84C-EC18-D673-46F915F98D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904063"/>
              </p:ext>
            </p:extLst>
          </p:nvPr>
        </p:nvGraphicFramePr>
        <p:xfrm>
          <a:off x="5248835" y="1200161"/>
          <a:ext cx="332601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672">
                  <a:extLst>
                    <a:ext uri="{9D8B030D-6E8A-4147-A177-3AD203B41FA5}">
                      <a16:colId xmlns:a16="http://schemas.microsoft.com/office/drawing/2014/main" val="2994053752"/>
                    </a:ext>
                  </a:extLst>
                </a:gridCol>
                <a:gridCol w="1108672">
                  <a:extLst>
                    <a:ext uri="{9D8B030D-6E8A-4147-A177-3AD203B41FA5}">
                      <a16:colId xmlns:a16="http://schemas.microsoft.com/office/drawing/2014/main" val="1778605883"/>
                    </a:ext>
                  </a:extLst>
                </a:gridCol>
                <a:gridCol w="1108672">
                  <a:extLst>
                    <a:ext uri="{9D8B030D-6E8A-4147-A177-3AD203B41FA5}">
                      <a16:colId xmlns:a16="http://schemas.microsoft.com/office/drawing/2014/main" val="1662798364"/>
                    </a:ext>
                  </a:extLst>
                </a:gridCol>
              </a:tblGrid>
              <a:tr h="522548"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予測値</a:t>
                      </a:r>
                      <a:br>
                        <a:rPr kumimoji="1" lang="en-US" altLang="ja-JP" dirty="0">
                          <a:solidFill>
                            <a:schemeClr val="tx1"/>
                          </a:solidFill>
                        </a:rPr>
                      </a:br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活性あり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予測値</a:t>
                      </a:r>
                      <a:br>
                        <a:rPr kumimoji="1" lang="en-US" altLang="ja-JP" dirty="0">
                          <a:solidFill>
                            <a:schemeClr val="tx1"/>
                          </a:solidFill>
                        </a:rPr>
                      </a:br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活性なし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31017"/>
                  </a:ext>
                </a:extLst>
              </a:tr>
              <a:tr h="5225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実測値</a:t>
                      </a:r>
                      <a:br>
                        <a:rPr kumimoji="1" lang="en-US" altLang="ja-JP" dirty="0">
                          <a:solidFill>
                            <a:schemeClr val="tx1"/>
                          </a:solidFill>
                        </a:rPr>
                      </a:br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活性あり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1" dirty="0"/>
                        <a:t>106</a:t>
                      </a:r>
                      <a:endParaRPr kumimoji="1" lang="ja-JP" altLang="en-US" sz="20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1" dirty="0"/>
                        <a:t>37</a:t>
                      </a:r>
                      <a:endParaRPr kumimoji="1" lang="ja-JP" altLang="en-US" sz="20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836805"/>
                  </a:ext>
                </a:extLst>
              </a:tr>
              <a:tr h="5225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実測値</a:t>
                      </a:r>
                      <a:br>
                        <a:rPr kumimoji="1" lang="en-US" altLang="ja-JP" dirty="0">
                          <a:solidFill>
                            <a:schemeClr val="tx1"/>
                          </a:solidFill>
                        </a:rPr>
                      </a:br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活性なし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1" dirty="0"/>
                        <a:t>26</a:t>
                      </a:r>
                      <a:endParaRPr kumimoji="1" lang="ja-JP" altLang="en-US" sz="20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1" dirty="0"/>
                        <a:t>186</a:t>
                      </a:r>
                      <a:endParaRPr kumimoji="1" lang="ja-JP" altLang="en-US" sz="20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79143"/>
                  </a:ext>
                </a:extLst>
              </a:tr>
            </a:tbl>
          </a:graphicData>
        </a:graphic>
      </p:graphicFrame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9AD21806-FE30-168F-87AE-6D75BC19A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308164"/>
              </p:ext>
            </p:extLst>
          </p:nvPr>
        </p:nvGraphicFramePr>
        <p:xfrm>
          <a:off x="5248835" y="4184157"/>
          <a:ext cx="313135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785">
                  <a:extLst>
                    <a:ext uri="{9D8B030D-6E8A-4147-A177-3AD203B41FA5}">
                      <a16:colId xmlns:a16="http://schemas.microsoft.com/office/drawing/2014/main" val="2994053752"/>
                    </a:ext>
                  </a:extLst>
                </a:gridCol>
                <a:gridCol w="1043785">
                  <a:extLst>
                    <a:ext uri="{9D8B030D-6E8A-4147-A177-3AD203B41FA5}">
                      <a16:colId xmlns:a16="http://schemas.microsoft.com/office/drawing/2014/main" val="1778605883"/>
                    </a:ext>
                  </a:extLst>
                </a:gridCol>
                <a:gridCol w="1043785">
                  <a:extLst>
                    <a:ext uri="{9D8B030D-6E8A-4147-A177-3AD203B41FA5}">
                      <a16:colId xmlns:a16="http://schemas.microsoft.com/office/drawing/2014/main" val="1662798364"/>
                    </a:ext>
                  </a:extLst>
                </a:gridCol>
              </a:tblGrid>
              <a:tr h="609793"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予測値</a:t>
                      </a:r>
                      <a:br>
                        <a:rPr kumimoji="1" lang="en-US" altLang="ja-JP" dirty="0">
                          <a:solidFill>
                            <a:schemeClr val="tx1"/>
                          </a:solidFill>
                        </a:rPr>
                      </a:br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活性あり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予測値</a:t>
                      </a:r>
                      <a:br>
                        <a:rPr kumimoji="1" lang="en-US" altLang="ja-JP" dirty="0">
                          <a:solidFill>
                            <a:schemeClr val="tx1"/>
                          </a:solidFill>
                        </a:rPr>
                      </a:br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活性なし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231017"/>
                  </a:ext>
                </a:extLst>
              </a:tr>
              <a:tr h="6097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実測値</a:t>
                      </a:r>
                      <a:br>
                        <a:rPr kumimoji="1" lang="en-US" altLang="ja-JP" dirty="0">
                          <a:solidFill>
                            <a:schemeClr val="tx1"/>
                          </a:solidFill>
                        </a:rPr>
                      </a:br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活性あり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1" dirty="0"/>
                        <a:t>86</a:t>
                      </a:r>
                      <a:endParaRPr kumimoji="1" lang="ja-JP" altLang="en-US" sz="20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1" dirty="0"/>
                        <a:t>13</a:t>
                      </a:r>
                      <a:endParaRPr kumimoji="1" lang="ja-JP" altLang="en-US" sz="20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836805"/>
                  </a:ext>
                </a:extLst>
              </a:tr>
              <a:tr h="6097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実測値</a:t>
                      </a:r>
                      <a:br>
                        <a:rPr kumimoji="1" lang="en-US" altLang="ja-JP" dirty="0">
                          <a:solidFill>
                            <a:schemeClr val="tx1"/>
                          </a:solidFill>
                        </a:rPr>
                      </a:br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活性なし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1" dirty="0"/>
                        <a:t>11</a:t>
                      </a:r>
                      <a:endParaRPr kumimoji="1" lang="ja-JP" altLang="en-US" sz="20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1" dirty="0"/>
                        <a:t>96</a:t>
                      </a:r>
                      <a:endParaRPr kumimoji="1" lang="ja-JP" altLang="en-US" sz="20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579143"/>
                  </a:ext>
                </a:extLst>
              </a:tr>
            </a:tbl>
          </a:graphicData>
        </a:graphic>
      </p:graphicFrame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CCB7E1A-323F-723F-0296-E0D905A60D4B}"/>
              </a:ext>
            </a:extLst>
          </p:cNvPr>
          <p:cNvSpPr txBox="1"/>
          <p:nvPr/>
        </p:nvSpPr>
        <p:spPr>
          <a:xfrm>
            <a:off x="1670995" y="-1234138"/>
            <a:ext cx="41010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EC50</a:t>
            </a:r>
            <a:r>
              <a:rPr lang="ja-JP" altLang="en-US"/>
              <a:t>が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/>
              <a:t>500µM</a:t>
            </a:r>
            <a:r>
              <a:rPr lang="ja-JP" altLang="en-US"/>
              <a:t>未満のものを</a:t>
            </a:r>
            <a:r>
              <a:rPr lang="en-US" altLang="ja-JP" dirty="0"/>
              <a:t>1(</a:t>
            </a:r>
            <a:r>
              <a:rPr lang="ja-JP" altLang="en-US"/>
              <a:t>活性あり</a:t>
            </a:r>
            <a:r>
              <a:rPr lang="en-US" altLang="ja-JP" dirty="0"/>
              <a:t>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/>
              <a:t>500µM</a:t>
            </a:r>
            <a:r>
              <a:rPr lang="ja-JP" altLang="en-US"/>
              <a:t>以上のものを</a:t>
            </a:r>
            <a:r>
              <a:rPr lang="en-US" altLang="ja-JP" dirty="0"/>
              <a:t>0(</a:t>
            </a:r>
            <a:r>
              <a:rPr lang="ja-JP" altLang="en-US"/>
              <a:t>活性なし</a:t>
            </a:r>
            <a:r>
              <a:rPr lang="en-US" altLang="ja-JP" dirty="0"/>
              <a:t>)</a:t>
            </a:r>
          </a:p>
          <a:p>
            <a:r>
              <a:rPr lang="ja-JP" altLang="en-US"/>
              <a:t>とする</a:t>
            </a:r>
          </a:p>
        </p:txBody>
      </p:sp>
      <p:sp>
        <p:nvSpPr>
          <p:cNvPr id="14" name="角丸四角形 13">
            <a:extLst>
              <a:ext uri="{FF2B5EF4-FFF2-40B4-BE49-F238E27FC236}">
                <a16:creationId xmlns:a16="http://schemas.microsoft.com/office/drawing/2014/main" id="{DF2F3E5C-A79B-1233-F9D2-A8E6C918C40C}"/>
              </a:ext>
            </a:extLst>
          </p:cNvPr>
          <p:cNvSpPr/>
          <p:nvPr/>
        </p:nvSpPr>
        <p:spPr>
          <a:xfrm>
            <a:off x="546100" y="1019215"/>
            <a:ext cx="3783530" cy="1106461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ja-JP" dirty="0">
                <a:solidFill>
                  <a:schemeClr val="tx1"/>
                </a:solidFill>
              </a:rPr>
              <a:t>EC50 &lt; 500µM</a:t>
            </a:r>
            <a:r>
              <a:rPr lang="ja-JP" altLang="en-US">
                <a:solidFill>
                  <a:schemeClr val="tx1"/>
                </a:solidFill>
              </a:rPr>
              <a:t>を</a:t>
            </a:r>
            <a:r>
              <a:rPr lang="en-US" altLang="ja-JP" dirty="0">
                <a:solidFill>
                  <a:schemeClr val="tx1"/>
                </a:solidFill>
              </a:rPr>
              <a:t>1(</a:t>
            </a:r>
            <a:r>
              <a:rPr lang="ja-JP" altLang="en-US">
                <a:solidFill>
                  <a:schemeClr val="tx1"/>
                </a:solidFill>
              </a:rPr>
              <a:t>活性あり</a:t>
            </a:r>
            <a:r>
              <a:rPr lang="en-US" altLang="ja-JP" dirty="0">
                <a:solidFill>
                  <a:schemeClr val="tx1"/>
                </a:solidFill>
              </a:rPr>
              <a:t>)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ja-JP" dirty="0">
                <a:solidFill>
                  <a:schemeClr val="tx1"/>
                </a:solidFill>
              </a:rPr>
              <a:t>EC50 &gt;= 500µM</a:t>
            </a:r>
            <a:r>
              <a:rPr lang="ja-JP" altLang="en-US">
                <a:solidFill>
                  <a:schemeClr val="tx1"/>
                </a:solidFill>
              </a:rPr>
              <a:t>を</a:t>
            </a:r>
            <a:r>
              <a:rPr lang="en-US" altLang="ja-JP" dirty="0">
                <a:solidFill>
                  <a:schemeClr val="tx1"/>
                </a:solidFill>
              </a:rPr>
              <a:t>0(</a:t>
            </a:r>
            <a:r>
              <a:rPr lang="ja-JP" altLang="en-US">
                <a:solidFill>
                  <a:schemeClr val="tx1"/>
                </a:solidFill>
              </a:rPr>
              <a:t>活性なし</a:t>
            </a:r>
            <a:r>
              <a:rPr lang="en-US" altLang="ja-JP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5" name="角丸四角形 14">
            <a:extLst>
              <a:ext uri="{FF2B5EF4-FFF2-40B4-BE49-F238E27FC236}">
                <a16:creationId xmlns:a16="http://schemas.microsoft.com/office/drawing/2014/main" id="{4371CF46-D786-67B8-E960-060294DDEE15}"/>
              </a:ext>
            </a:extLst>
          </p:cNvPr>
          <p:cNvSpPr/>
          <p:nvPr/>
        </p:nvSpPr>
        <p:spPr>
          <a:xfrm>
            <a:off x="546100" y="3955055"/>
            <a:ext cx="3783530" cy="110646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ja-JP" altLang="en-US">
                <a:solidFill>
                  <a:schemeClr val="tx1"/>
                </a:solidFill>
              </a:rPr>
              <a:t>上位</a:t>
            </a:r>
            <a:r>
              <a:rPr lang="en-US" altLang="ja-JP" dirty="0">
                <a:solidFill>
                  <a:schemeClr val="tx1"/>
                </a:solidFill>
              </a:rPr>
              <a:t>30%(EC50 &lt;= 70µM)</a:t>
            </a:r>
            <a:r>
              <a:rPr lang="ja-JP" altLang="en-US">
                <a:solidFill>
                  <a:schemeClr val="tx1"/>
                </a:solidFill>
              </a:rPr>
              <a:t>を</a:t>
            </a:r>
            <a:r>
              <a:rPr lang="en-US" altLang="ja-JP" dirty="0">
                <a:solidFill>
                  <a:schemeClr val="tx1"/>
                </a:solidFill>
              </a:rPr>
              <a:t>1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ja-JP" altLang="en-US">
                <a:solidFill>
                  <a:schemeClr val="tx1"/>
                </a:solidFill>
              </a:rPr>
              <a:t>下位</a:t>
            </a:r>
            <a:r>
              <a:rPr lang="en-US" altLang="ja-JP" dirty="0">
                <a:solidFill>
                  <a:schemeClr val="tx1"/>
                </a:solidFill>
              </a:rPr>
              <a:t>30%(EC50 &gt;= 1000µM)</a:t>
            </a:r>
            <a:r>
              <a:rPr lang="ja-JP" altLang="en-US">
                <a:solidFill>
                  <a:schemeClr val="tx1"/>
                </a:solidFill>
              </a:rPr>
              <a:t>を</a:t>
            </a:r>
            <a:r>
              <a:rPr lang="en-US" altLang="ja-JP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コンテンツ プレースホルダー 2">
            <a:extLst>
              <a:ext uri="{FF2B5EF4-FFF2-40B4-BE49-F238E27FC236}">
                <a16:creationId xmlns:a16="http://schemas.microsoft.com/office/drawing/2014/main" id="{4808F197-2462-3FE5-7D56-2AB9679FC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2125677"/>
            <a:ext cx="4702735" cy="1829378"/>
          </a:xfrm>
        </p:spPr>
        <p:txBody>
          <a:bodyPr>
            <a:normAutofit/>
          </a:bodyPr>
          <a:lstStyle/>
          <a:p>
            <a:r>
              <a:rPr kumimoji="1" lang="ja-JP" altLang="en-US" sz="1800" b="0"/>
              <a:t>予測精度は</a:t>
            </a:r>
            <a:r>
              <a:rPr kumimoji="1" lang="en-US" altLang="ja-JP" sz="1800" b="0" dirty="0"/>
              <a:t>82.3%</a:t>
            </a:r>
            <a:r>
              <a:rPr kumimoji="1" lang="ja-JP" altLang="en-US" sz="1800" b="0"/>
              <a:t>と良い性能</a:t>
            </a:r>
            <a:endParaRPr kumimoji="1" lang="en-US" altLang="ja-JP" sz="1800" b="0" dirty="0"/>
          </a:p>
          <a:p>
            <a:r>
              <a:rPr lang="en-US" altLang="ja-JP" sz="1800" b="0" dirty="0"/>
              <a:t>3</a:t>
            </a:r>
            <a:r>
              <a:rPr lang="ja-JP" altLang="en-US" sz="1800" b="0"/>
              <a:t>残基ペプチドの予測ではほとんどの</a:t>
            </a:r>
            <a:br>
              <a:rPr lang="en-US" altLang="ja-JP" sz="1800" b="0" dirty="0"/>
            </a:br>
            <a:r>
              <a:rPr lang="ja-JP" altLang="en-US" sz="1800" b="0"/>
              <a:t>ペプチドが活性あり</a:t>
            </a:r>
            <a:r>
              <a:rPr lang="en-US" altLang="ja-JP" sz="1800" b="0" dirty="0"/>
              <a:t>(0.5</a:t>
            </a:r>
            <a:r>
              <a:rPr lang="ja-JP" altLang="en-US" sz="1800" b="0"/>
              <a:t>以上</a:t>
            </a:r>
            <a:r>
              <a:rPr lang="en-US" altLang="ja-JP" sz="1800" b="0" dirty="0"/>
              <a:t>)</a:t>
            </a:r>
            <a:r>
              <a:rPr lang="ja-JP" altLang="en-US" sz="1800" b="0"/>
              <a:t>と予測された</a:t>
            </a:r>
            <a:endParaRPr kumimoji="1" lang="en-US" altLang="ja-JP" sz="1800" b="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E6FC838-F1F1-9F67-4791-AF434D25CF61}"/>
              </a:ext>
            </a:extLst>
          </p:cNvPr>
          <p:cNvSpPr txBox="1"/>
          <p:nvPr/>
        </p:nvSpPr>
        <p:spPr>
          <a:xfrm>
            <a:off x="8574851" y="3271085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3</a:t>
            </a:r>
            <a:r>
              <a:rPr lang="ja-JP" altLang="en-US"/>
              <a:t>残基ペプチドの活性予測結果</a:t>
            </a:r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88D3B64-0ACC-DE23-7889-445081A3514F}"/>
              </a:ext>
            </a:extLst>
          </p:cNvPr>
          <p:cNvSpPr txBox="1"/>
          <p:nvPr/>
        </p:nvSpPr>
        <p:spPr>
          <a:xfrm>
            <a:off x="8669217" y="6325108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3</a:t>
            </a:r>
            <a:r>
              <a:rPr lang="ja-JP" altLang="en-US"/>
              <a:t>残基ペプチドの活性予測結果</a:t>
            </a:r>
            <a:endParaRPr kumimoji="1" lang="ja-JP" altLang="en-US"/>
          </a:p>
        </p:txBody>
      </p:sp>
      <p:sp>
        <p:nvSpPr>
          <p:cNvPr id="20" name="コンテンツ プレースホルダー 2">
            <a:extLst>
              <a:ext uri="{FF2B5EF4-FFF2-40B4-BE49-F238E27FC236}">
                <a16:creationId xmlns:a16="http://schemas.microsoft.com/office/drawing/2014/main" id="{2ACB4FD6-8D03-5191-B1D2-CBDC3A1885A8}"/>
              </a:ext>
            </a:extLst>
          </p:cNvPr>
          <p:cNvSpPr txBox="1">
            <a:spLocks/>
          </p:cNvSpPr>
          <p:nvPr/>
        </p:nvSpPr>
        <p:spPr>
          <a:xfrm>
            <a:off x="546099" y="5061516"/>
            <a:ext cx="4508076" cy="17964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4"/>
              </a:buClr>
              <a:buFont typeface="Wingdings" panose="05000000000000000000" pitchFamily="2" charset="2"/>
              <a:buChar char="l"/>
              <a:defRPr kumimoji="1" sz="20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800100" marR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kumimoji="1" sz="1800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1252538" indent="-338138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6563" indent="-334963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1063" indent="-322263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800" b="0"/>
              <a:t>予測精度が向上</a:t>
            </a:r>
            <a:r>
              <a:rPr lang="en-US" altLang="ja-JP" sz="1800" b="0" dirty="0"/>
              <a:t> (82.3% -&gt; 88.3%)</a:t>
            </a:r>
          </a:p>
          <a:p>
            <a:r>
              <a:rPr lang="ja-JP" altLang="en-US" sz="1800" b="0"/>
              <a:t>活性がでないと予測される方にデータが集中した</a:t>
            </a:r>
            <a:r>
              <a:rPr lang="en-US" altLang="ja-JP" sz="1800" b="0" dirty="0"/>
              <a:t> (</a:t>
            </a:r>
            <a:r>
              <a:rPr lang="ja-JP" altLang="en-US" sz="1800" b="0"/>
              <a:t>妥当な予測ができている</a:t>
            </a:r>
            <a:r>
              <a:rPr lang="en-US" altLang="ja-JP" sz="1800" b="0" dirty="0"/>
              <a:t>?)</a:t>
            </a:r>
          </a:p>
          <a:p>
            <a:endParaRPr lang="en-US" altLang="ja-JP" sz="1800" b="0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0AEC8B2-DE01-03F5-4B03-C427C8230326}"/>
              </a:ext>
            </a:extLst>
          </p:cNvPr>
          <p:cNvSpPr txBox="1"/>
          <p:nvPr/>
        </p:nvSpPr>
        <p:spPr>
          <a:xfrm>
            <a:off x="5772052" y="3271085"/>
            <a:ext cx="2419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教師データの予測結果</a:t>
            </a:r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A70F84B-F194-2581-DF92-AC1DED974ED5}"/>
              </a:ext>
            </a:extLst>
          </p:cNvPr>
          <p:cNvSpPr txBox="1"/>
          <p:nvPr/>
        </p:nvSpPr>
        <p:spPr>
          <a:xfrm>
            <a:off x="5772052" y="6278805"/>
            <a:ext cx="2419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教師データの予測結果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1919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3B5946-ED6D-089E-C48F-A17D118D0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4153562"/>
            <a:ext cx="11099800" cy="4699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kumimoji="1" lang="ja-JP" altLang="en-US"/>
              <a:t>短期予定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1CE3F74-8A89-FDDF-93AC-6086F7A6ED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/>
              <a:t>今後の予定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DB6E4A7A-31E8-F7AB-957A-38C0F4677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041481"/>
              </p:ext>
            </p:extLst>
          </p:nvPr>
        </p:nvGraphicFramePr>
        <p:xfrm>
          <a:off x="546100" y="4595181"/>
          <a:ext cx="11119874" cy="194442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128836">
                  <a:extLst>
                    <a:ext uri="{9D8B030D-6E8A-4147-A177-3AD203B41FA5}">
                      <a16:colId xmlns:a16="http://schemas.microsoft.com/office/drawing/2014/main" val="3371328493"/>
                    </a:ext>
                  </a:extLst>
                </a:gridCol>
                <a:gridCol w="2111604">
                  <a:extLst>
                    <a:ext uri="{9D8B030D-6E8A-4147-A177-3AD203B41FA5}">
                      <a16:colId xmlns:a16="http://schemas.microsoft.com/office/drawing/2014/main" val="2336952824"/>
                    </a:ext>
                  </a:extLst>
                </a:gridCol>
                <a:gridCol w="2055044">
                  <a:extLst>
                    <a:ext uri="{9D8B030D-6E8A-4147-A177-3AD203B41FA5}">
                      <a16:colId xmlns:a16="http://schemas.microsoft.com/office/drawing/2014/main" val="3322159680"/>
                    </a:ext>
                  </a:extLst>
                </a:gridCol>
                <a:gridCol w="1824390">
                  <a:extLst>
                    <a:ext uri="{9D8B030D-6E8A-4147-A177-3AD203B41FA5}">
                      <a16:colId xmlns:a16="http://schemas.microsoft.com/office/drawing/2014/main" val="1025667938"/>
                    </a:ext>
                  </a:extLst>
                </a:gridCol>
              </a:tblGrid>
              <a:tr h="400465"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10/7〜10/4</a:t>
                      </a:r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10/7〜10/11</a:t>
                      </a:r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10/14〜10/19</a:t>
                      </a:r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672014"/>
                  </a:ext>
                </a:extLst>
              </a:tr>
              <a:tr h="482018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/>
                        <a:t>ペプチドアレイ合成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361630"/>
                  </a:ext>
                </a:extLst>
              </a:tr>
              <a:tr h="530970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dirty="0"/>
                        <a:t>TGR5</a:t>
                      </a:r>
                      <a:r>
                        <a:rPr kumimoji="1" lang="ja-JP" altLang="en-US"/>
                        <a:t>活性評価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393681"/>
                  </a:ext>
                </a:extLst>
              </a:tr>
              <a:tr h="530970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/>
                        <a:t>モデルの解析、改善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5299942"/>
                  </a:ext>
                </a:extLst>
              </a:tr>
            </a:tbl>
          </a:graphicData>
        </a:graphic>
      </p:graphicFrame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95B5B3D5-8931-E5D6-5DA7-65DBB2E90259}"/>
              </a:ext>
            </a:extLst>
          </p:cNvPr>
          <p:cNvGrpSpPr/>
          <p:nvPr/>
        </p:nvGrpSpPr>
        <p:grpSpPr>
          <a:xfrm rot="5400000">
            <a:off x="9866414" y="4166526"/>
            <a:ext cx="353858" cy="3205114"/>
            <a:chOff x="7800489" y="2818451"/>
            <a:chExt cx="840658" cy="2492477"/>
          </a:xfrm>
        </p:grpSpPr>
        <p:sp>
          <p:nvSpPr>
            <p:cNvPr id="17" name="二等辺三角形 23">
              <a:extLst>
                <a:ext uri="{FF2B5EF4-FFF2-40B4-BE49-F238E27FC236}">
                  <a16:creationId xmlns:a16="http://schemas.microsoft.com/office/drawing/2014/main" id="{4D638BC3-D6EB-C369-8F06-41F31AB1094A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二等辺三角形 24">
              <a:extLst>
                <a:ext uri="{FF2B5EF4-FFF2-40B4-BE49-F238E27FC236}">
                  <a16:creationId xmlns:a16="http://schemas.microsoft.com/office/drawing/2014/main" id="{6720C1A0-8C65-0CED-28FD-57BEF7172545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45DF8A0C-F77F-DA00-250B-88A0BEF26505}"/>
              </a:ext>
            </a:extLst>
          </p:cNvPr>
          <p:cNvGrpSpPr/>
          <p:nvPr/>
        </p:nvGrpSpPr>
        <p:grpSpPr>
          <a:xfrm rot="5400000">
            <a:off x="8643148" y="4225208"/>
            <a:ext cx="339565" cy="2033518"/>
            <a:chOff x="7800489" y="2818451"/>
            <a:chExt cx="840658" cy="2492477"/>
          </a:xfrm>
        </p:grpSpPr>
        <p:sp>
          <p:nvSpPr>
            <p:cNvPr id="20" name="二等辺三角形 23">
              <a:extLst>
                <a:ext uri="{FF2B5EF4-FFF2-40B4-BE49-F238E27FC236}">
                  <a16:creationId xmlns:a16="http://schemas.microsoft.com/office/drawing/2014/main" id="{345C67FD-E417-F7FB-EA5B-16E93B85B8BD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二等辺三角形 24">
              <a:extLst>
                <a:ext uri="{FF2B5EF4-FFF2-40B4-BE49-F238E27FC236}">
                  <a16:creationId xmlns:a16="http://schemas.microsoft.com/office/drawing/2014/main" id="{A9A971C1-C327-1B98-1A22-2167D02D163F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E6025408-6E19-1D4F-5E28-4A0798C7C1EA}"/>
              </a:ext>
            </a:extLst>
          </p:cNvPr>
          <p:cNvGrpSpPr/>
          <p:nvPr/>
        </p:nvGrpSpPr>
        <p:grpSpPr>
          <a:xfrm rot="5400000">
            <a:off x="8532441" y="3357617"/>
            <a:ext cx="353858" cy="5873061"/>
            <a:chOff x="7800489" y="2818451"/>
            <a:chExt cx="840658" cy="2492477"/>
          </a:xfrm>
        </p:grpSpPr>
        <p:sp>
          <p:nvSpPr>
            <p:cNvPr id="23" name="二等辺三角形 23">
              <a:extLst>
                <a:ext uri="{FF2B5EF4-FFF2-40B4-BE49-F238E27FC236}">
                  <a16:creationId xmlns:a16="http://schemas.microsoft.com/office/drawing/2014/main" id="{2DE3125C-DB43-7B86-4ABD-5EAD1EF631D3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二等辺三角形 24">
              <a:extLst>
                <a:ext uri="{FF2B5EF4-FFF2-40B4-BE49-F238E27FC236}">
                  <a16:creationId xmlns:a16="http://schemas.microsoft.com/office/drawing/2014/main" id="{AB5866F8-5695-9758-EF88-F74CD4CEA10D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" name="コンテンツ プレースホルダー 2">
            <a:extLst>
              <a:ext uri="{FF2B5EF4-FFF2-40B4-BE49-F238E27FC236}">
                <a16:creationId xmlns:a16="http://schemas.microsoft.com/office/drawing/2014/main" id="{678AA56A-228A-B649-3C76-0F576FB09635}"/>
              </a:ext>
            </a:extLst>
          </p:cNvPr>
          <p:cNvSpPr txBox="1">
            <a:spLocks/>
          </p:cNvSpPr>
          <p:nvPr/>
        </p:nvSpPr>
        <p:spPr>
          <a:xfrm>
            <a:off x="546099" y="1038483"/>
            <a:ext cx="4926383" cy="2538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4"/>
              </a:buClr>
              <a:buFont typeface="Wingdings" panose="05000000000000000000" pitchFamily="2" charset="2"/>
              <a:buChar char="l"/>
              <a:defRPr kumimoji="1" sz="20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800100" marR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kumimoji="1" sz="1800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1252538" indent="-338138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6563" indent="-334963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1063" indent="-322263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ja-JP" altLang="en-US"/>
              <a:t>今後の方針</a:t>
            </a:r>
            <a:endParaRPr lang="en-US" altLang="ja-JP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ja-JP" altLang="en-US" b="0"/>
              <a:t>今回構築したモデルで予測された上位のペプチドを合成し、</a:t>
            </a:r>
            <a:r>
              <a:rPr lang="en-US" altLang="ja-JP" b="0" dirty="0"/>
              <a:t>TGR5</a:t>
            </a:r>
            <a:r>
              <a:rPr lang="ja-JP" altLang="en-US" b="0"/>
              <a:t>活性評価を行う。</a:t>
            </a:r>
            <a:endParaRPr lang="en-US" altLang="ja-JP" b="0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ja-JP" altLang="en-US" b="0"/>
              <a:t>そこで得られたデータから解析を行う。</a:t>
            </a:r>
            <a:endParaRPr lang="en-US" altLang="ja-JP" b="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AC86E519-2E6A-4673-31D5-25C968CAA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482" y="1036851"/>
            <a:ext cx="6350000" cy="254000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50FBFF3-1982-6CAD-B28F-A8F66FB930AE}"/>
              </a:ext>
            </a:extLst>
          </p:cNvPr>
          <p:cNvSpPr txBox="1"/>
          <p:nvPr/>
        </p:nvSpPr>
        <p:spPr>
          <a:xfrm>
            <a:off x="6981801" y="3616546"/>
            <a:ext cx="3331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モデルによる予測の上位</a:t>
            </a:r>
            <a:r>
              <a:rPr kumimoji="1" lang="en-US" altLang="ja-JP" dirty="0"/>
              <a:t>10</a:t>
            </a:r>
            <a:r>
              <a:rPr kumimoji="1" lang="ja-JP" altLang="en-US"/>
              <a:t>配列</a:t>
            </a:r>
          </a:p>
        </p:txBody>
      </p:sp>
    </p:spTree>
    <p:extLst>
      <p:ext uri="{BB962C8B-B14F-4D97-AF65-F5344CB8AC3E}">
        <p14:creationId xmlns:p14="http://schemas.microsoft.com/office/powerpoint/2010/main" val="1218632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3B5946-ED6D-089E-C48F-A17D118D0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038484"/>
            <a:ext cx="11099800" cy="4699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kumimoji="1" lang="ja-JP" altLang="en-US"/>
              <a:t>短期予定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1CE3F74-8A89-FDDF-93AC-6086F7A6ED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/>
              <a:t>今後の予定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DB6E4A7A-31E8-F7AB-957A-38C0F4677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677806"/>
              </p:ext>
            </p:extLst>
          </p:nvPr>
        </p:nvGraphicFramePr>
        <p:xfrm>
          <a:off x="546100" y="1480103"/>
          <a:ext cx="11119874" cy="194442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128836">
                  <a:extLst>
                    <a:ext uri="{9D8B030D-6E8A-4147-A177-3AD203B41FA5}">
                      <a16:colId xmlns:a16="http://schemas.microsoft.com/office/drawing/2014/main" val="3371328493"/>
                    </a:ext>
                  </a:extLst>
                </a:gridCol>
                <a:gridCol w="2111604">
                  <a:extLst>
                    <a:ext uri="{9D8B030D-6E8A-4147-A177-3AD203B41FA5}">
                      <a16:colId xmlns:a16="http://schemas.microsoft.com/office/drawing/2014/main" val="2336952824"/>
                    </a:ext>
                  </a:extLst>
                </a:gridCol>
                <a:gridCol w="2055044">
                  <a:extLst>
                    <a:ext uri="{9D8B030D-6E8A-4147-A177-3AD203B41FA5}">
                      <a16:colId xmlns:a16="http://schemas.microsoft.com/office/drawing/2014/main" val="3322159680"/>
                    </a:ext>
                  </a:extLst>
                </a:gridCol>
                <a:gridCol w="1824390">
                  <a:extLst>
                    <a:ext uri="{9D8B030D-6E8A-4147-A177-3AD203B41FA5}">
                      <a16:colId xmlns:a16="http://schemas.microsoft.com/office/drawing/2014/main" val="1025667938"/>
                    </a:ext>
                  </a:extLst>
                </a:gridCol>
              </a:tblGrid>
              <a:tr h="400465"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10/7〜10/4</a:t>
                      </a:r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10/7〜10/11</a:t>
                      </a:r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10/14〜10/19</a:t>
                      </a:r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672014"/>
                  </a:ext>
                </a:extLst>
              </a:tr>
              <a:tr h="482018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/>
                        <a:t>ペプチドアレイ合成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361630"/>
                  </a:ext>
                </a:extLst>
              </a:tr>
              <a:tr h="530970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dirty="0"/>
                        <a:t>TGR5</a:t>
                      </a:r>
                      <a:r>
                        <a:rPr kumimoji="1" lang="ja-JP" altLang="en-US"/>
                        <a:t>活性評価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393681"/>
                  </a:ext>
                </a:extLst>
              </a:tr>
              <a:tr h="530970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/>
                        <a:t>モデルの解析、改善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5299942"/>
                  </a:ext>
                </a:extLst>
              </a:tr>
            </a:tbl>
          </a:graphicData>
        </a:graphic>
      </p:graphicFrame>
      <p:sp>
        <p:nvSpPr>
          <p:cNvPr id="15" name="コンテンツ プレースホルダー 2">
            <a:extLst>
              <a:ext uri="{FF2B5EF4-FFF2-40B4-BE49-F238E27FC236}">
                <a16:creationId xmlns:a16="http://schemas.microsoft.com/office/drawing/2014/main" id="{D0B811FE-8E4F-9370-B4A4-9EF0C74C17BB}"/>
              </a:ext>
            </a:extLst>
          </p:cNvPr>
          <p:cNvSpPr txBox="1">
            <a:spLocks/>
          </p:cNvSpPr>
          <p:nvPr/>
        </p:nvSpPr>
        <p:spPr>
          <a:xfrm>
            <a:off x="546100" y="3598131"/>
            <a:ext cx="11099800" cy="31231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accent4"/>
              </a:buClr>
              <a:buFont typeface="Wingdings" panose="05000000000000000000" pitchFamily="2" charset="2"/>
              <a:buChar char="l"/>
              <a:defRPr kumimoji="1" sz="2000" b="1" kern="1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1pPr>
            <a:lvl2pPr marL="8001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kumimoji="1" sz="1800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1252538" indent="-338138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6563" indent="-3349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1063" indent="-3222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ja-JP" altLang="en-US"/>
              <a:t>長期予定</a:t>
            </a:r>
            <a:endParaRPr lang="en-US" altLang="ja-JP" dirty="0"/>
          </a:p>
          <a:p>
            <a:pPr marL="0" indent="0">
              <a:buFont typeface="Wingdings" panose="05000000000000000000" pitchFamily="2" charset="2"/>
              <a:buNone/>
            </a:pPr>
            <a:endParaRPr lang="en-US" altLang="ja-JP" dirty="0"/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95B5B3D5-8931-E5D6-5DA7-65DBB2E90259}"/>
              </a:ext>
            </a:extLst>
          </p:cNvPr>
          <p:cNvGrpSpPr/>
          <p:nvPr/>
        </p:nvGrpSpPr>
        <p:grpSpPr>
          <a:xfrm rot="5400000">
            <a:off x="9866414" y="1051448"/>
            <a:ext cx="353858" cy="3205114"/>
            <a:chOff x="7800489" y="2818451"/>
            <a:chExt cx="840658" cy="2492477"/>
          </a:xfrm>
        </p:grpSpPr>
        <p:sp>
          <p:nvSpPr>
            <p:cNvPr id="17" name="二等辺三角形 23">
              <a:extLst>
                <a:ext uri="{FF2B5EF4-FFF2-40B4-BE49-F238E27FC236}">
                  <a16:creationId xmlns:a16="http://schemas.microsoft.com/office/drawing/2014/main" id="{4D638BC3-D6EB-C369-8F06-41F31AB1094A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二等辺三角形 24">
              <a:extLst>
                <a:ext uri="{FF2B5EF4-FFF2-40B4-BE49-F238E27FC236}">
                  <a16:creationId xmlns:a16="http://schemas.microsoft.com/office/drawing/2014/main" id="{6720C1A0-8C65-0CED-28FD-57BEF7172545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45DF8A0C-F77F-DA00-250B-88A0BEF26505}"/>
              </a:ext>
            </a:extLst>
          </p:cNvPr>
          <p:cNvGrpSpPr/>
          <p:nvPr/>
        </p:nvGrpSpPr>
        <p:grpSpPr>
          <a:xfrm rot="5400000">
            <a:off x="8643148" y="1110130"/>
            <a:ext cx="339565" cy="2033518"/>
            <a:chOff x="7800489" y="2818451"/>
            <a:chExt cx="840658" cy="2492477"/>
          </a:xfrm>
        </p:grpSpPr>
        <p:sp>
          <p:nvSpPr>
            <p:cNvPr id="20" name="二等辺三角形 23">
              <a:extLst>
                <a:ext uri="{FF2B5EF4-FFF2-40B4-BE49-F238E27FC236}">
                  <a16:creationId xmlns:a16="http://schemas.microsoft.com/office/drawing/2014/main" id="{345C67FD-E417-F7FB-EA5B-16E93B85B8BD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二等辺三角形 24">
              <a:extLst>
                <a:ext uri="{FF2B5EF4-FFF2-40B4-BE49-F238E27FC236}">
                  <a16:creationId xmlns:a16="http://schemas.microsoft.com/office/drawing/2014/main" id="{A9A971C1-C327-1B98-1A22-2167D02D163F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E6025408-6E19-1D4F-5E28-4A0798C7C1EA}"/>
              </a:ext>
            </a:extLst>
          </p:cNvPr>
          <p:cNvGrpSpPr/>
          <p:nvPr/>
        </p:nvGrpSpPr>
        <p:grpSpPr>
          <a:xfrm rot="5400000">
            <a:off x="8532441" y="242539"/>
            <a:ext cx="353858" cy="5873061"/>
            <a:chOff x="7800489" y="2818451"/>
            <a:chExt cx="840658" cy="2492477"/>
          </a:xfrm>
        </p:grpSpPr>
        <p:sp>
          <p:nvSpPr>
            <p:cNvPr id="23" name="二等辺三角形 23">
              <a:extLst>
                <a:ext uri="{FF2B5EF4-FFF2-40B4-BE49-F238E27FC236}">
                  <a16:creationId xmlns:a16="http://schemas.microsoft.com/office/drawing/2014/main" id="{2DE3125C-DB43-7B86-4ABD-5EAD1EF631D3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二等辺三角形 24">
              <a:extLst>
                <a:ext uri="{FF2B5EF4-FFF2-40B4-BE49-F238E27FC236}">
                  <a16:creationId xmlns:a16="http://schemas.microsoft.com/office/drawing/2014/main" id="{AB5866F8-5695-9758-EF88-F74CD4CEA10D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7" name="図 6">
            <a:extLst>
              <a:ext uri="{FF2B5EF4-FFF2-40B4-BE49-F238E27FC236}">
                <a16:creationId xmlns:a16="http://schemas.microsoft.com/office/drawing/2014/main" id="{88E5E6AE-5F59-4964-5028-58077B9D4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7572" y="2854365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781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77C476-F713-B4E0-004F-6F813D794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A5F78EE-4104-ADEB-AA5D-223C92FC4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E940599-6F2D-47D4-D749-812143A935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B85D6AE-4E55-3910-C334-F833742BC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5900" y="1571127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356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3DD9B2-17CD-005B-22BD-59FE12862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388" y="6048519"/>
            <a:ext cx="6820512" cy="698304"/>
          </a:xfrm>
        </p:spPr>
        <p:txBody>
          <a:bodyPr/>
          <a:lstStyle/>
          <a:p>
            <a:endParaRPr kumimoji="1" lang="ja-JP" altLang="en-US"/>
          </a:p>
        </p:txBody>
      </p:sp>
      <p:graphicFrame>
        <p:nvGraphicFramePr>
          <p:cNvPr id="6" name="コンテンツ プレースホルダー 5">
            <a:extLst>
              <a:ext uri="{FF2B5EF4-FFF2-40B4-BE49-F238E27FC236}">
                <a16:creationId xmlns:a16="http://schemas.microsoft.com/office/drawing/2014/main" id="{465F0D65-50BF-928A-2DF1-9B061D4AFE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8326548"/>
              </p:ext>
            </p:extLst>
          </p:nvPr>
        </p:nvGraphicFramePr>
        <p:xfrm>
          <a:off x="546101" y="2486414"/>
          <a:ext cx="4014882" cy="40233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079733">
                  <a:extLst>
                    <a:ext uri="{9D8B030D-6E8A-4147-A177-3AD203B41FA5}">
                      <a16:colId xmlns:a16="http://schemas.microsoft.com/office/drawing/2014/main" val="1611834275"/>
                    </a:ext>
                  </a:extLst>
                </a:gridCol>
                <a:gridCol w="1935149">
                  <a:extLst>
                    <a:ext uri="{9D8B030D-6E8A-4147-A177-3AD203B41FA5}">
                      <a16:colId xmlns:a16="http://schemas.microsoft.com/office/drawing/2014/main" val="2767378147"/>
                    </a:ext>
                  </a:extLst>
                </a:gridCol>
              </a:tblGrid>
              <a:tr h="345938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KCF-S</a:t>
                      </a:r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donor-acceptor</a:t>
                      </a:r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6721764"/>
                  </a:ext>
                </a:extLst>
              </a:tr>
              <a:tr h="345938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WYF 0.155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FFP 0.566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177767"/>
                  </a:ext>
                </a:extLst>
              </a:tr>
              <a:tr h="345938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WYG 0.154</a:t>
                      </a:r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FPF 0.540</a:t>
                      </a:r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583458"/>
                  </a:ext>
                </a:extLst>
              </a:tr>
              <a:tr h="345938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WFY 0.154</a:t>
                      </a:r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WFP 0.536</a:t>
                      </a:r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673213"/>
                  </a:ext>
                </a:extLst>
              </a:tr>
              <a:tr h="345938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WYM 0.153</a:t>
                      </a:r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FIF 0.527</a:t>
                      </a:r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5161901"/>
                  </a:ext>
                </a:extLst>
              </a:tr>
              <a:tr h="345938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WFF 0.153</a:t>
                      </a:r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FWP 0.525</a:t>
                      </a:r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118284"/>
                  </a:ext>
                </a:extLst>
              </a:tr>
              <a:tr h="345938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WYY 0.153</a:t>
                      </a:r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FFM 0.521</a:t>
                      </a:r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31876"/>
                  </a:ext>
                </a:extLst>
              </a:tr>
              <a:tr h="345938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WYA 0.153</a:t>
                      </a:r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FFV 0.520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1606247"/>
                  </a:ext>
                </a:extLst>
              </a:tr>
              <a:tr h="345938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YWG 0.152</a:t>
                      </a:r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FLF 0.519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3338947"/>
                  </a:ext>
                </a:extLst>
              </a:tr>
              <a:tr h="345938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WFG 0.152</a:t>
                      </a:r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FFI 0.516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908493"/>
                  </a:ext>
                </a:extLst>
              </a:tr>
              <a:tr h="345938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WYV 0.152</a:t>
                      </a:r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FFL 0.516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069804"/>
                  </a:ext>
                </a:extLst>
              </a:tr>
            </a:tbl>
          </a:graphicData>
        </a:graphic>
      </p:graphicFrame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CBE2CB3-DAE9-E245-E37F-B25A082D3C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/>
              <a:t>合成するペプチドの検討</a:t>
            </a:r>
          </a:p>
        </p:txBody>
      </p:sp>
      <p:pic>
        <p:nvPicPr>
          <p:cNvPr id="5" name="図 4" descr="図形, 多角形&#10;&#10;自動的に生成された説明">
            <a:extLst>
              <a:ext uri="{FF2B5EF4-FFF2-40B4-BE49-F238E27FC236}">
                <a16:creationId xmlns:a16="http://schemas.microsoft.com/office/drawing/2014/main" id="{82423BF5-9A4C-A0D2-A42F-D2605FA600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345" y="975740"/>
            <a:ext cx="1470598" cy="144038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02B010F-983D-FA82-7AC1-396ED154925F}"/>
              </a:ext>
            </a:extLst>
          </p:cNvPr>
          <p:cNvSpPr txBox="1"/>
          <p:nvPr/>
        </p:nvSpPr>
        <p:spPr>
          <a:xfrm>
            <a:off x="554516" y="1179854"/>
            <a:ext cx="6103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1" dirty="0">
                <a:effectLst/>
              </a:rPr>
              <a:t>2-Aryl-3-aminomethylquinolines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404243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C9FBA14-A123-0EE7-309F-AC17DCDA23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" altLang="ja-JP" b="1" dirty="0" err="1"/>
              <a:t>Nipecotamide</a:t>
            </a:r>
            <a:r>
              <a:rPr lang="ja-JP" altLang="en-US" b="1">
                <a:effectLst/>
              </a:rPr>
              <a:t>の構造相関</a:t>
            </a:r>
            <a:endParaRPr kumimoji="1" lang="ja-JP" altLang="en-US"/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48EE83C9-EB23-ACC0-5C4B-15285922CD6F}"/>
              </a:ext>
            </a:extLst>
          </p:cNvPr>
          <p:cNvSpPr txBox="1">
            <a:spLocks/>
          </p:cNvSpPr>
          <p:nvPr/>
        </p:nvSpPr>
        <p:spPr>
          <a:xfrm>
            <a:off x="546100" y="1038484"/>
            <a:ext cx="11099800" cy="469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accent4"/>
              </a:buClr>
              <a:buFont typeface="Wingdings" panose="05000000000000000000" pitchFamily="2" charset="2"/>
              <a:buChar char="l"/>
              <a:defRPr kumimoji="1" sz="2000" b="1" kern="1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1pPr>
            <a:lvl2pPr marL="8001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kumimoji="1" sz="1800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1252538" indent="-338138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6563" indent="-3349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1063" indent="-3222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ja-JP" altLang="en-US"/>
              <a:t>各フィンガープリント手法で類似度の高かった上位</a:t>
            </a:r>
            <a:r>
              <a:rPr lang="en-US" altLang="ja-JP" dirty="0"/>
              <a:t> 9 </a:t>
            </a:r>
            <a:r>
              <a:rPr lang="ja-JP" altLang="en-US"/>
              <a:t>配列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2AD425F-C8F4-6F61-F3E3-4CA803CE43FD}"/>
              </a:ext>
            </a:extLst>
          </p:cNvPr>
          <p:cNvSpPr txBox="1"/>
          <p:nvPr/>
        </p:nvSpPr>
        <p:spPr>
          <a:xfrm>
            <a:off x="526025" y="1750848"/>
            <a:ext cx="9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Yu Gothic" panose="020B0400000000000000" pitchFamily="34" charset="-128"/>
                <a:ea typeface="Yu Gothic" panose="020B0400000000000000" pitchFamily="34" charset="-128"/>
              </a:rPr>
              <a:t>KCF-S</a:t>
            </a:r>
            <a:endParaRPr kumimoji="1" lang="ja-JP" altLang="en-US" b="1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DC00E6B-F936-F5E7-76F5-7BAE7B189013}"/>
              </a:ext>
            </a:extLst>
          </p:cNvPr>
          <p:cNvSpPr txBox="1"/>
          <p:nvPr/>
        </p:nvSpPr>
        <p:spPr>
          <a:xfrm>
            <a:off x="7434886" y="1750848"/>
            <a:ext cx="2776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/>
              <a:t>ドナーアクセプターペア</a:t>
            </a:r>
          </a:p>
        </p:txBody>
      </p:sp>
      <p:pic>
        <p:nvPicPr>
          <p:cNvPr id="3" name="図 2" descr="図形, 多角形&#10;&#10;自動的に生成された説明">
            <a:extLst>
              <a:ext uri="{FF2B5EF4-FFF2-40B4-BE49-F238E27FC236}">
                <a16:creationId xmlns:a16="http://schemas.microsoft.com/office/drawing/2014/main" id="{41F933D8-9A22-F9A3-0108-89C0C3F654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8899" y="3033022"/>
            <a:ext cx="1854200" cy="1816100"/>
          </a:xfrm>
          <a:prstGeom prst="rect">
            <a:avLst/>
          </a:prstGeom>
        </p:spPr>
      </p:pic>
      <p:pic>
        <p:nvPicPr>
          <p:cNvPr id="7" name="図 6" descr="ロゴ, 会社名&#10;&#10;自動的に生成された説明">
            <a:extLst>
              <a:ext uri="{FF2B5EF4-FFF2-40B4-BE49-F238E27FC236}">
                <a16:creationId xmlns:a16="http://schemas.microsoft.com/office/drawing/2014/main" id="{68F66903-F104-356A-7C8B-3A1610443B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" y="2156220"/>
            <a:ext cx="4211015" cy="4211015"/>
          </a:xfrm>
          <a:prstGeom prst="rect">
            <a:avLst/>
          </a:prstGeom>
        </p:spPr>
      </p:pic>
      <p:pic>
        <p:nvPicPr>
          <p:cNvPr id="17" name="図 16" descr="ロゴ, 会社名&#10;&#10;自動的に生成された説明">
            <a:extLst>
              <a:ext uri="{FF2B5EF4-FFF2-40B4-BE49-F238E27FC236}">
                <a16:creationId xmlns:a16="http://schemas.microsoft.com/office/drawing/2014/main" id="{D5B99C9D-1444-C446-953D-515BC6555F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482" y="2192260"/>
            <a:ext cx="4476418" cy="4174975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C57605-070A-7BAA-3625-0F901CF977F2}"/>
              </a:ext>
            </a:extLst>
          </p:cNvPr>
          <p:cNvSpPr/>
          <p:nvPr/>
        </p:nvSpPr>
        <p:spPr>
          <a:xfrm>
            <a:off x="10520855" y="378372"/>
            <a:ext cx="1555531" cy="4414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Supplement</a:t>
            </a:r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54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C9FBA14-A123-0EE7-309F-AC17DCDA23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 altLang="ja-JP" b="1" dirty="0">
                <a:effectLst/>
              </a:rPr>
              <a:t>2-Aryl-3-aminomethylquinolines</a:t>
            </a:r>
            <a:r>
              <a:rPr lang="ja-JP" altLang="en-US" b="1">
                <a:effectLst/>
              </a:rPr>
              <a:t>の構造相関</a:t>
            </a:r>
            <a:endParaRPr kumimoji="1" lang="ja-JP" altLang="en-US"/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48EE83C9-EB23-ACC0-5C4B-15285922CD6F}"/>
              </a:ext>
            </a:extLst>
          </p:cNvPr>
          <p:cNvSpPr txBox="1">
            <a:spLocks/>
          </p:cNvSpPr>
          <p:nvPr/>
        </p:nvSpPr>
        <p:spPr>
          <a:xfrm>
            <a:off x="546100" y="1038484"/>
            <a:ext cx="11099800" cy="469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accent4"/>
              </a:buClr>
              <a:buFont typeface="Wingdings" panose="05000000000000000000" pitchFamily="2" charset="2"/>
              <a:buChar char="l"/>
              <a:defRPr kumimoji="1" sz="2000" b="1" kern="1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1pPr>
            <a:lvl2pPr marL="8001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kumimoji="1" sz="1800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1252538" indent="-338138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6563" indent="-3349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1063" indent="-3222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ja-JP" altLang="en-US"/>
              <a:t>各フィンガープリント手法で類似度の高かった上位</a:t>
            </a:r>
            <a:r>
              <a:rPr lang="en-US" altLang="ja-JP" dirty="0"/>
              <a:t> 9 </a:t>
            </a:r>
            <a:r>
              <a:rPr lang="ja-JP" altLang="en-US"/>
              <a:t>配列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2AD425F-C8F4-6F61-F3E3-4CA803CE43FD}"/>
              </a:ext>
            </a:extLst>
          </p:cNvPr>
          <p:cNvSpPr txBox="1"/>
          <p:nvPr/>
        </p:nvSpPr>
        <p:spPr>
          <a:xfrm>
            <a:off x="526025" y="1750848"/>
            <a:ext cx="9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Yu Gothic" panose="020B0400000000000000" pitchFamily="34" charset="-128"/>
                <a:ea typeface="Yu Gothic" panose="020B0400000000000000" pitchFamily="34" charset="-128"/>
              </a:rPr>
              <a:t>KCF-S</a:t>
            </a:r>
            <a:endParaRPr kumimoji="1" lang="ja-JP" altLang="en-US" b="1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DC00E6B-F936-F5E7-76F5-7BAE7B189013}"/>
              </a:ext>
            </a:extLst>
          </p:cNvPr>
          <p:cNvSpPr txBox="1"/>
          <p:nvPr/>
        </p:nvSpPr>
        <p:spPr>
          <a:xfrm>
            <a:off x="7434886" y="1750848"/>
            <a:ext cx="2776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/>
              <a:t>ドナーアクセプターペア</a:t>
            </a:r>
          </a:p>
        </p:txBody>
      </p:sp>
      <p:pic>
        <p:nvPicPr>
          <p:cNvPr id="5" name="図 4" descr="ロゴ, 会社名&#10;&#10;自動的に生成された説明">
            <a:extLst>
              <a:ext uri="{FF2B5EF4-FFF2-40B4-BE49-F238E27FC236}">
                <a16:creationId xmlns:a16="http://schemas.microsoft.com/office/drawing/2014/main" id="{0DA3DDDE-539B-1408-7091-544E7BDCF2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886" y="2146083"/>
            <a:ext cx="4211013" cy="4211013"/>
          </a:xfrm>
          <a:prstGeom prst="rect">
            <a:avLst/>
          </a:prstGeom>
        </p:spPr>
      </p:pic>
      <p:pic>
        <p:nvPicPr>
          <p:cNvPr id="8" name="図 7" descr="ダイアグラム が含まれている画像&#10;&#10;自動的に生成された説明">
            <a:extLst>
              <a:ext uri="{FF2B5EF4-FFF2-40B4-BE49-F238E27FC236}">
                <a16:creationId xmlns:a16="http://schemas.microsoft.com/office/drawing/2014/main" id="{63890A0F-C0CE-98BB-E3D4-61FB739545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499" y="2944122"/>
            <a:ext cx="1905000" cy="1905000"/>
          </a:xfrm>
          <a:prstGeom prst="rect">
            <a:avLst/>
          </a:prstGeom>
        </p:spPr>
      </p:pic>
      <p:pic>
        <p:nvPicPr>
          <p:cNvPr id="10" name="図 9" descr="ロゴ, 会社名&#10;&#10;自動的に生成された説明">
            <a:extLst>
              <a:ext uri="{FF2B5EF4-FFF2-40B4-BE49-F238E27FC236}">
                <a16:creationId xmlns:a16="http://schemas.microsoft.com/office/drawing/2014/main" id="{F52B296C-74EC-BFFF-538B-C743B7C9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099" y="2146083"/>
            <a:ext cx="4211013" cy="4211013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12D9703-9B4F-C5CB-E794-30D6E0623197}"/>
              </a:ext>
            </a:extLst>
          </p:cNvPr>
          <p:cNvSpPr/>
          <p:nvPr/>
        </p:nvSpPr>
        <p:spPr>
          <a:xfrm>
            <a:off x="10520855" y="378372"/>
            <a:ext cx="1555531" cy="4414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Supplement</a:t>
            </a:r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5426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8F5410E-37F1-F568-79FE-4157C5EC0F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ja-JP" altLang="en-US"/>
              <a:t>目次</a:t>
            </a:r>
            <a:endParaRPr kumimoji="1" lang="ja-JP" altLang="en-US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AE78148A-2EC5-B4DA-81A9-5574F953E282}"/>
              </a:ext>
            </a:extLst>
          </p:cNvPr>
          <p:cNvGrpSpPr/>
          <p:nvPr/>
        </p:nvGrpSpPr>
        <p:grpSpPr>
          <a:xfrm>
            <a:off x="2891500" y="2622140"/>
            <a:ext cx="6408999" cy="1613720"/>
            <a:chOff x="3212342" y="2940079"/>
            <a:chExt cx="6408999" cy="1613720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AD970EA2-D8D6-C88C-90D5-50A2A75A5331}"/>
                </a:ext>
              </a:extLst>
            </p:cNvPr>
            <p:cNvSpPr txBox="1"/>
            <p:nvPr/>
          </p:nvSpPr>
          <p:spPr>
            <a:xfrm>
              <a:off x="3212342" y="2940079"/>
              <a:ext cx="425456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800" u="sng" dirty="0"/>
                <a:t>1. TGR5</a:t>
              </a:r>
              <a:r>
                <a:rPr kumimoji="1" lang="ja-JP" altLang="en-US" sz="2800" u="sng"/>
                <a:t>活性評価系の改善</a:t>
              </a: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D069B13F-41CF-DC6B-6CEB-AF79023C36A9}"/>
                </a:ext>
              </a:extLst>
            </p:cNvPr>
            <p:cNvSpPr txBox="1"/>
            <p:nvPr/>
          </p:nvSpPr>
          <p:spPr>
            <a:xfrm>
              <a:off x="3212342" y="4030579"/>
              <a:ext cx="640899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2. TGR5</a:t>
              </a:r>
              <a:r>
                <a:rPr lang="ja-JP" altLang="en-US" sz="280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アゴニスト類似ペプチドの探索</a:t>
              </a:r>
              <a:endParaRPr kumimoji="1" lang="ja-JP" altLang="en-US" sz="2800">
                <a:solidFill>
                  <a:schemeClr val="tx1">
                    <a:lumMod val="60000"/>
                    <a:lumOff val="4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300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573968E-BF17-4017-AA59-5326CD607C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/>
              <a:t>素材集</a:t>
            </a:r>
          </a:p>
        </p:txBody>
      </p:sp>
      <p:pic>
        <p:nvPicPr>
          <p:cNvPr id="16" name="図 15" descr="巣蜜, 建物, ミラー が含まれている画像&#10;&#10;自動的に生成された説明">
            <a:extLst>
              <a:ext uri="{FF2B5EF4-FFF2-40B4-BE49-F238E27FC236}">
                <a16:creationId xmlns:a16="http://schemas.microsoft.com/office/drawing/2014/main" id="{1D2721EE-CDF6-2723-5F42-7A778A6E52A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222" y="1459222"/>
            <a:ext cx="1587500" cy="939800"/>
          </a:xfrm>
          <a:prstGeom prst="rect">
            <a:avLst/>
          </a:prstGeom>
        </p:spPr>
      </p:pic>
      <p:pic>
        <p:nvPicPr>
          <p:cNvPr id="18" name="図 17" descr="図形, 矢印&#10;&#10;自動的に生成された説明">
            <a:extLst>
              <a:ext uri="{FF2B5EF4-FFF2-40B4-BE49-F238E27FC236}">
                <a16:creationId xmlns:a16="http://schemas.microsoft.com/office/drawing/2014/main" id="{EC0A1FA9-5D5B-58B5-1E97-DE2015A4BF8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7611" y="2466286"/>
            <a:ext cx="492637" cy="469900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C5FF0AA2-CB5C-D0DD-F01B-9F662F52292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1227" y="2914574"/>
            <a:ext cx="513124" cy="1026247"/>
          </a:xfrm>
          <a:prstGeom prst="rect">
            <a:avLst/>
          </a:prstGeom>
        </p:spPr>
      </p:pic>
      <p:pic>
        <p:nvPicPr>
          <p:cNvPr id="22" name="図 21" descr="背景パターン&#10;&#10;自動的に生成された説明">
            <a:extLst>
              <a:ext uri="{FF2B5EF4-FFF2-40B4-BE49-F238E27FC236}">
                <a16:creationId xmlns:a16="http://schemas.microsoft.com/office/drawing/2014/main" id="{5434239A-8B98-543D-152A-8C832CF2FE6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0182" y="1876690"/>
            <a:ext cx="676214" cy="1983054"/>
          </a:xfrm>
          <a:prstGeom prst="rect">
            <a:avLst/>
          </a:prstGeom>
        </p:spPr>
      </p:pic>
      <p:pic>
        <p:nvPicPr>
          <p:cNvPr id="26" name="図 25" descr="ダイアグラム&#10;&#10;低い精度で自動的に生成された説明">
            <a:extLst>
              <a:ext uri="{FF2B5EF4-FFF2-40B4-BE49-F238E27FC236}">
                <a16:creationId xmlns:a16="http://schemas.microsoft.com/office/drawing/2014/main" id="{A51E6FAD-F4B6-D44D-3059-D5006F095FA9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64" y="1067113"/>
            <a:ext cx="2305783" cy="1611569"/>
          </a:xfrm>
          <a:prstGeom prst="rect">
            <a:avLst/>
          </a:prstGeom>
        </p:spPr>
      </p:pic>
      <p:pic>
        <p:nvPicPr>
          <p:cNvPr id="28" name="図 27" descr="洗面道具 が含まれている画像&#10;&#10;自動的に生成された説明">
            <a:extLst>
              <a:ext uri="{FF2B5EF4-FFF2-40B4-BE49-F238E27FC236}">
                <a16:creationId xmlns:a16="http://schemas.microsoft.com/office/drawing/2014/main" id="{B4245E6D-394C-C910-C428-32CB856ED7C4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7433" y="1157008"/>
            <a:ext cx="2209434" cy="1544228"/>
          </a:xfrm>
          <a:prstGeom prst="rect">
            <a:avLst/>
          </a:prstGeom>
        </p:spPr>
      </p:pic>
      <p:pic>
        <p:nvPicPr>
          <p:cNvPr id="30" name="図 29" descr="ダイアグラム&#10;&#10;自動的に生成された説明">
            <a:extLst>
              <a:ext uri="{FF2B5EF4-FFF2-40B4-BE49-F238E27FC236}">
                <a16:creationId xmlns:a16="http://schemas.microsoft.com/office/drawing/2014/main" id="{F7BB396B-089F-6019-752C-C7EF107744DD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74" y="2914574"/>
            <a:ext cx="2391961" cy="1802276"/>
          </a:xfrm>
          <a:prstGeom prst="rect">
            <a:avLst/>
          </a:prstGeom>
        </p:spPr>
      </p:pic>
      <p:pic>
        <p:nvPicPr>
          <p:cNvPr id="32" name="図 31" descr="洗面道具 が含まれている画像&#10;&#10;自動的に生成された説明">
            <a:extLst>
              <a:ext uri="{FF2B5EF4-FFF2-40B4-BE49-F238E27FC236}">
                <a16:creationId xmlns:a16="http://schemas.microsoft.com/office/drawing/2014/main" id="{983C9901-2A7E-0A6B-4270-306CF53D1F17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806" y="2630557"/>
            <a:ext cx="2391961" cy="1802276"/>
          </a:xfrm>
          <a:prstGeom prst="rect">
            <a:avLst/>
          </a:prstGeom>
        </p:spPr>
      </p:pic>
      <p:pic>
        <p:nvPicPr>
          <p:cNvPr id="3" name="図 2" descr="図形, 円&#10;&#10;自動的に生成された説明">
            <a:extLst>
              <a:ext uri="{FF2B5EF4-FFF2-40B4-BE49-F238E27FC236}">
                <a16:creationId xmlns:a16="http://schemas.microsoft.com/office/drawing/2014/main" id="{AE5E1DC3-04D7-8A10-2314-17AE2BED30F6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972" y="5369457"/>
            <a:ext cx="1587500" cy="1140317"/>
          </a:xfrm>
          <a:prstGeom prst="rect">
            <a:avLst/>
          </a:prstGeom>
        </p:spPr>
      </p:pic>
      <p:sp>
        <p:nvSpPr>
          <p:cNvPr id="2" name="山形 1">
            <a:extLst>
              <a:ext uri="{FF2B5EF4-FFF2-40B4-BE49-F238E27FC236}">
                <a16:creationId xmlns:a16="http://schemas.microsoft.com/office/drawing/2014/main" id="{57F379B0-6B86-480F-CE5C-EE6CD4B817E1}"/>
              </a:ext>
            </a:extLst>
          </p:cNvPr>
          <p:cNvSpPr/>
          <p:nvPr/>
        </p:nvSpPr>
        <p:spPr>
          <a:xfrm>
            <a:off x="9513843" y="4501678"/>
            <a:ext cx="263384" cy="332252"/>
          </a:xfrm>
          <a:prstGeom prst="chevron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4"/>
              </a:solidFill>
            </a:endParaRPr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A8C07547-E8E0-D81E-39D1-0781AFCBA57A}"/>
              </a:ext>
            </a:extLst>
          </p:cNvPr>
          <p:cNvSpPr>
            <a:spLocks noChangeAspect="1"/>
          </p:cNvSpPr>
          <p:nvPr/>
        </p:nvSpPr>
        <p:spPr>
          <a:xfrm>
            <a:off x="7468688" y="1323193"/>
            <a:ext cx="144000" cy="144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円/楕円 5">
            <a:extLst>
              <a:ext uri="{FF2B5EF4-FFF2-40B4-BE49-F238E27FC236}">
                <a16:creationId xmlns:a16="http://schemas.microsoft.com/office/drawing/2014/main" id="{13DF3B36-46D7-5F19-E254-C48487CB4B47}"/>
              </a:ext>
            </a:extLst>
          </p:cNvPr>
          <p:cNvSpPr>
            <a:spLocks noChangeAspect="1"/>
          </p:cNvSpPr>
          <p:nvPr/>
        </p:nvSpPr>
        <p:spPr>
          <a:xfrm>
            <a:off x="7563454" y="1234974"/>
            <a:ext cx="144000" cy="144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36048A23-EDC5-A5E2-B44A-F263FDB892BE}"/>
              </a:ext>
            </a:extLst>
          </p:cNvPr>
          <p:cNvSpPr>
            <a:spLocks noChangeAspect="1"/>
          </p:cNvSpPr>
          <p:nvPr/>
        </p:nvSpPr>
        <p:spPr>
          <a:xfrm>
            <a:off x="7695938" y="1267412"/>
            <a:ext cx="144000" cy="144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58A7EAF2-E71F-BBD9-A258-2710F568D617}"/>
              </a:ext>
            </a:extLst>
          </p:cNvPr>
          <p:cNvSpPr>
            <a:spLocks noChangeAspect="1"/>
          </p:cNvSpPr>
          <p:nvPr/>
        </p:nvSpPr>
        <p:spPr>
          <a:xfrm>
            <a:off x="7801941" y="1172785"/>
            <a:ext cx="144000" cy="144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/楕円 8">
            <a:extLst>
              <a:ext uri="{FF2B5EF4-FFF2-40B4-BE49-F238E27FC236}">
                <a16:creationId xmlns:a16="http://schemas.microsoft.com/office/drawing/2014/main" id="{FC24DCA8-5AAC-9E8B-8AB5-4C9BF49FF420}"/>
              </a:ext>
            </a:extLst>
          </p:cNvPr>
          <p:cNvSpPr>
            <a:spLocks noChangeAspect="1"/>
          </p:cNvSpPr>
          <p:nvPr/>
        </p:nvSpPr>
        <p:spPr>
          <a:xfrm>
            <a:off x="7931468" y="1201821"/>
            <a:ext cx="144000" cy="144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>
            <a:extLst>
              <a:ext uri="{FF2B5EF4-FFF2-40B4-BE49-F238E27FC236}">
                <a16:creationId xmlns:a16="http://schemas.microsoft.com/office/drawing/2014/main" id="{DCCD1A78-C6EB-F0B0-FEBB-5484AB3D0051}"/>
              </a:ext>
            </a:extLst>
          </p:cNvPr>
          <p:cNvSpPr>
            <a:spLocks noChangeAspect="1"/>
          </p:cNvSpPr>
          <p:nvPr/>
        </p:nvSpPr>
        <p:spPr>
          <a:xfrm>
            <a:off x="8037471" y="1112655"/>
            <a:ext cx="144000" cy="144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図 10" descr="電子機器, コンパクトディスク が含まれている画像&#10;&#10;自動的に生成された説明">
            <a:extLst>
              <a:ext uri="{FF2B5EF4-FFF2-40B4-BE49-F238E27FC236}">
                <a16:creationId xmlns:a16="http://schemas.microsoft.com/office/drawing/2014/main" id="{9B2CB778-4614-47B1-AFA0-EC1FF608483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28" t="3148" r="3607" b="3180"/>
          <a:stretch/>
        </p:blipFill>
        <p:spPr>
          <a:xfrm>
            <a:off x="4412197" y="4833930"/>
            <a:ext cx="1572768" cy="1323144"/>
          </a:xfrm>
          <a:prstGeom prst="rect">
            <a:avLst/>
          </a:prstGeom>
        </p:spPr>
      </p:pic>
      <p:pic>
        <p:nvPicPr>
          <p:cNvPr id="12" name="図 11" descr="アイコン&#10;&#10;自動的に生成された説明">
            <a:extLst>
              <a:ext uri="{FF2B5EF4-FFF2-40B4-BE49-F238E27FC236}">
                <a16:creationId xmlns:a16="http://schemas.microsoft.com/office/drawing/2014/main" id="{B4CB8EA3-D32E-96DF-9C95-69D5C39CF3EA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9" t="5254" r="3904" b="4055"/>
          <a:stretch/>
        </p:blipFill>
        <p:spPr>
          <a:xfrm>
            <a:off x="2427575" y="4909277"/>
            <a:ext cx="1499615" cy="125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980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BAE509-1F5F-44D7-895B-AADA5EB01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寸法や色は場合に応じて調整しましょう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DCA4200-D082-429B-A7B9-20EDE7036B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 dirty="0"/>
              <a:t>よく使う図形のパターン</a:t>
            </a: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1600F27F-842D-4A09-9876-4F4D6FED49D4}"/>
              </a:ext>
            </a:extLst>
          </p:cNvPr>
          <p:cNvGrpSpPr/>
          <p:nvPr/>
        </p:nvGrpSpPr>
        <p:grpSpPr>
          <a:xfrm rot="3516666">
            <a:off x="1083666" y="2853387"/>
            <a:ext cx="1201975" cy="1567649"/>
            <a:chOff x="2664127" y="3374455"/>
            <a:chExt cx="1201975" cy="1567649"/>
          </a:xfrm>
        </p:grpSpPr>
        <p:sp>
          <p:nvSpPr>
            <p:cNvPr id="5" name="二等辺三角形 4">
              <a:extLst>
                <a:ext uri="{FF2B5EF4-FFF2-40B4-BE49-F238E27FC236}">
                  <a16:creationId xmlns:a16="http://schemas.microsoft.com/office/drawing/2014/main" id="{031DCB67-E3C0-40A6-82FC-F3A99614C50C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8F1F7A27-5455-4318-B9EB-F5DC2E371C80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A84CB4AB-8E74-474F-8F79-B603B9235B46}"/>
              </a:ext>
            </a:extLst>
          </p:cNvPr>
          <p:cNvGrpSpPr/>
          <p:nvPr/>
        </p:nvGrpSpPr>
        <p:grpSpPr>
          <a:xfrm>
            <a:off x="3762700" y="2453659"/>
            <a:ext cx="851900" cy="2201196"/>
            <a:chOff x="4004187" y="2684206"/>
            <a:chExt cx="851900" cy="2201196"/>
          </a:xfrm>
        </p:grpSpPr>
        <p:sp>
          <p:nvSpPr>
            <p:cNvPr id="16" name="二等辺三角形 15">
              <a:extLst>
                <a:ext uri="{FF2B5EF4-FFF2-40B4-BE49-F238E27FC236}">
                  <a16:creationId xmlns:a16="http://schemas.microsoft.com/office/drawing/2014/main" id="{77F25128-43F7-4D7B-A506-7861040EA63C}"/>
                </a:ext>
              </a:extLst>
            </p:cNvPr>
            <p:cNvSpPr/>
            <p:nvPr/>
          </p:nvSpPr>
          <p:spPr>
            <a:xfrm>
              <a:off x="4004187" y="2684206"/>
              <a:ext cx="851900" cy="405581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二等辺三角形 16">
              <a:extLst>
                <a:ext uri="{FF2B5EF4-FFF2-40B4-BE49-F238E27FC236}">
                  <a16:creationId xmlns:a16="http://schemas.microsoft.com/office/drawing/2014/main" id="{425DA271-AEFA-45AB-AD52-737DB7EF67C8}"/>
                </a:ext>
              </a:extLst>
            </p:cNvPr>
            <p:cNvSpPr/>
            <p:nvPr/>
          </p:nvSpPr>
          <p:spPr>
            <a:xfrm rot="10800000">
              <a:off x="4172039" y="4653111"/>
              <a:ext cx="516194" cy="232291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台形 17">
              <a:extLst>
                <a:ext uri="{FF2B5EF4-FFF2-40B4-BE49-F238E27FC236}">
                  <a16:creationId xmlns:a16="http://schemas.microsoft.com/office/drawing/2014/main" id="{0BE03671-A77A-4398-9395-69D34E2C8634}"/>
                </a:ext>
              </a:extLst>
            </p:cNvPr>
            <p:cNvSpPr/>
            <p:nvPr/>
          </p:nvSpPr>
          <p:spPr>
            <a:xfrm rot="10800000">
              <a:off x="4274402" y="3082408"/>
              <a:ext cx="311469" cy="1570703"/>
            </a:xfrm>
            <a:prstGeom prst="trapezoid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53DA5DF4-9734-4A8B-B3F2-EB432821614A}"/>
              </a:ext>
            </a:extLst>
          </p:cNvPr>
          <p:cNvGrpSpPr/>
          <p:nvPr/>
        </p:nvGrpSpPr>
        <p:grpSpPr>
          <a:xfrm>
            <a:off x="5262743" y="3209365"/>
            <a:ext cx="2359742" cy="1445491"/>
            <a:chOff x="4837472" y="2490841"/>
            <a:chExt cx="2359742" cy="1445491"/>
          </a:xfrm>
        </p:grpSpPr>
        <p:sp>
          <p:nvSpPr>
            <p:cNvPr id="20" name="四角形: 角を丸くする 19">
              <a:extLst>
                <a:ext uri="{FF2B5EF4-FFF2-40B4-BE49-F238E27FC236}">
                  <a16:creationId xmlns:a16="http://schemas.microsoft.com/office/drawing/2014/main" id="{161AF5DB-A2D8-495C-B795-7003573DFCCF}"/>
                </a:ext>
              </a:extLst>
            </p:cNvPr>
            <p:cNvSpPr/>
            <p:nvPr/>
          </p:nvSpPr>
          <p:spPr>
            <a:xfrm>
              <a:off x="4837472" y="2490841"/>
              <a:ext cx="2359742" cy="938159"/>
            </a:xfrm>
            <a:prstGeom prst="roundRect">
              <a:avLst>
                <a:gd name="adj" fmla="val 10379"/>
              </a:avLst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2" name="二等辺三角形 21">
              <a:extLst>
                <a:ext uri="{FF2B5EF4-FFF2-40B4-BE49-F238E27FC236}">
                  <a16:creationId xmlns:a16="http://schemas.microsoft.com/office/drawing/2014/main" id="{C811F06F-2D36-4904-A2A9-7CD991856DA0}"/>
                </a:ext>
              </a:extLst>
            </p:cNvPr>
            <p:cNvSpPr/>
            <p:nvPr/>
          </p:nvSpPr>
          <p:spPr>
            <a:xfrm rot="11901755">
              <a:off x="4948538" y="3335420"/>
              <a:ext cx="213186" cy="600912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12B12945-4562-4CBA-BD30-EF9F8726FCD9}"/>
              </a:ext>
            </a:extLst>
          </p:cNvPr>
          <p:cNvGrpSpPr/>
          <p:nvPr/>
        </p:nvGrpSpPr>
        <p:grpSpPr>
          <a:xfrm>
            <a:off x="2672807" y="2453659"/>
            <a:ext cx="840658" cy="2492477"/>
            <a:chOff x="7800489" y="2818451"/>
            <a:chExt cx="840658" cy="2492477"/>
          </a:xfrm>
        </p:grpSpPr>
        <p:sp>
          <p:nvSpPr>
            <p:cNvPr id="24" name="二等辺三角形 23">
              <a:extLst>
                <a:ext uri="{FF2B5EF4-FFF2-40B4-BE49-F238E27FC236}">
                  <a16:creationId xmlns:a16="http://schemas.microsoft.com/office/drawing/2014/main" id="{5972915F-3F25-4048-8F16-22D7D6656CAA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二等辺三角形 24">
              <a:extLst>
                <a:ext uri="{FF2B5EF4-FFF2-40B4-BE49-F238E27FC236}">
                  <a16:creationId xmlns:a16="http://schemas.microsoft.com/office/drawing/2014/main" id="{FC3592AF-4DD9-481B-AE7D-C444443CA44E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E692BBDB-6806-49B7-9241-7D2B547F185E}"/>
              </a:ext>
            </a:extLst>
          </p:cNvPr>
          <p:cNvCxnSpPr>
            <a:cxnSpLocks/>
          </p:cNvCxnSpPr>
          <p:nvPr/>
        </p:nvCxnSpPr>
        <p:spPr>
          <a:xfrm flipV="1">
            <a:off x="7466643" y="2683751"/>
            <a:ext cx="525780" cy="791898"/>
          </a:xfrm>
          <a:prstGeom prst="line">
            <a:avLst/>
          </a:prstGeom>
          <a:ln>
            <a:headEnd type="oval" w="lg" len="lg"/>
          </a:ln>
          <a:effectLst>
            <a:glow rad="88900">
              <a:srgbClr val="FFFFFF">
                <a:alpha val="87000"/>
              </a:srgbClr>
            </a:glo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楕円 28">
            <a:extLst>
              <a:ext uri="{FF2B5EF4-FFF2-40B4-BE49-F238E27FC236}">
                <a16:creationId xmlns:a16="http://schemas.microsoft.com/office/drawing/2014/main" id="{602DA899-F613-4B35-A569-DACF6D76EEA5}"/>
              </a:ext>
            </a:extLst>
          </p:cNvPr>
          <p:cNvSpPr/>
          <p:nvPr/>
        </p:nvSpPr>
        <p:spPr>
          <a:xfrm>
            <a:off x="7831288" y="2120241"/>
            <a:ext cx="648000" cy="64800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1</a:t>
            </a:r>
            <a:endParaRPr kumimoji="1" lang="ja-JP" altLang="en-US" sz="28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D97239CB-D2F7-464C-85F9-58EE17B7D302}"/>
              </a:ext>
            </a:extLst>
          </p:cNvPr>
          <p:cNvGrpSpPr/>
          <p:nvPr/>
        </p:nvGrpSpPr>
        <p:grpSpPr>
          <a:xfrm>
            <a:off x="1308118" y="4654856"/>
            <a:ext cx="938304" cy="840658"/>
            <a:chOff x="1572269" y="4816089"/>
            <a:chExt cx="938304" cy="840658"/>
          </a:xfrm>
        </p:grpSpPr>
        <p:sp>
          <p:nvSpPr>
            <p:cNvPr id="27" name="二等辺三角形 26">
              <a:extLst>
                <a:ext uri="{FF2B5EF4-FFF2-40B4-BE49-F238E27FC236}">
                  <a16:creationId xmlns:a16="http://schemas.microsoft.com/office/drawing/2014/main" id="{3B6F705D-F04B-4DBD-8C41-9BCBF909BE34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0" name="フリーフォーム: 図形 29">
              <a:extLst>
                <a:ext uri="{FF2B5EF4-FFF2-40B4-BE49-F238E27FC236}">
                  <a16:creationId xmlns:a16="http://schemas.microsoft.com/office/drawing/2014/main" id="{3076F6E7-0F39-40A8-B28D-938F6D40299C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5183F042-B05B-8313-D916-4D435BA05131}"/>
              </a:ext>
            </a:extLst>
          </p:cNvPr>
          <p:cNvSpPr/>
          <p:nvPr/>
        </p:nvSpPr>
        <p:spPr>
          <a:xfrm>
            <a:off x="1256388" y="6352685"/>
            <a:ext cx="1380066" cy="202200"/>
          </a:xfrm>
          <a:custGeom>
            <a:avLst/>
            <a:gdLst>
              <a:gd name="connsiteX0" fmla="*/ 0 w 1380066"/>
              <a:gd name="connsiteY0" fmla="*/ 202199 h 202200"/>
              <a:gd name="connsiteX1" fmla="*/ 1380066 w 1380066"/>
              <a:gd name="connsiteY1" fmla="*/ 0 h 2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80066" h="202200" extrusionOk="0">
                <a:moveTo>
                  <a:pt x="0" y="202199"/>
                </a:moveTo>
                <a:cubicBezTo>
                  <a:pt x="579868" y="55242"/>
                  <a:pt x="825186" y="128242"/>
                  <a:pt x="1380066" y="0"/>
                </a:cubicBezTo>
              </a:path>
            </a:pathLst>
          </a:custGeom>
          <a:noFill/>
          <a:ln cap="rnd">
            <a:solidFill>
              <a:schemeClr val="accent4"/>
            </a:solidFill>
            <a:round/>
            <a:headEnd type="none" w="med" len="med"/>
            <a:tailEnd type="arrow" w="lg" len="lg"/>
            <a:extLst>
              <a:ext uri="{C807C97D-BFC1-408E-A445-0C87EB9F89A2}">
                <ask:lineSketchStyleProps xmlns:ask="http://schemas.microsoft.com/office/drawing/2018/sketchyshapes" sd="697022472">
                  <a:custGeom>
                    <a:avLst/>
                    <a:gdLst>
                      <a:gd name="connsiteX0" fmla="*/ 0 w 2709333"/>
                      <a:gd name="connsiteY0" fmla="*/ 321732 h 321733"/>
                      <a:gd name="connsiteX1" fmla="*/ 1245419 w 2709333"/>
                      <a:gd name="connsiteY1" fmla="*/ 105712 h 321733"/>
                      <a:gd name="connsiteX2" fmla="*/ 2709333 w 2709333"/>
                      <a:gd name="connsiteY2" fmla="*/ 0 h 321733"/>
                      <a:gd name="connsiteX0" fmla="*/ 0 w 2709333"/>
                      <a:gd name="connsiteY0" fmla="*/ 321732 h 321732"/>
                      <a:gd name="connsiteX1" fmla="*/ 2709333 w 2709333"/>
                      <a:gd name="connsiteY1" fmla="*/ 0 h 3217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2709333" h="321732" extrusionOk="0">
                        <a:moveTo>
                          <a:pt x="0" y="321732"/>
                        </a:moveTo>
                        <a:lnTo>
                          <a:pt x="2709333" y="0"/>
                        </a:ln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右大かっこ 7">
            <a:extLst>
              <a:ext uri="{FF2B5EF4-FFF2-40B4-BE49-F238E27FC236}">
                <a16:creationId xmlns:a16="http://schemas.microsoft.com/office/drawing/2014/main" id="{B56DB7F2-BBFC-B498-CF1C-E6E32288AFD5}"/>
              </a:ext>
            </a:extLst>
          </p:cNvPr>
          <p:cNvSpPr/>
          <p:nvPr/>
        </p:nvSpPr>
        <p:spPr>
          <a:xfrm>
            <a:off x="10875218" y="3429000"/>
            <a:ext cx="75875" cy="2144636"/>
          </a:xfrm>
          <a:custGeom>
            <a:avLst/>
            <a:gdLst>
              <a:gd name="connsiteX0" fmla="*/ 0 w 75875"/>
              <a:gd name="connsiteY0" fmla="*/ 0 h 2144636"/>
              <a:gd name="connsiteX1" fmla="*/ 75875 w 75875"/>
              <a:gd name="connsiteY1" fmla="*/ 6323 h 2144636"/>
              <a:gd name="connsiteX2" fmla="*/ 75875 w 75875"/>
              <a:gd name="connsiteY2" fmla="*/ 2138313 h 2144636"/>
              <a:gd name="connsiteX3" fmla="*/ 0 w 75875"/>
              <a:gd name="connsiteY3" fmla="*/ 2144636 h 2144636"/>
              <a:gd name="connsiteX4" fmla="*/ 0 w 75875"/>
              <a:gd name="connsiteY4" fmla="*/ 0 h 2144636"/>
              <a:gd name="connsiteX0" fmla="*/ 0 w 75875"/>
              <a:gd name="connsiteY0" fmla="*/ 0 h 2144636"/>
              <a:gd name="connsiteX1" fmla="*/ 75875 w 75875"/>
              <a:gd name="connsiteY1" fmla="*/ 6323 h 2144636"/>
              <a:gd name="connsiteX2" fmla="*/ 75875 w 75875"/>
              <a:gd name="connsiteY2" fmla="*/ 2138313 h 2144636"/>
              <a:gd name="connsiteX3" fmla="*/ 0 w 75875"/>
              <a:gd name="connsiteY3" fmla="*/ 2144636 h 2144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875" h="2144636" stroke="0" extrusionOk="0">
                <a:moveTo>
                  <a:pt x="0" y="0"/>
                </a:moveTo>
                <a:cubicBezTo>
                  <a:pt x="42231" y="260"/>
                  <a:pt x="75694" y="3473"/>
                  <a:pt x="75875" y="6323"/>
                </a:cubicBezTo>
                <a:cubicBezTo>
                  <a:pt x="36033" y="809005"/>
                  <a:pt x="117564" y="1463863"/>
                  <a:pt x="75875" y="2138313"/>
                </a:cubicBezTo>
                <a:cubicBezTo>
                  <a:pt x="75472" y="2141552"/>
                  <a:pt x="38285" y="2141821"/>
                  <a:pt x="0" y="2144636"/>
                </a:cubicBezTo>
                <a:cubicBezTo>
                  <a:pt x="132240" y="1282501"/>
                  <a:pt x="-92512" y="751834"/>
                  <a:pt x="0" y="0"/>
                </a:cubicBezTo>
                <a:close/>
              </a:path>
              <a:path w="75875" h="2144636" fill="none" extrusionOk="0">
                <a:moveTo>
                  <a:pt x="0" y="0"/>
                </a:moveTo>
                <a:cubicBezTo>
                  <a:pt x="42382" y="80"/>
                  <a:pt x="76249" y="3222"/>
                  <a:pt x="75875" y="6323"/>
                </a:cubicBezTo>
                <a:cubicBezTo>
                  <a:pt x="-24092" y="939947"/>
                  <a:pt x="-16176" y="1075997"/>
                  <a:pt x="75875" y="2138313"/>
                </a:cubicBezTo>
                <a:cubicBezTo>
                  <a:pt x="70834" y="2143479"/>
                  <a:pt x="44604" y="2144902"/>
                  <a:pt x="0" y="2144636"/>
                </a:cubicBezTo>
              </a:path>
              <a:path w="75875" h="2144636" fill="none" stroke="0" extrusionOk="0">
                <a:moveTo>
                  <a:pt x="0" y="0"/>
                </a:moveTo>
                <a:cubicBezTo>
                  <a:pt x="42098" y="-180"/>
                  <a:pt x="76088" y="3017"/>
                  <a:pt x="75875" y="6323"/>
                </a:cubicBezTo>
                <a:cubicBezTo>
                  <a:pt x="233756" y="726300"/>
                  <a:pt x="144075" y="1627586"/>
                  <a:pt x="75875" y="2138313"/>
                </a:cubicBezTo>
                <a:cubicBezTo>
                  <a:pt x="81323" y="2141035"/>
                  <a:pt x="43270" y="2142597"/>
                  <a:pt x="0" y="2144636"/>
                </a:cubicBezTo>
              </a:path>
            </a:pathLst>
          </a:custGeom>
          <a:ln w="19050">
            <a:solidFill>
              <a:schemeClr val="accent4"/>
            </a:solidFill>
            <a:extLst>
              <a:ext uri="{C807C97D-BFC1-408E-A445-0C87EB9F89A2}">
                <ask:lineSketchStyleProps xmlns:ask="http://schemas.microsoft.com/office/drawing/2018/sketchyshapes" sd="43512134">
                  <a:prstGeom prst="rightBracke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79F5105-2867-CCBC-D635-B09EBEC74DE8}"/>
              </a:ext>
            </a:extLst>
          </p:cNvPr>
          <p:cNvSpPr txBox="1"/>
          <p:nvPr/>
        </p:nvSpPr>
        <p:spPr>
          <a:xfrm>
            <a:off x="8613397" y="3987244"/>
            <a:ext cx="1716014" cy="369332"/>
          </a:xfrm>
          <a:prstGeom prst="rect">
            <a:avLst/>
          </a:prstGeom>
          <a:solidFill>
            <a:srgbClr val="46877B"/>
          </a:solidFill>
        </p:spPr>
        <p:txBody>
          <a:bodyPr wrap="square">
            <a:spAutoFit/>
          </a:bodyPr>
          <a:lstStyle/>
          <a:p>
            <a:r>
              <a:rPr lang="en-US" altLang="ja-JP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lang="ja-JP" altLang="en-US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何かの見出し</a:t>
            </a:r>
          </a:p>
        </p:txBody>
      </p:sp>
      <p:sp>
        <p:nvSpPr>
          <p:cNvPr id="36" name="フリーフォーム: 図形 35">
            <a:extLst>
              <a:ext uri="{FF2B5EF4-FFF2-40B4-BE49-F238E27FC236}">
                <a16:creationId xmlns:a16="http://schemas.microsoft.com/office/drawing/2014/main" id="{EFD584C9-55DF-601C-DC7A-86517FFDB48C}"/>
              </a:ext>
            </a:extLst>
          </p:cNvPr>
          <p:cNvSpPr/>
          <p:nvPr/>
        </p:nvSpPr>
        <p:spPr>
          <a:xfrm rot="2149832">
            <a:off x="1232946" y="5356494"/>
            <a:ext cx="1116215" cy="1248435"/>
          </a:xfrm>
          <a:custGeom>
            <a:avLst/>
            <a:gdLst>
              <a:gd name="connsiteX0" fmla="*/ 0 w 6381750"/>
              <a:gd name="connsiteY0" fmla="*/ 87460 h 350919"/>
              <a:gd name="connsiteX1" fmla="*/ 508000 w 6381750"/>
              <a:gd name="connsiteY1" fmla="*/ 258910 h 350919"/>
              <a:gd name="connsiteX2" fmla="*/ 908050 w 6381750"/>
              <a:gd name="connsiteY2" fmla="*/ 125560 h 350919"/>
              <a:gd name="connsiteX3" fmla="*/ 1314450 w 6381750"/>
              <a:gd name="connsiteY3" fmla="*/ 252560 h 350919"/>
              <a:gd name="connsiteX4" fmla="*/ 2032000 w 6381750"/>
              <a:gd name="connsiteY4" fmla="*/ 4910 h 350919"/>
              <a:gd name="connsiteX5" fmla="*/ 2635250 w 6381750"/>
              <a:gd name="connsiteY5" fmla="*/ 100160 h 350919"/>
              <a:gd name="connsiteX6" fmla="*/ 3943350 w 6381750"/>
              <a:gd name="connsiteY6" fmla="*/ 252560 h 350919"/>
              <a:gd name="connsiteX7" fmla="*/ 4648200 w 6381750"/>
              <a:gd name="connsiteY7" fmla="*/ 347810 h 350919"/>
              <a:gd name="connsiteX8" fmla="*/ 5308600 w 6381750"/>
              <a:gd name="connsiteY8" fmla="*/ 138260 h 350919"/>
              <a:gd name="connsiteX9" fmla="*/ 6381750 w 6381750"/>
              <a:gd name="connsiteY9" fmla="*/ 87460 h 350919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84727 h 347987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143994 h 347987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143994 h 347987"/>
              <a:gd name="connsiteX0" fmla="*/ 0 w 6381750"/>
              <a:gd name="connsiteY0" fmla="*/ 84727 h 347987"/>
              <a:gd name="connsiteX1" fmla="*/ 908050 w 6381750"/>
              <a:gd name="connsiteY1" fmla="*/ 122827 h 347987"/>
              <a:gd name="connsiteX2" fmla="*/ 1314450 w 6381750"/>
              <a:gd name="connsiteY2" fmla="*/ 249827 h 347987"/>
              <a:gd name="connsiteX3" fmla="*/ 2032000 w 6381750"/>
              <a:gd name="connsiteY3" fmla="*/ 2177 h 347987"/>
              <a:gd name="connsiteX4" fmla="*/ 2876550 w 6381750"/>
              <a:gd name="connsiteY4" fmla="*/ 135527 h 347987"/>
              <a:gd name="connsiteX5" fmla="*/ 3943350 w 6381750"/>
              <a:gd name="connsiteY5" fmla="*/ 249827 h 347987"/>
              <a:gd name="connsiteX6" fmla="*/ 4648200 w 6381750"/>
              <a:gd name="connsiteY6" fmla="*/ 345077 h 347987"/>
              <a:gd name="connsiteX7" fmla="*/ 5308600 w 6381750"/>
              <a:gd name="connsiteY7" fmla="*/ 135527 h 347987"/>
              <a:gd name="connsiteX8" fmla="*/ 6381750 w 6381750"/>
              <a:gd name="connsiteY8" fmla="*/ 143994 h 347987"/>
              <a:gd name="connsiteX0" fmla="*/ 0 w 6381750"/>
              <a:gd name="connsiteY0" fmla="*/ 84727 h 347987"/>
              <a:gd name="connsiteX1" fmla="*/ 1314450 w 6381750"/>
              <a:gd name="connsiteY1" fmla="*/ 249827 h 347987"/>
              <a:gd name="connsiteX2" fmla="*/ 2032000 w 6381750"/>
              <a:gd name="connsiteY2" fmla="*/ 2177 h 347987"/>
              <a:gd name="connsiteX3" fmla="*/ 2876550 w 6381750"/>
              <a:gd name="connsiteY3" fmla="*/ 135527 h 347987"/>
              <a:gd name="connsiteX4" fmla="*/ 3943350 w 6381750"/>
              <a:gd name="connsiteY4" fmla="*/ 249827 h 347987"/>
              <a:gd name="connsiteX5" fmla="*/ 4648200 w 6381750"/>
              <a:gd name="connsiteY5" fmla="*/ 345077 h 347987"/>
              <a:gd name="connsiteX6" fmla="*/ 5308600 w 6381750"/>
              <a:gd name="connsiteY6" fmla="*/ 135527 h 347987"/>
              <a:gd name="connsiteX7" fmla="*/ 6381750 w 6381750"/>
              <a:gd name="connsiteY7" fmla="*/ 143994 h 347987"/>
              <a:gd name="connsiteX0" fmla="*/ 0 w 6381750"/>
              <a:gd name="connsiteY0" fmla="*/ 83224 h 346484"/>
              <a:gd name="connsiteX1" fmla="*/ 2032000 w 6381750"/>
              <a:gd name="connsiteY1" fmla="*/ 674 h 346484"/>
              <a:gd name="connsiteX2" fmla="*/ 2876550 w 6381750"/>
              <a:gd name="connsiteY2" fmla="*/ 134024 h 346484"/>
              <a:gd name="connsiteX3" fmla="*/ 3943350 w 6381750"/>
              <a:gd name="connsiteY3" fmla="*/ 248324 h 346484"/>
              <a:gd name="connsiteX4" fmla="*/ 4648200 w 6381750"/>
              <a:gd name="connsiteY4" fmla="*/ 343574 h 346484"/>
              <a:gd name="connsiteX5" fmla="*/ 5308600 w 6381750"/>
              <a:gd name="connsiteY5" fmla="*/ 134024 h 346484"/>
              <a:gd name="connsiteX6" fmla="*/ 6381750 w 6381750"/>
              <a:gd name="connsiteY6" fmla="*/ 142491 h 346484"/>
              <a:gd name="connsiteX0" fmla="*/ 0 w 6381750"/>
              <a:gd name="connsiteY0" fmla="*/ 0 h 263260"/>
              <a:gd name="connsiteX1" fmla="*/ 2876550 w 6381750"/>
              <a:gd name="connsiteY1" fmla="*/ 50800 h 263260"/>
              <a:gd name="connsiteX2" fmla="*/ 3943350 w 6381750"/>
              <a:gd name="connsiteY2" fmla="*/ 165100 h 263260"/>
              <a:gd name="connsiteX3" fmla="*/ 4648200 w 6381750"/>
              <a:gd name="connsiteY3" fmla="*/ 260350 h 263260"/>
              <a:gd name="connsiteX4" fmla="*/ 5308600 w 6381750"/>
              <a:gd name="connsiteY4" fmla="*/ 50800 h 263260"/>
              <a:gd name="connsiteX5" fmla="*/ 6381750 w 6381750"/>
              <a:gd name="connsiteY5" fmla="*/ 59267 h 263260"/>
              <a:gd name="connsiteX0" fmla="*/ 0 w 6381750"/>
              <a:gd name="connsiteY0" fmla="*/ 0 h 263260"/>
              <a:gd name="connsiteX1" fmla="*/ 3943350 w 6381750"/>
              <a:gd name="connsiteY1" fmla="*/ 165100 h 263260"/>
              <a:gd name="connsiteX2" fmla="*/ 4648200 w 6381750"/>
              <a:gd name="connsiteY2" fmla="*/ 260350 h 263260"/>
              <a:gd name="connsiteX3" fmla="*/ 5308600 w 6381750"/>
              <a:gd name="connsiteY3" fmla="*/ 50800 h 263260"/>
              <a:gd name="connsiteX4" fmla="*/ 6381750 w 6381750"/>
              <a:gd name="connsiteY4" fmla="*/ 59267 h 263260"/>
              <a:gd name="connsiteX0" fmla="*/ 0 w 6381750"/>
              <a:gd name="connsiteY0" fmla="*/ 0 h 260350"/>
              <a:gd name="connsiteX1" fmla="*/ 4648200 w 6381750"/>
              <a:gd name="connsiteY1" fmla="*/ 260350 h 260350"/>
              <a:gd name="connsiteX2" fmla="*/ 5308600 w 6381750"/>
              <a:gd name="connsiteY2" fmla="*/ 50800 h 260350"/>
              <a:gd name="connsiteX3" fmla="*/ 6381750 w 6381750"/>
              <a:gd name="connsiteY3" fmla="*/ 59267 h 260350"/>
              <a:gd name="connsiteX0" fmla="*/ 0 w 6381750"/>
              <a:gd name="connsiteY0" fmla="*/ 0 h 59267"/>
              <a:gd name="connsiteX1" fmla="*/ 5308600 w 6381750"/>
              <a:gd name="connsiteY1" fmla="*/ 50800 h 59267"/>
              <a:gd name="connsiteX2" fmla="*/ 6381750 w 6381750"/>
              <a:gd name="connsiteY2" fmla="*/ 59267 h 59267"/>
              <a:gd name="connsiteX0" fmla="*/ 0 w 6381750"/>
              <a:gd name="connsiteY0" fmla="*/ 0 h 1124584"/>
              <a:gd name="connsiteX1" fmla="*/ 4528057 w 6381750"/>
              <a:gd name="connsiteY1" fmla="*/ 1124584 h 1124584"/>
              <a:gd name="connsiteX2" fmla="*/ 6381750 w 6381750"/>
              <a:gd name="connsiteY2" fmla="*/ 59267 h 1124584"/>
              <a:gd name="connsiteX0" fmla="*/ 0 w 3161177"/>
              <a:gd name="connsiteY0" fmla="*/ 2112889 h 2112889"/>
              <a:gd name="connsiteX1" fmla="*/ 1307484 w 3161177"/>
              <a:gd name="connsiteY1" fmla="*/ 1067394 h 2112889"/>
              <a:gd name="connsiteX2" fmla="*/ 3161177 w 3161177"/>
              <a:gd name="connsiteY2" fmla="*/ 2077 h 2112889"/>
              <a:gd name="connsiteX0" fmla="*/ 0 w 3161177"/>
              <a:gd name="connsiteY0" fmla="*/ 2110812 h 2110812"/>
              <a:gd name="connsiteX1" fmla="*/ 3161177 w 3161177"/>
              <a:gd name="connsiteY1" fmla="*/ 0 h 2110812"/>
              <a:gd name="connsiteX0" fmla="*/ 0 w 1482258"/>
              <a:gd name="connsiteY0" fmla="*/ 903680 h 903680"/>
              <a:gd name="connsiteX1" fmla="*/ 1482258 w 1482258"/>
              <a:gd name="connsiteY1" fmla="*/ 0 h 903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82258" h="903680">
                <a:moveTo>
                  <a:pt x="0" y="903680"/>
                </a:moveTo>
                <a:lnTo>
                  <a:pt x="1482258" y="0"/>
                </a:lnTo>
              </a:path>
            </a:pathLst>
          </a:custGeom>
          <a:noFill/>
          <a:ln w="57150">
            <a:solidFill>
              <a:schemeClr val="accent2"/>
            </a:solidFill>
            <a:tailEnd type="triangle"/>
          </a:ln>
          <a:effectLst>
            <a:glow rad="63500">
              <a:schemeClr val="accent2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4" name="矢印: 右 43">
            <a:extLst>
              <a:ext uri="{FF2B5EF4-FFF2-40B4-BE49-F238E27FC236}">
                <a16:creationId xmlns:a16="http://schemas.microsoft.com/office/drawing/2014/main" id="{0A2734DE-E047-CC2D-F3E2-E701DEBB69AE}"/>
              </a:ext>
            </a:extLst>
          </p:cNvPr>
          <p:cNvSpPr/>
          <p:nvPr/>
        </p:nvSpPr>
        <p:spPr>
          <a:xfrm>
            <a:off x="3724405" y="5310395"/>
            <a:ext cx="1797864" cy="1126627"/>
          </a:xfrm>
          <a:custGeom>
            <a:avLst/>
            <a:gdLst>
              <a:gd name="connsiteX0" fmla="*/ 0 w 1797864"/>
              <a:gd name="connsiteY0" fmla="*/ 281657 h 1126627"/>
              <a:gd name="connsiteX1" fmla="*/ 1234551 w 1797864"/>
              <a:gd name="connsiteY1" fmla="*/ 281657 h 1126627"/>
              <a:gd name="connsiteX2" fmla="*/ 1234551 w 1797864"/>
              <a:gd name="connsiteY2" fmla="*/ 0 h 1126627"/>
              <a:gd name="connsiteX3" fmla="*/ 1797864 w 1797864"/>
              <a:gd name="connsiteY3" fmla="*/ 563314 h 1126627"/>
              <a:gd name="connsiteX4" fmla="*/ 1234551 w 1797864"/>
              <a:gd name="connsiteY4" fmla="*/ 1126627 h 1126627"/>
              <a:gd name="connsiteX5" fmla="*/ 1234551 w 1797864"/>
              <a:gd name="connsiteY5" fmla="*/ 844970 h 1126627"/>
              <a:gd name="connsiteX6" fmla="*/ 0 w 1797864"/>
              <a:gd name="connsiteY6" fmla="*/ 844970 h 1126627"/>
              <a:gd name="connsiteX7" fmla="*/ 0 w 1797864"/>
              <a:gd name="connsiteY7" fmla="*/ 281657 h 1126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7864" h="1126627" fill="none" extrusionOk="0">
                <a:moveTo>
                  <a:pt x="0" y="281657"/>
                </a:moveTo>
                <a:cubicBezTo>
                  <a:pt x="441140" y="341876"/>
                  <a:pt x="815292" y="313239"/>
                  <a:pt x="1234551" y="281657"/>
                </a:cubicBezTo>
                <a:cubicBezTo>
                  <a:pt x="1258466" y="194755"/>
                  <a:pt x="1214082" y="130057"/>
                  <a:pt x="1234551" y="0"/>
                </a:cubicBezTo>
                <a:cubicBezTo>
                  <a:pt x="1321461" y="170749"/>
                  <a:pt x="1683272" y="515097"/>
                  <a:pt x="1797864" y="563314"/>
                </a:cubicBezTo>
                <a:cubicBezTo>
                  <a:pt x="1683170" y="648249"/>
                  <a:pt x="1372263" y="1063564"/>
                  <a:pt x="1234551" y="1126627"/>
                </a:cubicBezTo>
                <a:cubicBezTo>
                  <a:pt x="1228919" y="1080683"/>
                  <a:pt x="1223293" y="925170"/>
                  <a:pt x="1234551" y="844970"/>
                </a:cubicBezTo>
                <a:cubicBezTo>
                  <a:pt x="625859" y="796345"/>
                  <a:pt x="503036" y="798970"/>
                  <a:pt x="0" y="844970"/>
                </a:cubicBezTo>
                <a:cubicBezTo>
                  <a:pt x="12149" y="711576"/>
                  <a:pt x="-34350" y="429484"/>
                  <a:pt x="0" y="281657"/>
                </a:cubicBezTo>
                <a:close/>
              </a:path>
              <a:path w="1797864" h="1126627" stroke="0" extrusionOk="0">
                <a:moveTo>
                  <a:pt x="0" y="281657"/>
                </a:moveTo>
                <a:cubicBezTo>
                  <a:pt x="501690" y="291445"/>
                  <a:pt x="664348" y="302673"/>
                  <a:pt x="1234551" y="281657"/>
                </a:cubicBezTo>
                <a:cubicBezTo>
                  <a:pt x="1244995" y="149561"/>
                  <a:pt x="1246456" y="46048"/>
                  <a:pt x="1234551" y="0"/>
                </a:cubicBezTo>
                <a:cubicBezTo>
                  <a:pt x="1416517" y="201720"/>
                  <a:pt x="1516224" y="323140"/>
                  <a:pt x="1797864" y="563314"/>
                </a:cubicBezTo>
                <a:cubicBezTo>
                  <a:pt x="1604474" y="781173"/>
                  <a:pt x="1263864" y="996785"/>
                  <a:pt x="1234551" y="1126627"/>
                </a:cubicBezTo>
                <a:cubicBezTo>
                  <a:pt x="1244859" y="1090226"/>
                  <a:pt x="1246547" y="961132"/>
                  <a:pt x="1234551" y="844970"/>
                </a:cubicBezTo>
                <a:cubicBezTo>
                  <a:pt x="826782" y="735023"/>
                  <a:pt x="170652" y="758181"/>
                  <a:pt x="0" y="844970"/>
                </a:cubicBezTo>
                <a:cubicBezTo>
                  <a:pt x="-923" y="604596"/>
                  <a:pt x="-16096" y="399535"/>
                  <a:pt x="0" y="281657"/>
                </a:cubicBezTo>
                <a:close/>
              </a:path>
            </a:pathLst>
          </a:custGeom>
          <a:solidFill>
            <a:schemeClr val="accent4"/>
          </a:solidFill>
          <a:ln>
            <a:solidFill>
              <a:schemeClr val="accent4"/>
            </a:solidFill>
            <a:extLst>
              <a:ext uri="{C807C97D-BFC1-408E-A445-0C87EB9F89A2}">
                <ask:lineSketchStyleProps xmlns:ask="http://schemas.microsoft.com/office/drawing/2018/sketchyshapes" sd="3864781296">
                  <a:prstGeom prst="right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フリーフォーム: 図形 45">
            <a:extLst>
              <a:ext uri="{FF2B5EF4-FFF2-40B4-BE49-F238E27FC236}">
                <a16:creationId xmlns:a16="http://schemas.microsoft.com/office/drawing/2014/main" id="{6C0FD5AB-5B5F-7AA0-6FBC-206214218608}"/>
              </a:ext>
            </a:extLst>
          </p:cNvPr>
          <p:cNvSpPr/>
          <p:nvPr/>
        </p:nvSpPr>
        <p:spPr>
          <a:xfrm>
            <a:off x="529301" y="2977937"/>
            <a:ext cx="2457450" cy="553401"/>
          </a:xfrm>
          <a:custGeom>
            <a:avLst/>
            <a:gdLst>
              <a:gd name="connsiteX0" fmla="*/ 0 w 2457450"/>
              <a:gd name="connsiteY0" fmla="*/ 553401 h 553401"/>
              <a:gd name="connsiteX1" fmla="*/ 1066800 w 2457450"/>
              <a:gd name="connsiteY1" fmla="*/ 48576 h 553401"/>
              <a:gd name="connsiteX2" fmla="*/ 2457450 w 2457450"/>
              <a:gd name="connsiteY2" fmla="*/ 48576 h 553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57450" h="553401">
                <a:moveTo>
                  <a:pt x="0" y="553401"/>
                </a:moveTo>
                <a:cubicBezTo>
                  <a:pt x="328612" y="343057"/>
                  <a:pt x="657225" y="132713"/>
                  <a:pt x="1066800" y="48576"/>
                </a:cubicBezTo>
                <a:cubicBezTo>
                  <a:pt x="1476375" y="-35561"/>
                  <a:pt x="1966912" y="6507"/>
                  <a:pt x="2457450" y="48576"/>
                </a:cubicBezTo>
              </a:path>
            </a:pathLst>
          </a:custGeom>
          <a:noFill/>
          <a:ln w="38100">
            <a:solidFill>
              <a:schemeClr val="accent4"/>
            </a:solidFill>
            <a:headEnd type="none" w="med" len="med"/>
            <a:tailEnd type="triangle" w="med" len="med"/>
          </a:ln>
          <a:effectLst>
            <a:glow rad="152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79366D17-C6F6-2F7E-0C8E-D7CA4265F094}"/>
              </a:ext>
            </a:extLst>
          </p:cNvPr>
          <p:cNvGrpSpPr/>
          <p:nvPr/>
        </p:nvGrpSpPr>
        <p:grpSpPr>
          <a:xfrm>
            <a:off x="7701975" y="5031844"/>
            <a:ext cx="866523" cy="923145"/>
            <a:chOff x="5897144" y="3284788"/>
            <a:chExt cx="866523" cy="923145"/>
          </a:xfrm>
        </p:grpSpPr>
        <p:sp>
          <p:nvSpPr>
            <p:cNvPr id="47" name="フリーフォーム: 図形 46">
              <a:extLst>
                <a:ext uri="{FF2B5EF4-FFF2-40B4-BE49-F238E27FC236}">
                  <a16:creationId xmlns:a16="http://schemas.microsoft.com/office/drawing/2014/main" id="{128A1380-4083-A4AF-A9AF-53345AAABDF1}"/>
                </a:ext>
              </a:extLst>
            </p:cNvPr>
            <p:cNvSpPr/>
            <p:nvPr/>
          </p:nvSpPr>
          <p:spPr>
            <a:xfrm>
              <a:off x="5897698" y="3332166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フリーフォーム: 図形 47">
              <a:extLst>
                <a:ext uri="{FF2B5EF4-FFF2-40B4-BE49-F238E27FC236}">
                  <a16:creationId xmlns:a16="http://schemas.microsoft.com/office/drawing/2014/main" id="{0F60FF85-8B94-7CA7-28BD-EE9A8905975E}"/>
                </a:ext>
              </a:extLst>
            </p:cNvPr>
            <p:cNvSpPr/>
            <p:nvPr/>
          </p:nvSpPr>
          <p:spPr>
            <a:xfrm rot="4964407">
              <a:off x="5961743" y="3402000"/>
              <a:ext cx="777334" cy="542909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" name="フリーフォーム: 図形 48">
              <a:extLst>
                <a:ext uri="{FF2B5EF4-FFF2-40B4-BE49-F238E27FC236}">
                  <a16:creationId xmlns:a16="http://schemas.microsoft.com/office/drawing/2014/main" id="{C44C3672-6F4A-8A28-B2E1-FDAAD4B9653C}"/>
                </a:ext>
              </a:extLst>
            </p:cNvPr>
            <p:cNvSpPr/>
            <p:nvPr/>
          </p:nvSpPr>
          <p:spPr>
            <a:xfrm rot="8884375">
              <a:off x="5897144" y="3395723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" name="フリーフォーム: 図形 49">
              <a:extLst>
                <a:ext uri="{FF2B5EF4-FFF2-40B4-BE49-F238E27FC236}">
                  <a16:creationId xmlns:a16="http://schemas.microsoft.com/office/drawing/2014/main" id="{21E955EA-67B5-7ECC-CB8F-3C3E4686AE8A}"/>
                </a:ext>
              </a:extLst>
            </p:cNvPr>
            <p:cNvSpPr/>
            <p:nvPr/>
          </p:nvSpPr>
          <p:spPr>
            <a:xfrm rot="12451915">
              <a:off x="5920913" y="3415024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" name="フリーフォーム: 図形 50">
              <a:extLst>
                <a:ext uri="{FF2B5EF4-FFF2-40B4-BE49-F238E27FC236}">
                  <a16:creationId xmlns:a16="http://schemas.microsoft.com/office/drawing/2014/main" id="{BDF494D2-1DAE-AEB3-A146-38DB5558CB4C}"/>
                </a:ext>
              </a:extLst>
            </p:cNvPr>
            <p:cNvSpPr/>
            <p:nvPr/>
          </p:nvSpPr>
          <p:spPr>
            <a:xfrm rot="15479593">
              <a:off x="5960037" y="3712865"/>
              <a:ext cx="777334" cy="212802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99079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A62966E-E008-9DDC-DD95-31FEDECDAB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 dirty="0"/>
              <a:t>良く使う図形パターン</a:t>
            </a:r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29108725-9831-27F9-3FD3-71FC27129266}"/>
              </a:ext>
            </a:extLst>
          </p:cNvPr>
          <p:cNvGrpSpPr/>
          <p:nvPr/>
        </p:nvGrpSpPr>
        <p:grpSpPr>
          <a:xfrm>
            <a:off x="616017" y="1348268"/>
            <a:ext cx="6533120" cy="4938925"/>
            <a:chOff x="0" y="1396394"/>
            <a:chExt cx="6533120" cy="4938925"/>
          </a:xfrm>
        </p:grpSpPr>
        <p:sp>
          <p:nvSpPr>
            <p:cNvPr id="5" name="楕円 4">
              <a:extLst>
                <a:ext uri="{FF2B5EF4-FFF2-40B4-BE49-F238E27FC236}">
                  <a16:creationId xmlns:a16="http://schemas.microsoft.com/office/drawing/2014/main" id="{A0811D00-B639-7D58-D363-8290AD29E62C}"/>
                </a:ext>
              </a:extLst>
            </p:cNvPr>
            <p:cNvSpPr/>
            <p:nvPr/>
          </p:nvSpPr>
          <p:spPr>
            <a:xfrm>
              <a:off x="2173905" y="1396394"/>
              <a:ext cx="2232000" cy="22320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  <a:extLst>
                <a:ext uri="{C807C97D-BFC1-408E-A445-0C87EB9F89A2}">
                  <ask:lineSketchStyleProps xmlns:ask="http://schemas.microsoft.com/office/drawing/2018/sketchyshapes" sd="138476517">
                    <a:custGeom>
                      <a:avLst/>
                      <a:gdLst>
                        <a:gd name="connsiteX0" fmla="*/ 0 w 2396691"/>
                        <a:gd name="connsiteY0" fmla="*/ 1176574 h 2353148"/>
                        <a:gd name="connsiteX1" fmla="*/ 1198346 w 2396691"/>
                        <a:gd name="connsiteY1" fmla="*/ 0 h 2353148"/>
                        <a:gd name="connsiteX2" fmla="*/ 2396692 w 2396691"/>
                        <a:gd name="connsiteY2" fmla="*/ 1176574 h 2353148"/>
                        <a:gd name="connsiteX3" fmla="*/ 1198346 w 2396691"/>
                        <a:gd name="connsiteY3" fmla="*/ 2353148 h 2353148"/>
                        <a:gd name="connsiteX4" fmla="*/ 0 w 2396691"/>
                        <a:gd name="connsiteY4" fmla="*/ 1176574 h 23531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396691" h="2353148" fill="none" extrusionOk="0">
                          <a:moveTo>
                            <a:pt x="0" y="1176574"/>
                          </a:moveTo>
                          <a:cubicBezTo>
                            <a:pt x="17053" y="544093"/>
                            <a:pt x="596455" y="78735"/>
                            <a:pt x="1198346" y="0"/>
                          </a:cubicBezTo>
                          <a:cubicBezTo>
                            <a:pt x="1834464" y="-42937"/>
                            <a:pt x="2341220" y="491711"/>
                            <a:pt x="2396692" y="1176574"/>
                          </a:cubicBezTo>
                          <a:cubicBezTo>
                            <a:pt x="2434753" y="1879535"/>
                            <a:pt x="1880410" y="2333741"/>
                            <a:pt x="1198346" y="2353148"/>
                          </a:cubicBezTo>
                          <a:cubicBezTo>
                            <a:pt x="503664" y="2298627"/>
                            <a:pt x="14412" y="1848257"/>
                            <a:pt x="0" y="1176574"/>
                          </a:cubicBezTo>
                          <a:close/>
                        </a:path>
                        <a:path w="2396691" h="2353148" stroke="0" extrusionOk="0">
                          <a:moveTo>
                            <a:pt x="0" y="1176574"/>
                          </a:moveTo>
                          <a:cubicBezTo>
                            <a:pt x="22017" y="512503"/>
                            <a:pt x="554245" y="-126587"/>
                            <a:pt x="1198346" y="0"/>
                          </a:cubicBezTo>
                          <a:cubicBezTo>
                            <a:pt x="1782464" y="-71399"/>
                            <a:pt x="2410063" y="501058"/>
                            <a:pt x="2396692" y="1176574"/>
                          </a:cubicBezTo>
                          <a:cubicBezTo>
                            <a:pt x="2422326" y="1889440"/>
                            <a:pt x="1843165" y="2478575"/>
                            <a:pt x="1198346" y="2353148"/>
                          </a:cubicBezTo>
                          <a:cubicBezTo>
                            <a:pt x="488789" y="2321300"/>
                            <a:pt x="-48884" y="1872731"/>
                            <a:pt x="0" y="1176574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CEE3C2FA-C4E2-9188-98AB-D6750654E01E}"/>
                </a:ext>
              </a:extLst>
            </p:cNvPr>
            <p:cNvSpPr txBox="1"/>
            <p:nvPr/>
          </p:nvSpPr>
          <p:spPr>
            <a:xfrm>
              <a:off x="2139601" y="1944955"/>
              <a:ext cx="239669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b="1" dirty="0">
                  <a:solidFill>
                    <a:schemeClr val="bg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①</a:t>
              </a:r>
              <a:endParaRPr lang="en-US" altLang="ja-JP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  <a:p>
              <a:pPr algn="ctr"/>
              <a:r>
                <a:rPr lang="ja-JP" altLang="en-US" sz="2800" b="1" dirty="0">
                  <a:solidFill>
                    <a:schemeClr val="bg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ひとつめ</a:t>
              </a:r>
              <a:endParaRPr kumimoji="1" lang="ja-JP" altLang="en-US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F600B182-1E03-FE3F-38CF-BE77E0F38AC6}"/>
                </a:ext>
              </a:extLst>
            </p:cNvPr>
            <p:cNvSpPr/>
            <p:nvPr/>
          </p:nvSpPr>
          <p:spPr>
            <a:xfrm>
              <a:off x="815779" y="3666494"/>
              <a:ext cx="2232000" cy="22320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  <a:extLst>
                <a:ext uri="{C807C97D-BFC1-408E-A445-0C87EB9F89A2}">
                  <ask:lineSketchStyleProps xmlns:ask="http://schemas.microsoft.com/office/drawing/2018/sketchyshapes" sd="138476517">
                    <a:custGeom>
                      <a:avLst/>
                      <a:gdLst>
                        <a:gd name="connsiteX0" fmla="*/ 0 w 2396691"/>
                        <a:gd name="connsiteY0" fmla="*/ 1176574 h 2353148"/>
                        <a:gd name="connsiteX1" fmla="*/ 1198346 w 2396691"/>
                        <a:gd name="connsiteY1" fmla="*/ 0 h 2353148"/>
                        <a:gd name="connsiteX2" fmla="*/ 2396692 w 2396691"/>
                        <a:gd name="connsiteY2" fmla="*/ 1176574 h 2353148"/>
                        <a:gd name="connsiteX3" fmla="*/ 1198346 w 2396691"/>
                        <a:gd name="connsiteY3" fmla="*/ 2353148 h 2353148"/>
                        <a:gd name="connsiteX4" fmla="*/ 0 w 2396691"/>
                        <a:gd name="connsiteY4" fmla="*/ 1176574 h 23531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396691" h="2353148" fill="none" extrusionOk="0">
                          <a:moveTo>
                            <a:pt x="0" y="1176574"/>
                          </a:moveTo>
                          <a:cubicBezTo>
                            <a:pt x="17053" y="544093"/>
                            <a:pt x="596455" y="78735"/>
                            <a:pt x="1198346" y="0"/>
                          </a:cubicBezTo>
                          <a:cubicBezTo>
                            <a:pt x="1834464" y="-42937"/>
                            <a:pt x="2341220" y="491711"/>
                            <a:pt x="2396692" y="1176574"/>
                          </a:cubicBezTo>
                          <a:cubicBezTo>
                            <a:pt x="2434753" y="1879535"/>
                            <a:pt x="1880410" y="2333741"/>
                            <a:pt x="1198346" y="2353148"/>
                          </a:cubicBezTo>
                          <a:cubicBezTo>
                            <a:pt x="503664" y="2298627"/>
                            <a:pt x="14412" y="1848257"/>
                            <a:pt x="0" y="1176574"/>
                          </a:cubicBezTo>
                          <a:close/>
                        </a:path>
                        <a:path w="2396691" h="2353148" stroke="0" extrusionOk="0">
                          <a:moveTo>
                            <a:pt x="0" y="1176574"/>
                          </a:moveTo>
                          <a:cubicBezTo>
                            <a:pt x="22017" y="512503"/>
                            <a:pt x="554245" y="-126587"/>
                            <a:pt x="1198346" y="0"/>
                          </a:cubicBezTo>
                          <a:cubicBezTo>
                            <a:pt x="1782464" y="-71399"/>
                            <a:pt x="2410063" y="501058"/>
                            <a:pt x="2396692" y="1176574"/>
                          </a:cubicBezTo>
                          <a:cubicBezTo>
                            <a:pt x="2422326" y="1889440"/>
                            <a:pt x="1843165" y="2478575"/>
                            <a:pt x="1198346" y="2353148"/>
                          </a:cubicBezTo>
                          <a:cubicBezTo>
                            <a:pt x="488789" y="2321300"/>
                            <a:pt x="-48884" y="1872731"/>
                            <a:pt x="0" y="1176574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80636C0C-4196-FBC8-E6B1-2A2B6B9C99B7}"/>
                </a:ext>
              </a:extLst>
            </p:cNvPr>
            <p:cNvSpPr txBox="1"/>
            <p:nvPr/>
          </p:nvSpPr>
          <p:spPr>
            <a:xfrm>
              <a:off x="733433" y="4231597"/>
              <a:ext cx="239669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b="1" dirty="0">
                  <a:solidFill>
                    <a:schemeClr val="bg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③</a:t>
              </a:r>
              <a:endParaRPr lang="en-US" altLang="ja-JP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  <a:p>
              <a:pPr algn="ctr"/>
              <a:r>
                <a:rPr lang="ja-JP" altLang="en-US" sz="2800" b="1" dirty="0">
                  <a:solidFill>
                    <a:schemeClr val="bg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みっつめ</a:t>
              </a:r>
              <a:endParaRPr kumimoji="1" lang="ja-JP" altLang="en-US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11B58024-0DF9-700C-3393-339C7F03622C}"/>
                </a:ext>
              </a:extLst>
            </p:cNvPr>
            <p:cNvSpPr/>
            <p:nvPr/>
          </p:nvSpPr>
          <p:spPr>
            <a:xfrm>
              <a:off x="3565643" y="3653794"/>
              <a:ext cx="2232000" cy="22320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  <a:extLst>
                <a:ext uri="{C807C97D-BFC1-408E-A445-0C87EB9F89A2}">
                  <ask:lineSketchStyleProps xmlns:ask="http://schemas.microsoft.com/office/drawing/2018/sketchyshapes" sd="138476517">
                    <a:custGeom>
                      <a:avLst/>
                      <a:gdLst>
                        <a:gd name="connsiteX0" fmla="*/ 0 w 2396691"/>
                        <a:gd name="connsiteY0" fmla="*/ 1176574 h 2353148"/>
                        <a:gd name="connsiteX1" fmla="*/ 1198346 w 2396691"/>
                        <a:gd name="connsiteY1" fmla="*/ 0 h 2353148"/>
                        <a:gd name="connsiteX2" fmla="*/ 2396692 w 2396691"/>
                        <a:gd name="connsiteY2" fmla="*/ 1176574 h 2353148"/>
                        <a:gd name="connsiteX3" fmla="*/ 1198346 w 2396691"/>
                        <a:gd name="connsiteY3" fmla="*/ 2353148 h 2353148"/>
                        <a:gd name="connsiteX4" fmla="*/ 0 w 2396691"/>
                        <a:gd name="connsiteY4" fmla="*/ 1176574 h 23531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396691" h="2353148" fill="none" extrusionOk="0">
                          <a:moveTo>
                            <a:pt x="0" y="1176574"/>
                          </a:moveTo>
                          <a:cubicBezTo>
                            <a:pt x="17053" y="544093"/>
                            <a:pt x="596455" y="78735"/>
                            <a:pt x="1198346" y="0"/>
                          </a:cubicBezTo>
                          <a:cubicBezTo>
                            <a:pt x="1834464" y="-42937"/>
                            <a:pt x="2341220" y="491711"/>
                            <a:pt x="2396692" y="1176574"/>
                          </a:cubicBezTo>
                          <a:cubicBezTo>
                            <a:pt x="2434753" y="1879535"/>
                            <a:pt x="1880410" y="2333741"/>
                            <a:pt x="1198346" y="2353148"/>
                          </a:cubicBezTo>
                          <a:cubicBezTo>
                            <a:pt x="503664" y="2298627"/>
                            <a:pt x="14412" y="1848257"/>
                            <a:pt x="0" y="1176574"/>
                          </a:cubicBezTo>
                          <a:close/>
                        </a:path>
                        <a:path w="2396691" h="2353148" stroke="0" extrusionOk="0">
                          <a:moveTo>
                            <a:pt x="0" y="1176574"/>
                          </a:moveTo>
                          <a:cubicBezTo>
                            <a:pt x="22017" y="512503"/>
                            <a:pt x="554245" y="-126587"/>
                            <a:pt x="1198346" y="0"/>
                          </a:cubicBezTo>
                          <a:cubicBezTo>
                            <a:pt x="1782464" y="-71399"/>
                            <a:pt x="2410063" y="501058"/>
                            <a:pt x="2396692" y="1176574"/>
                          </a:cubicBezTo>
                          <a:cubicBezTo>
                            <a:pt x="2422326" y="1889440"/>
                            <a:pt x="1843165" y="2478575"/>
                            <a:pt x="1198346" y="2353148"/>
                          </a:cubicBezTo>
                          <a:cubicBezTo>
                            <a:pt x="488789" y="2321300"/>
                            <a:pt x="-48884" y="1872731"/>
                            <a:pt x="0" y="1176574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7E243A9B-ED86-339C-E2EB-EFDFA00CF9EF}"/>
                </a:ext>
              </a:extLst>
            </p:cNvPr>
            <p:cNvSpPr txBox="1"/>
            <p:nvPr/>
          </p:nvSpPr>
          <p:spPr>
            <a:xfrm>
              <a:off x="3511913" y="4222775"/>
              <a:ext cx="239669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b="1" dirty="0">
                  <a:solidFill>
                    <a:schemeClr val="bg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➁</a:t>
              </a:r>
              <a:endParaRPr lang="en-US" altLang="ja-JP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  <a:p>
              <a:pPr algn="ctr"/>
              <a:r>
                <a:rPr lang="ja-JP" altLang="en-US" sz="2800" b="1" dirty="0">
                  <a:solidFill>
                    <a:schemeClr val="bg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ふたつめ</a:t>
              </a:r>
              <a:endParaRPr kumimoji="1" lang="ja-JP" altLang="en-US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27510278-8BCC-2772-B7D4-6900CC651828}"/>
                </a:ext>
              </a:extLst>
            </p:cNvPr>
            <p:cNvGrpSpPr/>
            <p:nvPr/>
          </p:nvGrpSpPr>
          <p:grpSpPr>
            <a:xfrm flipV="1">
              <a:off x="4488250" y="2706875"/>
              <a:ext cx="800237" cy="959619"/>
              <a:chOff x="2664127" y="3374455"/>
              <a:chExt cx="1201975" cy="1567649"/>
            </a:xfrm>
          </p:grpSpPr>
          <p:sp>
            <p:nvSpPr>
              <p:cNvPr id="12" name="二等辺三角形 11">
                <a:extLst>
                  <a:ext uri="{FF2B5EF4-FFF2-40B4-BE49-F238E27FC236}">
                    <a16:creationId xmlns:a16="http://schemas.microsoft.com/office/drawing/2014/main" id="{88C38720-FF04-C2D5-1BFB-D6E04C389897}"/>
                  </a:ext>
                </a:extLst>
              </p:cNvPr>
              <p:cNvSpPr/>
              <p:nvPr/>
            </p:nvSpPr>
            <p:spPr>
              <a:xfrm rot="21516842">
                <a:off x="3025444" y="3374455"/>
                <a:ext cx="840658" cy="471949"/>
              </a:xfrm>
              <a:prstGeom prst="triangle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13" name="フリーフォーム: 図形 12">
                <a:extLst>
                  <a:ext uri="{FF2B5EF4-FFF2-40B4-BE49-F238E27FC236}">
                    <a16:creationId xmlns:a16="http://schemas.microsoft.com/office/drawing/2014/main" id="{DCA25AA5-6EC2-3A91-C987-1FA6D6720F6A}"/>
                  </a:ext>
                </a:extLst>
              </p:cNvPr>
              <p:cNvSpPr/>
              <p:nvPr/>
            </p:nvSpPr>
            <p:spPr>
              <a:xfrm>
                <a:off x="2664127" y="3827205"/>
                <a:ext cx="956601" cy="1114899"/>
              </a:xfrm>
              <a:custGeom>
                <a:avLst/>
                <a:gdLst>
                  <a:gd name="connsiteX0" fmla="*/ 649311 w 956601"/>
                  <a:gd name="connsiteY0" fmla="*/ 0 h 1114899"/>
                  <a:gd name="connsiteX1" fmla="*/ 956601 w 956601"/>
                  <a:gd name="connsiteY1" fmla="*/ 0 h 1114899"/>
                  <a:gd name="connsiteX2" fmla="*/ 951973 w 956601"/>
                  <a:gd name="connsiteY2" fmla="*/ 97117 h 1114899"/>
                  <a:gd name="connsiteX3" fmla="*/ 5472 w 956601"/>
                  <a:gd name="connsiteY3" fmla="*/ 1113687 h 1114899"/>
                  <a:gd name="connsiteX4" fmla="*/ 0 w 956601"/>
                  <a:gd name="connsiteY4" fmla="*/ 1114899 h 1114899"/>
                  <a:gd name="connsiteX5" fmla="*/ 40056 w 956601"/>
                  <a:gd name="connsiteY5" fmla="*/ 1089636 h 1114899"/>
                  <a:gd name="connsiteX6" fmla="*/ 638394 w 956601"/>
                  <a:gd name="connsiteY6" fmla="*/ 162145 h 1114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56601" h="1114899">
                    <a:moveTo>
                      <a:pt x="649311" y="0"/>
                    </a:moveTo>
                    <a:lnTo>
                      <a:pt x="956601" y="0"/>
                    </a:lnTo>
                    <a:lnTo>
                      <a:pt x="951973" y="97117"/>
                    </a:lnTo>
                    <a:cubicBezTo>
                      <a:pt x="906000" y="577465"/>
                      <a:pt x="522068" y="975272"/>
                      <a:pt x="5472" y="1113687"/>
                    </a:cubicBezTo>
                    <a:lnTo>
                      <a:pt x="0" y="1114899"/>
                    </a:lnTo>
                    <a:lnTo>
                      <a:pt x="40056" y="1089636"/>
                    </a:lnTo>
                    <a:cubicBezTo>
                      <a:pt x="365632" y="863013"/>
                      <a:pt x="587911" y="534591"/>
                      <a:pt x="638394" y="1621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39545FA0-67FF-9A70-C888-13A69A398782}"/>
                </a:ext>
              </a:extLst>
            </p:cNvPr>
            <p:cNvGrpSpPr/>
            <p:nvPr/>
          </p:nvGrpSpPr>
          <p:grpSpPr>
            <a:xfrm rot="7241964" flipV="1">
              <a:off x="2843255" y="5233792"/>
              <a:ext cx="800237" cy="959619"/>
              <a:chOff x="2664127" y="3374455"/>
              <a:chExt cx="1201975" cy="1567649"/>
            </a:xfrm>
          </p:grpSpPr>
          <p:sp>
            <p:nvSpPr>
              <p:cNvPr id="15" name="二等辺三角形 14">
                <a:extLst>
                  <a:ext uri="{FF2B5EF4-FFF2-40B4-BE49-F238E27FC236}">
                    <a16:creationId xmlns:a16="http://schemas.microsoft.com/office/drawing/2014/main" id="{3767BD8E-FB78-2A44-9179-41A94C34D17A}"/>
                  </a:ext>
                </a:extLst>
              </p:cNvPr>
              <p:cNvSpPr/>
              <p:nvPr/>
            </p:nvSpPr>
            <p:spPr>
              <a:xfrm rot="21516842">
                <a:off x="3025444" y="3374455"/>
                <a:ext cx="840658" cy="471949"/>
              </a:xfrm>
              <a:prstGeom prst="triangle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16" name="フリーフォーム: 図形 15">
                <a:extLst>
                  <a:ext uri="{FF2B5EF4-FFF2-40B4-BE49-F238E27FC236}">
                    <a16:creationId xmlns:a16="http://schemas.microsoft.com/office/drawing/2014/main" id="{55A6798D-20C7-E00B-7A02-153B6F17D077}"/>
                  </a:ext>
                </a:extLst>
              </p:cNvPr>
              <p:cNvSpPr/>
              <p:nvPr/>
            </p:nvSpPr>
            <p:spPr>
              <a:xfrm>
                <a:off x="2664127" y="3827205"/>
                <a:ext cx="956601" cy="1114899"/>
              </a:xfrm>
              <a:custGeom>
                <a:avLst/>
                <a:gdLst>
                  <a:gd name="connsiteX0" fmla="*/ 649311 w 956601"/>
                  <a:gd name="connsiteY0" fmla="*/ 0 h 1114899"/>
                  <a:gd name="connsiteX1" fmla="*/ 956601 w 956601"/>
                  <a:gd name="connsiteY1" fmla="*/ 0 h 1114899"/>
                  <a:gd name="connsiteX2" fmla="*/ 951973 w 956601"/>
                  <a:gd name="connsiteY2" fmla="*/ 97117 h 1114899"/>
                  <a:gd name="connsiteX3" fmla="*/ 5472 w 956601"/>
                  <a:gd name="connsiteY3" fmla="*/ 1113687 h 1114899"/>
                  <a:gd name="connsiteX4" fmla="*/ 0 w 956601"/>
                  <a:gd name="connsiteY4" fmla="*/ 1114899 h 1114899"/>
                  <a:gd name="connsiteX5" fmla="*/ 40056 w 956601"/>
                  <a:gd name="connsiteY5" fmla="*/ 1089636 h 1114899"/>
                  <a:gd name="connsiteX6" fmla="*/ 638394 w 956601"/>
                  <a:gd name="connsiteY6" fmla="*/ 162145 h 1114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56601" h="1114899">
                    <a:moveTo>
                      <a:pt x="649311" y="0"/>
                    </a:moveTo>
                    <a:lnTo>
                      <a:pt x="956601" y="0"/>
                    </a:lnTo>
                    <a:lnTo>
                      <a:pt x="951973" y="97117"/>
                    </a:lnTo>
                    <a:cubicBezTo>
                      <a:pt x="906000" y="577465"/>
                      <a:pt x="522068" y="975272"/>
                      <a:pt x="5472" y="1113687"/>
                    </a:cubicBezTo>
                    <a:lnTo>
                      <a:pt x="0" y="1114899"/>
                    </a:lnTo>
                    <a:lnTo>
                      <a:pt x="40056" y="1089636"/>
                    </a:lnTo>
                    <a:cubicBezTo>
                      <a:pt x="365632" y="863013"/>
                      <a:pt x="587911" y="534591"/>
                      <a:pt x="638394" y="1621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1CC218CC-EEBC-1865-D9BB-837546C65874}"/>
                </a:ext>
              </a:extLst>
            </p:cNvPr>
            <p:cNvGrpSpPr/>
            <p:nvPr/>
          </p:nvGrpSpPr>
          <p:grpSpPr>
            <a:xfrm rot="14081671" flipV="1">
              <a:off x="1389673" y="2585074"/>
              <a:ext cx="800237" cy="959619"/>
              <a:chOff x="2664127" y="3374455"/>
              <a:chExt cx="1201975" cy="1567649"/>
            </a:xfrm>
          </p:grpSpPr>
          <p:sp>
            <p:nvSpPr>
              <p:cNvPr id="18" name="二等辺三角形 17">
                <a:extLst>
                  <a:ext uri="{FF2B5EF4-FFF2-40B4-BE49-F238E27FC236}">
                    <a16:creationId xmlns:a16="http://schemas.microsoft.com/office/drawing/2014/main" id="{F2F7520D-B9C9-EE46-43C0-1974C9EE110E}"/>
                  </a:ext>
                </a:extLst>
              </p:cNvPr>
              <p:cNvSpPr/>
              <p:nvPr/>
            </p:nvSpPr>
            <p:spPr>
              <a:xfrm rot="21516842">
                <a:off x="3025444" y="3374455"/>
                <a:ext cx="840658" cy="471949"/>
              </a:xfrm>
              <a:prstGeom prst="triangle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19" name="フリーフォーム: 図形 18">
                <a:extLst>
                  <a:ext uri="{FF2B5EF4-FFF2-40B4-BE49-F238E27FC236}">
                    <a16:creationId xmlns:a16="http://schemas.microsoft.com/office/drawing/2014/main" id="{91521E69-6981-7659-CD42-1242DA646433}"/>
                  </a:ext>
                </a:extLst>
              </p:cNvPr>
              <p:cNvSpPr/>
              <p:nvPr/>
            </p:nvSpPr>
            <p:spPr>
              <a:xfrm>
                <a:off x="2664127" y="3827205"/>
                <a:ext cx="956601" cy="1114899"/>
              </a:xfrm>
              <a:custGeom>
                <a:avLst/>
                <a:gdLst>
                  <a:gd name="connsiteX0" fmla="*/ 649311 w 956601"/>
                  <a:gd name="connsiteY0" fmla="*/ 0 h 1114899"/>
                  <a:gd name="connsiteX1" fmla="*/ 956601 w 956601"/>
                  <a:gd name="connsiteY1" fmla="*/ 0 h 1114899"/>
                  <a:gd name="connsiteX2" fmla="*/ 951973 w 956601"/>
                  <a:gd name="connsiteY2" fmla="*/ 97117 h 1114899"/>
                  <a:gd name="connsiteX3" fmla="*/ 5472 w 956601"/>
                  <a:gd name="connsiteY3" fmla="*/ 1113687 h 1114899"/>
                  <a:gd name="connsiteX4" fmla="*/ 0 w 956601"/>
                  <a:gd name="connsiteY4" fmla="*/ 1114899 h 1114899"/>
                  <a:gd name="connsiteX5" fmla="*/ 40056 w 956601"/>
                  <a:gd name="connsiteY5" fmla="*/ 1089636 h 1114899"/>
                  <a:gd name="connsiteX6" fmla="*/ 638394 w 956601"/>
                  <a:gd name="connsiteY6" fmla="*/ 162145 h 1114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56601" h="1114899">
                    <a:moveTo>
                      <a:pt x="649311" y="0"/>
                    </a:moveTo>
                    <a:lnTo>
                      <a:pt x="956601" y="0"/>
                    </a:lnTo>
                    <a:lnTo>
                      <a:pt x="951973" y="97117"/>
                    </a:lnTo>
                    <a:cubicBezTo>
                      <a:pt x="906000" y="577465"/>
                      <a:pt x="522068" y="975272"/>
                      <a:pt x="5472" y="1113687"/>
                    </a:cubicBezTo>
                    <a:lnTo>
                      <a:pt x="0" y="1114899"/>
                    </a:lnTo>
                    <a:lnTo>
                      <a:pt x="40056" y="1089636"/>
                    </a:lnTo>
                    <a:cubicBezTo>
                      <a:pt x="365632" y="863013"/>
                      <a:pt x="587911" y="534591"/>
                      <a:pt x="638394" y="1621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DBABD0C2-66B5-256B-4604-E348FEFAC56D}"/>
                </a:ext>
              </a:extLst>
            </p:cNvPr>
            <p:cNvSpPr txBox="1"/>
            <p:nvPr/>
          </p:nvSpPr>
          <p:spPr>
            <a:xfrm>
              <a:off x="4832338" y="2938238"/>
              <a:ext cx="17007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000" b="1" dirty="0">
                  <a:solidFill>
                    <a:schemeClr val="accent4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変化</a:t>
              </a:r>
              <a:endParaRPr lang="en-US" altLang="ja-JP" sz="20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D3D28F20-D312-FC56-A45A-9A9DD0F018F0}"/>
                </a:ext>
              </a:extLst>
            </p:cNvPr>
            <p:cNvSpPr txBox="1"/>
            <p:nvPr/>
          </p:nvSpPr>
          <p:spPr>
            <a:xfrm>
              <a:off x="2550709" y="5935209"/>
              <a:ext cx="17007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000" b="1" dirty="0">
                  <a:solidFill>
                    <a:schemeClr val="accent4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変化</a:t>
              </a:r>
              <a:endParaRPr lang="en-US" altLang="ja-JP" sz="20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032857B8-91F1-CA95-91BD-24CB159AB079}"/>
                </a:ext>
              </a:extLst>
            </p:cNvPr>
            <p:cNvSpPr txBox="1"/>
            <p:nvPr/>
          </p:nvSpPr>
          <p:spPr>
            <a:xfrm>
              <a:off x="0" y="2983833"/>
              <a:ext cx="17007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000" b="1" dirty="0">
                  <a:solidFill>
                    <a:schemeClr val="accent4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変化</a:t>
              </a:r>
              <a:endParaRPr lang="en-US" altLang="ja-JP" sz="20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</p:grpSp>
      <p:sp>
        <p:nvSpPr>
          <p:cNvPr id="25" name="楕円 24">
            <a:extLst>
              <a:ext uri="{FF2B5EF4-FFF2-40B4-BE49-F238E27FC236}">
                <a16:creationId xmlns:a16="http://schemas.microsoft.com/office/drawing/2014/main" id="{FA69373F-043A-BD62-065E-9238200A2914}"/>
              </a:ext>
            </a:extLst>
          </p:cNvPr>
          <p:cNvSpPr/>
          <p:nvPr/>
        </p:nvSpPr>
        <p:spPr>
          <a:xfrm>
            <a:off x="7462655" y="1651262"/>
            <a:ext cx="323850" cy="3238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glow rad="101600">
              <a:schemeClr val="accent2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47A74F06-9B64-1B4A-43BA-C938BE525936}"/>
              </a:ext>
            </a:extLst>
          </p:cNvPr>
          <p:cNvSpPr/>
          <p:nvPr/>
        </p:nvSpPr>
        <p:spPr>
          <a:xfrm>
            <a:off x="8108150" y="1651112"/>
            <a:ext cx="324000" cy="324000"/>
          </a:xfrm>
          <a:prstGeom prst="ellipse">
            <a:avLst/>
          </a:prstGeom>
          <a:solidFill>
            <a:srgbClr val="46877B"/>
          </a:solidFill>
          <a:ln>
            <a:solidFill>
              <a:srgbClr val="46877B"/>
            </a:solidFill>
          </a:ln>
          <a:effectLst>
            <a:glow rad="101600">
              <a:srgbClr val="46877B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804C8D84-DF1A-9E36-6B35-4F08C09A0AEE}"/>
              </a:ext>
            </a:extLst>
          </p:cNvPr>
          <p:cNvSpPr/>
          <p:nvPr/>
        </p:nvSpPr>
        <p:spPr>
          <a:xfrm>
            <a:off x="7730366" y="2165069"/>
            <a:ext cx="342900" cy="33326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57C0E608-BA74-F485-BAE3-702170BC32CC}"/>
              </a:ext>
            </a:extLst>
          </p:cNvPr>
          <p:cNvSpPr/>
          <p:nvPr/>
        </p:nvSpPr>
        <p:spPr>
          <a:xfrm>
            <a:off x="8528263" y="3060360"/>
            <a:ext cx="2901487" cy="1236539"/>
          </a:xfrm>
          <a:custGeom>
            <a:avLst/>
            <a:gdLst>
              <a:gd name="connsiteX0" fmla="*/ 0 w 2901487"/>
              <a:gd name="connsiteY0" fmla="*/ 618270 h 1236539"/>
              <a:gd name="connsiteX1" fmla="*/ 1450744 w 2901487"/>
              <a:gd name="connsiteY1" fmla="*/ 0 h 1236539"/>
              <a:gd name="connsiteX2" fmla="*/ 2901488 w 2901487"/>
              <a:gd name="connsiteY2" fmla="*/ 618270 h 1236539"/>
              <a:gd name="connsiteX3" fmla="*/ 1450744 w 2901487"/>
              <a:gd name="connsiteY3" fmla="*/ 1236540 h 1236539"/>
              <a:gd name="connsiteX4" fmla="*/ 0 w 2901487"/>
              <a:gd name="connsiteY4" fmla="*/ 618270 h 123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01487" h="1236539" fill="none" extrusionOk="0">
                <a:moveTo>
                  <a:pt x="0" y="618270"/>
                </a:moveTo>
                <a:cubicBezTo>
                  <a:pt x="84712" y="196294"/>
                  <a:pt x="764269" y="7572"/>
                  <a:pt x="1450744" y="0"/>
                </a:cubicBezTo>
                <a:cubicBezTo>
                  <a:pt x="2280633" y="48997"/>
                  <a:pt x="2861081" y="275941"/>
                  <a:pt x="2901488" y="618270"/>
                </a:cubicBezTo>
                <a:cubicBezTo>
                  <a:pt x="3011552" y="975692"/>
                  <a:pt x="2166690" y="1197621"/>
                  <a:pt x="1450744" y="1236540"/>
                </a:cubicBezTo>
                <a:cubicBezTo>
                  <a:pt x="618922" y="1245671"/>
                  <a:pt x="36345" y="910461"/>
                  <a:pt x="0" y="618270"/>
                </a:cubicBezTo>
                <a:close/>
              </a:path>
              <a:path w="2901487" h="1236539" stroke="0" extrusionOk="0">
                <a:moveTo>
                  <a:pt x="0" y="618270"/>
                </a:moveTo>
                <a:cubicBezTo>
                  <a:pt x="-7565" y="290082"/>
                  <a:pt x="641644" y="-3252"/>
                  <a:pt x="1450744" y="0"/>
                </a:cubicBezTo>
                <a:cubicBezTo>
                  <a:pt x="2306126" y="-7995"/>
                  <a:pt x="2871529" y="331374"/>
                  <a:pt x="2901488" y="618270"/>
                </a:cubicBezTo>
                <a:cubicBezTo>
                  <a:pt x="2849516" y="977102"/>
                  <a:pt x="2227727" y="1265205"/>
                  <a:pt x="1450744" y="1236540"/>
                </a:cubicBezTo>
                <a:cubicBezTo>
                  <a:pt x="683291" y="1214685"/>
                  <a:pt x="-15441" y="963273"/>
                  <a:pt x="0" y="618270"/>
                </a:cubicBezTo>
                <a:close/>
              </a:path>
            </a:pathLst>
          </a:custGeom>
          <a:solidFill>
            <a:srgbClr val="D3E9E5"/>
          </a:solidFill>
          <a:ln>
            <a:solidFill>
              <a:srgbClr val="D3E9E5"/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11994F12-90A6-E96A-5BE6-5E9F08D17B74}"/>
              </a:ext>
            </a:extLst>
          </p:cNvPr>
          <p:cNvSpPr/>
          <p:nvPr/>
        </p:nvSpPr>
        <p:spPr>
          <a:xfrm>
            <a:off x="9518584" y="1567812"/>
            <a:ext cx="2235127" cy="2177274"/>
          </a:xfrm>
          <a:custGeom>
            <a:avLst/>
            <a:gdLst>
              <a:gd name="connsiteX0" fmla="*/ 0 w 2235127"/>
              <a:gd name="connsiteY0" fmla="*/ 1088637 h 2177274"/>
              <a:gd name="connsiteX1" fmla="*/ 1117564 w 2235127"/>
              <a:gd name="connsiteY1" fmla="*/ 0 h 2177274"/>
              <a:gd name="connsiteX2" fmla="*/ 2235128 w 2235127"/>
              <a:gd name="connsiteY2" fmla="*/ 1088637 h 2177274"/>
              <a:gd name="connsiteX3" fmla="*/ 1117564 w 2235127"/>
              <a:gd name="connsiteY3" fmla="*/ 2177274 h 2177274"/>
              <a:gd name="connsiteX4" fmla="*/ 0 w 2235127"/>
              <a:gd name="connsiteY4" fmla="*/ 1088637 h 2177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5127" h="2177274" fill="none" extrusionOk="0">
                <a:moveTo>
                  <a:pt x="0" y="1088637"/>
                </a:moveTo>
                <a:cubicBezTo>
                  <a:pt x="-78231" y="501361"/>
                  <a:pt x="470933" y="81460"/>
                  <a:pt x="1117564" y="0"/>
                </a:cubicBezTo>
                <a:cubicBezTo>
                  <a:pt x="1655506" y="-29676"/>
                  <a:pt x="2249283" y="494351"/>
                  <a:pt x="2235128" y="1088637"/>
                </a:cubicBezTo>
                <a:cubicBezTo>
                  <a:pt x="2256564" y="1635402"/>
                  <a:pt x="1745396" y="2193472"/>
                  <a:pt x="1117564" y="2177274"/>
                </a:cubicBezTo>
                <a:cubicBezTo>
                  <a:pt x="511602" y="2187319"/>
                  <a:pt x="85868" y="1650356"/>
                  <a:pt x="0" y="1088637"/>
                </a:cubicBezTo>
                <a:close/>
              </a:path>
              <a:path w="2235127" h="2177274" stroke="0" extrusionOk="0">
                <a:moveTo>
                  <a:pt x="0" y="1088637"/>
                </a:moveTo>
                <a:cubicBezTo>
                  <a:pt x="44180" y="558178"/>
                  <a:pt x="501211" y="-92223"/>
                  <a:pt x="1117564" y="0"/>
                </a:cubicBezTo>
                <a:cubicBezTo>
                  <a:pt x="1755182" y="98031"/>
                  <a:pt x="2176597" y="447074"/>
                  <a:pt x="2235128" y="1088637"/>
                </a:cubicBezTo>
                <a:cubicBezTo>
                  <a:pt x="2248407" y="1590409"/>
                  <a:pt x="1732930" y="2112771"/>
                  <a:pt x="1117564" y="2177274"/>
                </a:cubicBezTo>
                <a:cubicBezTo>
                  <a:pt x="512908" y="2113663"/>
                  <a:pt x="14757" y="1627634"/>
                  <a:pt x="0" y="108863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366946843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lang="ja-JP" altLang="en-US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何か</a:t>
            </a:r>
            <a:endParaRPr lang="en-US" altLang="ja-JP" sz="28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dirty="0">
                <a:solidFill>
                  <a:schemeClr val="bg1"/>
                </a:solidFill>
                <a:latin typeface="+mn-ea"/>
              </a:rPr>
              <a:t>メッセージ</a:t>
            </a:r>
            <a:endParaRPr lang="ja-JP" altLang="en-US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9B369ACC-5757-B80B-61BF-EC839E501C38}"/>
              </a:ext>
            </a:extLst>
          </p:cNvPr>
          <p:cNvSpPr/>
          <p:nvPr/>
        </p:nvSpPr>
        <p:spPr>
          <a:xfrm rot="20169432">
            <a:off x="8795580" y="3503340"/>
            <a:ext cx="3160032" cy="167421"/>
          </a:xfrm>
          <a:custGeom>
            <a:avLst/>
            <a:gdLst>
              <a:gd name="connsiteX0" fmla="*/ 0 w 3160032"/>
              <a:gd name="connsiteY0" fmla="*/ 0 h 167421"/>
              <a:gd name="connsiteX1" fmla="*/ 3160032 w 3160032"/>
              <a:gd name="connsiteY1" fmla="*/ 0 h 167421"/>
              <a:gd name="connsiteX2" fmla="*/ 3160032 w 3160032"/>
              <a:gd name="connsiteY2" fmla="*/ 167421 h 167421"/>
              <a:gd name="connsiteX3" fmla="*/ 0 w 3160032"/>
              <a:gd name="connsiteY3" fmla="*/ 167421 h 167421"/>
              <a:gd name="connsiteX4" fmla="*/ 0 w 3160032"/>
              <a:gd name="connsiteY4" fmla="*/ 0 h 167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60032" h="167421" fill="none" extrusionOk="0">
                <a:moveTo>
                  <a:pt x="0" y="0"/>
                </a:moveTo>
                <a:cubicBezTo>
                  <a:pt x="1576265" y="-130857"/>
                  <a:pt x="1695485" y="63250"/>
                  <a:pt x="3160032" y="0"/>
                </a:cubicBezTo>
                <a:cubicBezTo>
                  <a:pt x="3149888" y="54417"/>
                  <a:pt x="3161660" y="117978"/>
                  <a:pt x="3160032" y="167421"/>
                </a:cubicBezTo>
                <a:cubicBezTo>
                  <a:pt x="2559770" y="222085"/>
                  <a:pt x="1098592" y="215523"/>
                  <a:pt x="0" y="167421"/>
                </a:cubicBezTo>
                <a:cubicBezTo>
                  <a:pt x="-5" y="147243"/>
                  <a:pt x="-2866" y="55723"/>
                  <a:pt x="0" y="0"/>
                </a:cubicBezTo>
                <a:close/>
              </a:path>
              <a:path w="3160032" h="167421" stroke="0" extrusionOk="0">
                <a:moveTo>
                  <a:pt x="0" y="0"/>
                </a:moveTo>
                <a:cubicBezTo>
                  <a:pt x="1189394" y="93023"/>
                  <a:pt x="2837410" y="111448"/>
                  <a:pt x="3160032" y="0"/>
                </a:cubicBezTo>
                <a:cubicBezTo>
                  <a:pt x="3145341" y="75065"/>
                  <a:pt x="3161279" y="142728"/>
                  <a:pt x="3160032" y="167421"/>
                </a:cubicBezTo>
                <a:cubicBezTo>
                  <a:pt x="2786659" y="165537"/>
                  <a:pt x="902558" y="243552"/>
                  <a:pt x="0" y="167421"/>
                </a:cubicBezTo>
                <a:cubicBezTo>
                  <a:pt x="-7129" y="150251"/>
                  <a:pt x="4229" y="4513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00180860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十字形 30">
            <a:extLst>
              <a:ext uri="{FF2B5EF4-FFF2-40B4-BE49-F238E27FC236}">
                <a16:creationId xmlns:a16="http://schemas.microsoft.com/office/drawing/2014/main" id="{AE6B2308-93E3-CE3B-D6A4-F65B8B44608F}"/>
              </a:ext>
            </a:extLst>
          </p:cNvPr>
          <p:cNvSpPr/>
          <p:nvPr/>
        </p:nvSpPr>
        <p:spPr>
          <a:xfrm rot="2590055">
            <a:off x="8265921" y="4413059"/>
            <a:ext cx="1869719" cy="1886551"/>
          </a:xfrm>
          <a:custGeom>
            <a:avLst/>
            <a:gdLst>
              <a:gd name="connsiteX0" fmla="*/ 0 w 1869719"/>
              <a:gd name="connsiteY0" fmla="*/ 871682 h 1886551"/>
              <a:gd name="connsiteX1" fmla="*/ 871682 w 1869719"/>
              <a:gd name="connsiteY1" fmla="*/ 871682 h 1886551"/>
              <a:gd name="connsiteX2" fmla="*/ 871682 w 1869719"/>
              <a:gd name="connsiteY2" fmla="*/ 0 h 1886551"/>
              <a:gd name="connsiteX3" fmla="*/ 998037 w 1869719"/>
              <a:gd name="connsiteY3" fmla="*/ 0 h 1886551"/>
              <a:gd name="connsiteX4" fmla="*/ 998037 w 1869719"/>
              <a:gd name="connsiteY4" fmla="*/ 871682 h 1886551"/>
              <a:gd name="connsiteX5" fmla="*/ 1869719 w 1869719"/>
              <a:gd name="connsiteY5" fmla="*/ 871682 h 1886551"/>
              <a:gd name="connsiteX6" fmla="*/ 1869719 w 1869719"/>
              <a:gd name="connsiteY6" fmla="*/ 1014869 h 1886551"/>
              <a:gd name="connsiteX7" fmla="*/ 998037 w 1869719"/>
              <a:gd name="connsiteY7" fmla="*/ 1014869 h 1886551"/>
              <a:gd name="connsiteX8" fmla="*/ 998037 w 1869719"/>
              <a:gd name="connsiteY8" fmla="*/ 1886551 h 1886551"/>
              <a:gd name="connsiteX9" fmla="*/ 871682 w 1869719"/>
              <a:gd name="connsiteY9" fmla="*/ 1886551 h 1886551"/>
              <a:gd name="connsiteX10" fmla="*/ 871682 w 1869719"/>
              <a:gd name="connsiteY10" fmla="*/ 1014869 h 1886551"/>
              <a:gd name="connsiteX11" fmla="*/ 0 w 1869719"/>
              <a:gd name="connsiteY11" fmla="*/ 1014869 h 1886551"/>
              <a:gd name="connsiteX12" fmla="*/ 0 w 1869719"/>
              <a:gd name="connsiteY12" fmla="*/ 871682 h 188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69719" h="1886551" fill="none" extrusionOk="0">
                <a:moveTo>
                  <a:pt x="0" y="871682"/>
                </a:moveTo>
                <a:cubicBezTo>
                  <a:pt x="150577" y="878137"/>
                  <a:pt x="691672" y="826285"/>
                  <a:pt x="871682" y="871682"/>
                </a:cubicBezTo>
                <a:cubicBezTo>
                  <a:pt x="944600" y="699805"/>
                  <a:pt x="866968" y="165485"/>
                  <a:pt x="871682" y="0"/>
                </a:cubicBezTo>
                <a:cubicBezTo>
                  <a:pt x="917842" y="-3582"/>
                  <a:pt x="948566" y="-7301"/>
                  <a:pt x="998037" y="0"/>
                </a:cubicBezTo>
                <a:cubicBezTo>
                  <a:pt x="1034408" y="206213"/>
                  <a:pt x="958303" y="545702"/>
                  <a:pt x="998037" y="871682"/>
                </a:cubicBezTo>
                <a:cubicBezTo>
                  <a:pt x="1403914" y="918941"/>
                  <a:pt x="1768096" y="817161"/>
                  <a:pt x="1869719" y="871682"/>
                </a:cubicBezTo>
                <a:cubicBezTo>
                  <a:pt x="1862247" y="898346"/>
                  <a:pt x="1867979" y="944707"/>
                  <a:pt x="1869719" y="1014869"/>
                </a:cubicBezTo>
                <a:cubicBezTo>
                  <a:pt x="1548144" y="940983"/>
                  <a:pt x="1153210" y="1019821"/>
                  <a:pt x="998037" y="1014869"/>
                </a:cubicBezTo>
                <a:cubicBezTo>
                  <a:pt x="1038278" y="1306496"/>
                  <a:pt x="926672" y="1453007"/>
                  <a:pt x="998037" y="1886551"/>
                </a:cubicBezTo>
                <a:cubicBezTo>
                  <a:pt x="957192" y="1890993"/>
                  <a:pt x="910226" y="1892254"/>
                  <a:pt x="871682" y="1886551"/>
                </a:cubicBezTo>
                <a:cubicBezTo>
                  <a:pt x="900212" y="1470477"/>
                  <a:pt x="885227" y="1205920"/>
                  <a:pt x="871682" y="1014869"/>
                </a:cubicBezTo>
                <a:cubicBezTo>
                  <a:pt x="678222" y="1052749"/>
                  <a:pt x="371283" y="1038878"/>
                  <a:pt x="0" y="1014869"/>
                </a:cubicBezTo>
                <a:cubicBezTo>
                  <a:pt x="7573" y="960095"/>
                  <a:pt x="-108" y="893456"/>
                  <a:pt x="0" y="871682"/>
                </a:cubicBezTo>
                <a:close/>
              </a:path>
              <a:path w="1869719" h="1886551" stroke="0" extrusionOk="0">
                <a:moveTo>
                  <a:pt x="0" y="871682"/>
                </a:moveTo>
                <a:cubicBezTo>
                  <a:pt x="344289" y="885060"/>
                  <a:pt x="600800" y="905684"/>
                  <a:pt x="871682" y="871682"/>
                </a:cubicBezTo>
                <a:cubicBezTo>
                  <a:pt x="931893" y="628664"/>
                  <a:pt x="943650" y="370527"/>
                  <a:pt x="871682" y="0"/>
                </a:cubicBezTo>
                <a:cubicBezTo>
                  <a:pt x="893890" y="9838"/>
                  <a:pt x="946111" y="7517"/>
                  <a:pt x="998037" y="0"/>
                </a:cubicBezTo>
                <a:cubicBezTo>
                  <a:pt x="992055" y="159455"/>
                  <a:pt x="932820" y="532460"/>
                  <a:pt x="998037" y="871682"/>
                </a:cubicBezTo>
                <a:cubicBezTo>
                  <a:pt x="1357843" y="820993"/>
                  <a:pt x="1686362" y="905907"/>
                  <a:pt x="1869719" y="871682"/>
                </a:cubicBezTo>
                <a:cubicBezTo>
                  <a:pt x="1875174" y="925174"/>
                  <a:pt x="1873986" y="947346"/>
                  <a:pt x="1869719" y="1014869"/>
                </a:cubicBezTo>
                <a:cubicBezTo>
                  <a:pt x="1764808" y="1082825"/>
                  <a:pt x="1290886" y="1035898"/>
                  <a:pt x="998037" y="1014869"/>
                </a:cubicBezTo>
                <a:cubicBezTo>
                  <a:pt x="975473" y="1296156"/>
                  <a:pt x="935667" y="1781961"/>
                  <a:pt x="998037" y="1886551"/>
                </a:cubicBezTo>
                <a:cubicBezTo>
                  <a:pt x="962951" y="1880256"/>
                  <a:pt x="921537" y="1889798"/>
                  <a:pt x="871682" y="1886551"/>
                </a:cubicBezTo>
                <a:cubicBezTo>
                  <a:pt x="818077" y="1555126"/>
                  <a:pt x="859397" y="1130088"/>
                  <a:pt x="871682" y="1014869"/>
                </a:cubicBezTo>
                <a:cubicBezTo>
                  <a:pt x="608586" y="952921"/>
                  <a:pt x="306780" y="1005001"/>
                  <a:pt x="0" y="1014869"/>
                </a:cubicBezTo>
                <a:cubicBezTo>
                  <a:pt x="-3635" y="972697"/>
                  <a:pt x="-10926" y="894203"/>
                  <a:pt x="0" y="871682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3129110413">
                  <a:prstGeom prst="plus">
                    <a:avLst>
                      <a:gd name="adj" fmla="val 46621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4548D72B-CA5C-59FC-584F-E0EF5BBB25BA}"/>
              </a:ext>
            </a:extLst>
          </p:cNvPr>
          <p:cNvSpPr/>
          <p:nvPr/>
        </p:nvSpPr>
        <p:spPr>
          <a:xfrm>
            <a:off x="7090921" y="4792728"/>
            <a:ext cx="1253486" cy="1236539"/>
          </a:xfrm>
          <a:custGeom>
            <a:avLst/>
            <a:gdLst>
              <a:gd name="connsiteX0" fmla="*/ 0 w 1253486"/>
              <a:gd name="connsiteY0" fmla="*/ 618270 h 1236539"/>
              <a:gd name="connsiteX1" fmla="*/ 626743 w 1253486"/>
              <a:gd name="connsiteY1" fmla="*/ 0 h 1236539"/>
              <a:gd name="connsiteX2" fmla="*/ 1253486 w 1253486"/>
              <a:gd name="connsiteY2" fmla="*/ 618270 h 1236539"/>
              <a:gd name="connsiteX3" fmla="*/ 626743 w 1253486"/>
              <a:gd name="connsiteY3" fmla="*/ 1236540 h 1236539"/>
              <a:gd name="connsiteX4" fmla="*/ 0 w 1253486"/>
              <a:gd name="connsiteY4" fmla="*/ 618270 h 123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3486" h="1236539" extrusionOk="0">
                <a:moveTo>
                  <a:pt x="0" y="618270"/>
                </a:moveTo>
                <a:cubicBezTo>
                  <a:pt x="11333" y="288976"/>
                  <a:pt x="265442" y="19656"/>
                  <a:pt x="626743" y="0"/>
                </a:cubicBezTo>
                <a:cubicBezTo>
                  <a:pt x="963521" y="-49908"/>
                  <a:pt x="1223269" y="275473"/>
                  <a:pt x="1253486" y="618270"/>
                </a:cubicBezTo>
                <a:cubicBezTo>
                  <a:pt x="1256702" y="984230"/>
                  <a:pt x="1029945" y="1242942"/>
                  <a:pt x="626743" y="1236540"/>
                </a:cubicBezTo>
                <a:cubicBezTo>
                  <a:pt x="282897" y="1246744"/>
                  <a:pt x="5423" y="961932"/>
                  <a:pt x="0" y="618270"/>
                </a:cubicBezTo>
                <a:close/>
              </a:path>
            </a:pathLst>
          </a:custGeom>
          <a:noFill/>
          <a:ln w="76200">
            <a:solidFill>
              <a:schemeClr val="accent4">
                <a:lumMod val="40000"/>
                <a:lumOff val="60000"/>
              </a:schemeClr>
            </a:solidFill>
            <a:extLst>
              <a:ext uri="{C807C97D-BFC1-408E-A445-0C87EB9F89A2}">
                <ask:lineSketchStyleProps xmlns:ask="http://schemas.microsoft.com/office/drawing/2018/sketchyshapes" sd="1678478707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31234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99" y="1015999"/>
            <a:ext cx="11357897" cy="938159"/>
          </a:xfrm>
        </p:spPr>
        <p:txBody>
          <a:bodyPr/>
          <a:lstStyle/>
          <a:p>
            <a:r>
              <a:rPr lang="ja-JP" altLang="en-US" dirty="0"/>
              <a:t>３つあることが一目でわかる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ja-JP" altLang="en-US" dirty="0"/>
              <a:t>３</a:t>
            </a:r>
            <a:r>
              <a:rPr kumimoji="1" lang="ja-JP" altLang="en-US" dirty="0"/>
              <a:t>カードのレイアウトテンプレート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471271" y="1994510"/>
            <a:ext cx="3649340" cy="4622190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6B3703F-3442-4C13-A424-26EDC78FA83C}"/>
              </a:ext>
            </a:extLst>
          </p:cNvPr>
          <p:cNvSpPr/>
          <p:nvPr/>
        </p:nvSpPr>
        <p:spPr>
          <a:xfrm>
            <a:off x="4314710" y="1987780"/>
            <a:ext cx="3649340" cy="4622190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2938DBA-3C61-44F9-B40C-5EE6E7382AD8}"/>
              </a:ext>
            </a:extLst>
          </p:cNvPr>
          <p:cNvSpPr/>
          <p:nvPr/>
        </p:nvSpPr>
        <p:spPr>
          <a:xfrm>
            <a:off x="8131938" y="1994510"/>
            <a:ext cx="3649340" cy="4622190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531259" y="200659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6301C33-873B-474E-BF88-9FB516462188}"/>
              </a:ext>
            </a:extLst>
          </p:cNvPr>
          <p:cNvSpPr txBox="1"/>
          <p:nvPr/>
        </p:nvSpPr>
        <p:spPr>
          <a:xfrm>
            <a:off x="4358102" y="2003704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479700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21D5999-FC9D-4598-9163-72444CBA8BFD}"/>
              </a:ext>
            </a:extLst>
          </p:cNvPr>
          <p:cNvSpPr txBox="1"/>
          <p:nvPr/>
        </p:nvSpPr>
        <p:spPr>
          <a:xfrm>
            <a:off x="4333110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  <a:endParaRPr kumimoji="1" lang="ja-JP" altLang="en-US" sz="2800" b="1" dirty="0">
              <a:solidFill>
                <a:schemeClr val="accent4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150C880-B64C-462F-9C59-C613006463BF}"/>
              </a:ext>
            </a:extLst>
          </p:cNvPr>
          <p:cNvSpPr txBox="1"/>
          <p:nvPr/>
        </p:nvSpPr>
        <p:spPr>
          <a:xfrm>
            <a:off x="8202685" y="2003704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5A50A97-71BB-427E-9EEF-4F8464471794}"/>
              </a:ext>
            </a:extLst>
          </p:cNvPr>
          <p:cNvSpPr txBox="1"/>
          <p:nvPr/>
        </p:nvSpPr>
        <p:spPr>
          <a:xfrm>
            <a:off x="8148196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</p:spTree>
    <p:extLst>
      <p:ext uri="{BB962C8B-B14F-4D97-AF65-F5344CB8AC3E}">
        <p14:creationId xmlns:p14="http://schemas.microsoft.com/office/powerpoint/2010/main" val="1352494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99" y="1015999"/>
            <a:ext cx="11357897" cy="938159"/>
          </a:xfrm>
        </p:spPr>
        <p:txBody>
          <a:bodyPr/>
          <a:lstStyle/>
          <a:p>
            <a:r>
              <a:rPr lang="ja-JP" altLang="en-US" dirty="0"/>
              <a:t>順序関係がある場合は並列よりこちらが良い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ja-JP" altLang="en-US" dirty="0"/>
              <a:t>３</a:t>
            </a:r>
            <a:r>
              <a:rPr kumimoji="1" lang="ja-JP" altLang="en-US" dirty="0"/>
              <a:t>カードのレイアウトテンプレートのアレンジ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471270" y="1994510"/>
            <a:ext cx="4333735" cy="3452668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6B3703F-3442-4C13-A424-26EDC78FA83C}"/>
              </a:ext>
            </a:extLst>
          </p:cNvPr>
          <p:cNvSpPr/>
          <p:nvPr/>
        </p:nvSpPr>
        <p:spPr>
          <a:xfrm>
            <a:off x="3975496" y="2474477"/>
            <a:ext cx="4333735" cy="3461104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2938DBA-3C61-44F9-B40C-5EE6E7382AD8}"/>
              </a:ext>
            </a:extLst>
          </p:cNvPr>
          <p:cNvSpPr/>
          <p:nvPr/>
        </p:nvSpPr>
        <p:spPr>
          <a:xfrm>
            <a:off x="7479722" y="2962880"/>
            <a:ext cx="4333735" cy="3461104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531259" y="200659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6301C33-873B-474E-BF88-9FB516462188}"/>
              </a:ext>
            </a:extLst>
          </p:cNvPr>
          <p:cNvSpPr txBox="1"/>
          <p:nvPr/>
        </p:nvSpPr>
        <p:spPr>
          <a:xfrm>
            <a:off x="4018889" y="2490401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479700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21D5999-FC9D-4598-9163-72444CBA8BFD}"/>
              </a:ext>
            </a:extLst>
          </p:cNvPr>
          <p:cNvSpPr txBox="1"/>
          <p:nvPr/>
        </p:nvSpPr>
        <p:spPr>
          <a:xfrm>
            <a:off x="3993897" y="2767069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  <a:endParaRPr kumimoji="1" lang="ja-JP" altLang="en-US" sz="2800" b="1" dirty="0">
              <a:solidFill>
                <a:schemeClr val="accent4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150C880-B64C-462F-9C59-C613006463BF}"/>
              </a:ext>
            </a:extLst>
          </p:cNvPr>
          <p:cNvSpPr txBox="1"/>
          <p:nvPr/>
        </p:nvSpPr>
        <p:spPr>
          <a:xfrm>
            <a:off x="7550470" y="2972074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5A50A97-71BB-427E-9EEF-4F8464471794}"/>
              </a:ext>
            </a:extLst>
          </p:cNvPr>
          <p:cNvSpPr txBox="1"/>
          <p:nvPr/>
        </p:nvSpPr>
        <p:spPr>
          <a:xfrm>
            <a:off x="7495981" y="324874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17F509DC-624C-49A3-87E6-BBEE33EDEF3D}"/>
              </a:ext>
            </a:extLst>
          </p:cNvPr>
          <p:cNvGrpSpPr/>
          <p:nvPr/>
        </p:nvGrpSpPr>
        <p:grpSpPr>
          <a:xfrm rot="19356426" flipV="1">
            <a:off x="4678821" y="1901851"/>
            <a:ext cx="638334" cy="948153"/>
            <a:chOff x="2664127" y="3374455"/>
            <a:chExt cx="1201975" cy="1567649"/>
          </a:xfrm>
        </p:grpSpPr>
        <p:sp>
          <p:nvSpPr>
            <p:cNvPr id="15" name="二等辺三角形 14">
              <a:extLst>
                <a:ext uri="{FF2B5EF4-FFF2-40B4-BE49-F238E27FC236}">
                  <a16:creationId xmlns:a16="http://schemas.microsoft.com/office/drawing/2014/main" id="{9EEC710F-D694-4533-BCFA-E134D0A97020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6" name="フリーフォーム: 図形 15">
              <a:extLst>
                <a:ext uri="{FF2B5EF4-FFF2-40B4-BE49-F238E27FC236}">
                  <a16:creationId xmlns:a16="http://schemas.microsoft.com/office/drawing/2014/main" id="{15C81248-34D7-4734-9365-7AF9C9D6CE42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62916356-7E2D-4DCC-AB30-31745E58C8A8}"/>
              </a:ext>
            </a:extLst>
          </p:cNvPr>
          <p:cNvGrpSpPr/>
          <p:nvPr/>
        </p:nvGrpSpPr>
        <p:grpSpPr>
          <a:xfrm rot="19356426" flipV="1">
            <a:off x="8176087" y="2353531"/>
            <a:ext cx="638334" cy="948153"/>
            <a:chOff x="2664127" y="3374455"/>
            <a:chExt cx="1201975" cy="1567649"/>
          </a:xfrm>
        </p:grpSpPr>
        <p:sp>
          <p:nvSpPr>
            <p:cNvPr id="18" name="二等辺三角形 17">
              <a:extLst>
                <a:ext uri="{FF2B5EF4-FFF2-40B4-BE49-F238E27FC236}">
                  <a16:creationId xmlns:a16="http://schemas.microsoft.com/office/drawing/2014/main" id="{C87AD141-B943-4BC4-BD07-C571A6486C27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7964E781-5C13-4DB8-8006-A03F32235976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5325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99" y="1015999"/>
            <a:ext cx="11357897" cy="938159"/>
          </a:xfrm>
        </p:spPr>
        <p:txBody>
          <a:bodyPr/>
          <a:lstStyle/>
          <a:p>
            <a:r>
              <a:rPr lang="ja-JP" altLang="en-US" dirty="0"/>
              <a:t>カードの間隔やアスペクト比は適宜調整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 dirty="0"/>
              <a:t>４カードのレイアウトテンプレート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640876" y="1994510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700865" y="200659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649306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232DDF0-95D5-460E-AA94-DC8D8DD0F064}"/>
              </a:ext>
            </a:extLst>
          </p:cNvPr>
          <p:cNvSpPr/>
          <p:nvPr/>
        </p:nvSpPr>
        <p:spPr>
          <a:xfrm>
            <a:off x="640876" y="4391123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202D58C-18EE-4E67-9AEF-1DB098633F06}"/>
              </a:ext>
            </a:extLst>
          </p:cNvPr>
          <p:cNvSpPr txBox="1"/>
          <p:nvPr/>
        </p:nvSpPr>
        <p:spPr>
          <a:xfrm>
            <a:off x="700865" y="440321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  <a:endParaRPr kumimoji="1" lang="ja-JP" altLang="en-US" b="1" dirty="0">
              <a:solidFill>
                <a:schemeClr val="tx2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43829EA-747F-4BA0-8F66-AFA3FDC010E5}"/>
              </a:ext>
            </a:extLst>
          </p:cNvPr>
          <p:cNvSpPr txBox="1"/>
          <p:nvPr/>
        </p:nvSpPr>
        <p:spPr>
          <a:xfrm>
            <a:off x="649306" y="4676985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F1A11E8-9C9F-4A77-8B31-57D3139B4012}"/>
              </a:ext>
            </a:extLst>
          </p:cNvPr>
          <p:cNvSpPr/>
          <p:nvPr/>
        </p:nvSpPr>
        <p:spPr>
          <a:xfrm>
            <a:off x="6201018" y="1994510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05F87C2-6D93-4EA3-9EEA-55D3CDA272FA}"/>
              </a:ext>
            </a:extLst>
          </p:cNvPr>
          <p:cNvSpPr txBox="1"/>
          <p:nvPr/>
        </p:nvSpPr>
        <p:spPr>
          <a:xfrm>
            <a:off x="6261007" y="200659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C663FC7-C1AA-4982-A767-1FF58FE96905}"/>
              </a:ext>
            </a:extLst>
          </p:cNvPr>
          <p:cNvSpPr txBox="1"/>
          <p:nvPr/>
        </p:nvSpPr>
        <p:spPr>
          <a:xfrm>
            <a:off x="6209448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ACBC013-96B2-409F-A562-B589C1D0B1BD}"/>
              </a:ext>
            </a:extLst>
          </p:cNvPr>
          <p:cNvSpPr/>
          <p:nvPr/>
        </p:nvSpPr>
        <p:spPr>
          <a:xfrm>
            <a:off x="6201018" y="4391123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3373E90-C939-46D0-994B-AB3E8CD503F8}"/>
              </a:ext>
            </a:extLst>
          </p:cNvPr>
          <p:cNvSpPr txBox="1"/>
          <p:nvPr/>
        </p:nvSpPr>
        <p:spPr>
          <a:xfrm>
            <a:off x="6261007" y="440321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④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D3CB004-3604-4BD1-BEAE-D199DD31A9E0}"/>
              </a:ext>
            </a:extLst>
          </p:cNvPr>
          <p:cNvSpPr txBox="1"/>
          <p:nvPr/>
        </p:nvSpPr>
        <p:spPr>
          <a:xfrm>
            <a:off x="6209448" y="4676985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</p:spTree>
    <p:extLst>
      <p:ext uri="{BB962C8B-B14F-4D97-AF65-F5344CB8AC3E}">
        <p14:creationId xmlns:p14="http://schemas.microsoft.com/office/powerpoint/2010/main" val="3838289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F1A11E8-9C9F-4A77-8B31-57D3139B4012}"/>
              </a:ext>
            </a:extLst>
          </p:cNvPr>
          <p:cNvSpPr/>
          <p:nvPr/>
        </p:nvSpPr>
        <p:spPr>
          <a:xfrm>
            <a:off x="6201018" y="1994510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ACBC013-96B2-409F-A562-B589C1D0B1BD}"/>
              </a:ext>
            </a:extLst>
          </p:cNvPr>
          <p:cNvSpPr/>
          <p:nvPr/>
        </p:nvSpPr>
        <p:spPr>
          <a:xfrm>
            <a:off x="6201018" y="4391123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232DDF0-95D5-460E-AA94-DC8D8DD0F064}"/>
              </a:ext>
            </a:extLst>
          </p:cNvPr>
          <p:cNvSpPr/>
          <p:nvPr/>
        </p:nvSpPr>
        <p:spPr>
          <a:xfrm>
            <a:off x="640876" y="4391123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640876" y="1994510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99" y="1015999"/>
            <a:ext cx="11357897" cy="938159"/>
          </a:xfrm>
        </p:spPr>
        <p:txBody>
          <a:bodyPr/>
          <a:lstStyle/>
          <a:p>
            <a:r>
              <a:rPr lang="ja-JP" altLang="en-US" dirty="0"/>
              <a:t>循環がある場合はこんな感じが良い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 dirty="0"/>
              <a:t>４カードのレイアウトテンプレートのアレンジ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700865" y="200659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649306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202D58C-18EE-4E67-9AEF-1DB098633F06}"/>
              </a:ext>
            </a:extLst>
          </p:cNvPr>
          <p:cNvSpPr txBox="1"/>
          <p:nvPr/>
        </p:nvSpPr>
        <p:spPr>
          <a:xfrm>
            <a:off x="700865" y="440321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  <a:endParaRPr kumimoji="1" lang="ja-JP" altLang="en-US" b="1" dirty="0">
              <a:solidFill>
                <a:schemeClr val="tx2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43829EA-747F-4BA0-8F66-AFA3FDC010E5}"/>
              </a:ext>
            </a:extLst>
          </p:cNvPr>
          <p:cNvSpPr txBox="1"/>
          <p:nvPr/>
        </p:nvSpPr>
        <p:spPr>
          <a:xfrm>
            <a:off x="649306" y="4676985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05F87C2-6D93-4EA3-9EEA-55D3CDA272FA}"/>
              </a:ext>
            </a:extLst>
          </p:cNvPr>
          <p:cNvSpPr txBox="1"/>
          <p:nvPr/>
        </p:nvSpPr>
        <p:spPr>
          <a:xfrm>
            <a:off x="6261007" y="200659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C663FC7-C1AA-4982-A767-1FF58FE96905}"/>
              </a:ext>
            </a:extLst>
          </p:cNvPr>
          <p:cNvSpPr txBox="1"/>
          <p:nvPr/>
        </p:nvSpPr>
        <p:spPr>
          <a:xfrm>
            <a:off x="6209448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3373E90-C939-46D0-994B-AB3E8CD503F8}"/>
              </a:ext>
            </a:extLst>
          </p:cNvPr>
          <p:cNvSpPr txBox="1"/>
          <p:nvPr/>
        </p:nvSpPr>
        <p:spPr>
          <a:xfrm>
            <a:off x="6261007" y="440321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④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D3CB004-3604-4BD1-BEAE-D199DD31A9E0}"/>
              </a:ext>
            </a:extLst>
          </p:cNvPr>
          <p:cNvSpPr txBox="1"/>
          <p:nvPr/>
        </p:nvSpPr>
        <p:spPr>
          <a:xfrm>
            <a:off x="6209448" y="4676985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F763E3EA-C838-48BF-92C8-FD155CD72C61}"/>
              </a:ext>
            </a:extLst>
          </p:cNvPr>
          <p:cNvGrpSpPr/>
          <p:nvPr/>
        </p:nvGrpSpPr>
        <p:grpSpPr>
          <a:xfrm>
            <a:off x="5963376" y="5058404"/>
            <a:ext cx="595261" cy="523221"/>
            <a:chOff x="1572269" y="4816089"/>
            <a:chExt cx="938304" cy="840658"/>
          </a:xfrm>
        </p:grpSpPr>
        <p:sp>
          <p:nvSpPr>
            <p:cNvPr id="39" name="二等辺三角形 38">
              <a:extLst>
                <a:ext uri="{FF2B5EF4-FFF2-40B4-BE49-F238E27FC236}">
                  <a16:creationId xmlns:a16="http://schemas.microsoft.com/office/drawing/2014/main" id="{857E573D-CBEA-4840-BB8D-12A43C05AF2C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0" name="フリーフォーム: 図形 39">
              <a:extLst>
                <a:ext uri="{FF2B5EF4-FFF2-40B4-BE49-F238E27FC236}">
                  <a16:creationId xmlns:a16="http://schemas.microsoft.com/office/drawing/2014/main" id="{5EF6E50A-F8C0-4A0B-828C-3A1574F01379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98959377-C979-4DBC-91B0-EE8A4B495524}"/>
              </a:ext>
            </a:extLst>
          </p:cNvPr>
          <p:cNvGrpSpPr/>
          <p:nvPr/>
        </p:nvGrpSpPr>
        <p:grpSpPr>
          <a:xfrm rot="16200000">
            <a:off x="6871061" y="3852436"/>
            <a:ext cx="595261" cy="523221"/>
            <a:chOff x="1572269" y="4816089"/>
            <a:chExt cx="938304" cy="840658"/>
          </a:xfrm>
        </p:grpSpPr>
        <p:sp>
          <p:nvSpPr>
            <p:cNvPr id="42" name="二等辺三角形 41">
              <a:extLst>
                <a:ext uri="{FF2B5EF4-FFF2-40B4-BE49-F238E27FC236}">
                  <a16:creationId xmlns:a16="http://schemas.microsoft.com/office/drawing/2014/main" id="{D24E386F-2924-40CC-9E36-E7C432F87F61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3" name="フリーフォーム: 図形 42">
              <a:extLst>
                <a:ext uri="{FF2B5EF4-FFF2-40B4-BE49-F238E27FC236}">
                  <a16:creationId xmlns:a16="http://schemas.microsoft.com/office/drawing/2014/main" id="{01947CE4-9925-438C-87B9-4BD670E28BBC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3F72FAD5-5227-424C-B040-A021696E413C}"/>
              </a:ext>
            </a:extLst>
          </p:cNvPr>
          <p:cNvGrpSpPr/>
          <p:nvPr/>
        </p:nvGrpSpPr>
        <p:grpSpPr>
          <a:xfrm rot="10800000">
            <a:off x="5622654" y="3077138"/>
            <a:ext cx="595261" cy="523221"/>
            <a:chOff x="1572269" y="4816089"/>
            <a:chExt cx="938304" cy="840658"/>
          </a:xfrm>
        </p:grpSpPr>
        <p:sp>
          <p:nvSpPr>
            <p:cNvPr id="45" name="二等辺三角形 44">
              <a:extLst>
                <a:ext uri="{FF2B5EF4-FFF2-40B4-BE49-F238E27FC236}">
                  <a16:creationId xmlns:a16="http://schemas.microsoft.com/office/drawing/2014/main" id="{CC9CF80C-33A0-4CD9-A492-0F5FE96D7E9F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6" name="フリーフォーム: 図形 45">
              <a:extLst>
                <a:ext uri="{FF2B5EF4-FFF2-40B4-BE49-F238E27FC236}">
                  <a16:creationId xmlns:a16="http://schemas.microsoft.com/office/drawing/2014/main" id="{464BB2E2-722B-44B5-98C5-2E999D1E52E1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DF776DC2-B0C8-4C4B-870E-11E5094A648C}"/>
              </a:ext>
            </a:extLst>
          </p:cNvPr>
          <p:cNvGrpSpPr/>
          <p:nvPr/>
        </p:nvGrpSpPr>
        <p:grpSpPr>
          <a:xfrm rot="5400000">
            <a:off x="4798844" y="4214160"/>
            <a:ext cx="595261" cy="523221"/>
            <a:chOff x="1572269" y="4816089"/>
            <a:chExt cx="938304" cy="840658"/>
          </a:xfrm>
        </p:grpSpPr>
        <p:sp>
          <p:nvSpPr>
            <p:cNvPr id="48" name="二等辺三角形 47">
              <a:extLst>
                <a:ext uri="{FF2B5EF4-FFF2-40B4-BE49-F238E27FC236}">
                  <a16:creationId xmlns:a16="http://schemas.microsoft.com/office/drawing/2014/main" id="{B73EA7B5-2C86-4BC2-927B-676AE8EE2F83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9" name="フリーフォーム: 図形 48">
              <a:extLst>
                <a:ext uri="{FF2B5EF4-FFF2-40B4-BE49-F238E27FC236}">
                  <a16:creationId xmlns:a16="http://schemas.microsoft.com/office/drawing/2014/main" id="{6394FB25-B87E-4AD3-80ED-6FD1473CADC2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94194877"/>
      </p:ext>
    </p:extLst>
  </p:cSld>
  <p:clrMapOvr>
    <a:masterClrMapping/>
  </p:clrMapOvr>
</p:sld>
</file>

<file path=ppt/theme/theme1.xml><?xml version="1.0" encoding="utf-8"?>
<a:theme xmlns:a="http://schemas.openxmlformats.org/drawingml/2006/main" name="研究発表スライドマスタ">
  <a:themeElements>
    <a:clrScheme name="ユーザー定義 8">
      <a:dk1>
        <a:srgbClr val="4D4D4D"/>
      </a:dk1>
      <a:lt1>
        <a:srgbClr val="F8F8F8"/>
      </a:lt1>
      <a:dk2>
        <a:srgbClr val="7F7F7F"/>
      </a:dk2>
      <a:lt2>
        <a:srgbClr val="B2B2B2"/>
      </a:lt2>
      <a:accent1>
        <a:srgbClr val="2E5B96"/>
      </a:accent1>
      <a:accent2>
        <a:srgbClr val="C03936"/>
      </a:accent2>
      <a:accent3>
        <a:srgbClr val="ED7D31"/>
      </a:accent3>
      <a:accent4>
        <a:srgbClr val="3E9288"/>
      </a:accent4>
      <a:accent5>
        <a:srgbClr val="4747C1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ンプレート" id="{58458E5F-FB60-C34D-AE9A-C2D9E8C6351E}" vid="{B9B23DC5-AAC1-6E41-875D-A9712F28839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E7783413B678BA4F83764129A5DB4607" ma:contentTypeVersion="0" ma:contentTypeDescription="新しいドキュメントを作成します。" ma:contentTypeScope="" ma:versionID="36bbfa3e05015206d9e02241ed477da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fa5fc393d419cfd9816b88a984ff78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EFD21F3-24CC-4605-A5CE-D678D2531A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74453E-F96D-478A-A3EE-1788D5BEB2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B33ED81-A378-482E-B710-0D21A32023B2}">
  <ds:schemaRefs>
    <ds:schemaRef ds:uri="http://www.w3.org/XML/1998/namespace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研究発表スライドマスタ</Template>
  <TotalTime>1442</TotalTime>
  <Words>802</Words>
  <Application>Microsoft Macintosh PowerPoint</Application>
  <PresentationFormat>ワイド画面</PresentationFormat>
  <Paragraphs>199</Paragraphs>
  <Slides>17</Slides>
  <Notes>2</Notes>
  <HiddenSlides>13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5" baseType="lpstr">
      <vt:lpstr>ＭＳ Ｐゴシック</vt:lpstr>
      <vt:lpstr>Yu Gothic</vt:lpstr>
      <vt:lpstr>Yu Gothic</vt:lpstr>
      <vt:lpstr>游ゴシック Medium</vt:lpstr>
      <vt:lpstr>Arial</vt:lpstr>
      <vt:lpstr>Merriweather Sans</vt:lpstr>
      <vt:lpstr>Wingdings</vt:lpstr>
      <vt:lpstr>研究発表スライドマスタ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寸法や色は場合に応じて調整しましょう</vt:lpstr>
      <vt:lpstr>PowerPoint プレゼンテーション</vt:lpstr>
      <vt:lpstr>３つあることが一目でわかる</vt:lpstr>
      <vt:lpstr>順序関係がある場合は並列よりこちらが良い</vt:lpstr>
      <vt:lpstr>カードの間隔やアスペクト比は適宜調整</vt:lpstr>
      <vt:lpstr>循環がある場合はこんな感じが良い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NAKAMURA Yusaku</dc:creator>
  <cp:lastModifiedBy>NAKAMURA Yusaku</cp:lastModifiedBy>
  <cp:revision>6</cp:revision>
  <dcterms:created xsi:type="dcterms:W3CDTF">2024-09-30T04:16:56Z</dcterms:created>
  <dcterms:modified xsi:type="dcterms:W3CDTF">2024-10-01T04:19:33Z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0x010100E7783413B678BA4F83764129A5DB4607</vt:lpwstr>
  </property>
</Properties>
</file>