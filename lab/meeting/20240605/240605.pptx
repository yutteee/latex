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22"/>
  </p:notesMasterIdLst>
  <p:handoutMasterIdLst>
    <p:handoutMasterId r:id="rId23"/>
  </p:handoutMasterIdLst>
  <p:sldIdLst>
    <p:sldId id="327" r:id="rId5"/>
    <p:sldId id="323" r:id="rId6"/>
    <p:sldId id="318" r:id="rId7"/>
    <p:sldId id="319" r:id="rId8"/>
    <p:sldId id="320" r:id="rId9"/>
    <p:sldId id="326" r:id="rId10"/>
    <p:sldId id="314" r:id="rId11"/>
    <p:sldId id="321" r:id="rId12"/>
    <p:sldId id="317" r:id="rId13"/>
    <p:sldId id="310" r:id="rId14"/>
    <p:sldId id="295" r:id="rId15"/>
    <p:sldId id="298" r:id="rId16"/>
    <p:sldId id="304" r:id="rId17"/>
    <p:sldId id="300" r:id="rId18"/>
    <p:sldId id="302" r:id="rId19"/>
    <p:sldId id="301" r:id="rId20"/>
    <p:sldId id="303" r:id="rId2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8F8F8"/>
    <a:srgbClr val="3B6FBB"/>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973" autoAdjust="0"/>
    <p:restoredTop sz="94660"/>
  </p:normalViewPr>
  <p:slideViewPr>
    <p:cSldViewPr snapToGrid="0">
      <p:cViewPr varScale="1">
        <p:scale>
          <a:sx n="161" d="100"/>
          <a:sy n="161" d="100"/>
        </p:scale>
        <p:origin x="216" y="208"/>
      </p:cViewPr>
      <p:guideLst/>
    </p:cSldViewPr>
  </p:slideViewPr>
  <p:notesTextViewPr>
    <p:cViewPr>
      <p:scale>
        <a:sx n="1" d="1"/>
        <a:sy n="1" d="1"/>
      </p:scale>
      <p:origin x="0" y="0"/>
    </p:cViewPr>
  </p:notesTextViewPr>
  <p:notesViewPr>
    <p:cSldViewPr snapToGrid="0">
      <p:cViewPr varScale="1">
        <p:scale>
          <a:sx n="49" d="100"/>
          <a:sy n="49" d="100"/>
        </p:scale>
        <p:origin x="2733" y="3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Users/yutteee/univ/latex/&#30740;&#31350;/4/Book1.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4"/>
            </a:solidFill>
            <a:ln>
              <a:noFill/>
            </a:ln>
            <a:effectLst/>
          </c:spPr>
          <c:invertIfNegative val="0"/>
          <c:errBars>
            <c:errBarType val="both"/>
            <c:errValType val="cust"/>
            <c:noEndCap val="0"/>
            <c:plus>
              <c:numRef>
                <c:f>Sheet1!$B$28:$G$28</c:f>
                <c:numCache>
                  <c:formatCode>General</c:formatCode>
                  <c:ptCount val="6"/>
                  <c:pt idx="0">
                    <c:v>151018.15969109716</c:v>
                  </c:pt>
                  <c:pt idx="1">
                    <c:v>43555.511963143195</c:v>
                  </c:pt>
                  <c:pt idx="2">
                    <c:v>46107.289876667259</c:v>
                  </c:pt>
                  <c:pt idx="3">
                    <c:v>25139.026096383364</c:v>
                  </c:pt>
                  <c:pt idx="4">
                    <c:v>41315.072308543007</c:v>
                  </c:pt>
                  <c:pt idx="5">
                    <c:v>35830.679882686403</c:v>
                  </c:pt>
                </c:numCache>
              </c:numRef>
            </c:plus>
            <c:minus>
              <c:numRef>
                <c:f>Sheet1!$B$28:$G$28</c:f>
                <c:numCache>
                  <c:formatCode>General</c:formatCode>
                  <c:ptCount val="6"/>
                  <c:pt idx="0">
                    <c:v>151018.15969109716</c:v>
                  </c:pt>
                  <c:pt idx="1">
                    <c:v>43555.511963143195</c:v>
                  </c:pt>
                  <c:pt idx="2">
                    <c:v>46107.289876667259</c:v>
                  </c:pt>
                  <c:pt idx="3">
                    <c:v>25139.026096383364</c:v>
                  </c:pt>
                  <c:pt idx="4">
                    <c:v>41315.072308543007</c:v>
                  </c:pt>
                  <c:pt idx="5">
                    <c:v>35830.679882686403</c:v>
                  </c:pt>
                </c:numCache>
              </c:numRef>
            </c:minus>
            <c:spPr>
              <a:noFill/>
              <a:ln w="28575" cap="flat" cmpd="sng" algn="ctr">
                <a:solidFill>
                  <a:schemeClr val="tx1"/>
                </a:solidFill>
                <a:round/>
              </a:ln>
              <a:effectLst/>
            </c:spPr>
          </c:errBars>
          <c:cat>
            <c:strRef>
              <c:f>Sheet1!$A$3:$F$3</c:f>
              <c:strCache>
                <c:ptCount val="6"/>
                <c:pt idx="0">
                  <c:v>12well 1/10希釈</c:v>
                </c:pt>
                <c:pt idx="1">
                  <c:v>12well 1/30希釈</c:v>
                </c:pt>
                <c:pt idx="2">
                  <c:v>12well 1/60希釈</c:v>
                </c:pt>
                <c:pt idx="3">
                  <c:v>24well 1/10希釈</c:v>
                </c:pt>
                <c:pt idx="4">
                  <c:v>24well 1/30希釈</c:v>
                </c:pt>
                <c:pt idx="5">
                  <c:v>24well 1/60希釈</c:v>
                </c:pt>
              </c:strCache>
            </c:strRef>
          </c:cat>
          <c:val>
            <c:numRef>
              <c:f>Sheet1!$B$27:$G$27</c:f>
              <c:numCache>
                <c:formatCode>General</c:formatCode>
                <c:ptCount val="6"/>
                <c:pt idx="0">
                  <c:v>349157.22132540587</c:v>
                </c:pt>
                <c:pt idx="1">
                  <c:v>483097.69667094335</c:v>
                </c:pt>
                <c:pt idx="2">
                  <c:v>427270.7479654848</c:v>
                </c:pt>
                <c:pt idx="3">
                  <c:v>438224.60531345912</c:v>
                </c:pt>
                <c:pt idx="4">
                  <c:v>429771.65561638406</c:v>
                </c:pt>
                <c:pt idx="5">
                  <c:v>459924.25387088669</c:v>
                </c:pt>
              </c:numCache>
            </c:numRef>
          </c:val>
          <c:extLst>
            <c:ext xmlns:c16="http://schemas.microsoft.com/office/drawing/2014/chart" uri="{C3380CC4-5D6E-409C-BE32-E72D297353CC}">
              <c16:uniqueId val="{00000000-FFB9-094D-A196-D22D0443B746}"/>
            </c:ext>
          </c:extLst>
        </c:ser>
        <c:dLbls>
          <c:showLegendKey val="0"/>
          <c:showVal val="0"/>
          <c:showCatName val="0"/>
          <c:showSerName val="0"/>
          <c:showPercent val="0"/>
          <c:showBubbleSize val="0"/>
        </c:dLbls>
        <c:gapWidth val="219"/>
        <c:overlap val="-27"/>
        <c:axId val="2099067776"/>
        <c:axId val="2098673024"/>
      </c:barChart>
      <c:catAx>
        <c:axId val="2099067776"/>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crossAx val="2098673024"/>
        <c:crosses val="autoZero"/>
        <c:auto val="1"/>
        <c:lblAlgn val="ctr"/>
        <c:lblOffset val="100"/>
        <c:noMultiLvlLbl val="0"/>
      </c:catAx>
      <c:valAx>
        <c:axId val="2098673024"/>
        <c:scaling>
          <c:orientation val="minMax"/>
        </c:scaling>
        <c:delete val="0"/>
        <c:axPos val="l"/>
        <c:title>
          <c:tx>
            <c:rich>
              <a:bodyPr rot="-54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r>
                  <a:rPr lang="en-US"/>
                  <a:t>Luc activity [-]</a:t>
                </a:r>
                <a:endParaRPr lang="ja-JP"/>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title>
        <c:numFmt formatCode="General" sourceLinked="1"/>
        <c:majorTickMark val="in"/>
        <c:minorTickMark val="none"/>
        <c:tickLblPos val="nextTo"/>
        <c:spPr>
          <a:noFill/>
          <a:ln>
            <a:solidFill>
              <a:schemeClr val="tx1"/>
            </a:solidFill>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Arial" panose="020B0604020202020204" pitchFamily="34" charset="0"/>
              </a:defRPr>
            </a:pPr>
            <a:endParaRPr lang="ja-JP"/>
          </a:p>
        </c:txPr>
        <c:crossAx val="209906777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solidFill>
            <a:schemeClr val="tx1"/>
          </a:solidFill>
          <a:latin typeface="Arial" panose="020B0604020202020204" pitchFamily="34" charset="0"/>
          <a:cs typeface="Arial" panose="020B0604020202020204" pitchFamily="34" charset="0"/>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064B9691-87D6-48EF-9BFD-698344D045A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286BE10E-3BBD-4023-B684-892AE173FF6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C02328F-004D-4D3A-9F80-6B7A705D1367}" type="datetimeFigureOut">
              <a:rPr kumimoji="1" lang="ja-JP" altLang="en-US" smtClean="0"/>
              <a:t>2024/6/6</a:t>
            </a:fld>
            <a:endParaRPr kumimoji="1" lang="ja-JP" altLang="en-US"/>
          </a:p>
        </p:txBody>
      </p:sp>
      <p:sp>
        <p:nvSpPr>
          <p:cNvPr id="4" name="フッター プレースホルダー 3">
            <a:extLst>
              <a:ext uri="{FF2B5EF4-FFF2-40B4-BE49-F238E27FC236}">
                <a16:creationId xmlns:a16="http://schemas.microsoft.com/office/drawing/2014/main" id="{F6367B9F-A0B4-4348-9C4B-89D15EDCB2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42CC2C2F-D89E-474B-9003-7069E7D90C0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DCC25F-5D23-455B-B707-89EC30CA97BB}" type="slidenum">
              <a:rPr kumimoji="1" lang="ja-JP" altLang="en-US" smtClean="0"/>
              <a:t>‹#›</a:t>
            </a:fld>
            <a:endParaRPr kumimoji="1" lang="ja-JP" altLang="en-US"/>
          </a:p>
        </p:txBody>
      </p:sp>
    </p:spTree>
    <p:extLst>
      <p:ext uri="{BB962C8B-B14F-4D97-AF65-F5344CB8AC3E}">
        <p14:creationId xmlns:p14="http://schemas.microsoft.com/office/powerpoint/2010/main" val="34457490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00887C-0EF1-4AC1-9E9B-79863B12620D}" type="datetimeFigureOut">
              <a:rPr kumimoji="1" lang="ja-JP" altLang="en-US" smtClean="0"/>
              <a:t>2024/6/6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9A420A-BDF0-4775-9670-07D3BFB5E94B}" type="slidenum">
              <a:rPr kumimoji="1" lang="ja-JP" altLang="en-US" smtClean="0"/>
              <a:t>‹#›</a:t>
            </a:fld>
            <a:endParaRPr kumimoji="1" lang="ja-JP" altLang="en-US"/>
          </a:p>
        </p:txBody>
      </p:sp>
    </p:spTree>
    <p:extLst>
      <p:ext uri="{BB962C8B-B14F-4D97-AF65-F5344CB8AC3E}">
        <p14:creationId xmlns:p14="http://schemas.microsoft.com/office/powerpoint/2010/main" val="179967786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1524000" y="2570163"/>
            <a:ext cx="9144000" cy="2387600"/>
          </a:xfrm>
        </p:spPr>
        <p:txBody>
          <a:bodyPr anchor="b">
            <a:noAutofit/>
          </a:bodyPr>
          <a:lstStyle>
            <a:lvl1pPr algn="l">
              <a:defRPr sz="4800" b="1">
                <a:solidFill>
                  <a:schemeClr val="tx1"/>
                </a:solidFill>
                <a:latin typeface="游ゴシック" panose="020B0400000000000000" pitchFamily="50" charset="-128"/>
                <a:ea typeface="游ゴシック" panose="020B0400000000000000" pitchFamily="50" charset="-128"/>
              </a:defRPr>
            </a:lvl1pPr>
          </a:lstStyle>
          <a:p>
            <a:r>
              <a:rPr kumimoji="1" lang="ja-JP" altLang="en-US" dirty="0"/>
              <a:t>発表の内容と構成が想像できる</a:t>
            </a:r>
            <a:br>
              <a:rPr kumimoji="1" lang="en-US" altLang="ja-JP" dirty="0"/>
            </a:br>
            <a:r>
              <a:rPr kumimoji="1" lang="ja-JP" altLang="en-US" dirty="0"/>
              <a:t>発表題目をここに書く．</a:t>
            </a:r>
            <a:br>
              <a:rPr kumimoji="1" lang="en-US" altLang="ja-JP" dirty="0"/>
            </a:br>
            <a:r>
              <a:rPr kumimoji="1" lang="ja-JP" altLang="en-US" dirty="0"/>
              <a:t>単語の途中で改行しない．</a:t>
            </a:r>
          </a:p>
        </p:txBody>
      </p:sp>
      <p:sp>
        <p:nvSpPr>
          <p:cNvPr id="3" name="サブタイトル 2"/>
          <p:cNvSpPr>
            <a:spLocks noGrp="1"/>
          </p:cNvSpPr>
          <p:nvPr>
            <p:ph type="subTitle" idx="1" hasCustomPrompt="1"/>
          </p:nvPr>
        </p:nvSpPr>
        <p:spPr>
          <a:xfrm>
            <a:off x="1524000" y="5110163"/>
            <a:ext cx="9144000" cy="561975"/>
          </a:xfrm>
        </p:spPr>
        <p:txBody>
          <a:bodyPr>
            <a:noAutofit/>
          </a:bodyPr>
          <a:lstStyle>
            <a:lvl1pPr marL="0" indent="0" algn="l">
              <a:buNone/>
              <a:defRPr sz="3600">
                <a:latin typeface="游ゴシック" panose="020B0400000000000000" pitchFamily="50" charset="-128"/>
                <a:ea typeface="游ゴシック" panose="020B0400000000000000" pitchFamily="50"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dirty="0"/>
              <a:t>発表者名</a:t>
            </a:r>
            <a:endParaRPr kumimoji="1" lang="en-US" altLang="ja-JP" dirty="0"/>
          </a:p>
        </p:txBody>
      </p:sp>
      <p:sp>
        <p:nvSpPr>
          <p:cNvPr id="11" name="テキスト プレースホルダー 10"/>
          <p:cNvSpPr>
            <a:spLocks noGrp="1"/>
          </p:cNvSpPr>
          <p:nvPr>
            <p:ph type="body" sz="quarter" idx="11" hasCustomPrompt="1"/>
          </p:nvPr>
        </p:nvSpPr>
        <p:spPr>
          <a:xfrm>
            <a:off x="1524000" y="5740400"/>
            <a:ext cx="9144000" cy="469900"/>
          </a:xfrm>
        </p:spPr>
        <p:txBody>
          <a:bodyPr/>
          <a:lstStyle>
            <a:lvl1pPr marL="0" indent="0" algn="l">
              <a:buNone/>
              <a:defRPr>
                <a:latin typeface="游ゴシック Medium" panose="020B0500000000000000" pitchFamily="50" charset="-128"/>
                <a:ea typeface="游ゴシック Medium" panose="020B0500000000000000" pitchFamily="50" charset="-128"/>
              </a:defRPr>
            </a:lvl1pPr>
          </a:lstStyle>
          <a:p>
            <a:pPr lvl="0"/>
            <a:r>
              <a:rPr kumimoji="1" lang="ja-JP" altLang="en-US" dirty="0"/>
              <a:t>身分や所属など．関連する</a:t>
            </a:r>
            <a:r>
              <a:rPr kumimoji="1" lang="en-US" altLang="ja-JP" dirty="0"/>
              <a:t>SNS</a:t>
            </a:r>
            <a:r>
              <a:rPr kumimoji="1" lang="ja-JP" altLang="en-US" dirty="0"/>
              <a:t>アカウントなども．</a:t>
            </a:r>
          </a:p>
        </p:txBody>
      </p:sp>
      <p:cxnSp>
        <p:nvCxnSpPr>
          <p:cNvPr id="13" name="直線コネクタ 12"/>
          <p:cNvCxnSpPr/>
          <p:nvPr userDrawn="1"/>
        </p:nvCxnSpPr>
        <p:spPr>
          <a:xfrm flipV="1">
            <a:off x="0" y="5029200"/>
            <a:ext cx="12192000"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5" name="テキスト プレースホルダー 14"/>
          <p:cNvSpPr>
            <a:spLocks noGrp="1"/>
          </p:cNvSpPr>
          <p:nvPr>
            <p:ph type="body" sz="quarter" idx="12" hasCustomPrompt="1"/>
          </p:nvPr>
        </p:nvSpPr>
        <p:spPr>
          <a:xfrm>
            <a:off x="8420098" y="152399"/>
            <a:ext cx="3594101" cy="378541"/>
          </a:xfrm>
          <a:ln>
            <a:noFill/>
          </a:ln>
        </p:spPr>
        <p:txBody>
          <a:bodyPr>
            <a:noAutofit/>
          </a:bodyPr>
          <a:lstStyle>
            <a:lvl1pPr marL="0" indent="0">
              <a:buNone/>
              <a:defRPr sz="2000">
                <a:solidFill>
                  <a:schemeClr val="tx2"/>
                </a:solidFill>
                <a:latin typeface="游ゴシック Medium" panose="020B0500000000000000" pitchFamily="50" charset="-128"/>
                <a:ea typeface="游ゴシック Medium" panose="020B0500000000000000" pitchFamily="50" charset="-128"/>
              </a:defRPr>
            </a:lvl1pPr>
          </a:lstStyle>
          <a:p>
            <a:pPr lvl="0"/>
            <a:r>
              <a:rPr kumimoji="1" lang="ja-JP" altLang="en-US" dirty="0"/>
              <a:t>会議名と日程を書いておく</a:t>
            </a:r>
          </a:p>
        </p:txBody>
      </p:sp>
      <p:sp>
        <p:nvSpPr>
          <p:cNvPr id="17" name="図プレースホルダー 16"/>
          <p:cNvSpPr>
            <a:spLocks noGrp="1"/>
          </p:cNvSpPr>
          <p:nvPr>
            <p:ph type="pic" sz="quarter" idx="13" hasCustomPrompt="1"/>
          </p:nvPr>
        </p:nvSpPr>
        <p:spPr>
          <a:xfrm>
            <a:off x="1523999" y="647700"/>
            <a:ext cx="9144000" cy="1841500"/>
          </a:xfrm>
        </p:spPr>
        <p:txBody>
          <a:bodyPr/>
          <a:lstStyle>
            <a:lvl1pPr marL="0" indent="0">
              <a:buNone/>
              <a:defRPr>
                <a:solidFill>
                  <a:schemeClr val="bg2"/>
                </a:solidFill>
                <a:latin typeface="游ゴシック Medium" panose="020B0500000000000000" pitchFamily="50" charset="-128"/>
                <a:ea typeface="游ゴシック Medium" panose="020B0500000000000000" pitchFamily="50" charset="-128"/>
              </a:defRPr>
            </a:lvl1pPr>
          </a:lstStyle>
          <a:p>
            <a:r>
              <a:rPr kumimoji="1" lang="ja-JP" altLang="en-US" dirty="0"/>
              <a:t>題目の説明の助けになる図や動画があれば載せる．</a:t>
            </a:r>
            <a:endParaRPr kumimoji="1" lang="en-US" altLang="ja-JP" dirty="0"/>
          </a:p>
        </p:txBody>
      </p:sp>
    </p:spTree>
    <p:extLst>
      <p:ext uri="{BB962C8B-B14F-4D97-AF65-F5344CB8AC3E}">
        <p14:creationId xmlns:p14="http://schemas.microsoft.com/office/powerpoint/2010/main" val="4212593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パラグラフスライド">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546100" y="6021647"/>
            <a:ext cx="11099800" cy="725176"/>
          </a:xfrm>
        </p:spPr>
        <p:txBody>
          <a:bodyPr>
            <a:noAutofit/>
          </a:bodyPr>
          <a:lstStyle>
            <a:lvl1pPr algn="ctr">
              <a:defRPr sz="2400" b="1" u="sng">
                <a:solidFill>
                  <a:schemeClr val="tx1"/>
                </a:solidFill>
                <a:latin typeface="游ゴシック" panose="020B0400000000000000" pitchFamily="50" charset="-128"/>
                <a:ea typeface="游ゴシック" panose="020B0400000000000000" pitchFamily="50" charset="-128"/>
              </a:defRPr>
            </a:lvl1pPr>
          </a:lstStyle>
          <a:p>
            <a:r>
              <a:rPr kumimoji="1" lang="ja-JP" altLang="en-US" dirty="0"/>
              <a:t>話題について伝えるべきメッセージ（問いの答え）</a:t>
            </a:r>
          </a:p>
        </p:txBody>
      </p:sp>
      <p:sp>
        <p:nvSpPr>
          <p:cNvPr id="3" name="コンテンツ プレースホルダー 2"/>
          <p:cNvSpPr>
            <a:spLocks noGrp="1"/>
          </p:cNvSpPr>
          <p:nvPr>
            <p:ph idx="1" hasCustomPrompt="1"/>
          </p:nvPr>
        </p:nvSpPr>
        <p:spPr>
          <a:xfrm>
            <a:off x="546100" y="1038484"/>
            <a:ext cx="11099800" cy="4797052"/>
          </a:xfrm>
        </p:spPr>
        <p:txBody>
          <a:bodyPr/>
          <a:lstStyle>
            <a:lvl1pPr marL="457200" indent="-457200">
              <a:buFont typeface="Wingdings" panose="05000000000000000000" pitchFamily="2" charset="2"/>
              <a:buChar char="l"/>
              <a:defRPr>
                <a:solidFill>
                  <a:schemeClr val="tx1"/>
                </a:solidFill>
                <a:latin typeface="游ゴシック" panose="020B0400000000000000" pitchFamily="50" charset="-128"/>
                <a:ea typeface="游ゴシック" panose="020B0400000000000000" pitchFamily="50" charset="-128"/>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a:solidFill>
                  <a:schemeClr val="tx1"/>
                </a:solidFill>
                <a:latin typeface="游ゴシック Medium" panose="020B0500000000000000" pitchFamily="50" charset="-128"/>
                <a:ea typeface="游ゴシック Medium" panose="020B0500000000000000" pitchFamily="50" charset="-128"/>
              </a:defRPr>
            </a:lvl2pPr>
            <a:lvl3pPr>
              <a:defRPr>
                <a:solidFill>
                  <a:schemeClr val="tx1"/>
                </a:solidFill>
              </a:defRPr>
            </a:lvl3pPr>
            <a:lvl4pPr>
              <a:defRPr>
                <a:solidFill>
                  <a:schemeClr val="tx1"/>
                </a:solidFill>
              </a:defRPr>
            </a:lvl4pPr>
            <a:lvl5pPr>
              <a:defRPr>
                <a:solidFill>
                  <a:schemeClr val="tx1"/>
                </a:solidFill>
              </a:defRPr>
            </a:lvl5pPr>
          </a:lstStyle>
          <a:p>
            <a:pPr lvl="0"/>
            <a:r>
              <a:rPr kumimoji="1" lang="ja-JP" altLang="en-US" dirty="0"/>
              <a:t>メッセージの補足説明（根拠／解説／具体例）</a:t>
            </a:r>
            <a:endParaRPr kumimoji="1" lang="en-US" altLang="ja-JP" dirty="0"/>
          </a:p>
          <a:p>
            <a:pPr lvl="1"/>
            <a:r>
              <a:rPr kumimoji="1" lang="ja-JP" altLang="en-US" dirty="0"/>
              <a:t>第２段</a:t>
            </a:r>
            <a:endParaRPr kumimoji="1" lang="en-US" altLang="ja-JP" dirty="0"/>
          </a:p>
          <a:p>
            <a:pPr lvl="2"/>
            <a:r>
              <a:rPr kumimoji="1" lang="ja-JP" altLang="en-US" dirty="0"/>
              <a:t>第３段</a:t>
            </a:r>
            <a:endParaRPr kumimoji="1" lang="en-US" altLang="ja-JP" dirty="0"/>
          </a:p>
          <a:p>
            <a:pPr lvl="3"/>
            <a:r>
              <a:rPr kumimoji="1" lang="ja-JP" altLang="en-US" dirty="0"/>
              <a:t>第４段</a:t>
            </a:r>
            <a:endParaRPr kumimoji="1" lang="en-US" altLang="ja-JP" dirty="0"/>
          </a:p>
          <a:p>
            <a:pPr lvl="4"/>
            <a:r>
              <a:rPr kumimoji="1" lang="ja-JP" altLang="en-US"/>
              <a:t>第５弾</a:t>
            </a:r>
            <a:endParaRPr kumimoji="1" lang="en-US" altLang="ja-JP" dirty="0"/>
          </a:p>
          <a:p>
            <a:pPr lvl="3"/>
            <a:endParaRPr kumimoji="1" lang="en-US" altLang="ja-JP" dirty="0"/>
          </a:p>
          <a:p>
            <a:pPr lvl="3"/>
            <a:endParaRPr kumimoji="1" lang="en-US" altLang="ja-JP" dirty="0"/>
          </a:p>
          <a:p>
            <a:pPr lvl="1"/>
            <a:endParaRPr kumimoji="1" lang="en-US" altLang="ja-JP" dirty="0"/>
          </a:p>
          <a:p>
            <a:pPr lvl="0"/>
            <a:endParaRPr kumimoji="1" lang="en-US" altLang="ja-JP" dirty="0"/>
          </a:p>
          <a:p>
            <a:pPr lvl="0"/>
            <a:endParaRPr kumimoji="1" lang="en-US" altLang="ja-JP" dirty="0"/>
          </a:p>
          <a:p>
            <a:pPr lvl="1"/>
            <a:endParaRPr kumimoji="1" lang="en-US" altLang="ja-JP" dirty="0"/>
          </a:p>
        </p:txBody>
      </p:sp>
      <p:sp>
        <p:nvSpPr>
          <p:cNvPr id="18" name="テキスト プレースホルダー 17"/>
          <p:cNvSpPr>
            <a:spLocks noGrp="1"/>
          </p:cNvSpPr>
          <p:nvPr>
            <p:ph type="body" sz="quarter" idx="11" hasCustomPrompt="1"/>
          </p:nvPr>
        </p:nvSpPr>
        <p:spPr>
          <a:xfrm>
            <a:off x="210574" y="348226"/>
            <a:ext cx="11455400" cy="469900"/>
          </a:xfrm>
        </p:spPr>
        <p:txBody>
          <a:bodyPr/>
          <a:lstStyle>
            <a:lvl1pPr marL="0" indent="0">
              <a:buNone/>
              <a:defRPr b="0">
                <a:latin typeface="游ゴシック Medium" panose="020B0500000000000000" pitchFamily="50" charset="-128"/>
                <a:ea typeface="游ゴシック Medium" panose="020B0500000000000000" pitchFamily="50" charset="-128"/>
              </a:defRPr>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スライドの話題＝問い</a:t>
            </a:r>
            <a:r>
              <a:rPr kumimoji="1" lang="en-US" altLang="ja-JP" dirty="0"/>
              <a:t>=</a:t>
            </a:r>
            <a:r>
              <a:rPr kumimoji="1" lang="ja-JP" altLang="en-US" dirty="0"/>
              <a:t>論点</a:t>
            </a:r>
            <a:endParaRPr kumimoji="1" lang="en-US" altLang="ja-JP" dirty="0"/>
          </a:p>
        </p:txBody>
      </p:sp>
      <p:sp>
        <p:nvSpPr>
          <p:cNvPr id="23" name="テキスト ボックス 22"/>
          <p:cNvSpPr txBox="1"/>
          <p:nvPr userDrawn="1"/>
        </p:nvSpPr>
        <p:spPr>
          <a:xfrm>
            <a:off x="11183256" y="340852"/>
            <a:ext cx="1015021" cy="461665"/>
          </a:xfrm>
          <a:prstGeom prst="rect">
            <a:avLst/>
          </a:prstGeom>
          <a:noFill/>
        </p:spPr>
        <p:txBody>
          <a:bodyPr wrap="none" rtlCol="0">
            <a:spAutoFit/>
          </a:bodyPr>
          <a:lstStyle/>
          <a:p>
            <a:fld id="{F8A53700-8F90-3442-A47C-78139B6BC0ED}" type="slidenum">
              <a:rPr kumimoji="1" lang="ja-JP" altLang="en-US" sz="2400" smtClean="0">
                <a:solidFill>
                  <a:schemeClr val="tx1"/>
                </a:solidFill>
                <a:latin typeface="+mn-lt"/>
                <a:ea typeface="游ゴシック Medium" panose="020B0500000000000000" pitchFamily="50" charset="-128"/>
              </a:rPr>
              <a:t>‹#›</a:t>
            </a:fld>
            <a:r>
              <a:rPr kumimoji="1" lang="en-US" altLang="ja-JP" sz="2400" dirty="0">
                <a:solidFill>
                  <a:schemeClr val="tx1"/>
                </a:solidFill>
                <a:latin typeface="+mn-lt"/>
                <a:ea typeface="游ゴシック Medium" panose="020B0500000000000000" pitchFamily="50" charset="-128"/>
              </a:rPr>
              <a:t>/10</a:t>
            </a:r>
            <a:endParaRPr kumimoji="1" lang="ja-JP" altLang="en-US" sz="2400" dirty="0">
              <a:solidFill>
                <a:schemeClr val="tx1"/>
              </a:solidFill>
              <a:latin typeface="+mn-lt"/>
              <a:ea typeface="游ゴシック Medium" panose="020B0500000000000000" pitchFamily="50" charset="-128"/>
            </a:endParaRPr>
          </a:p>
        </p:txBody>
      </p:sp>
      <p:cxnSp>
        <p:nvCxnSpPr>
          <p:cNvPr id="26" name="直線コネクタ 25"/>
          <p:cNvCxnSpPr/>
          <p:nvPr userDrawn="1"/>
        </p:nvCxnSpPr>
        <p:spPr>
          <a:xfrm>
            <a:off x="0" y="825500"/>
            <a:ext cx="12192000"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4" name="テキスト ボックス 3">
            <a:extLst>
              <a:ext uri="{FF2B5EF4-FFF2-40B4-BE49-F238E27FC236}">
                <a16:creationId xmlns:a16="http://schemas.microsoft.com/office/drawing/2014/main" id="{D7D2CC37-C29C-5AF5-729A-0EBB71A29FD5}"/>
              </a:ext>
            </a:extLst>
          </p:cNvPr>
          <p:cNvSpPr txBox="1"/>
          <p:nvPr userDrawn="1"/>
        </p:nvSpPr>
        <p:spPr>
          <a:xfrm>
            <a:off x="11096828" y="16042"/>
            <a:ext cx="1095172" cy="307777"/>
          </a:xfrm>
          <a:prstGeom prst="rect">
            <a:avLst/>
          </a:prstGeom>
          <a:noFill/>
        </p:spPr>
        <p:txBody>
          <a:bodyPr wrap="none" rtlCol="0">
            <a:spAutoFit/>
          </a:bodyPr>
          <a:lstStyle/>
          <a:p>
            <a:r>
              <a:rPr kumimoji="1" lang="en-US" altLang="ja-JP" sz="1400" dirty="0">
                <a:solidFill>
                  <a:schemeClr val="tx1">
                    <a:lumMod val="60000"/>
                    <a:lumOff val="40000"/>
                  </a:schemeClr>
                </a:solidFill>
              </a:rPr>
              <a:t>2024/06/05</a:t>
            </a:r>
            <a:endParaRPr kumimoji="1" lang="ja-JP" altLang="en-US" sz="1400">
              <a:solidFill>
                <a:schemeClr val="tx1">
                  <a:lumMod val="60000"/>
                  <a:lumOff val="40000"/>
                </a:schemeClr>
              </a:solidFill>
            </a:endParaRPr>
          </a:p>
        </p:txBody>
      </p:sp>
    </p:spTree>
    <p:extLst>
      <p:ext uri="{BB962C8B-B14F-4D97-AF65-F5344CB8AC3E}">
        <p14:creationId xmlns:p14="http://schemas.microsoft.com/office/powerpoint/2010/main" val="1622984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カー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463836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4FF1A3-6826-0345-B39D-CE4D91B68582}" type="datetime1">
              <a:rPr kumimoji="1" lang="ja-JP" altLang="en-US" smtClean="0"/>
              <a:t>2024/6/6</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1B92D0-3845-473E-8E13-C70357A36CF6}" type="slidenum">
              <a:rPr kumimoji="1" lang="ja-JP" altLang="en-US" smtClean="0"/>
              <a:t>‹#›</a:t>
            </a:fld>
            <a:endParaRPr kumimoji="1" lang="ja-JP" altLang="en-US"/>
          </a:p>
        </p:txBody>
      </p:sp>
    </p:spTree>
    <p:extLst>
      <p:ext uri="{BB962C8B-B14F-4D97-AF65-F5344CB8AC3E}">
        <p14:creationId xmlns:p14="http://schemas.microsoft.com/office/powerpoint/2010/main" val="30693402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446088" indent="-446088" algn="l" defTabSz="914400" rtl="0" eaLnBrk="1" latinLnBrk="0" hangingPunct="1">
        <a:lnSpc>
          <a:spcPct val="110000"/>
        </a:lnSpc>
        <a:spcBef>
          <a:spcPts val="18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98525" indent="-441325"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2"/>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2"/>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6.png"/><Relationship Id="rId10" Type="http://schemas.openxmlformats.org/officeDocument/2006/relationships/image" Target="../media/image7.png"/><Relationship Id="rId4" Type="http://schemas.openxmlformats.org/officeDocument/2006/relationships/image" Target="../media/image15.png"/><Relationship Id="rId9"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FD98EC-8D25-482F-8132-04421A268D61}"/>
              </a:ext>
            </a:extLst>
          </p:cNvPr>
          <p:cNvSpPr>
            <a:spLocks noGrp="1"/>
          </p:cNvSpPr>
          <p:nvPr>
            <p:ph type="title"/>
          </p:nvPr>
        </p:nvSpPr>
        <p:spPr/>
        <p:txBody>
          <a:bodyPr/>
          <a:lstStyle/>
          <a:p>
            <a:r>
              <a:rPr kumimoji="1" lang="ja-JP" altLang="en-US"/>
              <a:t>目的：</a:t>
            </a:r>
            <a:r>
              <a:rPr kumimoji="1" lang="en-US" altLang="ja-JP" dirty="0"/>
              <a:t>TGR5</a:t>
            </a:r>
            <a:r>
              <a:rPr kumimoji="1" lang="ja-JP" altLang="en-US"/>
              <a:t>に結合して活性化する作用を持つ生理活性ペプチドの探索</a:t>
            </a:r>
            <a:endParaRPr kumimoji="1" lang="ja-JP" altLang="en-US" dirty="0"/>
          </a:p>
        </p:txBody>
      </p:sp>
      <p:sp>
        <p:nvSpPr>
          <p:cNvPr id="3" name="コンテンツ プレースホルダー 2">
            <a:extLst>
              <a:ext uri="{FF2B5EF4-FFF2-40B4-BE49-F238E27FC236}">
                <a16:creationId xmlns:a16="http://schemas.microsoft.com/office/drawing/2014/main" id="{51CDB890-8D30-437B-8CC3-08166F8C7210}"/>
              </a:ext>
            </a:extLst>
          </p:cNvPr>
          <p:cNvSpPr>
            <a:spLocks noGrp="1"/>
          </p:cNvSpPr>
          <p:nvPr>
            <p:ph idx="1"/>
          </p:nvPr>
        </p:nvSpPr>
        <p:spPr>
          <a:xfrm>
            <a:off x="546100" y="1038484"/>
            <a:ext cx="5549900" cy="4797052"/>
          </a:xfrm>
        </p:spPr>
        <p:txBody>
          <a:bodyPr/>
          <a:lstStyle/>
          <a:p>
            <a:pPr marL="0" indent="0">
              <a:buNone/>
            </a:pPr>
            <a:r>
              <a:rPr kumimoji="1" lang="ja-JP" altLang="en-US">
                <a:solidFill>
                  <a:schemeClr val="accent4"/>
                </a:solidFill>
              </a:rPr>
              <a:t>背景</a:t>
            </a:r>
            <a:endParaRPr kumimoji="1" lang="en-US" altLang="ja-JP" dirty="0">
              <a:solidFill>
                <a:schemeClr val="accent4"/>
              </a:solidFill>
            </a:endParaRPr>
          </a:p>
          <a:p>
            <a:r>
              <a:rPr kumimoji="1" lang="en-US" altLang="ja-JP" sz="1800" b="0" dirty="0"/>
              <a:t>TGR</a:t>
            </a:r>
            <a:r>
              <a:rPr lang="en-US" altLang="ja-JP" sz="1800" b="0" dirty="0"/>
              <a:t>5</a:t>
            </a:r>
            <a:r>
              <a:rPr kumimoji="1" lang="ja-JP" altLang="en-US" sz="1800" b="0"/>
              <a:t>は肝臓、褐色脂肪細胞、骨格筋などで発現している胆汁酸受容体</a:t>
            </a:r>
            <a:endParaRPr kumimoji="1" lang="en-US" altLang="ja-JP" sz="1800" b="0" dirty="0"/>
          </a:p>
          <a:p>
            <a:r>
              <a:rPr lang="ja-JP" altLang="en-US" sz="1800" b="0"/>
              <a:t>腸管</a:t>
            </a:r>
            <a:r>
              <a:rPr lang="en" altLang="ja-JP" sz="1800" b="0" dirty="0"/>
              <a:t>L</a:t>
            </a:r>
            <a:r>
              <a:rPr lang="ja-JP" altLang="en-US" sz="1800" b="0"/>
              <a:t>細胞で、</a:t>
            </a:r>
            <a:r>
              <a:rPr lang="en" altLang="ja-JP" sz="1800" b="0" dirty="0"/>
              <a:t>TGR5</a:t>
            </a:r>
            <a:r>
              <a:rPr lang="ja-JP" altLang="en-US" sz="1800" b="0"/>
              <a:t>は</a:t>
            </a:r>
            <a:r>
              <a:rPr lang="en" altLang="ja-JP" sz="1800" b="0" dirty="0"/>
              <a:t>TGR5</a:t>
            </a:r>
            <a:r>
              <a:rPr lang="ja-JP" altLang="en-US" sz="1800" b="0"/>
              <a:t>アゴニストによって</a:t>
            </a:r>
            <a:r>
              <a:rPr lang="en" altLang="ja-JP" sz="1800" b="0" dirty="0"/>
              <a:t>GLP-1</a:t>
            </a:r>
            <a:r>
              <a:rPr lang="ja-JP" altLang="en-US" sz="1800" b="0"/>
              <a:t>分泌を亢進する</a:t>
            </a:r>
            <a:endParaRPr lang="en-US" altLang="ja-JP" sz="1800" b="0" dirty="0"/>
          </a:p>
          <a:p>
            <a:r>
              <a:rPr lang="en" altLang="ja-JP" sz="1800" b="0" dirty="0"/>
              <a:t>GLP-1</a:t>
            </a:r>
            <a:r>
              <a:rPr lang="ja-JP" altLang="en-US" sz="1800" b="0"/>
              <a:t>は膵</a:t>
            </a:r>
            <a:r>
              <a:rPr lang="en-US" altLang="ja-JP" sz="1800" b="0" dirty="0"/>
              <a:t>β</a:t>
            </a:r>
            <a:r>
              <a:rPr lang="ja-JP" altLang="en-US" sz="1800" b="0"/>
              <a:t>細胞におけるインスリン分泌を促進し、抗肥満</a:t>
            </a:r>
            <a:r>
              <a:rPr lang="en-US" altLang="ja-JP" sz="1800" b="0" dirty="0"/>
              <a:t>, </a:t>
            </a:r>
            <a:r>
              <a:rPr lang="ja-JP" altLang="en-US" sz="1800" b="0"/>
              <a:t>血糖降下作用をもたらす</a:t>
            </a:r>
            <a:endParaRPr lang="en-US" altLang="ja-JP" sz="1800" b="0" dirty="0"/>
          </a:p>
          <a:p>
            <a:pPr marL="0" indent="0" algn="ctr">
              <a:buNone/>
            </a:pPr>
            <a:endParaRPr lang="en-US" altLang="ja-JP" u="sng" dirty="0"/>
          </a:p>
          <a:p>
            <a:pPr marL="0" indent="0" algn="ctr">
              <a:buNone/>
            </a:pPr>
            <a:r>
              <a:rPr lang="ja-JP" altLang="en-US" u="sng"/>
              <a:t>糖尿病治療に有益</a:t>
            </a:r>
            <a:endParaRPr lang="en-US" altLang="ja-JP" u="sng" dirty="0"/>
          </a:p>
          <a:p>
            <a:pPr marL="0" indent="0">
              <a:buNone/>
            </a:pPr>
            <a:endParaRPr lang="en-US" altLang="ja-JP" dirty="0"/>
          </a:p>
        </p:txBody>
      </p:sp>
      <p:sp>
        <p:nvSpPr>
          <p:cNvPr id="4" name="テキスト プレースホルダー 3">
            <a:extLst>
              <a:ext uri="{FF2B5EF4-FFF2-40B4-BE49-F238E27FC236}">
                <a16:creationId xmlns:a16="http://schemas.microsoft.com/office/drawing/2014/main" id="{7573968E-BF17-4017-AA59-5326CD607CE0}"/>
              </a:ext>
            </a:extLst>
          </p:cNvPr>
          <p:cNvSpPr>
            <a:spLocks noGrp="1"/>
          </p:cNvSpPr>
          <p:nvPr>
            <p:ph type="body" sz="quarter" idx="11"/>
          </p:nvPr>
        </p:nvSpPr>
        <p:spPr/>
        <p:txBody>
          <a:bodyPr>
            <a:normAutofit/>
          </a:bodyPr>
          <a:lstStyle/>
          <a:p>
            <a:r>
              <a:rPr kumimoji="1" lang="ja-JP" altLang="en-US"/>
              <a:t>研究内容について</a:t>
            </a:r>
          </a:p>
        </p:txBody>
      </p:sp>
      <p:pic>
        <p:nvPicPr>
          <p:cNvPr id="6" name="図 5" descr="ダイアグラム&#10;&#10;自動的に生成された説明">
            <a:extLst>
              <a:ext uri="{FF2B5EF4-FFF2-40B4-BE49-F238E27FC236}">
                <a16:creationId xmlns:a16="http://schemas.microsoft.com/office/drawing/2014/main" id="{7DE73FBD-8BBA-D42D-1823-06E86157BB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91035" y="1548053"/>
            <a:ext cx="5354865" cy="3743667"/>
          </a:xfrm>
          <a:prstGeom prst="rect">
            <a:avLst/>
          </a:prstGeom>
        </p:spPr>
      </p:pic>
      <p:sp>
        <p:nvSpPr>
          <p:cNvPr id="8" name="矢印: 右 43">
            <a:extLst>
              <a:ext uri="{FF2B5EF4-FFF2-40B4-BE49-F238E27FC236}">
                <a16:creationId xmlns:a16="http://schemas.microsoft.com/office/drawing/2014/main" id="{AE349380-FE7B-C12C-93D5-398105AD1057}"/>
              </a:ext>
            </a:extLst>
          </p:cNvPr>
          <p:cNvSpPr/>
          <p:nvPr/>
        </p:nvSpPr>
        <p:spPr>
          <a:xfrm>
            <a:off x="1586974" y="4596810"/>
            <a:ext cx="498929" cy="522369"/>
          </a:xfrm>
          <a:custGeom>
            <a:avLst/>
            <a:gdLst>
              <a:gd name="connsiteX0" fmla="*/ 0 w 498929"/>
              <a:gd name="connsiteY0" fmla="*/ 130592 h 522369"/>
              <a:gd name="connsiteX1" fmla="*/ 249465 w 498929"/>
              <a:gd name="connsiteY1" fmla="*/ 130592 h 522369"/>
              <a:gd name="connsiteX2" fmla="*/ 249465 w 498929"/>
              <a:gd name="connsiteY2" fmla="*/ 0 h 522369"/>
              <a:gd name="connsiteX3" fmla="*/ 498929 w 498929"/>
              <a:gd name="connsiteY3" fmla="*/ 261185 h 522369"/>
              <a:gd name="connsiteX4" fmla="*/ 249465 w 498929"/>
              <a:gd name="connsiteY4" fmla="*/ 522369 h 522369"/>
              <a:gd name="connsiteX5" fmla="*/ 249465 w 498929"/>
              <a:gd name="connsiteY5" fmla="*/ 391777 h 522369"/>
              <a:gd name="connsiteX6" fmla="*/ 0 w 498929"/>
              <a:gd name="connsiteY6" fmla="*/ 391777 h 522369"/>
              <a:gd name="connsiteX7" fmla="*/ 0 w 498929"/>
              <a:gd name="connsiteY7" fmla="*/ 130592 h 522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8929" h="522369" fill="none" extrusionOk="0">
                <a:moveTo>
                  <a:pt x="0" y="130592"/>
                </a:moveTo>
                <a:cubicBezTo>
                  <a:pt x="58281" y="110792"/>
                  <a:pt x="216793" y="137704"/>
                  <a:pt x="249465" y="130592"/>
                </a:cubicBezTo>
                <a:cubicBezTo>
                  <a:pt x="244161" y="95101"/>
                  <a:pt x="256580" y="25222"/>
                  <a:pt x="249465" y="0"/>
                </a:cubicBezTo>
                <a:cubicBezTo>
                  <a:pt x="344950" y="124713"/>
                  <a:pt x="443456" y="238460"/>
                  <a:pt x="498929" y="261185"/>
                </a:cubicBezTo>
                <a:cubicBezTo>
                  <a:pt x="470940" y="333259"/>
                  <a:pt x="369056" y="411150"/>
                  <a:pt x="249465" y="522369"/>
                </a:cubicBezTo>
                <a:cubicBezTo>
                  <a:pt x="239601" y="468735"/>
                  <a:pt x="259018" y="409973"/>
                  <a:pt x="249465" y="391777"/>
                </a:cubicBezTo>
                <a:cubicBezTo>
                  <a:pt x="222764" y="407238"/>
                  <a:pt x="39990" y="385987"/>
                  <a:pt x="0" y="391777"/>
                </a:cubicBezTo>
                <a:cubicBezTo>
                  <a:pt x="1799" y="347423"/>
                  <a:pt x="-8568" y="224152"/>
                  <a:pt x="0" y="130592"/>
                </a:cubicBezTo>
                <a:close/>
              </a:path>
              <a:path w="498929" h="522369" stroke="0" extrusionOk="0">
                <a:moveTo>
                  <a:pt x="0" y="130592"/>
                </a:moveTo>
                <a:cubicBezTo>
                  <a:pt x="27971" y="139355"/>
                  <a:pt x="156677" y="151221"/>
                  <a:pt x="249465" y="130592"/>
                </a:cubicBezTo>
                <a:cubicBezTo>
                  <a:pt x="253428" y="100803"/>
                  <a:pt x="246703" y="13629"/>
                  <a:pt x="249465" y="0"/>
                </a:cubicBezTo>
                <a:cubicBezTo>
                  <a:pt x="281200" y="77888"/>
                  <a:pt x="468262" y="187695"/>
                  <a:pt x="498929" y="261185"/>
                </a:cubicBezTo>
                <a:cubicBezTo>
                  <a:pt x="479908" y="295024"/>
                  <a:pt x="317340" y="450265"/>
                  <a:pt x="249465" y="522369"/>
                </a:cubicBezTo>
                <a:cubicBezTo>
                  <a:pt x="239478" y="494807"/>
                  <a:pt x="244607" y="438750"/>
                  <a:pt x="249465" y="391777"/>
                </a:cubicBezTo>
                <a:cubicBezTo>
                  <a:pt x="206012" y="398113"/>
                  <a:pt x="95558" y="406906"/>
                  <a:pt x="0" y="391777"/>
                </a:cubicBezTo>
                <a:cubicBezTo>
                  <a:pt x="180" y="281764"/>
                  <a:pt x="-23212" y="208737"/>
                  <a:pt x="0" y="130592"/>
                </a:cubicBezTo>
                <a:close/>
              </a:path>
            </a:pathLst>
          </a:custGeom>
          <a:solidFill>
            <a:schemeClr val="accent4"/>
          </a:solidFill>
          <a:ln>
            <a:solidFill>
              <a:schemeClr val="accent4"/>
            </a:solidFill>
            <a:extLst>
              <a:ext uri="{C807C97D-BFC1-408E-A445-0C87EB9F89A2}">
                <ask:lineSketchStyleProps xmlns:ask="http://schemas.microsoft.com/office/drawing/2018/sketchyshapes" sd="3864781296">
                  <a:prstGeom prst="rightArrow">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2601933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C8F5410E-37F1-F568-79FE-4157C5EC0F67}"/>
              </a:ext>
            </a:extLst>
          </p:cNvPr>
          <p:cNvSpPr>
            <a:spLocks noGrp="1"/>
          </p:cNvSpPr>
          <p:nvPr>
            <p:ph type="body" sz="quarter" idx="11"/>
          </p:nvPr>
        </p:nvSpPr>
        <p:spPr/>
        <p:txBody>
          <a:bodyPr/>
          <a:lstStyle/>
          <a:p>
            <a:r>
              <a:rPr lang="ja-JP" altLang="en-US"/>
              <a:t>トピック</a:t>
            </a:r>
            <a:endParaRPr kumimoji="1" lang="ja-JP" altLang="en-US"/>
          </a:p>
        </p:txBody>
      </p:sp>
      <p:grpSp>
        <p:nvGrpSpPr>
          <p:cNvPr id="9" name="グループ化 8">
            <a:extLst>
              <a:ext uri="{FF2B5EF4-FFF2-40B4-BE49-F238E27FC236}">
                <a16:creationId xmlns:a16="http://schemas.microsoft.com/office/drawing/2014/main" id="{AE78148A-2EC5-B4DA-81A9-5574F953E282}"/>
              </a:ext>
            </a:extLst>
          </p:cNvPr>
          <p:cNvGrpSpPr/>
          <p:nvPr/>
        </p:nvGrpSpPr>
        <p:grpSpPr>
          <a:xfrm>
            <a:off x="2891500" y="2622140"/>
            <a:ext cx="6408999" cy="1613720"/>
            <a:chOff x="3212342" y="2940079"/>
            <a:chExt cx="6408999" cy="1613720"/>
          </a:xfrm>
        </p:grpSpPr>
        <p:sp>
          <p:nvSpPr>
            <p:cNvPr id="7" name="テキスト ボックス 6">
              <a:extLst>
                <a:ext uri="{FF2B5EF4-FFF2-40B4-BE49-F238E27FC236}">
                  <a16:creationId xmlns:a16="http://schemas.microsoft.com/office/drawing/2014/main" id="{AD970EA2-D8D6-C88C-90D5-50A2A75A5331}"/>
                </a:ext>
              </a:extLst>
            </p:cNvPr>
            <p:cNvSpPr txBox="1"/>
            <p:nvPr/>
          </p:nvSpPr>
          <p:spPr>
            <a:xfrm>
              <a:off x="3212342" y="2940079"/>
              <a:ext cx="4254563" cy="523220"/>
            </a:xfrm>
            <a:prstGeom prst="rect">
              <a:avLst/>
            </a:prstGeom>
            <a:noFill/>
          </p:spPr>
          <p:txBody>
            <a:bodyPr wrap="none" rtlCol="0">
              <a:spAutoFit/>
            </a:bodyPr>
            <a:lstStyle/>
            <a:p>
              <a:r>
                <a:rPr kumimoji="1" lang="en-US" altLang="ja-JP" sz="2800" u="sng" dirty="0"/>
                <a:t>1. TGR5</a:t>
              </a:r>
              <a:r>
                <a:rPr kumimoji="1" lang="ja-JP" altLang="en-US" sz="2800" u="sng"/>
                <a:t>活性評価系の改善</a:t>
              </a:r>
            </a:p>
          </p:txBody>
        </p:sp>
        <p:sp>
          <p:nvSpPr>
            <p:cNvPr id="8" name="テキスト ボックス 7">
              <a:extLst>
                <a:ext uri="{FF2B5EF4-FFF2-40B4-BE49-F238E27FC236}">
                  <a16:creationId xmlns:a16="http://schemas.microsoft.com/office/drawing/2014/main" id="{D069B13F-41CF-DC6B-6CEB-AF79023C36A9}"/>
                </a:ext>
              </a:extLst>
            </p:cNvPr>
            <p:cNvSpPr txBox="1"/>
            <p:nvPr/>
          </p:nvSpPr>
          <p:spPr>
            <a:xfrm>
              <a:off x="3212342" y="4030579"/>
              <a:ext cx="6408999" cy="523220"/>
            </a:xfrm>
            <a:prstGeom prst="rect">
              <a:avLst/>
            </a:prstGeom>
            <a:noFill/>
          </p:spPr>
          <p:txBody>
            <a:bodyPr wrap="none" rtlCol="0">
              <a:spAutoFit/>
            </a:bodyPr>
            <a:lstStyle/>
            <a:p>
              <a:r>
                <a:rPr lang="en-US" altLang="ja-JP" sz="2800" dirty="0">
                  <a:solidFill>
                    <a:schemeClr val="tx1">
                      <a:lumMod val="60000"/>
                      <a:lumOff val="40000"/>
                    </a:schemeClr>
                  </a:solidFill>
                </a:rPr>
                <a:t>2. TGR5</a:t>
              </a:r>
              <a:r>
                <a:rPr lang="ja-JP" altLang="en-US" sz="2800">
                  <a:solidFill>
                    <a:schemeClr val="tx1">
                      <a:lumMod val="60000"/>
                      <a:lumOff val="40000"/>
                    </a:schemeClr>
                  </a:solidFill>
                </a:rPr>
                <a:t>アゴニスト類似ペプチドの探索</a:t>
              </a:r>
              <a:endParaRPr kumimoji="1" lang="ja-JP" altLang="en-US" sz="2800">
                <a:solidFill>
                  <a:schemeClr val="tx1">
                    <a:lumMod val="60000"/>
                    <a:lumOff val="40000"/>
                  </a:schemeClr>
                </a:solidFill>
              </a:endParaRPr>
            </a:p>
          </p:txBody>
        </p:sp>
      </p:grpSp>
    </p:spTree>
    <p:extLst>
      <p:ext uri="{BB962C8B-B14F-4D97-AF65-F5344CB8AC3E}">
        <p14:creationId xmlns:p14="http://schemas.microsoft.com/office/powerpoint/2010/main" val="223009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正方形/長方形 36">
            <a:extLst>
              <a:ext uri="{FF2B5EF4-FFF2-40B4-BE49-F238E27FC236}">
                <a16:creationId xmlns:a16="http://schemas.microsoft.com/office/drawing/2014/main" id="{0DA58767-BC6B-5D35-A434-DC3195EA808A}"/>
              </a:ext>
            </a:extLst>
          </p:cNvPr>
          <p:cNvSpPr/>
          <p:nvPr/>
        </p:nvSpPr>
        <p:spPr>
          <a:xfrm>
            <a:off x="566174" y="2535477"/>
            <a:ext cx="11099800" cy="2011638"/>
          </a:xfrm>
          <a:prstGeom prst="rect">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プレースホルダー 3">
            <a:extLst>
              <a:ext uri="{FF2B5EF4-FFF2-40B4-BE49-F238E27FC236}">
                <a16:creationId xmlns:a16="http://schemas.microsoft.com/office/drawing/2014/main" id="{806BB92B-765C-95F4-631F-A8B24BA349D5}"/>
              </a:ext>
            </a:extLst>
          </p:cNvPr>
          <p:cNvSpPr>
            <a:spLocks noGrp="1"/>
          </p:cNvSpPr>
          <p:nvPr>
            <p:ph type="body" sz="quarter" idx="11"/>
          </p:nvPr>
        </p:nvSpPr>
        <p:spPr/>
        <p:txBody>
          <a:bodyPr/>
          <a:lstStyle/>
          <a:p>
            <a:r>
              <a:rPr kumimoji="1" lang="ja-JP" altLang="en-US"/>
              <a:t>評価系改善実験の方法</a:t>
            </a:r>
          </a:p>
        </p:txBody>
      </p:sp>
      <p:grpSp>
        <p:nvGrpSpPr>
          <p:cNvPr id="7" name="グループ化 6">
            <a:extLst>
              <a:ext uri="{FF2B5EF4-FFF2-40B4-BE49-F238E27FC236}">
                <a16:creationId xmlns:a16="http://schemas.microsoft.com/office/drawing/2014/main" id="{B70CF121-BB1B-72C4-E568-DE554EB52AEF}"/>
              </a:ext>
            </a:extLst>
          </p:cNvPr>
          <p:cNvGrpSpPr/>
          <p:nvPr/>
        </p:nvGrpSpPr>
        <p:grpSpPr>
          <a:xfrm>
            <a:off x="781424" y="2695999"/>
            <a:ext cx="1180739" cy="1796858"/>
            <a:chOff x="1530093" y="2411000"/>
            <a:chExt cx="1690538" cy="2455332"/>
          </a:xfrm>
        </p:grpSpPr>
        <p:pic>
          <p:nvPicPr>
            <p:cNvPr id="5" name="図 4" descr="ダイアグラム&#10;&#10;低い精度で自動的に生成された説明">
              <a:extLst>
                <a:ext uri="{FF2B5EF4-FFF2-40B4-BE49-F238E27FC236}">
                  <a16:creationId xmlns:a16="http://schemas.microsoft.com/office/drawing/2014/main" id="{78C005EA-B8DF-5C74-6EDA-C5A6154D9357}"/>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530093" y="2411000"/>
              <a:ext cx="1690538" cy="1181559"/>
            </a:xfrm>
            <a:prstGeom prst="rect">
              <a:avLst/>
            </a:prstGeom>
          </p:spPr>
        </p:pic>
        <p:pic>
          <p:nvPicPr>
            <p:cNvPr id="6" name="図 5" descr="ダイアグラム&#10;&#10;自動的に生成された説明">
              <a:extLst>
                <a:ext uri="{FF2B5EF4-FFF2-40B4-BE49-F238E27FC236}">
                  <a16:creationId xmlns:a16="http://schemas.microsoft.com/office/drawing/2014/main" id="{90EE8146-415E-002F-56FA-D0847A52075A}"/>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530093" y="3592559"/>
              <a:ext cx="1690537" cy="1273773"/>
            </a:xfrm>
            <a:prstGeom prst="rect">
              <a:avLst/>
            </a:prstGeom>
          </p:spPr>
        </p:pic>
      </p:grpSp>
      <p:grpSp>
        <p:nvGrpSpPr>
          <p:cNvPr id="11" name="グループ化 10">
            <a:extLst>
              <a:ext uri="{FF2B5EF4-FFF2-40B4-BE49-F238E27FC236}">
                <a16:creationId xmlns:a16="http://schemas.microsoft.com/office/drawing/2014/main" id="{D0E52B5B-3F8C-A134-F23D-C2A5E0D536E7}"/>
              </a:ext>
            </a:extLst>
          </p:cNvPr>
          <p:cNvGrpSpPr/>
          <p:nvPr/>
        </p:nvGrpSpPr>
        <p:grpSpPr>
          <a:xfrm>
            <a:off x="5510937" y="2587904"/>
            <a:ext cx="1237167" cy="1790118"/>
            <a:chOff x="2889978" y="2093145"/>
            <a:chExt cx="1237167" cy="1790118"/>
          </a:xfrm>
        </p:grpSpPr>
        <p:pic>
          <p:nvPicPr>
            <p:cNvPr id="8" name="図 7" descr="洗面道具 が含まれている画像&#10;&#10;自動的に生成された説明">
              <a:extLst>
                <a:ext uri="{FF2B5EF4-FFF2-40B4-BE49-F238E27FC236}">
                  <a16:creationId xmlns:a16="http://schemas.microsoft.com/office/drawing/2014/main" id="{6B0CFA83-D611-557F-C6CB-8F0C7E055A35}"/>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889978" y="2093145"/>
              <a:ext cx="1231400" cy="860656"/>
            </a:xfrm>
            <a:prstGeom prst="rect">
              <a:avLst/>
            </a:prstGeom>
          </p:spPr>
        </p:pic>
        <p:pic>
          <p:nvPicPr>
            <p:cNvPr id="9" name="図 8" descr="洗面道具 が含まれている画像&#10;&#10;自動的に生成された説明">
              <a:extLst>
                <a:ext uri="{FF2B5EF4-FFF2-40B4-BE49-F238E27FC236}">
                  <a16:creationId xmlns:a16="http://schemas.microsoft.com/office/drawing/2014/main" id="{C4DF56A4-EE4B-09A6-D348-E736E81D7E43}"/>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889978" y="2951092"/>
              <a:ext cx="1237167" cy="932171"/>
            </a:xfrm>
            <a:prstGeom prst="rect">
              <a:avLst/>
            </a:prstGeom>
          </p:spPr>
        </p:pic>
      </p:grpSp>
      <p:sp>
        <p:nvSpPr>
          <p:cNvPr id="19" name="テキスト ボックス 18">
            <a:extLst>
              <a:ext uri="{FF2B5EF4-FFF2-40B4-BE49-F238E27FC236}">
                <a16:creationId xmlns:a16="http://schemas.microsoft.com/office/drawing/2014/main" id="{110234E0-1884-74A4-FFD1-EC90510A104C}"/>
              </a:ext>
            </a:extLst>
          </p:cNvPr>
          <p:cNvSpPr txBox="1"/>
          <p:nvPr/>
        </p:nvSpPr>
        <p:spPr>
          <a:xfrm>
            <a:off x="2156371" y="2654578"/>
            <a:ext cx="2672583" cy="584775"/>
          </a:xfrm>
          <a:prstGeom prst="rect">
            <a:avLst/>
          </a:prstGeom>
          <a:noFill/>
        </p:spPr>
        <p:txBody>
          <a:bodyPr wrap="square" rtlCol="0">
            <a:spAutoFit/>
          </a:bodyPr>
          <a:lstStyle/>
          <a:p>
            <a:r>
              <a:rPr kumimoji="1" lang="en-US" altLang="ja-JP" sz="1400" dirty="0"/>
              <a:t>12well plate</a:t>
            </a:r>
          </a:p>
          <a:p>
            <a:r>
              <a:rPr lang="ja-JP" altLang="en-US" b="1" u="sng">
                <a:solidFill>
                  <a:schemeClr val="accent4"/>
                </a:solidFill>
              </a:rPr>
              <a:t>→</a:t>
            </a:r>
            <a:r>
              <a:rPr lang="en-US" altLang="ja-JP" b="1" u="sng" dirty="0">
                <a:solidFill>
                  <a:schemeClr val="accent4"/>
                </a:solidFill>
                <a:latin typeface="+mn-ea"/>
              </a:rPr>
              <a:t>12well, 24well</a:t>
            </a:r>
            <a:r>
              <a:rPr lang="ja-JP" altLang="en-US" b="1" u="sng">
                <a:solidFill>
                  <a:schemeClr val="accent4"/>
                </a:solidFill>
              </a:rPr>
              <a:t>で評価</a:t>
            </a:r>
            <a:endParaRPr kumimoji="1" lang="ja-JP" altLang="en-US" b="1" u="sng">
              <a:solidFill>
                <a:schemeClr val="accent4"/>
              </a:solidFill>
            </a:endParaRPr>
          </a:p>
        </p:txBody>
      </p:sp>
      <p:sp>
        <p:nvSpPr>
          <p:cNvPr id="22" name="山形 21">
            <a:extLst>
              <a:ext uri="{FF2B5EF4-FFF2-40B4-BE49-F238E27FC236}">
                <a16:creationId xmlns:a16="http://schemas.microsoft.com/office/drawing/2014/main" id="{1A682532-9C2C-EF31-4670-708D6E4B1C84}"/>
              </a:ext>
            </a:extLst>
          </p:cNvPr>
          <p:cNvSpPr/>
          <p:nvPr/>
        </p:nvSpPr>
        <p:spPr>
          <a:xfrm>
            <a:off x="4941516" y="3251982"/>
            <a:ext cx="338878" cy="423865"/>
          </a:xfrm>
          <a:prstGeom prst="chevron">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3" name="テキスト ボックス 22">
            <a:extLst>
              <a:ext uri="{FF2B5EF4-FFF2-40B4-BE49-F238E27FC236}">
                <a16:creationId xmlns:a16="http://schemas.microsoft.com/office/drawing/2014/main" id="{DD5A45C0-C159-828F-EEE6-821D059FB64A}"/>
              </a:ext>
            </a:extLst>
          </p:cNvPr>
          <p:cNvSpPr txBox="1"/>
          <p:nvPr/>
        </p:nvSpPr>
        <p:spPr>
          <a:xfrm>
            <a:off x="2141886" y="3341523"/>
            <a:ext cx="2194561" cy="1077218"/>
          </a:xfrm>
          <a:prstGeom prst="rect">
            <a:avLst/>
          </a:prstGeom>
          <a:noFill/>
        </p:spPr>
        <p:txBody>
          <a:bodyPr wrap="square" rtlCol="0">
            <a:spAutoFit/>
          </a:bodyPr>
          <a:lstStyle/>
          <a:p>
            <a:r>
              <a:rPr lang="en-US" altLang="ja-JP" sz="1400" dirty="0" err="1"/>
              <a:t>Cellmatrix</a:t>
            </a:r>
            <a:r>
              <a:rPr lang="en-US" altLang="ja-JP" sz="1400" dirty="0"/>
              <a:t> type1C 1/60</a:t>
            </a:r>
            <a:r>
              <a:rPr lang="ja-JP" altLang="en-US" sz="1400"/>
              <a:t>希釈でコラーゲンコート</a:t>
            </a:r>
            <a:endParaRPr lang="en-US" altLang="ja-JP" sz="1400" dirty="0"/>
          </a:p>
          <a:p>
            <a:r>
              <a:rPr kumimoji="1" lang="ja-JP" altLang="en-US" b="1" u="sng">
                <a:solidFill>
                  <a:schemeClr val="accent4"/>
                </a:solidFill>
              </a:rPr>
              <a:t>→</a:t>
            </a:r>
            <a:r>
              <a:rPr kumimoji="1" lang="en-US" altLang="ja-JP" b="1" u="sng" dirty="0">
                <a:solidFill>
                  <a:schemeClr val="accent4"/>
                </a:solidFill>
                <a:latin typeface="+mn-ea"/>
              </a:rPr>
              <a:t>1/10, 1/30, 1/60</a:t>
            </a:r>
            <a:r>
              <a:rPr kumimoji="1" lang="ja-JP" altLang="en-US" b="1" u="sng">
                <a:solidFill>
                  <a:schemeClr val="accent4"/>
                </a:solidFill>
                <a:latin typeface="+mn-ea"/>
              </a:rPr>
              <a:t>倍希釈で評価</a:t>
            </a:r>
            <a:endParaRPr kumimoji="1" lang="en-US" altLang="ja-JP" b="1" u="sng" dirty="0">
              <a:solidFill>
                <a:schemeClr val="accent4"/>
              </a:solidFill>
              <a:latin typeface="+mn-ea"/>
            </a:endParaRPr>
          </a:p>
        </p:txBody>
      </p:sp>
      <p:sp>
        <p:nvSpPr>
          <p:cNvPr id="24" name="テキスト ボックス 23">
            <a:extLst>
              <a:ext uri="{FF2B5EF4-FFF2-40B4-BE49-F238E27FC236}">
                <a16:creationId xmlns:a16="http://schemas.microsoft.com/office/drawing/2014/main" id="{64C7F401-BA80-49AE-F4D9-AE91E741CD9B}"/>
              </a:ext>
            </a:extLst>
          </p:cNvPr>
          <p:cNvSpPr txBox="1"/>
          <p:nvPr/>
        </p:nvSpPr>
        <p:spPr>
          <a:xfrm>
            <a:off x="4747313" y="3729840"/>
            <a:ext cx="643317" cy="338554"/>
          </a:xfrm>
          <a:prstGeom prst="rect">
            <a:avLst/>
          </a:prstGeom>
          <a:noFill/>
        </p:spPr>
        <p:txBody>
          <a:bodyPr wrap="square" rtlCol="0">
            <a:spAutoFit/>
          </a:bodyPr>
          <a:lstStyle/>
          <a:p>
            <a:r>
              <a:rPr kumimoji="1" lang="ja-JP" altLang="en-US" sz="1600"/>
              <a:t>播種</a:t>
            </a:r>
          </a:p>
        </p:txBody>
      </p:sp>
      <p:sp>
        <p:nvSpPr>
          <p:cNvPr id="26" name="テキスト ボックス 25">
            <a:extLst>
              <a:ext uri="{FF2B5EF4-FFF2-40B4-BE49-F238E27FC236}">
                <a16:creationId xmlns:a16="http://schemas.microsoft.com/office/drawing/2014/main" id="{8DB90AB4-6BAD-47FC-230D-BDAC58690B4C}"/>
              </a:ext>
            </a:extLst>
          </p:cNvPr>
          <p:cNvSpPr txBox="1"/>
          <p:nvPr/>
        </p:nvSpPr>
        <p:spPr>
          <a:xfrm>
            <a:off x="7222895" y="3036079"/>
            <a:ext cx="2062554" cy="1077218"/>
          </a:xfrm>
          <a:prstGeom prst="rect">
            <a:avLst/>
          </a:prstGeom>
          <a:noFill/>
        </p:spPr>
        <p:txBody>
          <a:bodyPr wrap="square" rtlCol="0">
            <a:spAutoFit/>
          </a:bodyPr>
          <a:lstStyle/>
          <a:p>
            <a:r>
              <a:rPr lang="en-US" altLang="ja-JP" sz="1400" dirty="0"/>
              <a:t>4</a:t>
            </a:r>
            <a:r>
              <a:rPr lang="ja-JP" altLang="en-US" sz="1400"/>
              <a:t>時間トランスフェクション</a:t>
            </a:r>
            <a:endParaRPr lang="en-US" altLang="ja-JP" sz="1400" dirty="0"/>
          </a:p>
          <a:p>
            <a:r>
              <a:rPr kumimoji="1" lang="ja-JP" altLang="en-US" b="1" u="sng">
                <a:solidFill>
                  <a:schemeClr val="accent4"/>
                </a:solidFill>
              </a:rPr>
              <a:t>→</a:t>
            </a:r>
            <a:r>
              <a:rPr kumimoji="1" lang="en-US" altLang="ja-JP" b="1" u="sng" dirty="0">
                <a:solidFill>
                  <a:schemeClr val="accent4"/>
                </a:solidFill>
                <a:latin typeface="+mn-ea"/>
              </a:rPr>
              <a:t>24</a:t>
            </a:r>
            <a:r>
              <a:rPr kumimoji="1" lang="ja-JP" altLang="en-US" b="1" u="sng">
                <a:solidFill>
                  <a:schemeClr val="accent4"/>
                </a:solidFill>
                <a:latin typeface="+mn-ea"/>
              </a:rPr>
              <a:t>時間トランスフェクション</a:t>
            </a:r>
            <a:endParaRPr kumimoji="1" lang="en-US" altLang="ja-JP" b="1" u="sng" dirty="0">
              <a:solidFill>
                <a:schemeClr val="accent4"/>
              </a:solidFill>
              <a:latin typeface="+mn-ea"/>
            </a:endParaRPr>
          </a:p>
        </p:txBody>
      </p:sp>
      <p:sp>
        <p:nvSpPr>
          <p:cNvPr id="27" name="山形 26">
            <a:extLst>
              <a:ext uri="{FF2B5EF4-FFF2-40B4-BE49-F238E27FC236}">
                <a16:creationId xmlns:a16="http://schemas.microsoft.com/office/drawing/2014/main" id="{D0514C9E-9AF9-EC19-4763-51CD7233D793}"/>
              </a:ext>
            </a:extLst>
          </p:cNvPr>
          <p:cNvSpPr/>
          <p:nvPr/>
        </p:nvSpPr>
        <p:spPr>
          <a:xfrm>
            <a:off x="9969400" y="3264821"/>
            <a:ext cx="338878" cy="423865"/>
          </a:xfrm>
          <a:prstGeom prst="chevron">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8" name="テキスト ボックス 27">
            <a:extLst>
              <a:ext uri="{FF2B5EF4-FFF2-40B4-BE49-F238E27FC236}">
                <a16:creationId xmlns:a16="http://schemas.microsoft.com/office/drawing/2014/main" id="{30D4D582-D82A-F003-0314-2306A80FB0FD}"/>
              </a:ext>
            </a:extLst>
          </p:cNvPr>
          <p:cNvSpPr txBox="1"/>
          <p:nvPr/>
        </p:nvSpPr>
        <p:spPr>
          <a:xfrm>
            <a:off x="9775197" y="3742679"/>
            <a:ext cx="643317" cy="584775"/>
          </a:xfrm>
          <a:prstGeom prst="rect">
            <a:avLst/>
          </a:prstGeom>
          <a:noFill/>
        </p:spPr>
        <p:txBody>
          <a:bodyPr wrap="square" rtlCol="0">
            <a:spAutoFit/>
          </a:bodyPr>
          <a:lstStyle/>
          <a:p>
            <a:r>
              <a:rPr kumimoji="1" lang="en-US" altLang="ja-JP" sz="1600" dirty="0"/>
              <a:t>DCA</a:t>
            </a:r>
            <a:r>
              <a:rPr kumimoji="1" lang="ja-JP" altLang="en-US" sz="1600"/>
              <a:t>添加</a:t>
            </a:r>
          </a:p>
        </p:txBody>
      </p:sp>
      <p:sp>
        <p:nvSpPr>
          <p:cNvPr id="29" name="山形 28">
            <a:extLst>
              <a:ext uri="{FF2B5EF4-FFF2-40B4-BE49-F238E27FC236}">
                <a16:creationId xmlns:a16="http://schemas.microsoft.com/office/drawing/2014/main" id="{2659F969-98F9-70CF-389B-6307DE74D9CE}"/>
              </a:ext>
            </a:extLst>
          </p:cNvPr>
          <p:cNvSpPr/>
          <p:nvPr/>
        </p:nvSpPr>
        <p:spPr>
          <a:xfrm>
            <a:off x="10477788" y="3264821"/>
            <a:ext cx="338878" cy="423865"/>
          </a:xfrm>
          <a:prstGeom prst="chevron">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0" name="テキスト ボックス 29">
            <a:extLst>
              <a:ext uri="{FF2B5EF4-FFF2-40B4-BE49-F238E27FC236}">
                <a16:creationId xmlns:a16="http://schemas.microsoft.com/office/drawing/2014/main" id="{A4579C57-5EE7-6CE0-05D3-FD480E5FF03E}"/>
              </a:ext>
            </a:extLst>
          </p:cNvPr>
          <p:cNvSpPr txBox="1"/>
          <p:nvPr/>
        </p:nvSpPr>
        <p:spPr>
          <a:xfrm>
            <a:off x="10204816" y="3749729"/>
            <a:ext cx="898664" cy="584775"/>
          </a:xfrm>
          <a:prstGeom prst="rect">
            <a:avLst/>
          </a:prstGeom>
          <a:noFill/>
        </p:spPr>
        <p:txBody>
          <a:bodyPr wrap="square" rtlCol="0">
            <a:spAutoFit/>
          </a:bodyPr>
          <a:lstStyle/>
          <a:p>
            <a:pPr algn="ctr"/>
            <a:r>
              <a:rPr lang="ja-JP" altLang="en-US" sz="1600"/>
              <a:t>ライセート</a:t>
            </a:r>
            <a:endParaRPr kumimoji="1" lang="ja-JP" altLang="en-US" sz="1600"/>
          </a:p>
        </p:txBody>
      </p:sp>
      <p:sp>
        <p:nvSpPr>
          <p:cNvPr id="31" name="山形 30">
            <a:extLst>
              <a:ext uri="{FF2B5EF4-FFF2-40B4-BE49-F238E27FC236}">
                <a16:creationId xmlns:a16="http://schemas.microsoft.com/office/drawing/2014/main" id="{63DC6523-2CF2-A848-425B-6F9A12D95BA3}"/>
              </a:ext>
            </a:extLst>
          </p:cNvPr>
          <p:cNvSpPr/>
          <p:nvPr/>
        </p:nvSpPr>
        <p:spPr>
          <a:xfrm>
            <a:off x="10999207" y="3264821"/>
            <a:ext cx="338878" cy="423865"/>
          </a:xfrm>
          <a:prstGeom prst="chevron">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2" name="テキスト ボックス 31">
            <a:extLst>
              <a:ext uri="{FF2B5EF4-FFF2-40B4-BE49-F238E27FC236}">
                <a16:creationId xmlns:a16="http://schemas.microsoft.com/office/drawing/2014/main" id="{80C5F08C-A80E-76FD-8510-CEF7AF7AEF44}"/>
              </a:ext>
            </a:extLst>
          </p:cNvPr>
          <p:cNvSpPr txBox="1"/>
          <p:nvPr/>
        </p:nvSpPr>
        <p:spPr>
          <a:xfrm>
            <a:off x="10845109" y="3742679"/>
            <a:ext cx="643317" cy="584775"/>
          </a:xfrm>
          <a:prstGeom prst="rect">
            <a:avLst/>
          </a:prstGeom>
          <a:noFill/>
        </p:spPr>
        <p:txBody>
          <a:bodyPr wrap="square" rtlCol="0">
            <a:spAutoFit/>
          </a:bodyPr>
          <a:lstStyle/>
          <a:p>
            <a:r>
              <a:rPr lang="ja-JP" altLang="en-US" sz="1600"/>
              <a:t>発光</a:t>
            </a:r>
            <a:endParaRPr lang="en-US" altLang="ja-JP" sz="1600" dirty="0"/>
          </a:p>
          <a:p>
            <a:r>
              <a:rPr kumimoji="1" lang="ja-JP" altLang="en-US" sz="1600"/>
              <a:t>測定</a:t>
            </a:r>
          </a:p>
        </p:txBody>
      </p:sp>
      <p:pic>
        <p:nvPicPr>
          <p:cNvPr id="34" name="図 33" descr="図形, 矢印&#10;&#10;自動的に生成された説明">
            <a:extLst>
              <a:ext uri="{FF2B5EF4-FFF2-40B4-BE49-F238E27FC236}">
                <a16:creationId xmlns:a16="http://schemas.microsoft.com/office/drawing/2014/main" id="{1AF8F187-C256-EC9B-1D81-5EC6E737FBFB}"/>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639426" y="3182999"/>
            <a:ext cx="492637" cy="469900"/>
          </a:xfrm>
          <a:prstGeom prst="rect">
            <a:avLst/>
          </a:prstGeom>
        </p:spPr>
      </p:pic>
      <p:cxnSp>
        <p:nvCxnSpPr>
          <p:cNvPr id="10" name="直線コネクタ 9">
            <a:extLst>
              <a:ext uri="{FF2B5EF4-FFF2-40B4-BE49-F238E27FC236}">
                <a16:creationId xmlns:a16="http://schemas.microsoft.com/office/drawing/2014/main" id="{BD3F0B74-1D9E-AC37-1651-7C891A1BA14C}"/>
              </a:ext>
            </a:extLst>
          </p:cNvPr>
          <p:cNvCxnSpPr>
            <a:cxnSpLocks/>
          </p:cNvCxnSpPr>
          <p:nvPr/>
        </p:nvCxnSpPr>
        <p:spPr>
          <a:xfrm flipV="1">
            <a:off x="3994484" y="1872559"/>
            <a:ext cx="674003" cy="934811"/>
          </a:xfrm>
          <a:prstGeom prst="line">
            <a:avLst/>
          </a:prstGeom>
          <a:ln>
            <a:headEnd type="oval" w="lg" len="lg"/>
          </a:ln>
          <a:effectLst>
            <a:glow rad="88900">
              <a:srgbClr val="FFFFFF">
                <a:alpha val="87000"/>
              </a:srgbClr>
            </a:glow>
          </a:effectLst>
        </p:spPr>
        <p:style>
          <a:lnRef idx="3">
            <a:schemeClr val="accent4"/>
          </a:lnRef>
          <a:fillRef idx="0">
            <a:schemeClr val="accent4"/>
          </a:fillRef>
          <a:effectRef idx="2">
            <a:schemeClr val="accent4"/>
          </a:effectRef>
          <a:fontRef idx="minor">
            <a:schemeClr val="tx1"/>
          </a:fontRef>
        </p:style>
      </p:cxnSp>
      <p:sp>
        <p:nvSpPr>
          <p:cNvPr id="12" name="テキスト ボックス 11">
            <a:extLst>
              <a:ext uri="{FF2B5EF4-FFF2-40B4-BE49-F238E27FC236}">
                <a16:creationId xmlns:a16="http://schemas.microsoft.com/office/drawing/2014/main" id="{BC5A8F5E-1D6D-F6AA-3EB1-ECC41C5297FD}"/>
              </a:ext>
            </a:extLst>
          </p:cNvPr>
          <p:cNvSpPr txBox="1"/>
          <p:nvPr/>
        </p:nvSpPr>
        <p:spPr>
          <a:xfrm>
            <a:off x="4709101" y="1327323"/>
            <a:ext cx="4616962" cy="923330"/>
          </a:xfrm>
          <a:prstGeom prst="rect">
            <a:avLst/>
          </a:prstGeom>
          <a:noFill/>
        </p:spPr>
        <p:txBody>
          <a:bodyPr wrap="square" rtlCol="0">
            <a:spAutoFit/>
          </a:bodyPr>
          <a:lstStyle/>
          <a:p>
            <a:pPr marL="285750" indent="-285750">
              <a:buFont typeface="Arial" panose="020B0604020202020204" pitchFamily="34" charset="0"/>
              <a:buChar char="•"/>
            </a:pPr>
            <a:r>
              <a:rPr lang="en-US" altLang="ja-JP" dirty="0"/>
              <a:t>12well</a:t>
            </a:r>
            <a:r>
              <a:rPr lang="ja-JP" altLang="en-US"/>
              <a:t>だとプレート</a:t>
            </a:r>
            <a:r>
              <a:rPr lang="en-US" altLang="ja-JP" dirty="0"/>
              <a:t>1</a:t>
            </a:r>
            <a:r>
              <a:rPr lang="ja-JP" altLang="en-US"/>
              <a:t>枚あたりで評価できるペプチドの種類が少ない</a:t>
            </a:r>
            <a:endParaRPr lang="en-US" altLang="ja-JP" dirty="0"/>
          </a:p>
          <a:p>
            <a:pPr marL="285750" indent="-285750">
              <a:buFont typeface="Arial" panose="020B0604020202020204" pitchFamily="34" charset="0"/>
              <a:buChar char="•"/>
            </a:pPr>
            <a:r>
              <a:rPr kumimoji="1" lang="en-US" altLang="ja-JP" dirty="0"/>
              <a:t>24well</a:t>
            </a:r>
            <a:r>
              <a:rPr kumimoji="1" lang="ja-JP" altLang="en-US"/>
              <a:t>でも同様の結果が得られるか調査</a:t>
            </a:r>
            <a:endParaRPr kumimoji="1" lang="en-US" altLang="ja-JP" dirty="0"/>
          </a:p>
        </p:txBody>
      </p:sp>
      <p:sp>
        <p:nvSpPr>
          <p:cNvPr id="16" name="テキスト ボックス 15">
            <a:extLst>
              <a:ext uri="{FF2B5EF4-FFF2-40B4-BE49-F238E27FC236}">
                <a16:creationId xmlns:a16="http://schemas.microsoft.com/office/drawing/2014/main" id="{1183EBD0-BB72-002D-4AA0-BF8C5D404BAD}"/>
              </a:ext>
            </a:extLst>
          </p:cNvPr>
          <p:cNvSpPr txBox="1"/>
          <p:nvPr/>
        </p:nvSpPr>
        <p:spPr>
          <a:xfrm>
            <a:off x="781424" y="5172737"/>
            <a:ext cx="4609206" cy="1200329"/>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a:t>トランスフェクション後の細胞が剥がれ、結果にばらつきが生じる</a:t>
            </a:r>
            <a:endParaRPr kumimoji="1" lang="en-US" altLang="ja-JP" dirty="0"/>
          </a:p>
          <a:p>
            <a:pPr marL="285750" indent="-285750">
              <a:buFont typeface="Arial" panose="020B0604020202020204" pitchFamily="34" charset="0"/>
              <a:buChar char="•"/>
            </a:pPr>
            <a:r>
              <a:rPr lang="ja-JP" altLang="en-US"/>
              <a:t>コラーゲン濃度を高めることで細胞の剥がれを防げないか調査</a:t>
            </a:r>
            <a:endParaRPr kumimoji="1" lang="en-US" altLang="ja-JP" dirty="0"/>
          </a:p>
        </p:txBody>
      </p:sp>
      <p:cxnSp>
        <p:nvCxnSpPr>
          <p:cNvPr id="17" name="直線コネクタ 16">
            <a:extLst>
              <a:ext uri="{FF2B5EF4-FFF2-40B4-BE49-F238E27FC236}">
                <a16:creationId xmlns:a16="http://schemas.microsoft.com/office/drawing/2014/main" id="{833F1EFF-62FA-F6CB-1E8B-0903464DE315}"/>
              </a:ext>
            </a:extLst>
          </p:cNvPr>
          <p:cNvCxnSpPr>
            <a:cxnSpLocks/>
            <a:endCxn id="16" idx="0"/>
          </p:cNvCxnSpPr>
          <p:nvPr/>
        </p:nvCxnSpPr>
        <p:spPr>
          <a:xfrm flipH="1">
            <a:off x="3086027" y="4463204"/>
            <a:ext cx="236646" cy="709533"/>
          </a:xfrm>
          <a:prstGeom prst="line">
            <a:avLst/>
          </a:prstGeom>
          <a:ln>
            <a:headEnd type="oval" w="lg" len="lg"/>
          </a:ln>
          <a:effectLst>
            <a:glow rad="88900">
              <a:srgbClr val="FFFFFF">
                <a:alpha val="87000"/>
              </a:srgbClr>
            </a:glow>
          </a:effectLst>
        </p:spPr>
        <p:style>
          <a:lnRef idx="3">
            <a:schemeClr val="accent4"/>
          </a:lnRef>
          <a:fillRef idx="0">
            <a:schemeClr val="accent4"/>
          </a:fillRef>
          <a:effectRef idx="2">
            <a:schemeClr val="accent4"/>
          </a:effectRef>
          <a:fontRef idx="minor">
            <a:schemeClr val="tx1"/>
          </a:fontRef>
        </p:style>
      </p:cxnSp>
      <p:cxnSp>
        <p:nvCxnSpPr>
          <p:cNvPr id="20" name="直線コネクタ 19">
            <a:extLst>
              <a:ext uri="{FF2B5EF4-FFF2-40B4-BE49-F238E27FC236}">
                <a16:creationId xmlns:a16="http://schemas.microsoft.com/office/drawing/2014/main" id="{D6F968C9-DE80-7360-CA6C-D05E284D5775}"/>
              </a:ext>
            </a:extLst>
          </p:cNvPr>
          <p:cNvCxnSpPr>
            <a:cxnSpLocks/>
            <a:endCxn id="33" idx="0"/>
          </p:cNvCxnSpPr>
          <p:nvPr/>
        </p:nvCxnSpPr>
        <p:spPr>
          <a:xfrm>
            <a:off x="8254172" y="4243138"/>
            <a:ext cx="391130" cy="751590"/>
          </a:xfrm>
          <a:prstGeom prst="line">
            <a:avLst/>
          </a:prstGeom>
          <a:ln>
            <a:headEnd type="oval" w="lg" len="lg"/>
          </a:ln>
          <a:effectLst>
            <a:glow rad="88900">
              <a:srgbClr val="FFFFFF">
                <a:alpha val="87000"/>
              </a:srgbClr>
            </a:glow>
          </a:effectLst>
        </p:spPr>
        <p:style>
          <a:lnRef idx="3">
            <a:schemeClr val="accent4"/>
          </a:lnRef>
          <a:fillRef idx="0">
            <a:schemeClr val="accent4"/>
          </a:fillRef>
          <a:effectRef idx="2">
            <a:schemeClr val="accent4"/>
          </a:effectRef>
          <a:fontRef idx="minor">
            <a:schemeClr val="tx1"/>
          </a:fontRef>
        </p:style>
      </p:cxnSp>
      <p:sp>
        <p:nvSpPr>
          <p:cNvPr id="33" name="テキスト ボックス 32">
            <a:extLst>
              <a:ext uri="{FF2B5EF4-FFF2-40B4-BE49-F238E27FC236}">
                <a16:creationId xmlns:a16="http://schemas.microsoft.com/office/drawing/2014/main" id="{F98C12BC-0662-C812-568D-DE4B456A0EBA}"/>
              </a:ext>
            </a:extLst>
          </p:cNvPr>
          <p:cNvSpPr txBox="1"/>
          <p:nvPr/>
        </p:nvSpPr>
        <p:spPr>
          <a:xfrm>
            <a:off x="6621537" y="4994728"/>
            <a:ext cx="4047530" cy="923330"/>
          </a:xfrm>
          <a:prstGeom prst="rect">
            <a:avLst/>
          </a:prstGeom>
          <a:noFill/>
        </p:spPr>
        <p:txBody>
          <a:bodyPr wrap="square" rtlCol="0">
            <a:spAutoFit/>
          </a:bodyPr>
          <a:lstStyle/>
          <a:p>
            <a:pPr marL="285750" indent="-285750">
              <a:buFont typeface="Arial" panose="020B0604020202020204" pitchFamily="34" charset="0"/>
              <a:buChar char="•"/>
            </a:pPr>
            <a:r>
              <a:rPr kumimoji="1" lang="en-US" altLang="ja-JP" dirty="0"/>
              <a:t>1</a:t>
            </a:r>
            <a:r>
              <a:rPr kumimoji="1" lang="ja-JP" altLang="en-US"/>
              <a:t>日にやる操作の量が多くなる</a:t>
            </a:r>
            <a:endParaRPr kumimoji="1" lang="en-US" altLang="ja-JP" dirty="0"/>
          </a:p>
          <a:p>
            <a:pPr marL="285750" indent="-285750">
              <a:buFont typeface="Arial" panose="020B0604020202020204" pitchFamily="34" charset="0"/>
              <a:buChar char="•"/>
            </a:pPr>
            <a:r>
              <a:rPr kumimoji="1" lang="en-US" altLang="ja-JP" dirty="0"/>
              <a:t>24</a:t>
            </a:r>
            <a:r>
              <a:rPr kumimoji="1" lang="ja-JP" altLang="en-US"/>
              <a:t>時間でも同様の結果が得られないか調査</a:t>
            </a:r>
            <a:endParaRPr kumimoji="1" lang="en-US" altLang="ja-JP" dirty="0"/>
          </a:p>
        </p:txBody>
      </p:sp>
      <p:sp>
        <p:nvSpPr>
          <p:cNvPr id="39" name="コンテンツ プレースホルダー 2">
            <a:extLst>
              <a:ext uri="{FF2B5EF4-FFF2-40B4-BE49-F238E27FC236}">
                <a16:creationId xmlns:a16="http://schemas.microsoft.com/office/drawing/2014/main" id="{F0BD62C4-FEBE-2192-5025-503AA25A89F1}"/>
              </a:ext>
            </a:extLst>
          </p:cNvPr>
          <p:cNvSpPr>
            <a:spLocks noGrp="1"/>
          </p:cNvSpPr>
          <p:nvPr>
            <p:ph idx="1"/>
          </p:nvPr>
        </p:nvSpPr>
        <p:spPr>
          <a:xfrm>
            <a:off x="546100" y="1038484"/>
            <a:ext cx="3336089" cy="423237"/>
          </a:xfrm>
        </p:spPr>
        <p:txBody>
          <a:bodyPr/>
          <a:lstStyle/>
          <a:p>
            <a:pPr marL="0" indent="0">
              <a:buNone/>
            </a:pPr>
            <a:r>
              <a:rPr lang="en-US" altLang="ja-JP" dirty="0"/>
              <a:t>3</a:t>
            </a:r>
            <a:r>
              <a:rPr lang="ja-JP" altLang="en-US"/>
              <a:t>条件を変えて実験</a:t>
            </a:r>
            <a:endParaRPr kumimoji="1" lang="ja-JP" altLang="en-US"/>
          </a:p>
        </p:txBody>
      </p:sp>
      <p:sp>
        <p:nvSpPr>
          <p:cNvPr id="50" name="山形 49">
            <a:extLst>
              <a:ext uri="{FF2B5EF4-FFF2-40B4-BE49-F238E27FC236}">
                <a16:creationId xmlns:a16="http://schemas.microsoft.com/office/drawing/2014/main" id="{7A4C7F86-E61D-33F9-85B1-3BA42A6DD61B}"/>
              </a:ext>
            </a:extLst>
          </p:cNvPr>
          <p:cNvSpPr/>
          <p:nvPr/>
        </p:nvSpPr>
        <p:spPr>
          <a:xfrm>
            <a:off x="9415570" y="3271553"/>
            <a:ext cx="338878" cy="423865"/>
          </a:xfrm>
          <a:prstGeom prst="chevron">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51" name="テキスト ボックス 50">
            <a:extLst>
              <a:ext uri="{FF2B5EF4-FFF2-40B4-BE49-F238E27FC236}">
                <a16:creationId xmlns:a16="http://schemas.microsoft.com/office/drawing/2014/main" id="{83FF80EC-F819-74E7-80E0-868F91C7A83E}"/>
              </a:ext>
            </a:extLst>
          </p:cNvPr>
          <p:cNvSpPr txBox="1"/>
          <p:nvPr/>
        </p:nvSpPr>
        <p:spPr>
          <a:xfrm>
            <a:off x="9221367" y="3749411"/>
            <a:ext cx="643317" cy="584775"/>
          </a:xfrm>
          <a:prstGeom prst="rect">
            <a:avLst/>
          </a:prstGeom>
          <a:noFill/>
        </p:spPr>
        <p:txBody>
          <a:bodyPr wrap="square" rtlCol="0">
            <a:spAutoFit/>
          </a:bodyPr>
          <a:lstStyle/>
          <a:p>
            <a:r>
              <a:rPr kumimoji="1" lang="ja-JP" altLang="en-US" sz="1600"/>
              <a:t>培地交換</a:t>
            </a:r>
          </a:p>
        </p:txBody>
      </p:sp>
    </p:spTree>
    <p:extLst>
      <p:ext uri="{BB962C8B-B14F-4D97-AF65-F5344CB8AC3E}">
        <p14:creationId xmlns:p14="http://schemas.microsoft.com/office/powerpoint/2010/main" val="27981158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コンテンツ プレースホルダー 4">
            <a:extLst>
              <a:ext uri="{FF2B5EF4-FFF2-40B4-BE49-F238E27FC236}">
                <a16:creationId xmlns:a16="http://schemas.microsoft.com/office/drawing/2014/main" id="{2A616F09-D221-9DF1-D47C-945440352A02}"/>
              </a:ext>
            </a:extLst>
          </p:cNvPr>
          <p:cNvGraphicFramePr>
            <a:graphicFrameLocks noGrp="1"/>
          </p:cNvGraphicFramePr>
          <p:nvPr>
            <p:ph idx="1"/>
            <p:extLst>
              <p:ext uri="{D42A27DB-BD31-4B8C-83A1-F6EECF244321}">
                <p14:modId xmlns:p14="http://schemas.microsoft.com/office/powerpoint/2010/main" val="851086594"/>
              </p:ext>
            </p:extLst>
          </p:nvPr>
        </p:nvGraphicFramePr>
        <p:xfrm>
          <a:off x="6391722" y="5014412"/>
          <a:ext cx="5254177" cy="1417320"/>
        </p:xfrm>
        <a:graphic>
          <a:graphicData uri="http://schemas.openxmlformats.org/drawingml/2006/table">
            <a:tbl>
              <a:tblPr firstRow="1" bandRow="1">
                <a:tableStyleId>{5C22544A-7EE6-4342-B048-85BDC9FD1C3A}</a:tableStyleId>
              </a:tblPr>
              <a:tblGrid>
                <a:gridCol w="3685049">
                  <a:extLst>
                    <a:ext uri="{9D8B030D-6E8A-4147-A177-3AD203B41FA5}">
                      <a16:colId xmlns:a16="http://schemas.microsoft.com/office/drawing/2014/main" val="3133601059"/>
                    </a:ext>
                  </a:extLst>
                </a:gridCol>
                <a:gridCol w="1569128">
                  <a:extLst>
                    <a:ext uri="{9D8B030D-6E8A-4147-A177-3AD203B41FA5}">
                      <a16:colId xmlns:a16="http://schemas.microsoft.com/office/drawing/2014/main" val="3255306238"/>
                    </a:ext>
                  </a:extLst>
                </a:gridCol>
              </a:tblGrid>
              <a:tr h="370840">
                <a:tc>
                  <a:txBody>
                    <a:bodyPr/>
                    <a:lstStyle/>
                    <a:p>
                      <a:pPr algn="ctr"/>
                      <a:endParaRPr kumimoji="1" lang="ja-JP"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kumimoji="1" lang="en-US" altLang="ja-JP" sz="1400" b="0" dirty="0">
                          <a:latin typeface="+mn-lt"/>
                        </a:rPr>
                        <a:t>Luc activity [-]</a:t>
                      </a:r>
                      <a:endParaRPr kumimoji="1" lang="ja-JP" altLang="en-US" sz="1400" b="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223667347"/>
                  </a:ext>
                </a:extLst>
              </a:tr>
              <a:tr h="370840">
                <a:tc>
                  <a:txBody>
                    <a:bodyPr/>
                    <a:lstStyle/>
                    <a:p>
                      <a:pPr algn="ctr"/>
                      <a:r>
                        <a:rPr kumimoji="1" lang="en-US" altLang="ja-JP" sz="1400" dirty="0">
                          <a:latin typeface="+mn-ea"/>
                          <a:ea typeface="+mn-ea"/>
                        </a:rPr>
                        <a:t>24h</a:t>
                      </a:r>
                      <a:r>
                        <a:rPr kumimoji="1" lang="ja-JP" altLang="en-US" sz="1400">
                          <a:latin typeface="+mn-ea"/>
                          <a:ea typeface="+mn-ea"/>
                        </a:rPr>
                        <a:t>トランスフェクション</a:t>
                      </a:r>
                      <a:r>
                        <a:rPr kumimoji="1" lang="en-US" altLang="ja-JP" sz="1400" dirty="0">
                          <a:latin typeface="+mn-ea"/>
                          <a:ea typeface="+mn-ea"/>
                        </a:rPr>
                        <a:t> + 24h</a:t>
                      </a:r>
                      <a:endParaRPr kumimoji="1" lang="ja-JP" altLang="en-US" sz="140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400" dirty="0">
                          <a:latin typeface="+mn-lt"/>
                        </a:rPr>
                        <a:t>427270</a:t>
                      </a:r>
                      <a:endParaRPr kumimoji="1" lang="ja-JP" altLang="en-US" sz="140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5793816"/>
                  </a:ext>
                </a:extLst>
              </a:tr>
              <a:tr h="370840">
                <a:tc>
                  <a:txBody>
                    <a:bodyPr/>
                    <a:lstStyle/>
                    <a:p>
                      <a:pPr algn="ctr"/>
                      <a:r>
                        <a:rPr kumimoji="1" lang="en-US" altLang="ja-JP" sz="1400" dirty="0">
                          <a:latin typeface="+mn-ea"/>
                          <a:ea typeface="+mn-ea"/>
                        </a:rPr>
                        <a:t>4</a:t>
                      </a:r>
                      <a:r>
                        <a:rPr kumimoji="1" lang="ja-JP" altLang="en-US" sz="1400">
                          <a:latin typeface="+mn-ea"/>
                          <a:ea typeface="+mn-ea"/>
                        </a:rPr>
                        <a:t>時間トランスフェクション</a:t>
                      </a:r>
                      <a:r>
                        <a:rPr kumimoji="1" lang="en-US" altLang="ja-JP" sz="1400" dirty="0">
                          <a:latin typeface="+mn-ea"/>
                          <a:ea typeface="+mn-ea"/>
                        </a:rPr>
                        <a:t>(</a:t>
                      </a:r>
                      <a:r>
                        <a:rPr kumimoji="1" lang="ja-JP" altLang="en-US" sz="1400">
                          <a:latin typeface="+mn-ea"/>
                          <a:ea typeface="+mn-ea"/>
                        </a:rPr>
                        <a:t>前回</a:t>
                      </a:r>
                      <a:r>
                        <a:rPr kumimoji="1" lang="en-US" altLang="ja-JP" sz="1400" dirty="0">
                          <a:latin typeface="+mn-ea"/>
                          <a:ea typeface="+mn-ea"/>
                        </a:rPr>
                        <a:t>) + 20h</a:t>
                      </a:r>
                      <a:endParaRPr kumimoji="1" lang="ja-JP" altLang="en-US" sz="140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400" dirty="0">
                          <a:latin typeface="+mn-lt"/>
                        </a:rPr>
                        <a:t>1383982</a:t>
                      </a:r>
                      <a:endParaRPr kumimoji="1" lang="ja-JP" altLang="en-US" sz="140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77543288"/>
                  </a:ext>
                </a:extLst>
              </a:tr>
              <a:tr h="0">
                <a:tc>
                  <a:txBody>
                    <a:bodyPr/>
                    <a:lstStyle/>
                    <a:p>
                      <a:pPr algn="ctr"/>
                      <a:r>
                        <a:rPr kumimoji="1" lang="en-US" altLang="ja-JP" sz="1400" dirty="0">
                          <a:latin typeface="+mn-ea"/>
                          <a:ea typeface="+mn-ea"/>
                        </a:rPr>
                        <a:t>4</a:t>
                      </a:r>
                      <a:r>
                        <a:rPr kumimoji="1" lang="ja-JP" altLang="en-US" sz="1400">
                          <a:latin typeface="+mn-ea"/>
                          <a:ea typeface="+mn-ea"/>
                        </a:rPr>
                        <a:t>時間トランスフェクション</a:t>
                      </a:r>
                      <a:r>
                        <a:rPr kumimoji="1" lang="en-US" altLang="ja-JP" sz="1400" dirty="0">
                          <a:latin typeface="+mn-ea"/>
                          <a:ea typeface="+mn-ea"/>
                        </a:rPr>
                        <a:t>(</a:t>
                      </a:r>
                      <a:r>
                        <a:rPr kumimoji="1" lang="ja-JP" altLang="en-US" sz="1400">
                          <a:latin typeface="+mn-ea"/>
                          <a:ea typeface="+mn-ea"/>
                        </a:rPr>
                        <a:t>清水</a:t>
                      </a:r>
                      <a:r>
                        <a:rPr kumimoji="1" lang="en-US" altLang="ja-JP" sz="1400" dirty="0">
                          <a:latin typeface="+mn-ea"/>
                          <a:ea typeface="+mn-ea"/>
                        </a:rPr>
                        <a:t>) ) + 20h</a:t>
                      </a:r>
                      <a:endParaRPr kumimoji="1" lang="ja-JP" altLang="en-US" sz="140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1400" dirty="0">
                          <a:latin typeface="+mn-lt"/>
                        </a:rPr>
                        <a:t>1036587</a:t>
                      </a:r>
                      <a:endParaRPr kumimoji="1" lang="ja-JP" altLang="en-US" sz="140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44882758"/>
                  </a:ext>
                </a:extLst>
              </a:tr>
            </a:tbl>
          </a:graphicData>
        </a:graphic>
      </p:graphicFrame>
      <p:sp>
        <p:nvSpPr>
          <p:cNvPr id="4" name="テキスト プレースホルダー 3">
            <a:extLst>
              <a:ext uri="{FF2B5EF4-FFF2-40B4-BE49-F238E27FC236}">
                <a16:creationId xmlns:a16="http://schemas.microsoft.com/office/drawing/2014/main" id="{3088E688-D23E-4409-B309-0013C32EE3FB}"/>
              </a:ext>
            </a:extLst>
          </p:cNvPr>
          <p:cNvSpPr>
            <a:spLocks noGrp="1"/>
          </p:cNvSpPr>
          <p:nvPr>
            <p:ph type="body" sz="quarter" idx="11"/>
          </p:nvPr>
        </p:nvSpPr>
        <p:spPr/>
        <p:txBody>
          <a:bodyPr>
            <a:normAutofit/>
          </a:bodyPr>
          <a:lstStyle/>
          <a:p>
            <a:r>
              <a:rPr kumimoji="1" lang="ja-JP" altLang="en-US"/>
              <a:t>評価系改善実験の結果</a:t>
            </a:r>
          </a:p>
        </p:txBody>
      </p:sp>
      <p:sp>
        <p:nvSpPr>
          <p:cNvPr id="6" name="テキスト ボックス 5">
            <a:extLst>
              <a:ext uri="{FF2B5EF4-FFF2-40B4-BE49-F238E27FC236}">
                <a16:creationId xmlns:a16="http://schemas.microsoft.com/office/drawing/2014/main" id="{532DF6DE-40EB-9906-F73F-7F75161CB293}"/>
              </a:ext>
            </a:extLst>
          </p:cNvPr>
          <p:cNvSpPr txBox="1"/>
          <p:nvPr/>
        </p:nvSpPr>
        <p:spPr>
          <a:xfrm>
            <a:off x="6391723" y="4635360"/>
            <a:ext cx="5182829" cy="307777"/>
          </a:xfrm>
          <a:prstGeom prst="rect">
            <a:avLst/>
          </a:prstGeom>
          <a:noFill/>
        </p:spPr>
        <p:txBody>
          <a:bodyPr wrap="none" rtlCol="0">
            <a:spAutoFit/>
          </a:bodyPr>
          <a:lstStyle/>
          <a:p>
            <a:r>
              <a:rPr kumimoji="1" lang="ja-JP" altLang="en-US" sz="1400"/>
              <a:t>各トランスフェクション時間における</a:t>
            </a:r>
            <a:r>
              <a:rPr kumimoji="1" lang="en-US" altLang="ja-JP" sz="1400" dirty="0"/>
              <a:t>DCA</a:t>
            </a:r>
            <a:r>
              <a:rPr kumimoji="1" lang="ja-JP" altLang="en-US" sz="1400"/>
              <a:t>添加時の</a:t>
            </a:r>
            <a:r>
              <a:rPr kumimoji="1" lang="en-US" altLang="ja-JP" sz="1400" dirty="0"/>
              <a:t>Luc activity</a:t>
            </a:r>
            <a:endParaRPr kumimoji="1" lang="ja-JP" altLang="en-US" sz="1400"/>
          </a:p>
        </p:txBody>
      </p:sp>
      <p:sp>
        <p:nvSpPr>
          <p:cNvPr id="3" name="コンテンツ プレースホルダー 2">
            <a:extLst>
              <a:ext uri="{FF2B5EF4-FFF2-40B4-BE49-F238E27FC236}">
                <a16:creationId xmlns:a16="http://schemas.microsoft.com/office/drawing/2014/main" id="{C43F32AA-A32D-86E0-3AB0-B7EAF3DB733E}"/>
              </a:ext>
            </a:extLst>
          </p:cNvPr>
          <p:cNvSpPr txBox="1">
            <a:spLocks/>
          </p:cNvSpPr>
          <p:nvPr/>
        </p:nvSpPr>
        <p:spPr>
          <a:xfrm>
            <a:off x="546100" y="1038483"/>
            <a:ext cx="5676675" cy="3400433"/>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anose="05000000000000000000" pitchFamily="2" charset="2"/>
              <a:buNone/>
            </a:pPr>
            <a:r>
              <a:rPr lang="ja-JP" altLang="en-US" sz="1800">
                <a:solidFill>
                  <a:schemeClr val="accent4"/>
                </a:solidFill>
              </a:rPr>
              <a:t>コラーゲン濃度、</a:t>
            </a:r>
            <a:r>
              <a:rPr lang="en-US" altLang="ja-JP" sz="1800" dirty="0">
                <a:solidFill>
                  <a:schemeClr val="accent4"/>
                </a:solidFill>
              </a:rPr>
              <a:t>24well</a:t>
            </a:r>
            <a:r>
              <a:rPr lang="ja-JP" altLang="en-US" sz="1800">
                <a:solidFill>
                  <a:schemeClr val="accent4"/>
                </a:solidFill>
              </a:rPr>
              <a:t>に関して</a:t>
            </a:r>
            <a:endParaRPr lang="en-US" altLang="ja-JP" sz="1800" dirty="0">
              <a:solidFill>
                <a:schemeClr val="accent4"/>
              </a:solidFill>
            </a:endParaRPr>
          </a:p>
          <a:p>
            <a:pPr>
              <a:lnSpc>
                <a:spcPct val="100000"/>
              </a:lnSpc>
            </a:pPr>
            <a:r>
              <a:rPr lang="en-US" altLang="ja-JP" sz="1600" dirty="0"/>
              <a:t>12well, 1/10</a:t>
            </a:r>
            <a:r>
              <a:rPr lang="ja-JP" altLang="en-US" sz="1600"/>
              <a:t>希釈で細胞が</a:t>
            </a:r>
            <a:r>
              <a:rPr lang="en-US" altLang="ja-JP" sz="1600" dirty="0"/>
              <a:t>7</a:t>
            </a:r>
            <a:r>
              <a:rPr lang="ja-JP" altLang="en-US" sz="1600"/>
              <a:t>割型剥がれた</a:t>
            </a:r>
            <a:endParaRPr lang="en-US" altLang="ja-JP" sz="1600" dirty="0"/>
          </a:p>
          <a:p>
            <a:pPr lvl="1">
              <a:lnSpc>
                <a:spcPct val="100000"/>
              </a:lnSpc>
            </a:pPr>
            <a:r>
              <a:rPr lang="en-US" altLang="ja-JP" sz="1400" dirty="0"/>
              <a:t>Luc activity</a:t>
            </a:r>
            <a:r>
              <a:rPr lang="ja-JP" altLang="en-US" sz="1400"/>
              <a:t>の誤差も大きくなっている</a:t>
            </a:r>
            <a:endParaRPr lang="en-US" altLang="ja-JP" sz="1400" dirty="0"/>
          </a:p>
          <a:p>
            <a:pPr lvl="1">
              <a:lnSpc>
                <a:spcPct val="100000"/>
              </a:lnSpc>
            </a:pPr>
            <a:r>
              <a:rPr lang="ja-JP" altLang="en-US" sz="1400"/>
              <a:t>コラーゲンがゲル化してしまった？</a:t>
            </a:r>
            <a:endParaRPr lang="en-US" altLang="ja-JP" sz="1400" dirty="0"/>
          </a:p>
          <a:p>
            <a:pPr>
              <a:lnSpc>
                <a:spcPct val="100000"/>
              </a:lnSpc>
            </a:pPr>
            <a:r>
              <a:rPr lang="ja-JP" altLang="en-US" sz="1600"/>
              <a:t>他の</a:t>
            </a:r>
            <a:r>
              <a:rPr lang="en-US" altLang="ja-JP" sz="1600" dirty="0"/>
              <a:t>well</a:t>
            </a:r>
            <a:r>
              <a:rPr lang="ja-JP" altLang="en-US" sz="1600"/>
              <a:t>では細胞の剥がれはほとんど見られなかった</a:t>
            </a:r>
            <a:endParaRPr lang="en-US" altLang="ja-JP" sz="1600" dirty="0"/>
          </a:p>
          <a:p>
            <a:pPr lvl="1">
              <a:lnSpc>
                <a:spcPct val="100000"/>
              </a:lnSpc>
            </a:pPr>
            <a:r>
              <a:rPr lang="ja-JP" altLang="en-US" sz="1400"/>
              <a:t>手技の向上によるもの</a:t>
            </a:r>
            <a:endParaRPr lang="en-US" altLang="ja-JP" sz="1400" dirty="0"/>
          </a:p>
          <a:p>
            <a:pPr lvl="1">
              <a:lnSpc>
                <a:spcPct val="100000"/>
              </a:lnSpc>
            </a:pPr>
            <a:r>
              <a:rPr lang="en-US" altLang="ja-JP" sz="1400" dirty="0"/>
              <a:t>12well, 1/60</a:t>
            </a:r>
            <a:r>
              <a:rPr lang="ja-JP" altLang="en-US" sz="1400"/>
              <a:t>希釈では</a:t>
            </a:r>
            <a:r>
              <a:rPr lang="en-US" altLang="ja-JP" sz="1400" dirty="0"/>
              <a:t>3</a:t>
            </a:r>
            <a:r>
              <a:rPr lang="ja-JP" altLang="en-US" sz="1400"/>
              <a:t>割程度剥がれているものもあった</a:t>
            </a:r>
            <a:endParaRPr lang="en-US" altLang="ja-JP" sz="1400" dirty="0"/>
          </a:p>
          <a:p>
            <a:pPr lvl="2">
              <a:lnSpc>
                <a:spcPct val="100000"/>
              </a:lnSpc>
            </a:pPr>
            <a:r>
              <a:rPr lang="en-US" altLang="ja-JP" sz="1400" dirty="0"/>
              <a:t>24well</a:t>
            </a:r>
            <a:r>
              <a:rPr lang="ja-JP" altLang="en-US" sz="1400"/>
              <a:t>の方が培地の流れが起きにくく剥がれにくい？</a:t>
            </a:r>
            <a:endParaRPr lang="en-US" altLang="ja-JP" sz="1400" dirty="0"/>
          </a:p>
          <a:p>
            <a:pPr>
              <a:lnSpc>
                <a:spcPct val="100000"/>
              </a:lnSpc>
            </a:pPr>
            <a:r>
              <a:rPr lang="en-US" altLang="ja-JP" sz="1600" dirty="0"/>
              <a:t>24well</a:t>
            </a:r>
            <a:r>
              <a:rPr lang="ja-JP" altLang="en-US" sz="1600"/>
              <a:t>でも</a:t>
            </a:r>
            <a:r>
              <a:rPr lang="en-US" altLang="ja-JP" sz="1600" dirty="0"/>
              <a:t>12well</a:t>
            </a:r>
            <a:r>
              <a:rPr lang="ja-JP" altLang="en-US" sz="1600"/>
              <a:t>と同様に</a:t>
            </a:r>
            <a:r>
              <a:rPr lang="en-US" altLang="ja-JP" sz="1600" dirty="0"/>
              <a:t>TGR5</a:t>
            </a:r>
            <a:r>
              <a:rPr lang="ja-JP" altLang="en-US" sz="1600"/>
              <a:t>活性を評価できた</a:t>
            </a:r>
            <a:endParaRPr lang="en-US" altLang="ja-JP" sz="1600" dirty="0"/>
          </a:p>
          <a:p>
            <a:pPr marL="0" indent="0" algn="ctr">
              <a:lnSpc>
                <a:spcPct val="100000"/>
              </a:lnSpc>
              <a:buNone/>
            </a:pPr>
            <a:r>
              <a:rPr lang="en-US" altLang="ja-JP" sz="1800" u="sng" dirty="0"/>
              <a:t>1/60</a:t>
            </a:r>
            <a:r>
              <a:rPr lang="ja-JP" altLang="en-US" sz="1800" u="sng"/>
              <a:t>希釈、</a:t>
            </a:r>
            <a:r>
              <a:rPr lang="en-US" altLang="ja-JP" sz="1800" u="sng" dirty="0"/>
              <a:t>24well</a:t>
            </a:r>
            <a:r>
              <a:rPr lang="ja-JP" altLang="en-US" sz="1800" u="sng"/>
              <a:t>を使うようにする</a:t>
            </a:r>
            <a:endParaRPr lang="en-US" altLang="ja-JP" sz="1800" u="sng" dirty="0"/>
          </a:p>
        </p:txBody>
      </p:sp>
      <p:graphicFrame>
        <p:nvGraphicFramePr>
          <p:cNvPr id="7" name="グラフ 6">
            <a:extLst>
              <a:ext uri="{FF2B5EF4-FFF2-40B4-BE49-F238E27FC236}">
                <a16:creationId xmlns:a16="http://schemas.microsoft.com/office/drawing/2014/main" id="{6DB7F348-A554-202D-3608-A3603279682D}"/>
              </a:ext>
            </a:extLst>
          </p:cNvPr>
          <p:cNvGraphicFramePr>
            <a:graphicFrameLocks/>
          </p:cNvGraphicFramePr>
          <p:nvPr>
            <p:extLst>
              <p:ext uri="{D42A27DB-BD31-4B8C-83A1-F6EECF244321}">
                <p14:modId xmlns:p14="http://schemas.microsoft.com/office/powerpoint/2010/main" val="661799619"/>
              </p:ext>
            </p:extLst>
          </p:nvPr>
        </p:nvGraphicFramePr>
        <p:xfrm>
          <a:off x="6096000" y="1262128"/>
          <a:ext cx="5549900" cy="2929230"/>
        </p:xfrm>
        <a:graphic>
          <a:graphicData uri="http://schemas.openxmlformats.org/drawingml/2006/chart">
            <c:chart xmlns:c="http://schemas.openxmlformats.org/drawingml/2006/chart" xmlns:r="http://schemas.openxmlformats.org/officeDocument/2006/relationships" r:id="rId2"/>
          </a:graphicData>
        </a:graphic>
      </p:graphicFrame>
      <p:sp>
        <p:nvSpPr>
          <p:cNvPr id="11" name="コンテンツ プレースホルダー 2">
            <a:extLst>
              <a:ext uri="{FF2B5EF4-FFF2-40B4-BE49-F238E27FC236}">
                <a16:creationId xmlns:a16="http://schemas.microsoft.com/office/drawing/2014/main" id="{117421DB-49DB-EFD3-2B52-C241A55BEAAC}"/>
              </a:ext>
            </a:extLst>
          </p:cNvPr>
          <p:cNvSpPr txBox="1">
            <a:spLocks/>
          </p:cNvSpPr>
          <p:nvPr/>
        </p:nvSpPr>
        <p:spPr>
          <a:xfrm>
            <a:off x="546099" y="4579746"/>
            <a:ext cx="5676675" cy="2032252"/>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anose="05000000000000000000" pitchFamily="2" charset="2"/>
              <a:buNone/>
            </a:pPr>
            <a:r>
              <a:rPr lang="ja-JP" altLang="en-US" sz="1800">
                <a:solidFill>
                  <a:schemeClr val="accent4"/>
                </a:solidFill>
              </a:rPr>
              <a:t>トランスフェクションの時間に関して</a:t>
            </a:r>
            <a:endParaRPr lang="en-US" altLang="ja-JP" sz="1800" dirty="0">
              <a:solidFill>
                <a:schemeClr val="accent4"/>
              </a:solidFill>
            </a:endParaRPr>
          </a:p>
          <a:p>
            <a:pPr>
              <a:lnSpc>
                <a:spcPct val="100000"/>
              </a:lnSpc>
            </a:pPr>
            <a:r>
              <a:rPr lang="en-US" altLang="ja-JP" sz="1600" dirty="0"/>
              <a:t>Luc activity</a:t>
            </a:r>
            <a:r>
              <a:rPr lang="ja-JP" altLang="en-US" sz="1600"/>
              <a:t>が低下した</a:t>
            </a:r>
            <a:endParaRPr lang="en-US" altLang="ja-JP" sz="1600" dirty="0"/>
          </a:p>
          <a:p>
            <a:pPr lvl="1">
              <a:lnSpc>
                <a:spcPct val="100000"/>
              </a:lnSpc>
            </a:pPr>
            <a:r>
              <a:rPr lang="en-US" altLang="ja-JP" sz="1400" dirty="0"/>
              <a:t>4</a:t>
            </a:r>
            <a:r>
              <a:rPr lang="ja-JP" altLang="en-US" sz="1400"/>
              <a:t>時間のトランスフェクションと比べて</a:t>
            </a:r>
            <a:r>
              <a:rPr lang="en-US" altLang="ja-JP" sz="1400" dirty="0"/>
              <a:t>2~3</a:t>
            </a:r>
            <a:r>
              <a:rPr lang="ja-JP" altLang="en-US" sz="1400"/>
              <a:t>倍小さくなっている</a:t>
            </a:r>
            <a:endParaRPr lang="en-US" altLang="ja-JP" sz="1400" dirty="0"/>
          </a:p>
          <a:p>
            <a:pPr lvl="1">
              <a:lnSpc>
                <a:spcPct val="100000"/>
              </a:lnSpc>
            </a:pPr>
            <a:r>
              <a:rPr lang="ja-JP" altLang="en-US" sz="1400"/>
              <a:t>長時間のトランスフェクションにより発現量が低下？</a:t>
            </a:r>
            <a:endParaRPr lang="en-US" altLang="ja-JP" sz="1400" dirty="0"/>
          </a:p>
          <a:p>
            <a:pPr marL="0" indent="0" algn="ctr">
              <a:lnSpc>
                <a:spcPct val="100000"/>
              </a:lnSpc>
              <a:buNone/>
            </a:pPr>
            <a:r>
              <a:rPr lang="ja-JP" altLang="en-US" sz="1800" u="sng"/>
              <a:t>トランスフェクションは</a:t>
            </a:r>
            <a:r>
              <a:rPr lang="en-US" altLang="ja-JP" sz="1800" u="sng" dirty="0"/>
              <a:t>4</a:t>
            </a:r>
            <a:r>
              <a:rPr lang="ja-JP" altLang="en-US" sz="1800" u="sng"/>
              <a:t>時間にする</a:t>
            </a:r>
            <a:endParaRPr lang="en-US" altLang="ja-JP" sz="1800" u="sng" dirty="0"/>
          </a:p>
        </p:txBody>
      </p:sp>
      <p:sp>
        <p:nvSpPr>
          <p:cNvPr id="15" name="矢印: 右 43">
            <a:extLst>
              <a:ext uri="{FF2B5EF4-FFF2-40B4-BE49-F238E27FC236}">
                <a16:creationId xmlns:a16="http://schemas.microsoft.com/office/drawing/2014/main" id="{533A4F33-F0D2-11A3-64C5-E10BDAEA1798}"/>
              </a:ext>
            </a:extLst>
          </p:cNvPr>
          <p:cNvSpPr/>
          <p:nvPr/>
        </p:nvSpPr>
        <p:spPr>
          <a:xfrm>
            <a:off x="1002632" y="4067730"/>
            <a:ext cx="396695" cy="317973"/>
          </a:xfrm>
          <a:custGeom>
            <a:avLst/>
            <a:gdLst>
              <a:gd name="connsiteX0" fmla="*/ 0 w 396695"/>
              <a:gd name="connsiteY0" fmla="*/ 79493 h 317973"/>
              <a:gd name="connsiteX1" fmla="*/ 237709 w 396695"/>
              <a:gd name="connsiteY1" fmla="*/ 79493 h 317973"/>
              <a:gd name="connsiteX2" fmla="*/ 237709 w 396695"/>
              <a:gd name="connsiteY2" fmla="*/ 0 h 317973"/>
              <a:gd name="connsiteX3" fmla="*/ 396695 w 396695"/>
              <a:gd name="connsiteY3" fmla="*/ 158987 h 317973"/>
              <a:gd name="connsiteX4" fmla="*/ 237709 w 396695"/>
              <a:gd name="connsiteY4" fmla="*/ 317973 h 317973"/>
              <a:gd name="connsiteX5" fmla="*/ 237709 w 396695"/>
              <a:gd name="connsiteY5" fmla="*/ 238480 h 317973"/>
              <a:gd name="connsiteX6" fmla="*/ 0 w 396695"/>
              <a:gd name="connsiteY6" fmla="*/ 238480 h 317973"/>
              <a:gd name="connsiteX7" fmla="*/ 0 w 396695"/>
              <a:gd name="connsiteY7" fmla="*/ 79493 h 31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6695" h="317973" fill="none" extrusionOk="0">
                <a:moveTo>
                  <a:pt x="0" y="79493"/>
                </a:moveTo>
                <a:cubicBezTo>
                  <a:pt x="102225" y="73261"/>
                  <a:pt x="196743" y="60549"/>
                  <a:pt x="237709" y="79493"/>
                </a:cubicBezTo>
                <a:cubicBezTo>
                  <a:pt x="235411" y="49610"/>
                  <a:pt x="231688" y="38837"/>
                  <a:pt x="237709" y="0"/>
                </a:cubicBezTo>
                <a:cubicBezTo>
                  <a:pt x="270054" y="32399"/>
                  <a:pt x="373851" y="131558"/>
                  <a:pt x="396695" y="158987"/>
                </a:cubicBezTo>
                <a:cubicBezTo>
                  <a:pt x="347227" y="198902"/>
                  <a:pt x="293372" y="286902"/>
                  <a:pt x="237709" y="317973"/>
                </a:cubicBezTo>
                <a:cubicBezTo>
                  <a:pt x="238893" y="280508"/>
                  <a:pt x="236089" y="273626"/>
                  <a:pt x="237709" y="238480"/>
                </a:cubicBezTo>
                <a:cubicBezTo>
                  <a:pt x="190753" y="237851"/>
                  <a:pt x="44127" y="258970"/>
                  <a:pt x="0" y="238480"/>
                </a:cubicBezTo>
                <a:cubicBezTo>
                  <a:pt x="-1801" y="220786"/>
                  <a:pt x="2561" y="139276"/>
                  <a:pt x="0" y="79493"/>
                </a:cubicBezTo>
                <a:close/>
              </a:path>
              <a:path w="396695" h="317973" stroke="0" extrusionOk="0">
                <a:moveTo>
                  <a:pt x="0" y="79493"/>
                </a:moveTo>
                <a:cubicBezTo>
                  <a:pt x="58790" y="92573"/>
                  <a:pt x="166405" y="99398"/>
                  <a:pt x="237709" y="79493"/>
                </a:cubicBezTo>
                <a:cubicBezTo>
                  <a:pt x="233005" y="52707"/>
                  <a:pt x="236942" y="33387"/>
                  <a:pt x="237709" y="0"/>
                </a:cubicBezTo>
                <a:cubicBezTo>
                  <a:pt x="287042" y="74990"/>
                  <a:pt x="364007" y="100299"/>
                  <a:pt x="396695" y="158987"/>
                </a:cubicBezTo>
                <a:cubicBezTo>
                  <a:pt x="367582" y="165092"/>
                  <a:pt x="308134" y="239206"/>
                  <a:pt x="237709" y="317973"/>
                </a:cubicBezTo>
                <a:cubicBezTo>
                  <a:pt x="232171" y="280418"/>
                  <a:pt x="238770" y="274970"/>
                  <a:pt x="237709" y="238480"/>
                </a:cubicBezTo>
                <a:cubicBezTo>
                  <a:pt x="142121" y="257294"/>
                  <a:pt x="55556" y="226288"/>
                  <a:pt x="0" y="238480"/>
                </a:cubicBezTo>
                <a:cubicBezTo>
                  <a:pt x="-5620" y="167319"/>
                  <a:pt x="-10141" y="149850"/>
                  <a:pt x="0" y="79493"/>
                </a:cubicBezTo>
                <a:close/>
              </a:path>
            </a:pathLst>
          </a:custGeom>
          <a:solidFill>
            <a:schemeClr val="accent4"/>
          </a:solidFill>
          <a:ln>
            <a:solidFill>
              <a:schemeClr val="accent4"/>
            </a:solidFill>
            <a:extLst>
              <a:ext uri="{C807C97D-BFC1-408E-A445-0C87EB9F89A2}">
                <ask:lineSketchStyleProps xmlns:ask="http://schemas.microsoft.com/office/drawing/2018/sketchyshapes" sd="3864781296">
                  <a:prstGeom prst="rightArrow">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矢印: 右 43">
            <a:extLst>
              <a:ext uri="{FF2B5EF4-FFF2-40B4-BE49-F238E27FC236}">
                <a16:creationId xmlns:a16="http://schemas.microsoft.com/office/drawing/2014/main" id="{194B1162-2E65-BFB8-9BC7-E34883960321}"/>
              </a:ext>
            </a:extLst>
          </p:cNvPr>
          <p:cNvSpPr/>
          <p:nvPr/>
        </p:nvSpPr>
        <p:spPr>
          <a:xfrm>
            <a:off x="1002631" y="6272745"/>
            <a:ext cx="396695" cy="317973"/>
          </a:xfrm>
          <a:custGeom>
            <a:avLst/>
            <a:gdLst>
              <a:gd name="connsiteX0" fmla="*/ 0 w 396695"/>
              <a:gd name="connsiteY0" fmla="*/ 79493 h 317973"/>
              <a:gd name="connsiteX1" fmla="*/ 237709 w 396695"/>
              <a:gd name="connsiteY1" fmla="*/ 79493 h 317973"/>
              <a:gd name="connsiteX2" fmla="*/ 237709 w 396695"/>
              <a:gd name="connsiteY2" fmla="*/ 0 h 317973"/>
              <a:gd name="connsiteX3" fmla="*/ 396695 w 396695"/>
              <a:gd name="connsiteY3" fmla="*/ 158987 h 317973"/>
              <a:gd name="connsiteX4" fmla="*/ 237709 w 396695"/>
              <a:gd name="connsiteY4" fmla="*/ 317973 h 317973"/>
              <a:gd name="connsiteX5" fmla="*/ 237709 w 396695"/>
              <a:gd name="connsiteY5" fmla="*/ 238480 h 317973"/>
              <a:gd name="connsiteX6" fmla="*/ 0 w 396695"/>
              <a:gd name="connsiteY6" fmla="*/ 238480 h 317973"/>
              <a:gd name="connsiteX7" fmla="*/ 0 w 396695"/>
              <a:gd name="connsiteY7" fmla="*/ 79493 h 31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6695" h="317973" fill="none" extrusionOk="0">
                <a:moveTo>
                  <a:pt x="0" y="79493"/>
                </a:moveTo>
                <a:cubicBezTo>
                  <a:pt x="102225" y="73261"/>
                  <a:pt x="196743" y="60549"/>
                  <a:pt x="237709" y="79493"/>
                </a:cubicBezTo>
                <a:cubicBezTo>
                  <a:pt x="235411" y="49610"/>
                  <a:pt x="231688" y="38837"/>
                  <a:pt x="237709" y="0"/>
                </a:cubicBezTo>
                <a:cubicBezTo>
                  <a:pt x="270054" y="32399"/>
                  <a:pt x="373851" y="131558"/>
                  <a:pt x="396695" y="158987"/>
                </a:cubicBezTo>
                <a:cubicBezTo>
                  <a:pt x="347227" y="198902"/>
                  <a:pt x="293372" y="286902"/>
                  <a:pt x="237709" y="317973"/>
                </a:cubicBezTo>
                <a:cubicBezTo>
                  <a:pt x="238893" y="280508"/>
                  <a:pt x="236089" y="273626"/>
                  <a:pt x="237709" y="238480"/>
                </a:cubicBezTo>
                <a:cubicBezTo>
                  <a:pt x="190753" y="237851"/>
                  <a:pt x="44127" y="258970"/>
                  <a:pt x="0" y="238480"/>
                </a:cubicBezTo>
                <a:cubicBezTo>
                  <a:pt x="-1801" y="220786"/>
                  <a:pt x="2561" y="139276"/>
                  <a:pt x="0" y="79493"/>
                </a:cubicBezTo>
                <a:close/>
              </a:path>
              <a:path w="396695" h="317973" stroke="0" extrusionOk="0">
                <a:moveTo>
                  <a:pt x="0" y="79493"/>
                </a:moveTo>
                <a:cubicBezTo>
                  <a:pt x="58790" y="92573"/>
                  <a:pt x="166405" y="99398"/>
                  <a:pt x="237709" y="79493"/>
                </a:cubicBezTo>
                <a:cubicBezTo>
                  <a:pt x="233005" y="52707"/>
                  <a:pt x="236942" y="33387"/>
                  <a:pt x="237709" y="0"/>
                </a:cubicBezTo>
                <a:cubicBezTo>
                  <a:pt x="287042" y="74990"/>
                  <a:pt x="364007" y="100299"/>
                  <a:pt x="396695" y="158987"/>
                </a:cubicBezTo>
                <a:cubicBezTo>
                  <a:pt x="367582" y="165092"/>
                  <a:pt x="308134" y="239206"/>
                  <a:pt x="237709" y="317973"/>
                </a:cubicBezTo>
                <a:cubicBezTo>
                  <a:pt x="232171" y="280418"/>
                  <a:pt x="238770" y="274970"/>
                  <a:pt x="237709" y="238480"/>
                </a:cubicBezTo>
                <a:cubicBezTo>
                  <a:pt x="142121" y="257294"/>
                  <a:pt x="55556" y="226288"/>
                  <a:pt x="0" y="238480"/>
                </a:cubicBezTo>
                <a:cubicBezTo>
                  <a:pt x="-5620" y="167319"/>
                  <a:pt x="-10141" y="149850"/>
                  <a:pt x="0" y="79493"/>
                </a:cubicBezTo>
                <a:close/>
              </a:path>
            </a:pathLst>
          </a:custGeom>
          <a:solidFill>
            <a:schemeClr val="accent4"/>
          </a:solidFill>
          <a:ln>
            <a:solidFill>
              <a:schemeClr val="accent4"/>
            </a:solidFill>
            <a:extLst>
              <a:ext uri="{C807C97D-BFC1-408E-A445-0C87EB9F89A2}">
                <ask:lineSketchStyleProps xmlns:ask="http://schemas.microsoft.com/office/drawing/2018/sketchyshapes" sd="3864781296">
                  <a:prstGeom prst="rightArrow">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30A28831-73EF-5EBA-203D-6E8063FB5A4F}"/>
              </a:ext>
            </a:extLst>
          </p:cNvPr>
          <p:cNvSpPr txBox="1"/>
          <p:nvPr/>
        </p:nvSpPr>
        <p:spPr>
          <a:xfrm>
            <a:off x="6902371" y="4161249"/>
            <a:ext cx="4063933" cy="307777"/>
          </a:xfrm>
          <a:prstGeom prst="rect">
            <a:avLst/>
          </a:prstGeom>
          <a:noFill/>
        </p:spPr>
        <p:txBody>
          <a:bodyPr wrap="none" rtlCol="0">
            <a:spAutoFit/>
          </a:bodyPr>
          <a:lstStyle/>
          <a:p>
            <a:r>
              <a:rPr kumimoji="1" lang="ja-JP" altLang="en-US" sz="1400"/>
              <a:t>各</a:t>
            </a:r>
            <a:r>
              <a:rPr lang="en-US" altLang="ja-JP" sz="1400" dirty="0"/>
              <a:t>well</a:t>
            </a:r>
            <a:r>
              <a:rPr lang="ja-JP" altLang="en-US" sz="1400"/>
              <a:t>プレート、コラーゲン濃度での</a:t>
            </a:r>
            <a:r>
              <a:rPr lang="en-US" altLang="ja-JP" sz="1400" dirty="0"/>
              <a:t>Luc activity</a:t>
            </a:r>
            <a:endParaRPr kumimoji="1" lang="ja-JP" altLang="en-US" sz="1400"/>
          </a:p>
        </p:txBody>
      </p:sp>
    </p:spTree>
    <p:extLst>
      <p:ext uri="{BB962C8B-B14F-4D97-AF65-F5344CB8AC3E}">
        <p14:creationId xmlns:p14="http://schemas.microsoft.com/office/powerpoint/2010/main" val="24400204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A8FB6566-8937-3F22-B4CF-43FCCB5776F5}"/>
              </a:ext>
            </a:extLst>
          </p:cNvPr>
          <p:cNvSpPr>
            <a:spLocks noGrp="1"/>
          </p:cNvSpPr>
          <p:nvPr>
            <p:ph idx="1"/>
          </p:nvPr>
        </p:nvSpPr>
        <p:spPr>
          <a:xfrm>
            <a:off x="546100" y="1038483"/>
            <a:ext cx="11099800" cy="5708339"/>
          </a:xfrm>
        </p:spPr>
        <p:txBody>
          <a:bodyPr/>
          <a:lstStyle/>
          <a:p>
            <a:pPr marL="0" indent="0">
              <a:buNone/>
            </a:pPr>
            <a:r>
              <a:rPr kumimoji="1" lang="ja-JP" altLang="en-US"/>
              <a:t>今後の検討事項</a:t>
            </a:r>
            <a:endParaRPr kumimoji="1" lang="en-US" altLang="ja-JP" dirty="0"/>
          </a:p>
          <a:p>
            <a:r>
              <a:rPr kumimoji="1" lang="ja-JP" altLang="en-US"/>
              <a:t>トランスフェクションの方法</a:t>
            </a:r>
            <a:endParaRPr kumimoji="1" lang="en-US" altLang="ja-JP" dirty="0"/>
          </a:p>
          <a:p>
            <a:pPr lvl="1"/>
            <a:r>
              <a:rPr kumimoji="1" lang="ja-JP" altLang="en-US"/>
              <a:t>清中研のプロトコルを参考</a:t>
            </a:r>
            <a:endParaRPr kumimoji="1" lang="en-US" altLang="ja-JP" dirty="0"/>
          </a:p>
          <a:p>
            <a:pPr lvl="1"/>
            <a:r>
              <a:rPr lang="en-US" altLang="ja-JP" dirty="0"/>
              <a:t>well</a:t>
            </a:r>
            <a:r>
              <a:rPr lang="ja-JP" altLang="en-US"/>
              <a:t>プレートに撒くのではなく、</a:t>
            </a:r>
            <a:r>
              <a:rPr lang="en-US" altLang="ja-JP" dirty="0"/>
              <a:t>dish</a:t>
            </a:r>
            <a:r>
              <a:rPr lang="ja-JP" altLang="en-US"/>
              <a:t>に撒く方法</a:t>
            </a:r>
            <a:endParaRPr lang="en-US" altLang="ja-JP" dirty="0"/>
          </a:p>
          <a:p>
            <a:pPr lvl="1"/>
            <a:r>
              <a:rPr kumimoji="1" lang="en-US" altLang="ja-JP" dirty="0"/>
              <a:t>well</a:t>
            </a:r>
            <a:r>
              <a:rPr kumimoji="1" lang="ja-JP" altLang="en-US"/>
              <a:t>ごとの細胞数のばらつきをなくすことができる</a:t>
            </a:r>
            <a:r>
              <a:rPr kumimoji="1" lang="en-US" altLang="ja-JP" dirty="0"/>
              <a:t> </a:t>
            </a:r>
          </a:p>
          <a:p>
            <a:pPr lvl="1"/>
            <a:endParaRPr kumimoji="1" lang="en-US" altLang="ja-JP" dirty="0"/>
          </a:p>
          <a:p>
            <a:endParaRPr kumimoji="1" lang="en-US" altLang="ja-JP" dirty="0"/>
          </a:p>
          <a:p>
            <a:endParaRPr lang="en-US" altLang="ja-JP" dirty="0"/>
          </a:p>
          <a:p>
            <a:pPr marL="0" indent="0">
              <a:buNone/>
            </a:pPr>
            <a:endParaRPr kumimoji="1" lang="en-US" altLang="ja-JP" dirty="0"/>
          </a:p>
          <a:p>
            <a:r>
              <a:rPr lang="en-US" altLang="ja-JP" dirty="0"/>
              <a:t>DCA</a:t>
            </a:r>
            <a:r>
              <a:rPr lang="ja-JP" altLang="en-US"/>
              <a:t>添加後の</a:t>
            </a:r>
            <a:r>
              <a:rPr lang="en-US" altLang="ja-JP" dirty="0"/>
              <a:t>5</a:t>
            </a:r>
            <a:r>
              <a:rPr lang="ja-JP" altLang="en-US"/>
              <a:t>時間待ち</a:t>
            </a:r>
            <a:endParaRPr lang="en-US" altLang="ja-JP" dirty="0"/>
          </a:p>
          <a:p>
            <a:pPr lvl="1"/>
            <a:r>
              <a:rPr kumimoji="1" lang="ja-JP" altLang="en-US"/>
              <a:t>実験開始時間が遅くなる</a:t>
            </a:r>
            <a:r>
              <a:rPr lang="ja-JP" altLang="en-US"/>
              <a:t>と、その日に実験を完了できなくなる可能性</a:t>
            </a:r>
            <a:endParaRPr lang="en-US" altLang="ja-JP" dirty="0"/>
          </a:p>
          <a:p>
            <a:pPr lvl="1"/>
            <a:r>
              <a:rPr kumimoji="1" lang="en-US" altLang="ja-JP" dirty="0"/>
              <a:t>1, 2, </a:t>
            </a:r>
            <a:r>
              <a:rPr lang="en-US" altLang="ja-JP" dirty="0"/>
              <a:t>3, 5</a:t>
            </a:r>
            <a:r>
              <a:rPr lang="ja-JP" altLang="en-US"/>
              <a:t>時間で結果が変わるのか検討する</a:t>
            </a:r>
            <a:r>
              <a:rPr lang="en-US" altLang="ja-JP" dirty="0"/>
              <a:t>  </a:t>
            </a:r>
            <a:endParaRPr kumimoji="1" lang="ja-JP" altLang="en-US"/>
          </a:p>
        </p:txBody>
      </p:sp>
      <p:sp>
        <p:nvSpPr>
          <p:cNvPr id="4" name="テキスト プレースホルダー 3">
            <a:extLst>
              <a:ext uri="{FF2B5EF4-FFF2-40B4-BE49-F238E27FC236}">
                <a16:creationId xmlns:a16="http://schemas.microsoft.com/office/drawing/2014/main" id="{8B1486D3-0DAB-DE3F-5F9F-484241ADAEA7}"/>
              </a:ext>
            </a:extLst>
          </p:cNvPr>
          <p:cNvSpPr>
            <a:spLocks noGrp="1"/>
          </p:cNvSpPr>
          <p:nvPr>
            <p:ph type="body" sz="quarter" idx="11"/>
          </p:nvPr>
        </p:nvSpPr>
        <p:spPr/>
        <p:txBody>
          <a:bodyPr/>
          <a:lstStyle/>
          <a:p>
            <a:r>
              <a:rPr kumimoji="1" lang="ja-JP" altLang="en-US"/>
              <a:t>今後の評価系の検討について</a:t>
            </a:r>
          </a:p>
        </p:txBody>
      </p:sp>
      <p:grpSp>
        <p:nvGrpSpPr>
          <p:cNvPr id="23" name="グループ化 22">
            <a:extLst>
              <a:ext uri="{FF2B5EF4-FFF2-40B4-BE49-F238E27FC236}">
                <a16:creationId xmlns:a16="http://schemas.microsoft.com/office/drawing/2014/main" id="{20825DA2-8535-5B08-EC0F-30ACAA357F48}"/>
              </a:ext>
            </a:extLst>
          </p:cNvPr>
          <p:cNvGrpSpPr/>
          <p:nvPr/>
        </p:nvGrpSpPr>
        <p:grpSpPr>
          <a:xfrm>
            <a:off x="1910369" y="3239731"/>
            <a:ext cx="8371261" cy="1391939"/>
            <a:chOff x="1533799" y="3229006"/>
            <a:chExt cx="8371261" cy="1391939"/>
          </a:xfrm>
        </p:grpSpPr>
        <p:pic>
          <p:nvPicPr>
            <p:cNvPr id="5" name="図 4" descr="図形, 円&#10;&#10;自動的に生成された説明">
              <a:extLst>
                <a:ext uri="{FF2B5EF4-FFF2-40B4-BE49-F238E27FC236}">
                  <a16:creationId xmlns:a16="http://schemas.microsoft.com/office/drawing/2014/main" id="{A7FCB1BD-6DD8-819C-D9F0-07F580AA72AD}"/>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870876" y="3429000"/>
              <a:ext cx="1154383" cy="829205"/>
            </a:xfrm>
            <a:prstGeom prst="rect">
              <a:avLst/>
            </a:prstGeom>
          </p:spPr>
        </p:pic>
        <p:pic>
          <p:nvPicPr>
            <p:cNvPr id="6" name="図 5" descr="図形, 矢印&#10;&#10;自動的に生成された説明">
              <a:extLst>
                <a:ext uri="{FF2B5EF4-FFF2-40B4-BE49-F238E27FC236}">
                  <a16:creationId xmlns:a16="http://schemas.microsoft.com/office/drawing/2014/main" id="{839047B1-A848-CFEC-4EBD-2F8EA23ABCDA}"/>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111232" y="3229006"/>
              <a:ext cx="492637" cy="469900"/>
            </a:xfrm>
            <a:prstGeom prst="rect">
              <a:avLst/>
            </a:prstGeom>
          </p:spPr>
        </p:pic>
        <p:pic>
          <p:nvPicPr>
            <p:cNvPr id="8" name="図 7" descr="洗面道具 が含まれている画像&#10;&#10;自動的に生成された説明">
              <a:extLst>
                <a:ext uri="{FF2B5EF4-FFF2-40B4-BE49-F238E27FC236}">
                  <a16:creationId xmlns:a16="http://schemas.microsoft.com/office/drawing/2014/main" id="{3A2B71DE-D5C6-EDCB-4D8F-DA75FF5D4BEC}"/>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642730" y="3351377"/>
              <a:ext cx="1404545" cy="981671"/>
            </a:xfrm>
            <a:prstGeom prst="rect">
              <a:avLst/>
            </a:prstGeom>
          </p:spPr>
        </p:pic>
        <p:sp>
          <p:nvSpPr>
            <p:cNvPr id="9" name="山形 8">
              <a:extLst>
                <a:ext uri="{FF2B5EF4-FFF2-40B4-BE49-F238E27FC236}">
                  <a16:creationId xmlns:a16="http://schemas.microsoft.com/office/drawing/2014/main" id="{775C6077-A119-FCC9-C9F1-49FF30DDF287}"/>
                </a:ext>
              </a:extLst>
            </p:cNvPr>
            <p:cNvSpPr/>
            <p:nvPr/>
          </p:nvSpPr>
          <p:spPr>
            <a:xfrm>
              <a:off x="4002491" y="3625285"/>
              <a:ext cx="338878" cy="423865"/>
            </a:xfrm>
            <a:prstGeom prst="chevron">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0" name="テキスト ボックス 9">
              <a:extLst>
                <a:ext uri="{FF2B5EF4-FFF2-40B4-BE49-F238E27FC236}">
                  <a16:creationId xmlns:a16="http://schemas.microsoft.com/office/drawing/2014/main" id="{7C5B4356-13CC-EE27-D8DC-D1F4C5B575E4}"/>
                </a:ext>
              </a:extLst>
            </p:cNvPr>
            <p:cNvSpPr txBox="1"/>
            <p:nvPr/>
          </p:nvSpPr>
          <p:spPr>
            <a:xfrm>
              <a:off x="3808288" y="4103143"/>
              <a:ext cx="643317" cy="338554"/>
            </a:xfrm>
            <a:prstGeom prst="rect">
              <a:avLst/>
            </a:prstGeom>
            <a:noFill/>
          </p:spPr>
          <p:txBody>
            <a:bodyPr wrap="square" rtlCol="0">
              <a:spAutoFit/>
            </a:bodyPr>
            <a:lstStyle/>
            <a:p>
              <a:pPr algn="ctr"/>
              <a:r>
                <a:rPr kumimoji="1" lang="en-US" altLang="ja-JP" sz="1600" dirty="0"/>
                <a:t>4h</a:t>
              </a:r>
              <a:endParaRPr kumimoji="1" lang="ja-JP" altLang="en-US" sz="1600"/>
            </a:p>
          </p:txBody>
        </p:sp>
        <p:sp>
          <p:nvSpPr>
            <p:cNvPr id="11" name="テキスト ボックス 10">
              <a:extLst>
                <a:ext uri="{FF2B5EF4-FFF2-40B4-BE49-F238E27FC236}">
                  <a16:creationId xmlns:a16="http://schemas.microsoft.com/office/drawing/2014/main" id="{1FE28B31-E461-C47D-2890-5BC78687C465}"/>
                </a:ext>
              </a:extLst>
            </p:cNvPr>
            <p:cNvSpPr txBox="1"/>
            <p:nvPr/>
          </p:nvSpPr>
          <p:spPr>
            <a:xfrm>
              <a:off x="1533799" y="4278806"/>
              <a:ext cx="2279237" cy="338554"/>
            </a:xfrm>
            <a:prstGeom prst="rect">
              <a:avLst/>
            </a:prstGeom>
            <a:noFill/>
          </p:spPr>
          <p:txBody>
            <a:bodyPr wrap="square" rtlCol="0">
              <a:spAutoFit/>
            </a:bodyPr>
            <a:lstStyle/>
            <a:p>
              <a:pPr algn="ctr"/>
              <a:r>
                <a:rPr kumimoji="1" lang="ja-JP" altLang="en-US" sz="1600"/>
                <a:t>トランスフェクション</a:t>
              </a:r>
            </a:p>
          </p:txBody>
        </p:sp>
        <p:pic>
          <p:nvPicPr>
            <p:cNvPr id="12" name="図 11" descr="図形, 円&#10;&#10;自動的に生成された説明">
              <a:extLst>
                <a:ext uri="{FF2B5EF4-FFF2-40B4-BE49-F238E27FC236}">
                  <a16:creationId xmlns:a16="http://schemas.microsoft.com/office/drawing/2014/main" id="{DFA2F0B1-CF21-4814-21C4-351774388F0B}"/>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923703" y="3429000"/>
              <a:ext cx="1154383" cy="829205"/>
            </a:xfrm>
            <a:prstGeom prst="rect">
              <a:avLst/>
            </a:prstGeom>
          </p:spPr>
        </p:pic>
        <p:sp>
          <p:nvSpPr>
            <p:cNvPr id="13" name="テキスト ボックス 12">
              <a:extLst>
                <a:ext uri="{FF2B5EF4-FFF2-40B4-BE49-F238E27FC236}">
                  <a16:creationId xmlns:a16="http://schemas.microsoft.com/office/drawing/2014/main" id="{C84D6749-6C6C-5209-5275-07B8E97BFC53}"/>
                </a:ext>
              </a:extLst>
            </p:cNvPr>
            <p:cNvSpPr txBox="1"/>
            <p:nvPr/>
          </p:nvSpPr>
          <p:spPr>
            <a:xfrm>
              <a:off x="4298344" y="4282391"/>
              <a:ext cx="2279237" cy="338554"/>
            </a:xfrm>
            <a:prstGeom prst="rect">
              <a:avLst/>
            </a:prstGeom>
            <a:noFill/>
          </p:spPr>
          <p:txBody>
            <a:bodyPr wrap="square" rtlCol="0">
              <a:spAutoFit/>
            </a:bodyPr>
            <a:lstStyle/>
            <a:p>
              <a:pPr algn="ctr"/>
              <a:r>
                <a:rPr kumimoji="1" lang="ja-JP" altLang="en-US" sz="1600"/>
                <a:t>培地交換</a:t>
              </a:r>
            </a:p>
          </p:txBody>
        </p:sp>
        <p:sp>
          <p:nvSpPr>
            <p:cNvPr id="16" name="テキスト ボックス 15">
              <a:extLst>
                <a:ext uri="{FF2B5EF4-FFF2-40B4-BE49-F238E27FC236}">
                  <a16:creationId xmlns:a16="http://schemas.microsoft.com/office/drawing/2014/main" id="{6BB1E144-466D-AD25-53CF-06A0735628C9}"/>
                </a:ext>
              </a:extLst>
            </p:cNvPr>
            <p:cNvSpPr txBox="1"/>
            <p:nvPr/>
          </p:nvSpPr>
          <p:spPr>
            <a:xfrm>
              <a:off x="7200205" y="4278806"/>
              <a:ext cx="2279237" cy="338554"/>
            </a:xfrm>
            <a:prstGeom prst="rect">
              <a:avLst/>
            </a:prstGeom>
            <a:noFill/>
          </p:spPr>
          <p:txBody>
            <a:bodyPr wrap="square" rtlCol="0">
              <a:spAutoFit/>
            </a:bodyPr>
            <a:lstStyle/>
            <a:p>
              <a:pPr algn="ctr"/>
              <a:r>
                <a:rPr kumimoji="1" lang="ja-JP" altLang="en-US" sz="1600"/>
                <a:t>継代</a:t>
              </a:r>
            </a:p>
          </p:txBody>
        </p:sp>
        <p:sp>
          <p:nvSpPr>
            <p:cNvPr id="19" name="山形 18">
              <a:extLst>
                <a:ext uri="{FF2B5EF4-FFF2-40B4-BE49-F238E27FC236}">
                  <a16:creationId xmlns:a16="http://schemas.microsoft.com/office/drawing/2014/main" id="{A2BF00F7-DE76-892E-E114-C55C8D355584}"/>
                </a:ext>
              </a:extLst>
            </p:cNvPr>
            <p:cNvSpPr/>
            <p:nvPr/>
          </p:nvSpPr>
          <p:spPr>
            <a:xfrm>
              <a:off x="6696618" y="3625285"/>
              <a:ext cx="338878" cy="423865"/>
            </a:xfrm>
            <a:prstGeom prst="chevron">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0" name="テキスト ボックス 19">
              <a:extLst>
                <a:ext uri="{FF2B5EF4-FFF2-40B4-BE49-F238E27FC236}">
                  <a16:creationId xmlns:a16="http://schemas.microsoft.com/office/drawing/2014/main" id="{3DBF13A4-E2BD-AE4C-A029-6EE76346E3E5}"/>
                </a:ext>
              </a:extLst>
            </p:cNvPr>
            <p:cNvSpPr txBox="1"/>
            <p:nvPr/>
          </p:nvSpPr>
          <p:spPr>
            <a:xfrm>
              <a:off x="6502415" y="4103143"/>
              <a:ext cx="643317" cy="338554"/>
            </a:xfrm>
            <a:prstGeom prst="rect">
              <a:avLst/>
            </a:prstGeom>
            <a:noFill/>
          </p:spPr>
          <p:txBody>
            <a:bodyPr wrap="square" rtlCol="0">
              <a:spAutoFit/>
            </a:bodyPr>
            <a:lstStyle/>
            <a:p>
              <a:pPr algn="ctr"/>
              <a:r>
                <a:rPr kumimoji="1" lang="en-US" altLang="ja-JP" sz="1600" dirty="0"/>
                <a:t>4h</a:t>
              </a:r>
              <a:endParaRPr kumimoji="1" lang="ja-JP" altLang="en-US" sz="1600"/>
            </a:p>
          </p:txBody>
        </p:sp>
        <p:sp>
          <p:nvSpPr>
            <p:cNvPr id="21" name="山形 20">
              <a:extLst>
                <a:ext uri="{FF2B5EF4-FFF2-40B4-BE49-F238E27FC236}">
                  <a16:creationId xmlns:a16="http://schemas.microsoft.com/office/drawing/2014/main" id="{D5ABB362-4127-257A-EF26-767B94B4886C}"/>
                </a:ext>
              </a:extLst>
            </p:cNvPr>
            <p:cNvSpPr/>
            <p:nvPr/>
          </p:nvSpPr>
          <p:spPr>
            <a:xfrm>
              <a:off x="9455946" y="3625285"/>
              <a:ext cx="338878" cy="423865"/>
            </a:xfrm>
            <a:prstGeom prst="chevron">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2" name="テキスト ボックス 21">
              <a:extLst>
                <a:ext uri="{FF2B5EF4-FFF2-40B4-BE49-F238E27FC236}">
                  <a16:creationId xmlns:a16="http://schemas.microsoft.com/office/drawing/2014/main" id="{25DE79B4-E8B7-FBAC-D336-EDBE4597EAD4}"/>
                </a:ext>
              </a:extLst>
            </p:cNvPr>
            <p:cNvSpPr txBox="1"/>
            <p:nvPr/>
          </p:nvSpPr>
          <p:spPr>
            <a:xfrm>
              <a:off x="9261743" y="4103143"/>
              <a:ext cx="643317" cy="338554"/>
            </a:xfrm>
            <a:prstGeom prst="rect">
              <a:avLst/>
            </a:prstGeom>
            <a:noFill/>
          </p:spPr>
          <p:txBody>
            <a:bodyPr wrap="square" rtlCol="0">
              <a:spAutoFit/>
            </a:bodyPr>
            <a:lstStyle/>
            <a:p>
              <a:pPr algn="ctr"/>
              <a:r>
                <a:rPr lang="en-US" altLang="ja-JP" sz="1600" dirty="0"/>
                <a:t>16h</a:t>
              </a:r>
              <a:endParaRPr kumimoji="1" lang="ja-JP" altLang="en-US" sz="1600"/>
            </a:p>
          </p:txBody>
        </p:sp>
      </p:grpSp>
    </p:spTree>
    <p:extLst>
      <p:ext uri="{BB962C8B-B14F-4D97-AF65-F5344CB8AC3E}">
        <p14:creationId xmlns:p14="http://schemas.microsoft.com/office/powerpoint/2010/main" val="1383869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C8F5410E-37F1-F568-79FE-4157C5EC0F67}"/>
              </a:ext>
            </a:extLst>
          </p:cNvPr>
          <p:cNvSpPr>
            <a:spLocks noGrp="1"/>
          </p:cNvSpPr>
          <p:nvPr>
            <p:ph type="body" sz="quarter" idx="11"/>
          </p:nvPr>
        </p:nvSpPr>
        <p:spPr/>
        <p:txBody>
          <a:bodyPr/>
          <a:lstStyle/>
          <a:p>
            <a:r>
              <a:rPr lang="ja-JP" altLang="en-US"/>
              <a:t>トピック</a:t>
            </a:r>
            <a:endParaRPr kumimoji="1" lang="ja-JP" altLang="en-US"/>
          </a:p>
        </p:txBody>
      </p:sp>
      <p:grpSp>
        <p:nvGrpSpPr>
          <p:cNvPr id="2" name="グループ化 1">
            <a:extLst>
              <a:ext uri="{FF2B5EF4-FFF2-40B4-BE49-F238E27FC236}">
                <a16:creationId xmlns:a16="http://schemas.microsoft.com/office/drawing/2014/main" id="{315D6790-7B84-54B6-1F74-EC5317CFC401}"/>
              </a:ext>
            </a:extLst>
          </p:cNvPr>
          <p:cNvGrpSpPr/>
          <p:nvPr/>
        </p:nvGrpSpPr>
        <p:grpSpPr>
          <a:xfrm>
            <a:off x="2796763" y="2622140"/>
            <a:ext cx="6598473" cy="1613720"/>
            <a:chOff x="3252448" y="2811742"/>
            <a:chExt cx="6598473" cy="1613720"/>
          </a:xfrm>
        </p:grpSpPr>
        <p:sp>
          <p:nvSpPr>
            <p:cNvPr id="7" name="テキスト ボックス 6">
              <a:extLst>
                <a:ext uri="{FF2B5EF4-FFF2-40B4-BE49-F238E27FC236}">
                  <a16:creationId xmlns:a16="http://schemas.microsoft.com/office/drawing/2014/main" id="{AD970EA2-D8D6-C88C-90D5-50A2A75A5331}"/>
                </a:ext>
              </a:extLst>
            </p:cNvPr>
            <p:cNvSpPr txBox="1"/>
            <p:nvPr/>
          </p:nvSpPr>
          <p:spPr>
            <a:xfrm>
              <a:off x="3252448" y="2811742"/>
              <a:ext cx="4254563" cy="523220"/>
            </a:xfrm>
            <a:prstGeom prst="rect">
              <a:avLst/>
            </a:prstGeom>
            <a:noFill/>
          </p:spPr>
          <p:txBody>
            <a:bodyPr wrap="none" rtlCol="0">
              <a:spAutoFit/>
            </a:bodyPr>
            <a:lstStyle/>
            <a:p>
              <a:r>
                <a:rPr kumimoji="1" lang="en-US" altLang="ja-JP" sz="2800" dirty="0">
                  <a:solidFill>
                    <a:schemeClr val="tx1">
                      <a:lumMod val="60000"/>
                      <a:lumOff val="40000"/>
                    </a:schemeClr>
                  </a:solidFill>
                </a:rPr>
                <a:t>1. TGR5</a:t>
              </a:r>
              <a:r>
                <a:rPr kumimoji="1" lang="ja-JP" altLang="en-US" sz="2800">
                  <a:solidFill>
                    <a:schemeClr val="tx1">
                      <a:lumMod val="60000"/>
                      <a:lumOff val="40000"/>
                    </a:schemeClr>
                  </a:solidFill>
                </a:rPr>
                <a:t>活性評価系の改善</a:t>
              </a:r>
            </a:p>
          </p:txBody>
        </p:sp>
        <p:sp>
          <p:nvSpPr>
            <p:cNvPr id="8" name="テキスト ボックス 7">
              <a:extLst>
                <a:ext uri="{FF2B5EF4-FFF2-40B4-BE49-F238E27FC236}">
                  <a16:creationId xmlns:a16="http://schemas.microsoft.com/office/drawing/2014/main" id="{D069B13F-41CF-DC6B-6CEB-AF79023C36A9}"/>
                </a:ext>
              </a:extLst>
            </p:cNvPr>
            <p:cNvSpPr txBox="1"/>
            <p:nvPr/>
          </p:nvSpPr>
          <p:spPr>
            <a:xfrm>
              <a:off x="3252448" y="3902242"/>
              <a:ext cx="6598473" cy="523220"/>
            </a:xfrm>
            <a:prstGeom prst="rect">
              <a:avLst/>
            </a:prstGeom>
            <a:noFill/>
          </p:spPr>
          <p:txBody>
            <a:bodyPr wrap="none" rtlCol="0">
              <a:spAutoFit/>
            </a:bodyPr>
            <a:lstStyle/>
            <a:p>
              <a:r>
                <a:rPr lang="en-US" altLang="ja-JP" sz="2800" u="sng" dirty="0"/>
                <a:t>2. TGR5</a:t>
              </a:r>
              <a:r>
                <a:rPr lang="ja-JP" altLang="en-US" sz="2800" u="sng"/>
                <a:t>アゴニスト類似ペプチドの探索</a:t>
              </a:r>
              <a:endParaRPr kumimoji="1" lang="ja-JP" altLang="en-US" sz="2800" u="sng"/>
            </a:p>
          </p:txBody>
        </p:sp>
      </p:grpSp>
    </p:spTree>
    <p:extLst>
      <p:ext uri="{BB962C8B-B14F-4D97-AF65-F5344CB8AC3E}">
        <p14:creationId xmlns:p14="http://schemas.microsoft.com/office/powerpoint/2010/main" val="32588502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A00150F0-C833-40E6-6353-CD6FEAFE142A}"/>
              </a:ext>
            </a:extLst>
          </p:cNvPr>
          <p:cNvSpPr>
            <a:spLocks noGrp="1"/>
          </p:cNvSpPr>
          <p:nvPr>
            <p:ph idx="1"/>
          </p:nvPr>
        </p:nvSpPr>
        <p:spPr>
          <a:xfrm>
            <a:off x="546100" y="1038484"/>
            <a:ext cx="6218842" cy="469900"/>
          </a:xfrm>
        </p:spPr>
        <p:txBody>
          <a:bodyPr/>
          <a:lstStyle/>
          <a:p>
            <a:pPr marL="0" indent="0">
              <a:buNone/>
            </a:pPr>
            <a:r>
              <a:rPr kumimoji="1" lang="ja-JP" altLang="en-US">
                <a:solidFill>
                  <a:schemeClr val="accent4"/>
                </a:solidFill>
              </a:rPr>
              <a:t>フィンガープリント</a:t>
            </a:r>
            <a:r>
              <a:rPr kumimoji="1" lang="ja-JP" altLang="en-US"/>
              <a:t>：化学構造の特徴ベクトル表現</a:t>
            </a:r>
            <a:endParaRPr kumimoji="1" lang="en-US" altLang="ja-JP" dirty="0"/>
          </a:p>
        </p:txBody>
      </p:sp>
      <p:sp>
        <p:nvSpPr>
          <p:cNvPr id="4" name="テキスト プレースホルダー 3">
            <a:extLst>
              <a:ext uri="{FF2B5EF4-FFF2-40B4-BE49-F238E27FC236}">
                <a16:creationId xmlns:a16="http://schemas.microsoft.com/office/drawing/2014/main" id="{60D01359-DA9B-4D88-5535-86FA9C52D90F}"/>
              </a:ext>
            </a:extLst>
          </p:cNvPr>
          <p:cNvSpPr>
            <a:spLocks noGrp="1"/>
          </p:cNvSpPr>
          <p:nvPr>
            <p:ph type="body" sz="quarter" idx="11"/>
          </p:nvPr>
        </p:nvSpPr>
        <p:spPr/>
        <p:txBody>
          <a:bodyPr/>
          <a:lstStyle/>
          <a:p>
            <a:r>
              <a:rPr kumimoji="1" lang="ja-JP" altLang="en-US"/>
              <a:t>フィンガープリントについて</a:t>
            </a:r>
          </a:p>
        </p:txBody>
      </p:sp>
      <p:sp>
        <p:nvSpPr>
          <p:cNvPr id="6" name="コンテンツ プレースホルダー 2">
            <a:extLst>
              <a:ext uri="{FF2B5EF4-FFF2-40B4-BE49-F238E27FC236}">
                <a16:creationId xmlns:a16="http://schemas.microsoft.com/office/drawing/2014/main" id="{40055A9F-4A53-B2CC-F04E-3189E6CB560E}"/>
              </a:ext>
            </a:extLst>
          </p:cNvPr>
          <p:cNvSpPr txBox="1">
            <a:spLocks/>
          </p:cNvSpPr>
          <p:nvPr/>
        </p:nvSpPr>
        <p:spPr>
          <a:xfrm>
            <a:off x="546099" y="1652337"/>
            <a:ext cx="10967389" cy="1654258"/>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b="0"/>
              <a:t>化合物の構造の中で特徴的な部分構造を構造フラグメントとしてあらかじめ定義</a:t>
            </a:r>
          </a:p>
          <a:p>
            <a:r>
              <a:rPr lang="ja-JP" altLang="en-US" sz="1800" b="0"/>
              <a:t>注目している化合物が、各フラグメントを持つか持たないかの情報をビット</a:t>
            </a:r>
            <a:r>
              <a:rPr lang="en-US" altLang="ja-JP" sz="1800" b="0" dirty="0"/>
              <a:t>(0</a:t>
            </a:r>
            <a:r>
              <a:rPr lang="ja-JP" altLang="en-US" sz="1800" b="0"/>
              <a:t>か</a:t>
            </a:r>
            <a:r>
              <a:rPr lang="en-US" altLang="ja-JP" sz="1800" b="0" dirty="0"/>
              <a:t>1</a:t>
            </a:r>
            <a:r>
              <a:rPr lang="ja-JP" altLang="en-US" sz="1800" b="0"/>
              <a:t>か</a:t>
            </a:r>
            <a:r>
              <a:rPr lang="en-US" altLang="ja-JP" sz="1800" b="0" dirty="0"/>
              <a:t>)</a:t>
            </a:r>
            <a:r>
              <a:rPr lang="ja-JP" altLang="en-US" sz="1800" b="0"/>
              <a:t>として羅列</a:t>
            </a:r>
          </a:p>
        </p:txBody>
      </p:sp>
      <p:sp>
        <p:nvSpPr>
          <p:cNvPr id="9" name="コンテンツ プレースホルダー 2">
            <a:extLst>
              <a:ext uri="{FF2B5EF4-FFF2-40B4-BE49-F238E27FC236}">
                <a16:creationId xmlns:a16="http://schemas.microsoft.com/office/drawing/2014/main" id="{3055E563-A171-B5EF-DECB-5016C913AB7C}"/>
              </a:ext>
            </a:extLst>
          </p:cNvPr>
          <p:cNvSpPr txBox="1">
            <a:spLocks/>
          </p:cNvSpPr>
          <p:nvPr/>
        </p:nvSpPr>
        <p:spPr>
          <a:xfrm>
            <a:off x="546100" y="3341283"/>
            <a:ext cx="11119874" cy="469900"/>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anose="05000000000000000000" pitchFamily="2" charset="2"/>
              <a:buNone/>
            </a:pPr>
            <a:r>
              <a:rPr lang="en-US" altLang="ja-JP" dirty="0" err="1">
                <a:solidFill>
                  <a:schemeClr val="accent4"/>
                </a:solidFill>
              </a:rPr>
              <a:t>Tanimoto</a:t>
            </a:r>
            <a:r>
              <a:rPr lang="ja-JP" altLang="en-US">
                <a:solidFill>
                  <a:schemeClr val="accent4"/>
                </a:solidFill>
              </a:rPr>
              <a:t>係数</a:t>
            </a:r>
            <a:r>
              <a:rPr lang="ja-JP" altLang="en-US"/>
              <a:t>：フィンガープリントに基づく類似度評価法</a:t>
            </a:r>
            <a:endParaRPr lang="en-US" altLang="ja-JP" dirty="0"/>
          </a:p>
        </p:txBody>
      </p:sp>
      <p:pic>
        <p:nvPicPr>
          <p:cNvPr id="13" name="図 12" descr="テーブル, カレンダー&#10;&#10;自動的に生成された説明">
            <a:extLst>
              <a:ext uri="{FF2B5EF4-FFF2-40B4-BE49-F238E27FC236}">
                <a16:creationId xmlns:a16="http://schemas.microsoft.com/office/drawing/2014/main" id="{2BEA04EC-A2B3-32B5-22E3-5A4370590B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312" y="5226319"/>
            <a:ext cx="4723008" cy="1007112"/>
          </a:xfrm>
          <a:prstGeom prst="rect">
            <a:avLst/>
          </a:prstGeom>
        </p:spPr>
      </p:pic>
      <mc:AlternateContent xmlns:mc="http://schemas.openxmlformats.org/markup-compatibility/2006">
        <mc:Choice xmlns:a14="http://schemas.microsoft.com/office/drawing/2010/main" Requires="a14">
          <p:sp>
            <p:nvSpPr>
              <p:cNvPr id="14" name="コンテンツ プレースホルダー 2">
                <a:extLst>
                  <a:ext uri="{FF2B5EF4-FFF2-40B4-BE49-F238E27FC236}">
                    <a16:creationId xmlns:a16="http://schemas.microsoft.com/office/drawing/2014/main" id="{17A20AF2-7BBB-1E32-82C8-EF3973245CD1}"/>
                  </a:ext>
                </a:extLst>
              </p:cNvPr>
              <p:cNvSpPr txBox="1">
                <a:spLocks/>
              </p:cNvSpPr>
              <p:nvPr/>
            </p:nvSpPr>
            <p:spPr>
              <a:xfrm>
                <a:off x="546100" y="4014502"/>
                <a:ext cx="6777192" cy="837266"/>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altLang="ja-JP" b="1" i="1" smtClean="0">
                          <a:latin typeface="Cambria Math" panose="02040503050406030204" pitchFamily="18" charset="0"/>
                        </a:rPr>
                        <m:t>𝑻</m:t>
                      </m:r>
                      <m:d>
                        <m:dPr>
                          <m:ctrlPr>
                            <a:rPr lang="en-US" altLang="ja-JP" i="1" smtClean="0">
                              <a:latin typeface="Cambria Math" panose="02040503050406030204" pitchFamily="18" charset="0"/>
                            </a:rPr>
                          </m:ctrlPr>
                        </m:dPr>
                        <m:e>
                          <m:r>
                            <a:rPr lang="en-US" altLang="ja-JP" b="1" i="1" smtClean="0">
                              <a:latin typeface="Cambria Math" panose="02040503050406030204" pitchFamily="18" charset="0"/>
                            </a:rPr>
                            <m:t>𝑨</m:t>
                          </m:r>
                          <m:r>
                            <a:rPr lang="en-US" altLang="ja-JP" b="1" i="1" smtClean="0">
                              <a:latin typeface="Cambria Math" panose="02040503050406030204" pitchFamily="18" charset="0"/>
                            </a:rPr>
                            <m:t>, </m:t>
                          </m:r>
                          <m:r>
                            <a:rPr lang="en-US" altLang="ja-JP" b="1" i="1" smtClean="0">
                              <a:latin typeface="Cambria Math" panose="02040503050406030204" pitchFamily="18" charset="0"/>
                            </a:rPr>
                            <m:t>𝑩</m:t>
                          </m:r>
                        </m:e>
                      </m:d>
                      <m:r>
                        <a:rPr lang="en-US" altLang="ja-JP" b="1" i="1" smtClean="0">
                          <a:latin typeface="Cambria Math" panose="02040503050406030204" pitchFamily="18" charset="0"/>
                        </a:rPr>
                        <m:t>= </m:t>
                      </m:r>
                      <m:f>
                        <m:fPr>
                          <m:ctrlPr>
                            <a:rPr lang="en-US" altLang="ja-JP" i="1" smtClean="0">
                              <a:latin typeface="Cambria Math" panose="02040503050406030204" pitchFamily="18" charset="0"/>
                            </a:rPr>
                          </m:ctrlPr>
                        </m:fPr>
                        <m:num>
                          <m:r>
                            <a:rPr lang="en-US" altLang="ja-JP" b="1" i="1" smtClean="0">
                              <a:latin typeface="Cambria Math" panose="02040503050406030204" pitchFamily="18" charset="0"/>
                            </a:rPr>
                            <m:t>|</m:t>
                          </m:r>
                          <m:r>
                            <a:rPr lang="en-US" altLang="ja-JP" b="1" i="1" smtClean="0">
                              <a:latin typeface="Cambria Math" panose="02040503050406030204" pitchFamily="18" charset="0"/>
                            </a:rPr>
                            <m:t>𝑨</m:t>
                          </m:r>
                          <m:r>
                            <a:rPr lang="en-US" altLang="ja-JP" b="1" i="1" smtClean="0">
                              <a:latin typeface="Cambria Math" panose="02040503050406030204" pitchFamily="18" charset="0"/>
                              <a:ea typeface="Cambria Math" panose="02040503050406030204" pitchFamily="18" charset="0"/>
                            </a:rPr>
                            <m:t>∩</m:t>
                          </m:r>
                          <m:r>
                            <a:rPr lang="en-US" altLang="ja-JP" b="1" i="1" smtClean="0">
                              <a:latin typeface="Cambria Math" panose="02040503050406030204" pitchFamily="18" charset="0"/>
                              <a:ea typeface="Cambria Math" panose="02040503050406030204" pitchFamily="18" charset="0"/>
                            </a:rPr>
                            <m:t>𝑩</m:t>
                          </m:r>
                          <m:r>
                            <a:rPr lang="en-US" altLang="ja-JP" b="1" i="1" smtClean="0">
                              <a:latin typeface="Cambria Math" panose="02040503050406030204" pitchFamily="18" charset="0"/>
                            </a:rPr>
                            <m:t>|</m:t>
                          </m:r>
                        </m:num>
                        <m:den>
                          <m:r>
                            <a:rPr lang="en-US" altLang="ja-JP" b="1" i="1" smtClean="0">
                              <a:latin typeface="Cambria Math" panose="02040503050406030204" pitchFamily="18" charset="0"/>
                            </a:rPr>
                            <m:t>|</m:t>
                          </m:r>
                          <m:r>
                            <a:rPr lang="en-US" altLang="ja-JP" b="1" i="1" smtClean="0">
                              <a:latin typeface="Cambria Math" panose="02040503050406030204" pitchFamily="18" charset="0"/>
                            </a:rPr>
                            <m:t>𝑨</m:t>
                          </m:r>
                          <m:r>
                            <a:rPr lang="en-US" altLang="ja-JP" b="1" i="1" smtClean="0">
                              <a:latin typeface="Cambria Math" panose="02040503050406030204" pitchFamily="18" charset="0"/>
                              <a:ea typeface="Cambria Math" panose="02040503050406030204" pitchFamily="18" charset="0"/>
                            </a:rPr>
                            <m:t>∪</m:t>
                          </m:r>
                          <m:r>
                            <a:rPr lang="en-US" altLang="ja-JP" b="1" i="1" smtClean="0">
                              <a:latin typeface="Cambria Math" panose="02040503050406030204" pitchFamily="18" charset="0"/>
                              <a:ea typeface="Cambria Math" panose="02040503050406030204" pitchFamily="18" charset="0"/>
                            </a:rPr>
                            <m:t>𝑩</m:t>
                          </m:r>
                          <m:r>
                            <a:rPr lang="en-US" altLang="ja-JP" b="1" i="1" smtClean="0">
                              <a:latin typeface="Cambria Math" panose="02040503050406030204" pitchFamily="18" charset="0"/>
                            </a:rPr>
                            <m:t>|</m:t>
                          </m:r>
                        </m:den>
                      </m:f>
                    </m:oMath>
                  </m:oMathPara>
                </a14:m>
                <a:endParaRPr lang="ja-JP" altLang="en-US" sz="1800"/>
              </a:p>
              <a:p>
                <a:pPr marL="0" indent="0">
                  <a:buNone/>
                </a:pPr>
                <a:endParaRPr lang="ja-JP" altLang="en-US" b="0"/>
              </a:p>
            </p:txBody>
          </p:sp>
        </mc:Choice>
        <mc:Fallback>
          <p:sp>
            <p:nvSpPr>
              <p:cNvPr id="14" name="コンテンツ プレースホルダー 2">
                <a:extLst>
                  <a:ext uri="{FF2B5EF4-FFF2-40B4-BE49-F238E27FC236}">
                    <a16:creationId xmlns:a16="http://schemas.microsoft.com/office/drawing/2014/main" id="{17A20AF2-7BBB-1E32-82C8-EF3973245CD1}"/>
                  </a:ext>
                </a:extLst>
              </p:cNvPr>
              <p:cNvSpPr txBox="1">
                <a:spLocks noRot="1" noChangeAspect="1" noMove="1" noResize="1" noEditPoints="1" noAdjustHandles="1" noChangeArrowheads="1" noChangeShapeType="1" noTextEdit="1"/>
              </p:cNvSpPr>
              <p:nvPr/>
            </p:nvSpPr>
            <p:spPr>
              <a:xfrm>
                <a:off x="546100" y="4014502"/>
                <a:ext cx="6777192" cy="837266"/>
              </a:xfrm>
              <a:prstGeom prst="rect">
                <a:avLst/>
              </a:prstGeom>
              <a:blipFill>
                <a:blip r:embed="rId3"/>
                <a:stretch>
                  <a:fillRect b="-1493"/>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6" name="コンテンツ プレースホルダー 2">
                <a:extLst>
                  <a:ext uri="{FF2B5EF4-FFF2-40B4-BE49-F238E27FC236}">
                    <a16:creationId xmlns:a16="http://schemas.microsoft.com/office/drawing/2014/main" id="{169DAF86-D122-05B2-BBAA-480A8A3E54C2}"/>
                  </a:ext>
                </a:extLst>
              </p:cNvPr>
              <p:cNvSpPr txBox="1">
                <a:spLocks/>
              </p:cNvSpPr>
              <p:nvPr/>
            </p:nvSpPr>
            <p:spPr>
              <a:xfrm>
                <a:off x="5478308" y="4018806"/>
                <a:ext cx="6167592" cy="837266"/>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00000"/>
                  </a:lnSpc>
                  <a:buNone/>
                </a:pPr>
                <a14:m>
                  <m:oMath xmlns:m="http://schemas.openxmlformats.org/officeDocument/2006/math">
                    <m:d>
                      <m:dPr>
                        <m:begChr m:val="|"/>
                        <m:endChr m:val="|"/>
                        <m:ctrlPr>
                          <a:rPr lang="en-US" altLang="ja-JP" sz="1600" b="0" i="1">
                            <a:latin typeface="Cambria Math" panose="02040503050406030204" pitchFamily="18" charset="0"/>
                          </a:rPr>
                        </m:ctrlPr>
                      </m:dPr>
                      <m:e>
                        <m:r>
                          <a:rPr lang="en-US" altLang="ja-JP" sz="1600" b="0" i="1">
                            <a:latin typeface="Cambria Math" panose="02040503050406030204" pitchFamily="18" charset="0"/>
                          </a:rPr>
                          <m:t>𝐴</m:t>
                        </m:r>
                        <m:r>
                          <a:rPr lang="en-US" altLang="ja-JP" sz="1600" b="0" i="1">
                            <a:latin typeface="Cambria Math" panose="02040503050406030204" pitchFamily="18" charset="0"/>
                            <a:ea typeface="Cambria Math" panose="02040503050406030204" pitchFamily="18" charset="0"/>
                          </a:rPr>
                          <m:t>∩</m:t>
                        </m:r>
                        <m:r>
                          <a:rPr lang="en-US" altLang="ja-JP" sz="1600" b="0" i="1">
                            <a:latin typeface="Cambria Math" panose="02040503050406030204" pitchFamily="18" charset="0"/>
                            <a:ea typeface="Cambria Math" panose="02040503050406030204" pitchFamily="18" charset="0"/>
                          </a:rPr>
                          <m:t>𝐵</m:t>
                        </m:r>
                      </m:e>
                    </m:d>
                  </m:oMath>
                </a14:m>
                <a:r>
                  <a:rPr lang="ja-JP" altLang="en-US" sz="1600" b="0"/>
                  <a:t>：</a:t>
                </a:r>
                <a:r>
                  <a:rPr lang="en-US" altLang="ja-JP" sz="1600" b="0" dirty="0"/>
                  <a:t>A</a:t>
                </a:r>
                <a:r>
                  <a:rPr lang="ja-JP" altLang="en-US" sz="1600" b="0"/>
                  <a:t>と</a:t>
                </a:r>
                <a:r>
                  <a:rPr lang="en-US" altLang="ja-JP" sz="1600" b="0" dirty="0"/>
                  <a:t>B</a:t>
                </a:r>
                <a:r>
                  <a:rPr lang="ja-JP" altLang="en-US" sz="1600" b="0"/>
                  <a:t>で共通する特徴の数</a:t>
                </a:r>
                <a:endParaRPr lang="en-US" altLang="ja-JP" sz="1600" b="0" dirty="0"/>
              </a:p>
              <a:p>
                <a:pPr marL="0" indent="0">
                  <a:lnSpc>
                    <a:spcPct val="100000"/>
                  </a:lnSpc>
                  <a:buNone/>
                </a:pPr>
                <a14:m>
                  <m:oMath xmlns:m="http://schemas.openxmlformats.org/officeDocument/2006/math">
                    <m:d>
                      <m:dPr>
                        <m:begChr m:val="|"/>
                        <m:endChr m:val="|"/>
                        <m:ctrlPr>
                          <a:rPr lang="en-US" altLang="ja-JP" sz="1600" b="0" i="1" smtClean="0">
                            <a:latin typeface="Cambria Math" panose="02040503050406030204" pitchFamily="18" charset="0"/>
                          </a:rPr>
                        </m:ctrlPr>
                      </m:dPr>
                      <m:e>
                        <m:r>
                          <a:rPr lang="en-US" altLang="ja-JP" sz="1600" b="0" i="1">
                            <a:latin typeface="Cambria Math" panose="02040503050406030204" pitchFamily="18" charset="0"/>
                          </a:rPr>
                          <m:t>𝐴</m:t>
                        </m:r>
                        <m:r>
                          <a:rPr lang="en-US" altLang="ja-JP" sz="1600" b="0" i="1">
                            <a:latin typeface="Cambria Math" panose="02040503050406030204" pitchFamily="18" charset="0"/>
                            <a:ea typeface="Cambria Math" panose="02040503050406030204" pitchFamily="18" charset="0"/>
                          </a:rPr>
                          <m:t>∪</m:t>
                        </m:r>
                        <m:r>
                          <a:rPr lang="en-US" altLang="ja-JP" sz="1600" b="0" i="1">
                            <a:latin typeface="Cambria Math" panose="02040503050406030204" pitchFamily="18" charset="0"/>
                            <a:ea typeface="Cambria Math" panose="02040503050406030204" pitchFamily="18" charset="0"/>
                          </a:rPr>
                          <m:t>𝐵</m:t>
                        </m:r>
                      </m:e>
                    </m:d>
                  </m:oMath>
                </a14:m>
                <a:r>
                  <a:rPr lang="ja-JP" altLang="en-US" sz="1600" b="0"/>
                  <a:t>：</a:t>
                </a:r>
                <a:r>
                  <a:rPr lang="en-US" altLang="ja-JP" sz="1600" b="0" dirty="0"/>
                  <a:t>A</a:t>
                </a:r>
                <a:r>
                  <a:rPr lang="ja-JP" altLang="en-US" sz="1600" b="0"/>
                  <a:t>と</a:t>
                </a:r>
                <a:r>
                  <a:rPr lang="en-US" altLang="ja-JP" sz="1600" b="0" dirty="0"/>
                  <a:t>B</a:t>
                </a:r>
                <a:r>
                  <a:rPr lang="ja-JP" altLang="en-US" sz="1600" b="0"/>
                  <a:t>のいずれかに含まれる特徴の数</a:t>
                </a:r>
              </a:p>
              <a:p>
                <a:pPr marL="0" indent="0">
                  <a:lnSpc>
                    <a:spcPct val="100000"/>
                  </a:lnSpc>
                  <a:buNone/>
                </a:pPr>
                <a:endParaRPr lang="ja-JP" altLang="en-US" sz="1600" b="0"/>
              </a:p>
            </p:txBody>
          </p:sp>
        </mc:Choice>
        <mc:Fallback>
          <p:sp>
            <p:nvSpPr>
              <p:cNvPr id="16" name="コンテンツ プレースホルダー 2">
                <a:extLst>
                  <a:ext uri="{FF2B5EF4-FFF2-40B4-BE49-F238E27FC236}">
                    <a16:creationId xmlns:a16="http://schemas.microsoft.com/office/drawing/2014/main" id="{169DAF86-D122-05B2-BBAA-480A8A3E54C2}"/>
                  </a:ext>
                </a:extLst>
              </p:cNvPr>
              <p:cNvSpPr txBox="1">
                <a:spLocks noRot="1" noChangeAspect="1" noMove="1" noResize="1" noEditPoints="1" noAdjustHandles="1" noChangeArrowheads="1" noChangeShapeType="1" noTextEdit="1"/>
              </p:cNvSpPr>
              <p:nvPr/>
            </p:nvSpPr>
            <p:spPr>
              <a:xfrm>
                <a:off x="5478308" y="4018806"/>
                <a:ext cx="6167592" cy="837266"/>
              </a:xfrm>
              <a:prstGeom prst="rect">
                <a:avLst/>
              </a:prstGeom>
              <a:blipFill>
                <a:blip r:embed="rId4"/>
                <a:stretch>
                  <a:fillRect t="-2985" b="-5970"/>
                </a:stretch>
              </a:blipFill>
            </p:spPr>
            <p:txBody>
              <a:bodyPr/>
              <a:lstStyle/>
              <a:p>
                <a:r>
                  <a:rPr lang="ja-JP" altLang="en-US">
                    <a:noFill/>
                  </a:rPr>
                  <a:t> </a:t>
                </a:r>
              </a:p>
            </p:txBody>
          </p:sp>
        </mc:Fallback>
      </mc:AlternateContent>
      <p:sp>
        <p:nvSpPr>
          <p:cNvPr id="17" name="テキスト ボックス 16">
            <a:extLst>
              <a:ext uri="{FF2B5EF4-FFF2-40B4-BE49-F238E27FC236}">
                <a16:creationId xmlns:a16="http://schemas.microsoft.com/office/drawing/2014/main" id="{6DD104E8-8309-F7AE-3E24-98E9A49B78D0}"/>
              </a:ext>
            </a:extLst>
          </p:cNvPr>
          <p:cNvSpPr txBox="1"/>
          <p:nvPr/>
        </p:nvSpPr>
        <p:spPr>
          <a:xfrm>
            <a:off x="481363" y="5541219"/>
            <a:ext cx="655949" cy="369332"/>
          </a:xfrm>
          <a:prstGeom prst="rect">
            <a:avLst/>
          </a:prstGeom>
          <a:noFill/>
        </p:spPr>
        <p:txBody>
          <a:bodyPr wrap="none" rtlCol="0">
            <a:spAutoFit/>
          </a:bodyPr>
          <a:lstStyle/>
          <a:p>
            <a:r>
              <a:rPr kumimoji="1" lang="ja-JP" altLang="en-US" b="1"/>
              <a:t>例：</a:t>
            </a:r>
          </a:p>
        </p:txBody>
      </p:sp>
      <mc:AlternateContent xmlns:mc="http://schemas.openxmlformats.org/markup-compatibility/2006">
        <mc:Choice xmlns:a14="http://schemas.microsoft.com/office/drawing/2010/main" Requires="a14">
          <p:sp>
            <p:nvSpPr>
              <p:cNvPr id="18" name="コンテンツ プレースホルダー 2">
                <a:extLst>
                  <a:ext uri="{FF2B5EF4-FFF2-40B4-BE49-F238E27FC236}">
                    <a16:creationId xmlns:a16="http://schemas.microsoft.com/office/drawing/2014/main" id="{89E32356-68A9-9371-8EF2-DBBE0A9A8A62}"/>
                  </a:ext>
                </a:extLst>
              </p:cNvPr>
              <p:cNvSpPr txBox="1">
                <a:spLocks/>
              </p:cNvSpPr>
              <p:nvPr/>
            </p:nvSpPr>
            <p:spPr>
              <a:xfrm>
                <a:off x="5860320" y="5311242"/>
                <a:ext cx="3923444" cy="837266"/>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altLang="ja-JP" b="0" i="1" smtClean="0">
                          <a:latin typeface="Cambria Math" panose="02040503050406030204" pitchFamily="18" charset="0"/>
                        </a:rPr>
                        <m:t>𝑇</m:t>
                      </m:r>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𝐴</m:t>
                          </m:r>
                          <m:r>
                            <a:rPr lang="en-US" altLang="ja-JP" b="0" i="1" smtClean="0">
                              <a:latin typeface="Cambria Math" panose="02040503050406030204" pitchFamily="18" charset="0"/>
                            </a:rPr>
                            <m:t>, </m:t>
                          </m:r>
                          <m:r>
                            <a:rPr lang="en-US" altLang="ja-JP" b="0" i="1" smtClean="0">
                              <a:latin typeface="Cambria Math" panose="02040503050406030204" pitchFamily="18" charset="0"/>
                            </a:rPr>
                            <m:t>𝐵</m:t>
                          </m:r>
                        </m:e>
                      </m:d>
                      <m:r>
                        <a:rPr lang="en-US" altLang="ja-JP" b="0" i="1" smtClean="0">
                          <a:latin typeface="Cambria Math" panose="02040503050406030204" pitchFamily="18" charset="0"/>
                        </a:rPr>
                        <m:t>= </m:t>
                      </m:r>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5</m:t>
                          </m:r>
                        </m:num>
                        <m:den>
                          <m:r>
                            <a:rPr lang="en-US" altLang="ja-JP" b="0" i="1" smtClean="0">
                              <a:latin typeface="Cambria Math" panose="02040503050406030204" pitchFamily="18" charset="0"/>
                            </a:rPr>
                            <m:t>8+6−5</m:t>
                          </m:r>
                        </m:den>
                      </m:f>
                      <m:r>
                        <a:rPr lang="en-US" altLang="ja-JP" b="0" i="1" smtClean="0">
                          <a:latin typeface="Cambria Math" panose="02040503050406030204" pitchFamily="18" charset="0"/>
                        </a:rPr>
                        <m:t>=0.56</m:t>
                      </m:r>
                    </m:oMath>
                  </m:oMathPara>
                </a14:m>
                <a:endParaRPr lang="en-US" altLang="ja-JP" b="0" dirty="0"/>
              </a:p>
              <a:p>
                <a:pPr marL="0" indent="0">
                  <a:buNone/>
                </a:pPr>
                <a:endParaRPr lang="ja-JP" altLang="en-US" sz="1800" b="0"/>
              </a:p>
              <a:p>
                <a:pPr marL="0" indent="0">
                  <a:buNone/>
                </a:pPr>
                <a:endParaRPr lang="ja-JP" altLang="en-US" b="0"/>
              </a:p>
            </p:txBody>
          </p:sp>
        </mc:Choice>
        <mc:Fallback>
          <p:sp>
            <p:nvSpPr>
              <p:cNvPr id="18" name="コンテンツ プレースホルダー 2">
                <a:extLst>
                  <a:ext uri="{FF2B5EF4-FFF2-40B4-BE49-F238E27FC236}">
                    <a16:creationId xmlns:a16="http://schemas.microsoft.com/office/drawing/2014/main" id="{89E32356-68A9-9371-8EF2-DBBE0A9A8A62}"/>
                  </a:ext>
                </a:extLst>
              </p:cNvPr>
              <p:cNvSpPr txBox="1">
                <a:spLocks noRot="1" noChangeAspect="1" noMove="1" noResize="1" noEditPoints="1" noAdjustHandles="1" noChangeArrowheads="1" noChangeShapeType="1" noTextEdit="1"/>
              </p:cNvSpPr>
              <p:nvPr/>
            </p:nvSpPr>
            <p:spPr>
              <a:xfrm>
                <a:off x="5860320" y="5311242"/>
                <a:ext cx="3923444" cy="837266"/>
              </a:xfrm>
              <a:prstGeom prst="rect">
                <a:avLst/>
              </a:prstGeom>
              <a:blipFill>
                <a:blip r:embed="rId5"/>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2687729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コンテンツ プレースホルダー 5" descr="図形&#10;&#10;自動的に生成された説明">
            <a:extLst>
              <a:ext uri="{FF2B5EF4-FFF2-40B4-BE49-F238E27FC236}">
                <a16:creationId xmlns:a16="http://schemas.microsoft.com/office/drawing/2014/main" id="{DA7AD8B3-C519-87B5-7FCE-18D781EC3DD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431526" y="1038483"/>
            <a:ext cx="1536011" cy="1082610"/>
          </a:xfrm>
        </p:spPr>
      </p:pic>
      <p:sp>
        <p:nvSpPr>
          <p:cNvPr id="4" name="テキスト プレースホルダー 3">
            <a:extLst>
              <a:ext uri="{FF2B5EF4-FFF2-40B4-BE49-F238E27FC236}">
                <a16:creationId xmlns:a16="http://schemas.microsoft.com/office/drawing/2014/main" id="{908A71FF-2A97-EBD3-7865-7F63CE545E26}"/>
              </a:ext>
            </a:extLst>
          </p:cNvPr>
          <p:cNvSpPr>
            <a:spLocks noGrp="1"/>
          </p:cNvSpPr>
          <p:nvPr>
            <p:ph type="body" sz="quarter" idx="11"/>
          </p:nvPr>
        </p:nvSpPr>
        <p:spPr/>
        <p:txBody>
          <a:bodyPr/>
          <a:lstStyle/>
          <a:p>
            <a:r>
              <a:rPr kumimoji="1" lang="ja-JP" altLang="en-US"/>
              <a:t>類似度評価の結果</a:t>
            </a:r>
          </a:p>
        </p:txBody>
      </p:sp>
      <p:pic>
        <p:nvPicPr>
          <p:cNvPr id="1026" name="Picture 2">
            <a:extLst>
              <a:ext uri="{FF2B5EF4-FFF2-40B4-BE49-F238E27FC236}">
                <a16:creationId xmlns:a16="http://schemas.microsoft.com/office/drawing/2014/main" id="{E6767FBC-B720-92BC-7A69-7E08E89B93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31526" y="2275326"/>
            <a:ext cx="4234448" cy="4234448"/>
          </a:xfrm>
          <a:prstGeom prst="rect">
            <a:avLst/>
          </a:prstGeom>
          <a:noFill/>
          <a:extLst>
            <a:ext uri="{909E8E84-426E-40DD-AFC4-6F175D3DCCD1}">
              <a14:hiddenFill xmlns:a14="http://schemas.microsoft.com/office/drawing/2010/main">
                <a:solidFill>
                  <a:srgbClr val="FFFFFF"/>
                </a:solidFill>
              </a14:hiddenFill>
            </a:ext>
          </a:extLst>
        </p:spPr>
      </p:pic>
      <p:sp>
        <p:nvSpPr>
          <p:cNvPr id="7" name="コンテンツ プレースホルダー 2">
            <a:extLst>
              <a:ext uri="{FF2B5EF4-FFF2-40B4-BE49-F238E27FC236}">
                <a16:creationId xmlns:a16="http://schemas.microsoft.com/office/drawing/2014/main" id="{B045700E-2FCF-EFD9-3304-DD3927CB1CF8}"/>
              </a:ext>
            </a:extLst>
          </p:cNvPr>
          <p:cNvSpPr txBox="1">
            <a:spLocks/>
          </p:cNvSpPr>
          <p:nvPr/>
        </p:nvSpPr>
        <p:spPr>
          <a:xfrm>
            <a:off x="546100" y="1038483"/>
            <a:ext cx="6761079" cy="5708340"/>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anose="05000000000000000000" pitchFamily="2" charset="2"/>
              <a:buNone/>
            </a:pPr>
            <a:r>
              <a:rPr lang="en-US" altLang="ja-JP" dirty="0"/>
              <a:t>MACCS Keys</a:t>
            </a:r>
            <a:r>
              <a:rPr lang="ja-JP" altLang="en-US"/>
              <a:t>を用いた類似度の計算</a:t>
            </a:r>
            <a:endParaRPr lang="en-US" altLang="ja-JP" dirty="0"/>
          </a:p>
          <a:p>
            <a:r>
              <a:rPr lang="en-US" altLang="ja-JP" sz="1800" b="0" dirty="0"/>
              <a:t>MACCS Keys</a:t>
            </a:r>
            <a:r>
              <a:rPr lang="ja-JP" altLang="en-US" sz="1800" b="0"/>
              <a:t>は官能基など、</a:t>
            </a:r>
            <a:r>
              <a:rPr lang="en-US" altLang="ja-JP" sz="1800" b="0" dirty="0"/>
              <a:t>166</a:t>
            </a:r>
            <a:r>
              <a:rPr lang="ja-JP" altLang="en-US" sz="1800" b="0"/>
              <a:t>個の部分構造を評価するフィンガープリント</a:t>
            </a:r>
            <a:endParaRPr lang="en-US" altLang="ja-JP" sz="1800" b="0" dirty="0"/>
          </a:p>
          <a:p>
            <a:r>
              <a:rPr lang="en-US" altLang="ja-JP" sz="1800" b="0" dirty="0"/>
              <a:t>TGR5</a:t>
            </a:r>
            <a:r>
              <a:rPr lang="ja-JP" altLang="en-US" sz="1800" b="0"/>
              <a:t>の低分子アゴニストの</a:t>
            </a:r>
            <a:r>
              <a:rPr lang="en-US" altLang="ja-JP" sz="1800" b="0" dirty="0"/>
              <a:t>3-</a:t>
            </a:r>
            <a:r>
              <a:rPr lang="ja-JP" altLang="en-US" sz="1800" b="0"/>
              <a:t>アリール</a:t>
            </a:r>
            <a:r>
              <a:rPr lang="en-US" altLang="ja-JP" sz="1800" b="0" dirty="0"/>
              <a:t>-4-</a:t>
            </a:r>
            <a:r>
              <a:rPr lang="ja-JP" altLang="en-US" sz="1800" b="0"/>
              <a:t>イソオキサゾールカルボキサミドと比較</a:t>
            </a:r>
            <a:endParaRPr lang="en-US" altLang="ja-JP" sz="1800" b="0" dirty="0"/>
          </a:p>
          <a:p>
            <a:r>
              <a:rPr lang="en-US" altLang="ja-JP" sz="1800" b="0" dirty="0"/>
              <a:t>3</a:t>
            </a:r>
            <a:r>
              <a:rPr lang="ja-JP" altLang="en-US" sz="1800" b="0"/>
              <a:t>残基のペプチド全</a:t>
            </a:r>
            <a:r>
              <a:rPr lang="en-US" altLang="ja-JP" sz="1800" b="0" dirty="0"/>
              <a:t>8000</a:t>
            </a:r>
            <a:r>
              <a:rPr lang="ja-JP" altLang="en-US" sz="1800" b="0"/>
              <a:t>個の類似度を評価</a:t>
            </a:r>
            <a:endParaRPr lang="en-US" altLang="ja-JP" sz="1800" b="0" dirty="0"/>
          </a:p>
          <a:p>
            <a:pPr marL="0" indent="0">
              <a:buNone/>
            </a:pPr>
            <a:endParaRPr lang="en-US" altLang="ja-JP" b="0" dirty="0"/>
          </a:p>
          <a:p>
            <a:pPr marL="0" indent="0">
              <a:buNone/>
            </a:pPr>
            <a:r>
              <a:rPr lang="ja-JP" altLang="en-US"/>
              <a:t>結果</a:t>
            </a:r>
            <a:endParaRPr lang="en-US" altLang="ja-JP" dirty="0"/>
          </a:p>
          <a:p>
            <a:r>
              <a:rPr lang="en-US" altLang="ja-JP" sz="1800" b="0" dirty="0"/>
              <a:t>1</a:t>
            </a:r>
            <a:r>
              <a:rPr lang="ja-JP" altLang="en-US" sz="1800" b="0"/>
              <a:t>番類似度の高いものでも</a:t>
            </a:r>
            <a:r>
              <a:rPr lang="en-US" altLang="ja-JP" sz="1800" b="0" dirty="0"/>
              <a:t>0.443</a:t>
            </a:r>
            <a:r>
              <a:rPr lang="ja-JP" altLang="en-US" sz="1800" b="0"/>
              <a:t>と、数値的に構造の類似度は高いとは言えない</a:t>
            </a:r>
            <a:endParaRPr lang="en-US" altLang="ja-JP" sz="1800" b="0" dirty="0"/>
          </a:p>
          <a:p>
            <a:r>
              <a:rPr lang="ja-JP" altLang="en-US" sz="1800" b="0"/>
              <a:t>見た目的にも似ていない構造のように思える</a:t>
            </a:r>
            <a:endParaRPr lang="en-US" altLang="ja-JP" sz="1800" b="0" dirty="0"/>
          </a:p>
          <a:p>
            <a:endParaRPr lang="en-US" altLang="ja-JP" b="0" dirty="0"/>
          </a:p>
        </p:txBody>
      </p:sp>
      <p:sp>
        <p:nvSpPr>
          <p:cNvPr id="9" name="テキスト ボックス 8">
            <a:extLst>
              <a:ext uri="{FF2B5EF4-FFF2-40B4-BE49-F238E27FC236}">
                <a16:creationId xmlns:a16="http://schemas.microsoft.com/office/drawing/2014/main" id="{1B73F9DB-F187-3857-AEE1-24383303D56C}"/>
              </a:ext>
            </a:extLst>
          </p:cNvPr>
          <p:cNvSpPr txBox="1"/>
          <p:nvPr/>
        </p:nvSpPr>
        <p:spPr>
          <a:xfrm>
            <a:off x="8967537" y="1210456"/>
            <a:ext cx="2658332" cy="738664"/>
          </a:xfrm>
          <a:prstGeom prst="rect">
            <a:avLst/>
          </a:prstGeom>
          <a:noFill/>
        </p:spPr>
        <p:txBody>
          <a:bodyPr wrap="square">
            <a:spAutoFit/>
          </a:bodyPr>
          <a:lstStyle/>
          <a:p>
            <a:r>
              <a:rPr lang="ja-JP" altLang="en-US" sz="1400" b="0">
                <a:latin typeface="+mn-ea"/>
              </a:rPr>
              <a:t>ターゲット：</a:t>
            </a:r>
            <a:endParaRPr lang="en-US" altLang="ja-JP" sz="1400" b="0" dirty="0">
              <a:latin typeface="+mn-ea"/>
            </a:endParaRPr>
          </a:p>
          <a:p>
            <a:r>
              <a:rPr lang="en-US" altLang="ja-JP" sz="1400" b="0" dirty="0">
                <a:latin typeface="+mn-ea"/>
              </a:rPr>
              <a:t>3-</a:t>
            </a:r>
            <a:r>
              <a:rPr lang="ja-JP" altLang="en-US" sz="1400" b="0">
                <a:latin typeface="+mn-ea"/>
              </a:rPr>
              <a:t>アリール</a:t>
            </a:r>
            <a:r>
              <a:rPr lang="en-US" altLang="ja-JP" sz="1400" b="0" dirty="0">
                <a:latin typeface="+mn-ea"/>
              </a:rPr>
              <a:t>-4-</a:t>
            </a:r>
            <a:r>
              <a:rPr lang="ja-JP" altLang="en-US" sz="1400" b="0">
                <a:latin typeface="+mn-ea"/>
              </a:rPr>
              <a:t>イソオキサゾールカルボキサミド</a:t>
            </a:r>
            <a:endParaRPr lang="ja-JP" altLang="en-US" sz="1400">
              <a:latin typeface="+mn-ea"/>
            </a:endParaRPr>
          </a:p>
        </p:txBody>
      </p:sp>
      <p:sp>
        <p:nvSpPr>
          <p:cNvPr id="10" name="テキスト ボックス 9">
            <a:extLst>
              <a:ext uri="{FF2B5EF4-FFF2-40B4-BE49-F238E27FC236}">
                <a16:creationId xmlns:a16="http://schemas.microsoft.com/office/drawing/2014/main" id="{6263E6BA-569B-5883-D646-49F782F274F0}"/>
              </a:ext>
            </a:extLst>
          </p:cNvPr>
          <p:cNvSpPr txBox="1"/>
          <p:nvPr/>
        </p:nvSpPr>
        <p:spPr>
          <a:xfrm>
            <a:off x="8071878" y="2275326"/>
            <a:ext cx="3205721" cy="307777"/>
          </a:xfrm>
          <a:prstGeom prst="rect">
            <a:avLst/>
          </a:prstGeom>
          <a:noFill/>
        </p:spPr>
        <p:txBody>
          <a:bodyPr wrap="square">
            <a:spAutoFit/>
          </a:bodyPr>
          <a:lstStyle/>
          <a:p>
            <a:pPr algn="ctr"/>
            <a:r>
              <a:rPr lang="ja-JP" altLang="en-US" sz="1400" b="0">
                <a:latin typeface="+mn-ea"/>
              </a:rPr>
              <a:t>類似度が高かった上位</a:t>
            </a:r>
            <a:r>
              <a:rPr lang="en-US" altLang="ja-JP" sz="1400" b="0" dirty="0">
                <a:latin typeface="+mn-ea"/>
              </a:rPr>
              <a:t>9</a:t>
            </a:r>
            <a:r>
              <a:rPr lang="ja-JP" altLang="en-US" sz="1400" b="0">
                <a:latin typeface="+mn-ea"/>
              </a:rPr>
              <a:t>つのペプチド</a:t>
            </a:r>
            <a:endParaRPr lang="en-US" altLang="ja-JP" sz="1400" b="0" dirty="0">
              <a:latin typeface="+mn-ea"/>
            </a:endParaRPr>
          </a:p>
        </p:txBody>
      </p:sp>
      <p:sp>
        <p:nvSpPr>
          <p:cNvPr id="12" name="テキスト ボックス 11">
            <a:extLst>
              <a:ext uri="{FF2B5EF4-FFF2-40B4-BE49-F238E27FC236}">
                <a16:creationId xmlns:a16="http://schemas.microsoft.com/office/drawing/2014/main" id="{5C3E81A4-A7BD-F459-3498-DEC3EA326F48}"/>
              </a:ext>
            </a:extLst>
          </p:cNvPr>
          <p:cNvSpPr txBox="1"/>
          <p:nvPr/>
        </p:nvSpPr>
        <p:spPr>
          <a:xfrm>
            <a:off x="7505720" y="3349819"/>
            <a:ext cx="1387622" cy="430887"/>
          </a:xfrm>
          <a:prstGeom prst="rect">
            <a:avLst/>
          </a:prstGeom>
          <a:noFill/>
        </p:spPr>
        <p:txBody>
          <a:bodyPr wrap="square">
            <a:spAutoFit/>
          </a:bodyPr>
          <a:lstStyle/>
          <a:p>
            <a:pPr algn="ctr"/>
            <a:r>
              <a:rPr lang="en-US" altLang="ja-JP" sz="1100" b="0" dirty="0">
                <a:latin typeface="+mn-ea"/>
              </a:rPr>
              <a:t>1. TPW</a:t>
            </a:r>
            <a:br>
              <a:rPr lang="en-US" altLang="ja-JP" sz="1100" b="0" dirty="0">
                <a:latin typeface="+mn-ea"/>
              </a:rPr>
            </a:br>
            <a:r>
              <a:rPr lang="ja-JP" altLang="en-US" sz="1100" b="0">
                <a:latin typeface="+mn-ea"/>
              </a:rPr>
              <a:t>類似度：</a:t>
            </a:r>
            <a:r>
              <a:rPr lang="en-US" altLang="ja-JP" sz="1100" b="0" dirty="0">
                <a:latin typeface="+mn-ea"/>
              </a:rPr>
              <a:t>0.443</a:t>
            </a:r>
          </a:p>
        </p:txBody>
      </p:sp>
      <p:sp>
        <p:nvSpPr>
          <p:cNvPr id="16" name="テキスト ボックス 15">
            <a:extLst>
              <a:ext uri="{FF2B5EF4-FFF2-40B4-BE49-F238E27FC236}">
                <a16:creationId xmlns:a16="http://schemas.microsoft.com/office/drawing/2014/main" id="{389097A1-BE7B-BC77-0458-BB6350399730}"/>
              </a:ext>
            </a:extLst>
          </p:cNvPr>
          <p:cNvSpPr txBox="1"/>
          <p:nvPr/>
        </p:nvSpPr>
        <p:spPr>
          <a:xfrm>
            <a:off x="8854939" y="3349819"/>
            <a:ext cx="1387622" cy="430887"/>
          </a:xfrm>
          <a:prstGeom prst="rect">
            <a:avLst/>
          </a:prstGeom>
          <a:noFill/>
        </p:spPr>
        <p:txBody>
          <a:bodyPr wrap="square">
            <a:spAutoFit/>
          </a:bodyPr>
          <a:lstStyle/>
          <a:p>
            <a:pPr algn="ctr"/>
            <a:r>
              <a:rPr lang="en-US" altLang="ja-JP" sz="1100" dirty="0">
                <a:latin typeface="+mn-ea"/>
              </a:rPr>
              <a:t>2.WTP</a:t>
            </a:r>
            <a:br>
              <a:rPr lang="en-US" altLang="ja-JP" sz="1100" b="0" dirty="0">
                <a:latin typeface="+mn-ea"/>
              </a:rPr>
            </a:br>
            <a:r>
              <a:rPr lang="ja-JP" altLang="en-US" sz="1100" b="0">
                <a:latin typeface="+mn-ea"/>
              </a:rPr>
              <a:t>類似度：</a:t>
            </a:r>
            <a:r>
              <a:rPr lang="en-US" altLang="ja-JP" sz="1100" b="0" dirty="0">
                <a:latin typeface="+mn-ea"/>
              </a:rPr>
              <a:t>0.443</a:t>
            </a:r>
          </a:p>
        </p:txBody>
      </p:sp>
      <p:sp>
        <p:nvSpPr>
          <p:cNvPr id="17" name="テキスト ボックス 16">
            <a:extLst>
              <a:ext uri="{FF2B5EF4-FFF2-40B4-BE49-F238E27FC236}">
                <a16:creationId xmlns:a16="http://schemas.microsoft.com/office/drawing/2014/main" id="{13C0C06F-F349-0689-A6C3-511FDDDECA57}"/>
              </a:ext>
            </a:extLst>
          </p:cNvPr>
          <p:cNvSpPr txBox="1"/>
          <p:nvPr/>
        </p:nvSpPr>
        <p:spPr>
          <a:xfrm>
            <a:off x="10278352" y="3349819"/>
            <a:ext cx="1387622" cy="430887"/>
          </a:xfrm>
          <a:prstGeom prst="rect">
            <a:avLst/>
          </a:prstGeom>
          <a:noFill/>
        </p:spPr>
        <p:txBody>
          <a:bodyPr wrap="square">
            <a:spAutoFit/>
          </a:bodyPr>
          <a:lstStyle/>
          <a:p>
            <a:pPr algn="ctr"/>
            <a:r>
              <a:rPr lang="en-US" altLang="ja-JP" sz="1100" dirty="0">
                <a:latin typeface="+mn-ea"/>
              </a:rPr>
              <a:t>3</a:t>
            </a:r>
            <a:r>
              <a:rPr lang="en-US" altLang="ja-JP" sz="1100" b="0" dirty="0">
                <a:latin typeface="+mn-ea"/>
              </a:rPr>
              <a:t>. </a:t>
            </a:r>
            <a:r>
              <a:rPr lang="en-US" altLang="ja-JP" sz="1100" dirty="0">
                <a:latin typeface="+mn-ea"/>
              </a:rPr>
              <a:t>HTP</a:t>
            </a:r>
            <a:br>
              <a:rPr lang="en-US" altLang="ja-JP" sz="1100" b="0" dirty="0">
                <a:latin typeface="+mn-ea"/>
              </a:rPr>
            </a:br>
            <a:r>
              <a:rPr lang="ja-JP" altLang="en-US" sz="1100" b="0">
                <a:latin typeface="+mn-ea"/>
              </a:rPr>
              <a:t>類似度：</a:t>
            </a:r>
            <a:r>
              <a:rPr lang="en-US" altLang="ja-JP" sz="1100" b="0" dirty="0">
                <a:latin typeface="+mn-ea"/>
              </a:rPr>
              <a:t>0.435</a:t>
            </a:r>
          </a:p>
        </p:txBody>
      </p:sp>
      <p:sp>
        <p:nvSpPr>
          <p:cNvPr id="18" name="テキスト ボックス 17">
            <a:extLst>
              <a:ext uri="{FF2B5EF4-FFF2-40B4-BE49-F238E27FC236}">
                <a16:creationId xmlns:a16="http://schemas.microsoft.com/office/drawing/2014/main" id="{C746100E-928F-89B2-77A3-C0778959CA6E}"/>
              </a:ext>
            </a:extLst>
          </p:cNvPr>
          <p:cNvSpPr txBox="1"/>
          <p:nvPr/>
        </p:nvSpPr>
        <p:spPr>
          <a:xfrm>
            <a:off x="7517439" y="4807019"/>
            <a:ext cx="1387622" cy="430887"/>
          </a:xfrm>
          <a:prstGeom prst="rect">
            <a:avLst/>
          </a:prstGeom>
          <a:noFill/>
        </p:spPr>
        <p:txBody>
          <a:bodyPr wrap="square">
            <a:spAutoFit/>
          </a:bodyPr>
          <a:lstStyle/>
          <a:p>
            <a:pPr algn="ctr"/>
            <a:r>
              <a:rPr lang="en-US" altLang="ja-JP" sz="1100" dirty="0">
                <a:latin typeface="+mn-ea"/>
              </a:rPr>
              <a:t>4.TPH</a:t>
            </a:r>
            <a:br>
              <a:rPr lang="en-US" altLang="ja-JP" sz="1100" b="0" dirty="0">
                <a:latin typeface="+mn-ea"/>
              </a:rPr>
            </a:br>
            <a:r>
              <a:rPr lang="ja-JP" altLang="en-US" sz="1100" b="0">
                <a:latin typeface="+mn-ea"/>
              </a:rPr>
              <a:t>類似度：</a:t>
            </a:r>
            <a:r>
              <a:rPr lang="en-US" altLang="ja-JP" sz="1100" b="0" dirty="0">
                <a:latin typeface="+mn-ea"/>
              </a:rPr>
              <a:t>0.435</a:t>
            </a:r>
          </a:p>
        </p:txBody>
      </p:sp>
      <p:sp>
        <p:nvSpPr>
          <p:cNvPr id="19" name="テキスト ボックス 18">
            <a:extLst>
              <a:ext uri="{FF2B5EF4-FFF2-40B4-BE49-F238E27FC236}">
                <a16:creationId xmlns:a16="http://schemas.microsoft.com/office/drawing/2014/main" id="{EB43DDD2-FE6B-4EB5-F4BC-2FDC3095BEFC}"/>
              </a:ext>
            </a:extLst>
          </p:cNvPr>
          <p:cNvSpPr txBox="1"/>
          <p:nvPr/>
        </p:nvSpPr>
        <p:spPr>
          <a:xfrm>
            <a:off x="8866658" y="4807019"/>
            <a:ext cx="1387622" cy="430887"/>
          </a:xfrm>
          <a:prstGeom prst="rect">
            <a:avLst/>
          </a:prstGeom>
          <a:noFill/>
        </p:spPr>
        <p:txBody>
          <a:bodyPr wrap="square">
            <a:spAutoFit/>
          </a:bodyPr>
          <a:lstStyle/>
          <a:p>
            <a:pPr algn="ctr"/>
            <a:r>
              <a:rPr lang="en-US" altLang="ja-JP" sz="1100" b="0" dirty="0">
                <a:latin typeface="+mn-ea"/>
              </a:rPr>
              <a:t>5.TWP</a:t>
            </a:r>
            <a:br>
              <a:rPr lang="en-US" altLang="ja-JP" sz="1100" b="0" dirty="0">
                <a:latin typeface="+mn-ea"/>
              </a:rPr>
            </a:br>
            <a:r>
              <a:rPr lang="ja-JP" altLang="en-US" sz="1100" b="0">
                <a:latin typeface="+mn-ea"/>
              </a:rPr>
              <a:t>類似度：</a:t>
            </a:r>
            <a:r>
              <a:rPr lang="en-US" altLang="ja-JP" sz="1100" b="0" dirty="0">
                <a:latin typeface="+mn-ea"/>
              </a:rPr>
              <a:t>0.431</a:t>
            </a:r>
          </a:p>
        </p:txBody>
      </p:sp>
      <p:sp>
        <p:nvSpPr>
          <p:cNvPr id="20" name="テキスト ボックス 19">
            <a:extLst>
              <a:ext uri="{FF2B5EF4-FFF2-40B4-BE49-F238E27FC236}">
                <a16:creationId xmlns:a16="http://schemas.microsoft.com/office/drawing/2014/main" id="{DE3FA322-552C-AAEE-48FD-F261D638E95D}"/>
              </a:ext>
            </a:extLst>
          </p:cNvPr>
          <p:cNvSpPr txBox="1"/>
          <p:nvPr/>
        </p:nvSpPr>
        <p:spPr>
          <a:xfrm>
            <a:off x="10321309" y="4807019"/>
            <a:ext cx="1387622" cy="430887"/>
          </a:xfrm>
          <a:prstGeom prst="rect">
            <a:avLst/>
          </a:prstGeom>
          <a:noFill/>
        </p:spPr>
        <p:txBody>
          <a:bodyPr wrap="square">
            <a:spAutoFit/>
          </a:bodyPr>
          <a:lstStyle/>
          <a:p>
            <a:pPr algn="ctr"/>
            <a:r>
              <a:rPr lang="en-US" altLang="ja-JP" sz="1100" b="0" dirty="0">
                <a:latin typeface="+mn-ea"/>
              </a:rPr>
              <a:t>6.IPW</a:t>
            </a:r>
            <a:br>
              <a:rPr lang="en-US" altLang="ja-JP" sz="1100" b="0" dirty="0">
                <a:latin typeface="+mn-ea"/>
              </a:rPr>
            </a:br>
            <a:r>
              <a:rPr lang="ja-JP" altLang="en-US" sz="1100" b="0">
                <a:latin typeface="+mn-ea"/>
              </a:rPr>
              <a:t>類似度：</a:t>
            </a:r>
            <a:r>
              <a:rPr lang="en-US" altLang="ja-JP" sz="1100" b="0" dirty="0">
                <a:latin typeface="+mn-ea"/>
              </a:rPr>
              <a:t>0.423</a:t>
            </a:r>
          </a:p>
        </p:txBody>
      </p:sp>
      <p:sp>
        <p:nvSpPr>
          <p:cNvPr id="24" name="テキスト ボックス 23">
            <a:extLst>
              <a:ext uri="{FF2B5EF4-FFF2-40B4-BE49-F238E27FC236}">
                <a16:creationId xmlns:a16="http://schemas.microsoft.com/office/drawing/2014/main" id="{FE239073-E452-E673-40A0-B4396FCCBF2B}"/>
              </a:ext>
            </a:extLst>
          </p:cNvPr>
          <p:cNvSpPr txBox="1"/>
          <p:nvPr/>
        </p:nvSpPr>
        <p:spPr>
          <a:xfrm>
            <a:off x="7548677" y="6145980"/>
            <a:ext cx="1387622" cy="430887"/>
          </a:xfrm>
          <a:prstGeom prst="rect">
            <a:avLst/>
          </a:prstGeom>
          <a:noFill/>
        </p:spPr>
        <p:txBody>
          <a:bodyPr wrap="square">
            <a:spAutoFit/>
          </a:bodyPr>
          <a:lstStyle/>
          <a:p>
            <a:pPr algn="ctr"/>
            <a:r>
              <a:rPr lang="en-US" altLang="ja-JP" sz="1100" dirty="0">
                <a:latin typeface="+mn-ea"/>
              </a:rPr>
              <a:t>7.THP</a:t>
            </a:r>
            <a:br>
              <a:rPr lang="en-US" altLang="ja-JP" sz="1100" b="0" dirty="0">
                <a:latin typeface="+mn-ea"/>
              </a:rPr>
            </a:br>
            <a:r>
              <a:rPr lang="ja-JP" altLang="en-US" sz="1100" b="0">
                <a:latin typeface="+mn-ea"/>
              </a:rPr>
              <a:t>類似度：</a:t>
            </a:r>
            <a:r>
              <a:rPr lang="en-US" altLang="ja-JP" sz="1100" b="0" dirty="0">
                <a:latin typeface="+mn-ea"/>
              </a:rPr>
              <a:t>0.423</a:t>
            </a:r>
          </a:p>
        </p:txBody>
      </p:sp>
      <p:sp>
        <p:nvSpPr>
          <p:cNvPr id="25" name="テキスト ボックス 24">
            <a:extLst>
              <a:ext uri="{FF2B5EF4-FFF2-40B4-BE49-F238E27FC236}">
                <a16:creationId xmlns:a16="http://schemas.microsoft.com/office/drawing/2014/main" id="{8CADB138-3179-37CE-653D-992FD3046311}"/>
              </a:ext>
            </a:extLst>
          </p:cNvPr>
          <p:cNvSpPr txBox="1"/>
          <p:nvPr/>
        </p:nvSpPr>
        <p:spPr>
          <a:xfrm>
            <a:off x="8897896" y="6145980"/>
            <a:ext cx="1387622" cy="430887"/>
          </a:xfrm>
          <a:prstGeom prst="rect">
            <a:avLst/>
          </a:prstGeom>
          <a:noFill/>
        </p:spPr>
        <p:txBody>
          <a:bodyPr wrap="square">
            <a:spAutoFit/>
          </a:bodyPr>
          <a:lstStyle/>
          <a:p>
            <a:pPr algn="ctr"/>
            <a:r>
              <a:rPr lang="en-US" altLang="ja-JP" sz="1100" dirty="0">
                <a:latin typeface="+mn-ea"/>
              </a:rPr>
              <a:t>8.WIP</a:t>
            </a:r>
            <a:br>
              <a:rPr lang="en-US" altLang="ja-JP" sz="1100" b="0" dirty="0">
                <a:latin typeface="+mn-ea"/>
              </a:rPr>
            </a:br>
            <a:r>
              <a:rPr lang="ja-JP" altLang="en-US" sz="1100" b="0">
                <a:latin typeface="+mn-ea"/>
              </a:rPr>
              <a:t>類似度：</a:t>
            </a:r>
            <a:r>
              <a:rPr lang="en-US" altLang="ja-JP" sz="1100" b="0" dirty="0">
                <a:latin typeface="+mn-ea"/>
              </a:rPr>
              <a:t>0.423</a:t>
            </a:r>
          </a:p>
        </p:txBody>
      </p:sp>
      <p:sp>
        <p:nvSpPr>
          <p:cNvPr id="26" name="テキスト ボックス 25">
            <a:extLst>
              <a:ext uri="{FF2B5EF4-FFF2-40B4-BE49-F238E27FC236}">
                <a16:creationId xmlns:a16="http://schemas.microsoft.com/office/drawing/2014/main" id="{1047C8C8-FFEB-5083-507D-E182B27C1463}"/>
              </a:ext>
            </a:extLst>
          </p:cNvPr>
          <p:cNvSpPr txBox="1"/>
          <p:nvPr/>
        </p:nvSpPr>
        <p:spPr>
          <a:xfrm>
            <a:off x="10321309" y="6141183"/>
            <a:ext cx="1387622" cy="430887"/>
          </a:xfrm>
          <a:prstGeom prst="rect">
            <a:avLst/>
          </a:prstGeom>
          <a:noFill/>
        </p:spPr>
        <p:txBody>
          <a:bodyPr wrap="square">
            <a:spAutoFit/>
          </a:bodyPr>
          <a:lstStyle/>
          <a:p>
            <a:pPr algn="ctr"/>
            <a:r>
              <a:rPr lang="en-US" altLang="ja-JP" sz="1100" dirty="0">
                <a:latin typeface="+mn-ea"/>
              </a:rPr>
              <a:t>9</a:t>
            </a:r>
            <a:r>
              <a:rPr lang="en-US" altLang="ja-JP" sz="1100" b="0" dirty="0">
                <a:latin typeface="+mn-ea"/>
              </a:rPr>
              <a:t>.IWP</a:t>
            </a:r>
            <a:br>
              <a:rPr lang="en-US" altLang="ja-JP" sz="1100" b="0" dirty="0">
                <a:latin typeface="+mn-ea"/>
              </a:rPr>
            </a:br>
            <a:r>
              <a:rPr lang="ja-JP" altLang="en-US" sz="1100" b="0">
                <a:latin typeface="+mn-ea"/>
              </a:rPr>
              <a:t>類似度：</a:t>
            </a:r>
            <a:r>
              <a:rPr lang="en-US" altLang="ja-JP" sz="1100" b="0" dirty="0">
                <a:latin typeface="+mn-ea"/>
              </a:rPr>
              <a:t>0.417</a:t>
            </a:r>
          </a:p>
        </p:txBody>
      </p:sp>
    </p:spTree>
    <p:extLst>
      <p:ext uri="{BB962C8B-B14F-4D97-AF65-F5344CB8AC3E}">
        <p14:creationId xmlns:p14="http://schemas.microsoft.com/office/powerpoint/2010/main" val="3485230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3ED1C553-5183-3A8A-21D8-78A5B5163DA8}"/>
              </a:ext>
            </a:extLst>
          </p:cNvPr>
          <p:cNvSpPr>
            <a:spLocks noGrp="1"/>
          </p:cNvSpPr>
          <p:nvPr>
            <p:ph idx="1"/>
          </p:nvPr>
        </p:nvSpPr>
        <p:spPr>
          <a:xfrm>
            <a:off x="546100" y="1038484"/>
            <a:ext cx="11099800" cy="3701958"/>
          </a:xfrm>
        </p:spPr>
        <p:txBody>
          <a:bodyPr>
            <a:normAutofit/>
          </a:bodyPr>
          <a:lstStyle/>
          <a:p>
            <a:pPr marL="0" indent="0">
              <a:buNone/>
            </a:pPr>
            <a:r>
              <a:rPr kumimoji="1" lang="ja-JP" altLang="en-US"/>
              <a:t>考察</a:t>
            </a:r>
          </a:p>
          <a:p>
            <a:r>
              <a:rPr lang="ja-JP" altLang="en-US" sz="1800"/>
              <a:t>フィンガープリントの手法に関して</a:t>
            </a:r>
            <a:endParaRPr lang="en-US" altLang="ja-JP" sz="1800" dirty="0"/>
          </a:p>
          <a:p>
            <a:pPr lvl="1"/>
            <a:r>
              <a:rPr lang="ja-JP" altLang="en-US" sz="1600"/>
              <a:t>今回使った</a:t>
            </a:r>
            <a:r>
              <a:rPr lang="en-US" altLang="ja-JP" sz="1600" dirty="0"/>
              <a:t>MACCS Keys</a:t>
            </a:r>
            <a:r>
              <a:rPr lang="ja-JP" altLang="en-US" sz="1600"/>
              <a:t>は官能基</a:t>
            </a:r>
            <a:r>
              <a:rPr lang="ja-JP" altLang="en-US" sz="1600" b="0"/>
              <a:t>などの</a:t>
            </a:r>
            <a:r>
              <a:rPr lang="en-US" altLang="ja-JP" sz="1600" b="0" dirty="0"/>
              <a:t>166</a:t>
            </a:r>
            <a:r>
              <a:rPr lang="ja-JP" altLang="en-US" sz="1600" b="0"/>
              <a:t>個の部分構造を評価するフィンガープリント</a:t>
            </a:r>
            <a:endParaRPr lang="en-US" altLang="ja-JP" sz="1600" b="0" dirty="0"/>
          </a:p>
          <a:p>
            <a:pPr lvl="1"/>
            <a:r>
              <a:rPr lang="en-US" altLang="ja-JP" sz="1600" dirty="0"/>
              <a:t>TGR5</a:t>
            </a:r>
            <a:r>
              <a:rPr lang="ja-JP" altLang="en-US" sz="1600"/>
              <a:t>のアゴニストとの類似を示すのであれば、電気陰性度の大小、水素結合を形成できるかなどが評価軸として有用なのではないか？</a:t>
            </a:r>
            <a:endParaRPr lang="en-US" altLang="ja-JP" sz="1600" dirty="0"/>
          </a:p>
          <a:p>
            <a:pPr lvl="1"/>
            <a:r>
              <a:rPr lang="ja-JP" altLang="en-US" sz="1600" b="0"/>
              <a:t>他のフィンガープリントの手法について調べる</a:t>
            </a:r>
            <a:endParaRPr lang="en-US" altLang="ja-JP" sz="1600" b="0" dirty="0"/>
          </a:p>
          <a:p>
            <a:r>
              <a:rPr lang="en-US" altLang="ja-JP" sz="1800" dirty="0"/>
              <a:t>TGR5</a:t>
            </a:r>
            <a:r>
              <a:rPr lang="ja-JP" altLang="en-US" sz="1800"/>
              <a:t>アゴニストに関して</a:t>
            </a:r>
            <a:endParaRPr lang="en-US" altLang="ja-JP" sz="1800" dirty="0"/>
          </a:p>
          <a:p>
            <a:pPr lvl="1"/>
            <a:r>
              <a:rPr lang="en-US" altLang="ja-JP" sz="1600" b="0" dirty="0">
                <a:latin typeface="+mn-ea"/>
              </a:rPr>
              <a:t>3-</a:t>
            </a:r>
            <a:r>
              <a:rPr lang="ja-JP" altLang="en-US" sz="1600" b="0">
                <a:latin typeface="+mn-ea"/>
              </a:rPr>
              <a:t>アリール</a:t>
            </a:r>
            <a:r>
              <a:rPr lang="en-US" altLang="ja-JP" sz="1600" b="0" dirty="0">
                <a:latin typeface="+mn-ea"/>
              </a:rPr>
              <a:t>-4-</a:t>
            </a:r>
            <a:r>
              <a:rPr lang="ja-JP" altLang="en-US" sz="1600" b="0">
                <a:latin typeface="+mn-ea"/>
              </a:rPr>
              <a:t>イソオキサゾールカルボキサミドがペプチドと類似しにくい？</a:t>
            </a:r>
            <a:endParaRPr lang="en-US" altLang="ja-JP" sz="1600" b="0" dirty="0">
              <a:latin typeface="+mn-ea"/>
            </a:endParaRPr>
          </a:p>
          <a:p>
            <a:pPr lvl="2"/>
            <a:r>
              <a:rPr lang="ja-JP" altLang="en-US" sz="1400">
                <a:latin typeface="+mn-ea"/>
              </a:rPr>
              <a:t>イソオキサゾール</a:t>
            </a:r>
            <a:r>
              <a:rPr lang="ja-JP" altLang="en-US" sz="1400" b="0">
                <a:latin typeface="+mn-ea"/>
              </a:rPr>
              <a:t>部分の類似構造</a:t>
            </a:r>
            <a:r>
              <a:rPr lang="ja-JP" altLang="en-US" sz="1400">
                <a:latin typeface="+mn-ea"/>
              </a:rPr>
              <a:t>がペプチドでうまく表現できないのではないか</a:t>
            </a:r>
            <a:endParaRPr lang="en-US" altLang="ja-JP" sz="1400" b="0" dirty="0">
              <a:latin typeface="+mn-ea"/>
            </a:endParaRPr>
          </a:p>
          <a:p>
            <a:pPr lvl="1"/>
            <a:r>
              <a:rPr lang="ja-JP" altLang="en-US" sz="1600">
                <a:latin typeface="+mn-ea"/>
              </a:rPr>
              <a:t>その他の低分子アゴニストについて調べる</a:t>
            </a:r>
          </a:p>
        </p:txBody>
      </p:sp>
      <p:sp>
        <p:nvSpPr>
          <p:cNvPr id="4" name="テキスト プレースホルダー 3">
            <a:extLst>
              <a:ext uri="{FF2B5EF4-FFF2-40B4-BE49-F238E27FC236}">
                <a16:creationId xmlns:a16="http://schemas.microsoft.com/office/drawing/2014/main" id="{9336F8FB-5B3E-FB0A-8786-239E1AE87FDF}"/>
              </a:ext>
            </a:extLst>
          </p:cNvPr>
          <p:cNvSpPr>
            <a:spLocks noGrp="1"/>
          </p:cNvSpPr>
          <p:nvPr>
            <p:ph type="body" sz="quarter" idx="11"/>
          </p:nvPr>
        </p:nvSpPr>
        <p:spPr/>
        <p:txBody>
          <a:bodyPr/>
          <a:lstStyle/>
          <a:p>
            <a:r>
              <a:rPr kumimoji="1" lang="ja-JP" altLang="en-US"/>
              <a:t>類似度評価の考察</a:t>
            </a:r>
          </a:p>
        </p:txBody>
      </p:sp>
      <p:sp>
        <p:nvSpPr>
          <p:cNvPr id="5" name="コンテンツ プレースホルダー 2">
            <a:extLst>
              <a:ext uri="{FF2B5EF4-FFF2-40B4-BE49-F238E27FC236}">
                <a16:creationId xmlns:a16="http://schemas.microsoft.com/office/drawing/2014/main" id="{60B27CDA-48BF-0F58-C8C5-22EA6AEFC3E7}"/>
              </a:ext>
            </a:extLst>
          </p:cNvPr>
          <p:cNvSpPr txBox="1">
            <a:spLocks/>
          </p:cNvSpPr>
          <p:nvPr/>
        </p:nvSpPr>
        <p:spPr>
          <a:xfrm>
            <a:off x="546100" y="4812631"/>
            <a:ext cx="11099800" cy="1934191"/>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anose="05000000000000000000" pitchFamily="2" charset="2"/>
              <a:buNone/>
            </a:pPr>
            <a:r>
              <a:rPr lang="ja-JP" altLang="en-US"/>
              <a:t>今後の予定</a:t>
            </a:r>
            <a:endParaRPr lang="en-US" altLang="ja-JP" dirty="0"/>
          </a:p>
          <a:p>
            <a:r>
              <a:rPr lang="ja-JP" altLang="en-US" sz="1800"/>
              <a:t>情報学研究科の山西先生に相談する</a:t>
            </a:r>
            <a:endParaRPr lang="en-US" altLang="ja-JP" sz="1800" dirty="0"/>
          </a:p>
          <a:p>
            <a:pPr lvl="1"/>
            <a:r>
              <a:rPr lang="ja-JP" altLang="en-US" sz="1600"/>
              <a:t>どのフィンガープリントを使用するべきか</a:t>
            </a:r>
            <a:endParaRPr lang="en-US" altLang="ja-JP" sz="1600" dirty="0"/>
          </a:p>
          <a:p>
            <a:pPr lvl="1"/>
            <a:r>
              <a:rPr lang="ja-JP" altLang="en-US" sz="1600"/>
              <a:t>そもそも今回の類似度の評価法としてフィンガープリントは適切か</a:t>
            </a:r>
            <a:endParaRPr lang="en-US" altLang="ja-JP" sz="1600" dirty="0"/>
          </a:p>
          <a:p>
            <a:pPr marL="0" indent="0">
              <a:buFont typeface="Wingdings" panose="05000000000000000000" pitchFamily="2" charset="2"/>
              <a:buNone/>
            </a:pPr>
            <a:endParaRPr lang="ja-JP" altLang="en-US"/>
          </a:p>
        </p:txBody>
      </p:sp>
    </p:spTree>
    <p:extLst>
      <p:ext uri="{BB962C8B-B14F-4D97-AF65-F5344CB8AC3E}">
        <p14:creationId xmlns:p14="http://schemas.microsoft.com/office/powerpoint/2010/main" val="39955433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493B5946-ED6D-089E-C48F-A17D118D04CB}"/>
              </a:ext>
            </a:extLst>
          </p:cNvPr>
          <p:cNvSpPr>
            <a:spLocks noGrp="1"/>
          </p:cNvSpPr>
          <p:nvPr>
            <p:ph idx="1"/>
          </p:nvPr>
        </p:nvSpPr>
        <p:spPr>
          <a:xfrm>
            <a:off x="546100" y="1038484"/>
            <a:ext cx="11099800" cy="469900"/>
          </a:xfrm>
        </p:spPr>
        <p:txBody>
          <a:bodyPr/>
          <a:lstStyle/>
          <a:p>
            <a:pPr marL="0" indent="0">
              <a:buNone/>
            </a:pPr>
            <a:r>
              <a:rPr kumimoji="1" lang="ja-JP" altLang="en-US"/>
              <a:t>短期予定</a:t>
            </a:r>
          </a:p>
        </p:txBody>
      </p:sp>
      <p:sp>
        <p:nvSpPr>
          <p:cNvPr id="4" name="テキスト プレースホルダー 3">
            <a:extLst>
              <a:ext uri="{FF2B5EF4-FFF2-40B4-BE49-F238E27FC236}">
                <a16:creationId xmlns:a16="http://schemas.microsoft.com/office/drawing/2014/main" id="{91CE3F74-8A89-FDDF-93AC-6086F7A6ED20}"/>
              </a:ext>
            </a:extLst>
          </p:cNvPr>
          <p:cNvSpPr>
            <a:spLocks noGrp="1"/>
          </p:cNvSpPr>
          <p:nvPr>
            <p:ph type="body" sz="quarter" idx="11"/>
          </p:nvPr>
        </p:nvSpPr>
        <p:spPr/>
        <p:txBody>
          <a:bodyPr/>
          <a:lstStyle/>
          <a:p>
            <a:r>
              <a:rPr kumimoji="1" lang="ja-JP" altLang="en-US"/>
              <a:t>今後の予定</a:t>
            </a:r>
          </a:p>
        </p:txBody>
      </p:sp>
      <p:graphicFrame>
        <p:nvGraphicFramePr>
          <p:cNvPr id="5" name="表 4">
            <a:extLst>
              <a:ext uri="{FF2B5EF4-FFF2-40B4-BE49-F238E27FC236}">
                <a16:creationId xmlns:a16="http://schemas.microsoft.com/office/drawing/2014/main" id="{DB6E4A7A-31E8-F7AB-957A-38C0F4677A92}"/>
              </a:ext>
            </a:extLst>
          </p:cNvPr>
          <p:cNvGraphicFramePr>
            <a:graphicFrameLocks noGrp="1"/>
          </p:cNvGraphicFramePr>
          <p:nvPr>
            <p:extLst>
              <p:ext uri="{D42A27DB-BD31-4B8C-83A1-F6EECF244321}">
                <p14:modId xmlns:p14="http://schemas.microsoft.com/office/powerpoint/2010/main" val="2145742598"/>
              </p:ext>
            </p:extLst>
          </p:nvPr>
        </p:nvGraphicFramePr>
        <p:xfrm>
          <a:off x="546100" y="1480103"/>
          <a:ext cx="11119874" cy="3006363"/>
        </p:xfrm>
        <a:graphic>
          <a:graphicData uri="http://schemas.openxmlformats.org/drawingml/2006/table">
            <a:tbl>
              <a:tblPr firstRow="1">
                <a:tableStyleId>{5C22544A-7EE6-4342-B048-85BDC9FD1C3A}</a:tableStyleId>
              </a:tblPr>
              <a:tblGrid>
                <a:gridCol w="5128836">
                  <a:extLst>
                    <a:ext uri="{9D8B030D-6E8A-4147-A177-3AD203B41FA5}">
                      <a16:colId xmlns:a16="http://schemas.microsoft.com/office/drawing/2014/main" val="3371328493"/>
                    </a:ext>
                  </a:extLst>
                </a:gridCol>
                <a:gridCol w="2111604">
                  <a:extLst>
                    <a:ext uri="{9D8B030D-6E8A-4147-A177-3AD203B41FA5}">
                      <a16:colId xmlns:a16="http://schemas.microsoft.com/office/drawing/2014/main" val="2336952824"/>
                    </a:ext>
                  </a:extLst>
                </a:gridCol>
                <a:gridCol w="2055044">
                  <a:extLst>
                    <a:ext uri="{9D8B030D-6E8A-4147-A177-3AD203B41FA5}">
                      <a16:colId xmlns:a16="http://schemas.microsoft.com/office/drawing/2014/main" val="3322159680"/>
                    </a:ext>
                  </a:extLst>
                </a:gridCol>
                <a:gridCol w="1824390">
                  <a:extLst>
                    <a:ext uri="{9D8B030D-6E8A-4147-A177-3AD203B41FA5}">
                      <a16:colId xmlns:a16="http://schemas.microsoft.com/office/drawing/2014/main" val="1025667938"/>
                    </a:ext>
                  </a:extLst>
                </a:gridCol>
              </a:tblGrid>
              <a:tr h="400465">
                <a:tc>
                  <a:txBody>
                    <a:bodyPr/>
                    <a:lstStyle/>
                    <a:p>
                      <a:pPr algn="ctr"/>
                      <a:endParaRPr kumimoji="1" lang="ja-JP"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gn="ctr"/>
                      <a:r>
                        <a:rPr kumimoji="1" lang="en-US" altLang="ja-JP" dirty="0"/>
                        <a:t>〜6/7</a:t>
                      </a:r>
                      <a:endParaRPr kumimoji="1" lang="ja-JP"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gn="ctr"/>
                      <a:r>
                        <a:rPr kumimoji="1" lang="en-US" altLang="ja-JP" dirty="0"/>
                        <a:t>6/10〜6/14</a:t>
                      </a:r>
                      <a:endParaRPr kumimoji="1" lang="ja-JP"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kumimoji="1" lang="en-US" altLang="ja-JP" dirty="0"/>
                        <a:t>6/17〜6/21</a:t>
                      </a:r>
                      <a:endParaRPr kumimoji="1" lang="ja-JP"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642672014"/>
                  </a:ext>
                </a:extLst>
              </a:tr>
              <a:tr h="482018">
                <a:tc>
                  <a:txBody>
                    <a:bodyPr/>
                    <a:lstStyle/>
                    <a:p>
                      <a:pPr algn="l"/>
                      <a:r>
                        <a:rPr kumimoji="1" lang="ja-JP" altLang="en-US"/>
                        <a:t>トランスフェクション方法の検討</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88361630"/>
                  </a:ext>
                </a:extLst>
              </a:tr>
              <a:tr h="530970">
                <a:tc>
                  <a:txBody>
                    <a:bodyPr/>
                    <a:lstStyle/>
                    <a:p>
                      <a:pPr algn="l"/>
                      <a:r>
                        <a:rPr kumimoji="1" lang="en-US" altLang="ja-JP" dirty="0"/>
                        <a:t>DCA</a:t>
                      </a:r>
                      <a:r>
                        <a:rPr kumimoji="1" lang="ja-JP" altLang="en-US"/>
                        <a:t>添加後の時間の検討</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05393681"/>
                  </a:ext>
                </a:extLst>
              </a:tr>
              <a:tr h="5309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自動合成した</a:t>
                      </a:r>
                      <a:r>
                        <a:rPr kumimoji="1" lang="en-US" altLang="ja-JP" dirty="0"/>
                        <a:t>5</a:t>
                      </a:r>
                      <a:r>
                        <a:rPr kumimoji="1" lang="ja-JP" altLang="en-US"/>
                        <a:t>配列について評価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35299942"/>
                  </a:ext>
                </a:extLst>
              </a:tr>
              <a:tr h="5309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細胞ストックの作成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5908248"/>
                  </a:ext>
                </a:extLst>
              </a:tr>
              <a:tr h="5309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類似度評価方法の検討</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kumimoji="1" lang="ja-JP" altLang="en-US"/>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67069278"/>
                  </a:ext>
                </a:extLst>
              </a:tr>
            </a:tbl>
          </a:graphicData>
        </a:graphic>
      </p:graphicFrame>
      <p:sp>
        <p:nvSpPr>
          <p:cNvPr id="15" name="コンテンツ プレースホルダー 2">
            <a:extLst>
              <a:ext uri="{FF2B5EF4-FFF2-40B4-BE49-F238E27FC236}">
                <a16:creationId xmlns:a16="http://schemas.microsoft.com/office/drawing/2014/main" id="{D0B811FE-8E4F-9370-B4A4-9EF0C74C17BB}"/>
              </a:ext>
            </a:extLst>
          </p:cNvPr>
          <p:cNvSpPr txBox="1">
            <a:spLocks/>
          </p:cNvSpPr>
          <p:nvPr/>
        </p:nvSpPr>
        <p:spPr>
          <a:xfrm>
            <a:off x="546100" y="4682210"/>
            <a:ext cx="11099800" cy="2039100"/>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chemeClr val="accent4"/>
              </a:buClr>
              <a:buFont typeface="Wingdings" panose="05000000000000000000" pitchFamily="2" charset="2"/>
              <a:buChar char="l"/>
              <a:defRPr kumimoji="1" sz="20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18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anose="05000000000000000000" pitchFamily="2" charset="2"/>
              <a:buNone/>
            </a:pPr>
            <a:r>
              <a:rPr lang="ja-JP" altLang="en-US"/>
              <a:t>長期予定</a:t>
            </a:r>
            <a:endParaRPr lang="en-US" altLang="ja-JP" dirty="0"/>
          </a:p>
          <a:p>
            <a:r>
              <a:rPr lang="ja-JP" altLang="en-US" b="0"/>
              <a:t>類似度評価ができたら、上位のペプチドを合成して評価する</a:t>
            </a:r>
            <a:endParaRPr lang="en-US" altLang="ja-JP" b="0" dirty="0"/>
          </a:p>
          <a:p>
            <a:r>
              <a:rPr lang="ja-JP" altLang="en-US" b="0"/>
              <a:t>胆汁酸結合ペプチドの短残基化</a:t>
            </a:r>
            <a:endParaRPr lang="en-US" altLang="ja-JP" b="0" dirty="0"/>
          </a:p>
          <a:p>
            <a:pPr marL="0" indent="0">
              <a:buFont typeface="Wingdings" panose="05000000000000000000" pitchFamily="2" charset="2"/>
              <a:buNone/>
            </a:pPr>
            <a:endParaRPr lang="en-US" altLang="ja-JP" dirty="0"/>
          </a:p>
        </p:txBody>
      </p:sp>
      <p:grpSp>
        <p:nvGrpSpPr>
          <p:cNvPr id="16" name="グループ化 15">
            <a:extLst>
              <a:ext uri="{FF2B5EF4-FFF2-40B4-BE49-F238E27FC236}">
                <a16:creationId xmlns:a16="http://schemas.microsoft.com/office/drawing/2014/main" id="{95B5B3D5-8931-E5D6-5DA7-65DBB2E90259}"/>
              </a:ext>
            </a:extLst>
          </p:cNvPr>
          <p:cNvGrpSpPr/>
          <p:nvPr/>
        </p:nvGrpSpPr>
        <p:grpSpPr>
          <a:xfrm rot="5400000">
            <a:off x="7996110" y="1028524"/>
            <a:ext cx="353858" cy="3205114"/>
            <a:chOff x="7800489" y="2818451"/>
            <a:chExt cx="840658" cy="2492477"/>
          </a:xfrm>
        </p:grpSpPr>
        <p:sp>
          <p:nvSpPr>
            <p:cNvPr id="17" name="二等辺三角形 23">
              <a:extLst>
                <a:ext uri="{FF2B5EF4-FFF2-40B4-BE49-F238E27FC236}">
                  <a16:creationId xmlns:a16="http://schemas.microsoft.com/office/drawing/2014/main" id="{4D638BC3-D6EB-C369-8F06-41F31AB1094A}"/>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二等辺三角形 24">
              <a:extLst>
                <a:ext uri="{FF2B5EF4-FFF2-40B4-BE49-F238E27FC236}">
                  <a16:creationId xmlns:a16="http://schemas.microsoft.com/office/drawing/2014/main" id="{6720C1A0-8C65-0CED-28FD-57BEF7172545}"/>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9" name="グループ化 18">
            <a:extLst>
              <a:ext uri="{FF2B5EF4-FFF2-40B4-BE49-F238E27FC236}">
                <a16:creationId xmlns:a16="http://schemas.microsoft.com/office/drawing/2014/main" id="{45DF8A0C-F77F-DA00-250B-88A0BEF26505}"/>
              </a:ext>
            </a:extLst>
          </p:cNvPr>
          <p:cNvGrpSpPr/>
          <p:nvPr/>
        </p:nvGrpSpPr>
        <p:grpSpPr>
          <a:xfrm rot="5400000">
            <a:off x="6534010" y="1118214"/>
            <a:ext cx="339565" cy="2033518"/>
            <a:chOff x="7800489" y="2818451"/>
            <a:chExt cx="840658" cy="2492477"/>
          </a:xfrm>
        </p:grpSpPr>
        <p:sp>
          <p:nvSpPr>
            <p:cNvPr id="20" name="二等辺三角形 23">
              <a:extLst>
                <a:ext uri="{FF2B5EF4-FFF2-40B4-BE49-F238E27FC236}">
                  <a16:creationId xmlns:a16="http://schemas.microsoft.com/office/drawing/2014/main" id="{345C67FD-E417-F7FB-EA5B-16E93B85B8BD}"/>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二等辺三角形 24">
              <a:extLst>
                <a:ext uri="{FF2B5EF4-FFF2-40B4-BE49-F238E27FC236}">
                  <a16:creationId xmlns:a16="http://schemas.microsoft.com/office/drawing/2014/main" id="{A9A971C1-C327-1B98-1A22-2167D02D163F}"/>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2" name="グループ化 21">
            <a:extLst>
              <a:ext uri="{FF2B5EF4-FFF2-40B4-BE49-F238E27FC236}">
                <a16:creationId xmlns:a16="http://schemas.microsoft.com/office/drawing/2014/main" id="{E6025408-6E19-1D4F-5E28-4A0798C7C1EA}"/>
              </a:ext>
            </a:extLst>
          </p:cNvPr>
          <p:cNvGrpSpPr/>
          <p:nvPr/>
        </p:nvGrpSpPr>
        <p:grpSpPr>
          <a:xfrm rot="5400000">
            <a:off x="9906936" y="1617035"/>
            <a:ext cx="353858" cy="3124070"/>
            <a:chOff x="7800489" y="2818451"/>
            <a:chExt cx="840658" cy="2492477"/>
          </a:xfrm>
        </p:grpSpPr>
        <p:sp>
          <p:nvSpPr>
            <p:cNvPr id="23" name="二等辺三角形 23">
              <a:extLst>
                <a:ext uri="{FF2B5EF4-FFF2-40B4-BE49-F238E27FC236}">
                  <a16:creationId xmlns:a16="http://schemas.microsoft.com/office/drawing/2014/main" id="{2DE3125C-DB43-7B86-4ABD-5EAD1EF631D3}"/>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二等辺三角形 24">
              <a:extLst>
                <a:ext uri="{FF2B5EF4-FFF2-40B4-BE49-F238E27FC236}">
                  <a16:creationId xmlns:a16="http://schemas.microsoft.com/office/drawing/2014/main" id="{AB5866F8-5695-9758-EF88-F74CD4CEA10D}"/>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 name="グループ化 7">
            <a:extLst>
              <a:ext uri="{FF2B5EF4-FFF2-40B4-BE49-F238E27FC236}">
                <a16:creationId xmlns:a16="http://schemas.microsoft.com/office/drawing/2014/main" id="{1C1A0F65-DDFC-B078-108B-08C001AA03CD}"/>
              </a:ext>
            </a:extLst>
          </p:cNvPr>
          <p:cNvGrpSpPr/>
          <p:nvPr/>
        </p:nvGrpSpPr>
        <p:grpSpPr>
          <a:xfrm rot="5400000">
            <a:off x="7112661" y="2096823"/>
            <a:ext cx="353858" cy="3205114"/>
            <a:chOff x="7800489" y="2818451"/>
            <a:chExt cx="840658" cy="2492477"/>
          </a:xfrm>
        </p:grpSpPr>
        <p:sp>
          <p:nvSpPr>
            <p:cNvPr id="9" name="二等辺三角形 23">
              <a:extLst>
                <a:ext uri="{FF2B5EF4-FFF2-40B4-BE49-F238E27FC236}">
                  <a16:creationId xmlns:a16="http://schemas.microsoft.com/office/drawing/2014/main" id="{B6EFE796-1410-58EC-C8EF-F600F38F1C91}"/>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二等辺三角形 24">
              <a:extLst>
                <a:ext uri="{FF2B5EF4-FFF2-40B4-BE49-F238E27FC236}">
                  <a16:creationId xmlns:a16="http://schemas.microsoft.com/office/drawing/2014/main" id="{2F86B09B-540E-CD9D-3347-5B9F36C29CE0}"/>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1" name="グループ化 10">
            <a:extLst>
              <a:ext uri="{FF2B5EF4-FFF2-40B4-BE49-F238E27FC236}">
                <a16:creationId xmlns:a16="http://schemas.microsoft.com/office/drawing/2014/main" id="{E1171326-F399-7E10-AE2D-DEBE821EA9F0}"/>
              </a:ext>
            </a:extLst>
          </p:cNvPr>
          <p:cNvGrpSpPr/>
          <p:nvPr/>
        </p:nvGrpSpPr>
        <p:grpSpPr>
          <a:xfrm rot="5400000">
            <a:off x="7583492" y="2170410"/>
            <a:ext cx="353858" cy="4146779"/>
            <a:chOff x="7800489" y="2818451"/>
            <a:chExt cx="840658" cy="2492477"/>
          </a:xfrm>
        </p:grpSpPr>
        <p:sp>
          <p:nvSpPr>
            <p:cNvPr id="12" name="二等辺三角形 23">
              <a:extLst>
                <a:ext uri="{FF2B5EF4-FFF2-40B4-BE49-F238E27FC236}">
                  <a16:creationId xmlns:a16="http://schemas.microsoft.com/office/drawing/2014/main" id="{87B5ADBF-D945-EF8B-9DA4-D28A1988A7C6}"/>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二等辺三角形 24">
              <a:extLst>
                <a:ext uri="{FF2B5EF4-FFF2-40B4-BE49-F238E27FC236}">
                  <a16:creationId xmlns:a16="http://schemas.microsoft.com/office/drawing/2014/main" id="{407EBCA6-E2F2-5EB9-4F47-804A966B6F8A}"/>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2053781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7573968E-BF17-4017-AA59-5326CD607CE0}"/>
              </a:ext>
            </a:extLst>
          </p:cNvPr>
          <p:cNvSpPr>
            <a:spLocks noGrp="1"/>
          </p:cNvSpPr>
          <p:nvPr>
            <p:ph type="body" sz="quarter" idx="11"/>
          </p:nvPr>
        </p:nvSpPr>
        <p:spPr/>
        <p:txBody>
          <a:bodyPr>
            <a:normAutofit/>
          </a:bodyPr>
          <a:lstStyle/>
          <a:p>
            <a:r>
              <a:rPr kumimoji="1" lang="ja-JP" altLang="en-US"/>
              <a:t>素材集</a:t>
            </a:r>
          </a:p>
        </p:txBody>
      </p:sp>
      <p:pic>
        <p:nvPicPr>
          <p:cNvPr id="16" name="図 15" descr="巣蜜, 建物, ミラー が含まれている画像&#10;&#10;自動的に生成された説明">
            <a:extLst>
              <a:ext uri="{FF2B5EF4-FFF2-40B4-BE49-F238E27FC236}">
                <a16:creationId xmlns:a16="http://schemas.microsoft.com/office/drawing/2014/main" id="{1D2721EE-CDF6-2723-5F42-7A778A6E52AC}"/>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676222" y="1459222"/>
            <a:ext cx="1587500" cy="939800"/>
          </a:xfrm>
          <a:prstGeom prst="rect">
            <a:avLst/>
          </a:prstGeom>
        </p:spPr>
      </p:pic>
      <p:pic>
        <p:nvPicPr>
          <p:cNvPr id="18" name="図 17" descr="図形, 矢印&#10;&#10;自動的に生成された説明">
            <a:extLst>
              <a:ext uri="{FF2B5EF4-FFF2-40B4-BE49-F238E27FC236}">
                <a16:creationId xmlns:a16="http://schemas.microsoft.com/office/drawing/2014/main" id="{EC0A1FA9-5D5B-58B5-1E97-DE2015A4BF81}"/>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357611" y="2466286"/>
            <a:ext cx="492637" cy="469900"/>
          </a:xfrm>
          <a:prstGeom prst="rect">
            <a:avLst/>
          </a:prstGeom>
        </p:spPr>
      </p:pic>
      <p:pic>
        <p:nvPicPr>
          <p:cNvPr id="20" name="図 19">
            <a:extLst>
              <a:ext uri="{FF2B5EF4-FFF2-40B4-BE49-F238E27FC236}">
                <a16:creationId xmlns:a16="http://schemas.microsoft.com/office/drawing/2014/main" id="{C5FF0AA2-CB5C-D0DD-F01B-9F662F522922}"/>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401227" y="2914574"/>
            <a:ext cx="513124" cy="1026247"/>
          </a:xfrm>
          <a:prstGeom prst="rect">
            <a:avLst/>
          </a:prstGeom>
        </p:spPr>
      </p:pic>
      <p:pic>
        <p:nvPicPr>
          <p:cNvPr id="22" name="図 21" descr="背景パターン&#10;&#10;自動的に生成された説明">
            <a:extLst>
              <a:ext uri="{FF2B5EF4-FFF2-40B4-BE49-F238E27FC236}">
                <a16:creationId xmlns:a16="http://schemas.microsoft.com/office/drawing/2014/main" id="{5434239A-8B98-543D-152A-8C832CF2FE6F}"/>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310182" y="1876690"/>
            <a:ext cx="676214" cy="1983054"/>
          </a:xfrm>
          <a:prstGeom prst="rect">
            <a:avLst/>
          </a:prstGeom>
        </p:spPr>
      </p:pic>
      <p:pic>
        <p:nvPicPr>
          <p:cNvPr id="26" name="図 25" descr="ダイアグラム&#10;&#10;低い精度で自動的に生成された説明">
            <a:extLst>
              <a:ext uri="{FF2B5EF4-FFF2-40B4-BE49-F238E27FC236}">
                <a16:creationId xmlns:a16="http://schemas.microsoft.com/office/drawing/2014/main" id="{A51E6FAD-F4B6-D44D-3059-D5006F095FA9}"/>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86564" y="1067113"/>
            <a:ext cx="2305783" cy="1611569"/>
          </a:xfrm>
          <a:prstGeom prst="rect">
            <a:avLst/>
          </a:prstGeom>
        </p:spPr>
      </p:pic>
      <p:pic>
        <p:nvPicPr>
          <p:cNvPr id="28" name="図 27" descr="洗面道具 が含まれている画像&#10;&#10;自動的に生成された説明">
            <a:extLst>
              <a:ext uri="{FF2B5EF4-FFF2-40B4-BE49-F238E27FC236}">
                <a16:creationId xmlns:a16="http://schemas.microsoft.com/office/drawing/2014/main" id="{B4245E6D-394C-C910-C428-32CB856ED7C4}"/>
              </a:ext>
            </a:extLst>
          </p:cNvPr>
          <p:cNvPicPr>
            <a:picLocks noChangeAspect="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817433" y="1157008"/>
            <a:ext cx="2209434" cy="1544228"/>
          </a:xfrm>
          <a:prstGeom prst="rect">
            <a:avLst/>
          </a:prstGeom>
        </p:spPr>
      </p:pic>
      <p:pic>
        <p:nvPicPr>
          <p:cNvPr id="30" name="図 29" descr="ダイアグラム&#10;&#10;自動的に生成された説明">
            <a:extLst>
              <a:ext uri="{FF2B5EF4-FFF2-40B4-BE49-F238E27FC236}">
                <a16:creationId xmlns:a16="http://schemas.microsoft.com/office/drawing/2014/main" id="{F7BB396B-089F-6019-752C-C7EF107744DD}"/>
              </a:ext>
            </a:extLst>
          </p:cNvPr>
          <p:cNvPicPr>
            <a:picLocks noChangeAspect="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4374" y="2914574"/>
            <a:ext cx="2391961" cy="1802276"/>
          </a:xfrm>
          <a:prstGeom prst="rect">
            <a:avLst/>
          </a:prstGeom>
        </p:spPr>
      </p:pic>
      <p:pic>
        <p:nvPicPr>
          <p:cNvPr id="32" name="図 31" descr="洗面道具 が含まれている画像&#10;&#10;自動的に生成された説明">
            <a:extLst>
              <a:ext uri="{FF2B5EF4-FFF2-40B4-BE49-F238E27FC236}">
                <a16:creationId xmlns:a16="http://schemas.microsoft.com/office/drawing/2014/main" id="{983C9901-2A7E-0A6B-4270-306CF53D1F17}"/>
              </a:ext>
            </a:extLst>
          </p:cNvPr>
          <p:cNvPicPr>
            <a:picLocks noChangeAspect="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962806" y="2630557"/>
            <a:ext cx="2391961" cy="1802276"/>
          </a:xfrm>
          <a:prstGeom prst="rect">
            <a:avLst/>
          </a:prstGeom>
        </p:spPr>
      </p:pic>
      <p:pic>
        <p:nvPicPr>
          <p:cNvPr id="3" name="図 2" descr="図形, 円&#10;&#10;自動的に生成された説明">
            <a:extLst>
              <a:ext uri="{FF2B5EF4-FFF2-40B4-BE49-F238E27FC236}">
                <a16:creationId xmlns:a16="http://schemas.microsoft.com/office/drawing/2014/main" id="{AE5E1DC3-04D7-8A10-2314-17AE2BED30F6}"/>
              </a:ext>
            </a:extLst>
          </p:cNvPr>
          <p:cNvPicPr>
            <a:picLocks noChangeAspect="1"/>
          </p:cNvPicPr>
          <p:nvPr/>
        </p:nvPicPr>
        <p:blipFill>
          <a:blip r:embed="rId10">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469972" y="5369457"/>
            <a:ext cx="1587500" cy="1140317"/>
          </a:xfrm>
          <a:prstGeom prst="rect">
            <a:avLst/>
          </a:prstGeom>
        </p:spPr>
      </p:pic>
    </p:spTree>
    <p:extLst>
      <p:ext uri="{BB962C8B-B14F-4D97-AF65-F5344CB8AC3E}">
        <p14:creationId xmlns:p14="http://schemas.microsoft.com/office/powerpoint/2010/main" val="388561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BAE509-1F5F-44D7-895B-AADA5EB0124C}"/>
              </a:ext>
            </a:extLst>
          </p:cNvPr>
          <p:cNvSpPr>
            <a:spLocks noGrp="1"/>
          </p:cNvSpPr>
          <p:nvPr>
            <p:ph type="title"/>
          </p:nvPr>
        </p:nvSpPr>
        <p:spPr/>
        <p:txBody>
          <a:bodyPr/>
          <a:lstStyle/>
          <a:p>
            <a:r>
              <a:rPr kumimoji="1" lang="ja-JP" altLang="en-US" dirty="0"/>
              <a:t>寸法や色は場合に応じて調整しましょう</a:t>
            </a:r>
          </a:p>
        </p:txBody>
      </p:sp>
      <p:sp>
        <p:nvSpPr>
          <p:cNvPr id="4" name="テキスト プレースホルダー 3">
            <a:extLst>
              <a:ext uri="{FF2B5EF4-FFF2-40B4-BE49-F238E27FC236}">
                <a16:creationId xmlns:a16="http://schemas.microsoft.com/office/drawing/2014/main" id="{5DCA4200-D082-429B-A7B9-20EDE7036BD0}"/>
              </a:ext>
            </a:extLst>
          </p:cNvPr>
          <p:cNvSpPr>
            <a:spLocks noGrp="1"/>
          </p:cNvSpPr>
          <p:nvPr>
            <p:ph type="body" sz="quarter" idx="11"/>
          </p:nvPr>
        </p:nvSpPr>
        <p:spPr/>
        <p:txBody>
          <a:bodyPr>
            <a:normAutofit/>
          </a:bodyPr>
          <a:lstStyle/>
          <a:p>
            <a:r>
              <a:rPr kumimoji="1" lang="ja-JP" altLang="en-US" dirty="0"/>
              <a:t>よく使う図形のパターン</a:t>
            </a:r>
          </a:p>
        </p:txBody>
      </p:sp>
      <p:grpSp>
        <p:nvGrpSpPr>
          <p:cNvPr id="11" name="グループ化 10">
            <a:extLst>
              <a:ext uri="{FF2B5EF4-FFF2-40B4-BE49-F238E27FC236}">
                <a16:creationId xmlns:a16="http://schemas.microsoft.com/office/drawing/2014/main" id="{1600F27F-842D-4A09-9876-4F4D6FED49D4}"/>
              </a:ext>
            </a:extLst>
          </p:cNvPr>
          <p:cNvGrpSpPr/>
          <p:nvPr/>
        </p:nvGrpSpPr>
        <p:grpSpPr>
          <a:xfrm rot="3516666">
            <a:off x="1083666" y="2853387"/>
            <a:ext cx="1201975" cy="1567649"/>
            <a:chOff x="2664127" y="3374455"/>
            <a:chExt cx="1201975" cy="1567649"/>
          </a:xfrm>
        </p:grpSpPr>
        <p:sp>
          <p:nvSpPr>
            <p:cNvPr id="5" name="二等辺三角形 4">
              <a:extLst>
                <a:ext uri="{FF2B5EF4-FFF2-40B4-BE49-F238E27FC236}">
                  <a16:creationId xmlns:a16="http://schemas.microsoft.com/office/drawing/2014/main" id="{031DCB67-E3C0-40A6-82FC-F3A99614C50C}"/>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フリーフォーム: 図形 9">
              <a:extLst>
                <a:ext uri="{FF2B5EF4-FFF2-40B4-BE49-F238E27FC236}">
                  <a16:creationId xmlns:a16="http://schemas.microsoft.com/office/drawing/2014/main" id="{8F1F7A27-5455-4318-B9EB-F5DC2E371C80}"/>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9" name="グループ化 18">
            <a:extLst>
              <a:ext uri="{FF2B5EF4-FFF2-40B4-BE49-F238E27FC236}">
                <a16:creationId xmlns:a16="http://schemas.microsoft.com/office/drawing/2014/main" id="{A84CB4AB-8E74-474F-8F79-B603B9235B46}"/>
              </a:ext>
            </a:extLst>
          </p:cNvPr>
          <p:cNvGrpSpPr/>
          <p:nvPr/>
        </p:nvGrpSpPr>
        <p:grpSpPr>
          <a:xfrm>
            <a:off x="3762700" y="2453659"/>
            <a:ext cx="851900" cy="2201196"/>
            <a:chOff x="4004187" y="2684206"/>
            <a:chExt cx="851900" cy="2201196"/>
          </a:xfrm>
        </p:grpSpPr>
        <p:sp>
          <p:nvSpPr>
            <p:cNvPr id="16" name="二等辺三角形 15">
              <a:extLst>
                <a:ext uri="{FF2B5EF4-FFF2-40B4-BE49-F238E27FC236}">
                  <a16:creationId xmlns:a16="http://schemas.microsoft.com/office/drawing/2014/main" id="{77F25128-43F7-4D7B-A506-7861040EA63C}"/>
                </a:ext>
              </a:extLst>
            </p:cNvPr>
            <p:cNvSpPr/>
            <p:nvPr/>
          </p:nvSpPr>
          <p:spPr>
            <a:xfrm>
              <a:off x="4004187" y="2684206"/>
              <a:ext cx="851900" cy="405581"/>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二等辺三角形 16">
              <a:extLst>
                <a:ext uri="{FF2B5EF4-FFF2-40B4-BE49-F238E27FC236}">
                  <a16:creationId xmlns:a16="http://schemas.microsoft.com/office/drawing/2014/main" id="{425DA271-AEFA-45AB-AD52-737DB7EF67C8}"/>
                </a:ext>
              </a:extLst>
            </p:cNvPr>
            <p:cNvSpPr/>
            <p:nvPr/>
          </p:nvSpPr>
          <p:spPr>
            <a:xfrm rot="10800000">
              <a:off x="4172039" y="4653111"/>
              <a:ext cx="516194" cy="232291"/>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台形 17">
              <a:extLst>
                <a:ext uri="{FF2B5EF4-FFF2-40B4-BE49-F238E27FC236}">
                  <a16:creationId xmlns:a16="http://schemas.microsoft.com/office/drawing/2014/main" id="{0BE03671-A77A-4398-9395-69D34E2C8634}"/>
                </a:ext>
              </a:extLst>
            </p:cNvPr>
            <p:cNvSpPr/>
            <p:nvPr/>
          </p:nvSpPr>
          <p:spPr>
            <a:xfrm rot="10800000">
              <a:off x="4274402" y="3082408"/>
              <a:ext cx="311469" cy="1570703"/>
            </a:xfrm>
            <a:prstGeom prst="trapezoid">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3" name="グループ化 22">
            <a:extLst>
              <a:ext uri="{FF2B5EF4-FFF2-40B4-BE49-F238E27FC236}">
                <a16:creationId xmlns:a16="http://schemas.microsoft.com/office/drawing/2014/main" id="{53DA5DF4-9734-4A8B-B3F2-EB432821614A}"/>
              </a:ext>
            </a:extLst>
          </p:cNvPr>
          <p:cNvGrpSpPr/>
          <p:nvPr/>
        </p:nvGrpSpPr>
        <p:grpSpPr>
          <a:xfrm>
            <a:off x="5262743" y="3209365"/>
            <a:ext cx="2359742" cy="1445491"/>
            <a:chOff x="4837472" y="2490841"/>
            <a:chExt cx="2359742" cy="1445491"/>
          </a:xfrm>
        </p:grpSpPr>
        <p:sp>
          <p:nvSpPr>
            <p:cNvPr id="20" name="四角形: 角を丸くする 19">
              <a:extLst>
                <a:ext uri="{FF2B5EF4-FFF2-40B4-BE49-F238E27FC236}">
                  <a16:creationId xmlns:a16="http://schemas.microsoft.com/office/drawing/2014/main" id="{161AF5DB-A2D8-495C-B795-7003573DFCCF}"/>
                </a:ext>
              </a:extLst>
            </p:cNvPr>
            <p:cNvSpPr/>
            <p:nvPr/>
          </p:nvSpPr>
          <p:spPr>
            <a:xfrm>
              <a:off x="4837472" y="2490841"/>
              <a:ext cx="2359742" cy="938159"/>
            </a:xfrm>
            <a:prstGeom prst="roundRect">
              <a:avLst>
                <a:gd name="adj" fmla="val 10379"/>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2" name="二等辺三角形 21">
              <a:extLst>
                <a:ext uri="{FF2B5EF4-FFF2-40B4-BE49-F238E27FC236}">
                  <a16:creationId xmlns:a16="http://schemas.microsoft.com/office/drawing/2014/main" id="{C811F06F-2D36-4904-A2A9-7CD991856DA0}"/>
                </a:ext>
              </a:extLst>
            </p:cNvPr>
            <p:cNvSpPr/>
            <p:nvPr/>
          </p:nvSpPr>
          <p:spPr>
            <a:xfrm rot="11901755">
              <a:off x="4948538" y="3335420"/>
              <a:ext cx="213186" cy="600912"/>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6" name="グループ化 25">
            <a:extLst>
              <a:ext uri="{FF2B5EF4-FFF2-40B4-BE49-F238E27FC236}">
                <a16:creationId xmlns:a16="http://schemas.microsoft.com/office/drawing/2014/main" id="{12B12945-4562-4CBA-BD30-EF9F8726FCD9}"/>
              </a:ext>
            </a:extLst>
          </p:cNvPr>
          <p:cNvGrpSpPr/>
          <p:nvPr/>
        </p:nvGrpSpPr>
        <p:grpSpPr>
          <a:xfrm>
            <a:off x="2672807" y="2453659"/>
            <a:ext cx="840658" cy="2492477"/>
            <a:chOff x="7800489" y="2818451"/>
            <a:chExt cx="840658" cy="2492477"/>
          </a:xfrm>
        </p:grpSpPr>
        <p:sp>
          <p:nvSpPr>
            <p:cNvPr id="24" name="二等辺三角形 23">
              <a:extLst>
                <a:ext uri="{FF2B5EF4-FFF2-40B4-BE49-F238E27FC236}">
                  <a16:creationId xmlns:a16="http://schemas.microsoft.com/office/drawing/2014/main" id="{5972915F-3F25-4048-8F16-22D7D6656CAA}"/>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二等辺三角形 24">
              <a:extLst>
                <a:ext uri="{FF2B5EF4-FFF2-40B4-BE49-F238E27FC236}">
                  <a16:creationId xmlns:a16="http://schemas.microsoft.com/office/drawing/2014/main" id="{FC3592AF-4DD9-481B-AE7D-C444443CA44E}"/>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31" name="直線コネクタ 30">
            <a:extLst>
              <a:ext uri="{FF2B5EF4-FFF2-40B4-BE49-F238E27FC236}">
                <a16:creationId xmlns:a16="http://schemas.microsoft.com/office/drawing/2014/main" id="{E692BBDB-6806-49B7-9241-7D2B547F185E}"/>
              </a:ext>
            </a:extLst>
          </p:cNvPr>
          <p:cNvCxnSpPr>
            <a:cxnSpLocks/>
          </p:cNvCxnSpPr>
          <p:nvPr/>
        </p:nvCxnSpPr>
        <p:spPr>
          <a:xfrm flipV="1">
            <a:off x="7466643" y="2683751"/>
            <a:ext cx="525780" cy="791898"/>
          </a:xfrm>
          <a:prstGeom prst="line">
            <a:avLst/>
          </a:prstGeom>
          <a:ln>
            <a:headEnd type="oval" w="lg" len="lg"/>
          </a:ln>
          <a:effectLst>
            <a:glow rad="88900">
              <a:srgbClr val="FFFFFF">
                <a:alpha val="87000"/>
              </a:srgbClr>
            </a:glow>
          </a:effectLst>
        </p:spPr>
        <p:style>
          <a:lnRef idx="3">
            <a:schemeClr val="accent4"/>
          </a:lnRef>
          <a:fillRef idx="0">
            <a:schemeClr val="accent4"/>
          </a:fillRef>
          <a:effectRef idx="2">
            <a:schemeClr val="accent4"/>
          </a:effectRef>
          <a:fontRef idx="minor">
            <a:schemeClr val="tx1"/>
          </a:fontRef>
        </p:style>
      </p:cxnSp>
      <p:sp>
        <p:nvSpPr>
          <p:cNvPr id="29" name="楕円 28">
            <a:extLst>
              <a:ext uri="{FF2B5EF4-FFF2-40B4-BE49-F238E27FC236}">
                <a16:creationId xmlns:a16="http://schemas.microsoft.com/office/drawing/2014/main" id="{602DA899-F613-4B35-A569-DACF6D76EEA5}"/>
              </a:ext>
            </a:extLst>
          </p:cNvPr>
          <p:cNvSpPr/>
          <p:nvPr/>
        </p:nvSpPr>
        <p:spPr>
          <a:xfrm>
            <a:off x="7831288" y="2120241"/>
            <a:ext cx="648000" cy="648000"/>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b="1" dirty="0">
                <a:latin typeface="游ゴシック" panose="020B0400000000000000" pitchFamily="50" charset="-128"/>
                <a:ea typeface="游ゴシック" panose="020B0400000000000000" pitchFamily="50" charset="-128"/>
              </a:rPr>
              <a:t>1</a:t>
            </a:r>
            <a:endParaRPr kumimoji="1" lang="ja-JP" altLang="en-US" sz="2800" b="1" dirty="0">
              <a:latin typeface="游ゴシック" panose="020B0400000000000000" pitchFamily="50" charset="-128"/>
              <a:ea typeface="游ゴシック" panose="020B0400000000000000" pitchFamily="50" charset="-128"/>
            </a:endParaRPr>
          </a:p>
        </p:txBody>
      </p:sp>
      <p:grpSp>
        <p:nvGrpSpPr>
          <p:cNvPr id="6" name="グループ化 5">
            <a:extLst>
              <a:ext uri="{FF2B5EF4-FFF2-40B4-BE49-F238E27FC236}">
                <a16:creationId xmlns:a16="http://schemas.microsoft.com/office/drawing/2014/main" id="{D97239CB-D2F7-464C-85F9-58EE17B7D302}"/>
              </a:ext>
            </a:extLst>
          </p:cNvPr>
          <p:cNvGrpSpPr/>
          <p:nvPr/>
        </p:nvGrpSpPr>
        <p:grpSpPr>
          <a:xfrm>
            <a:off x="1308118" y="4654856"/>
            <a:ext cx="938304" cy="840658"/>
            <a:chOff x="1572269" y="4816089"/>
            <a:chExt cx="938304" cy="840658"/>
          </a:xfrm>
        </p:grpSpPr>
        <p:sp>
          <p:nvSpPr>
            <p:cNvPr id="27" name="二等辺三角形 26">
              <a:extLst>
                <a:ext uri="{FF2B5EF4-FFF2-40B4-BE49-F238E27FC236}">
                  <a16:creationId xmlns:a16="http://schemas.microsoft.com/office/drawing/2014/main" id="{3B6F705D-F04B-4DBD-8C41-9BCBF909BE34}"/>
                </a:ext>
              </a:extLst>
            </p:cNvPr>
            <p:cNvSpPr/>
            <p:nvPr/>
          </p:nvSpPr>
          <p:spPr>
            <a:xfrm rot="4051206">
              <a:off x="1854270" y="5000443"/>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0" name="フリーフォーム: 図形 29">
              <a:extLst>
                <a:ext uri="{FF2B5EF4-FFF2-40B4-BE49-F238E27FC236}">
                  <a16:creationId xmlns:a16="http://schemas.microsoft.com/office/drawing/2014/main" id="{3076F6E7-0F39-40A8-B28D-938F6D40299C}"/>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dirty="0"/>
            </a:p>
          </p:txBody>
        </p:sp>
      </p:grpSp>
      <p:sp>
        <p:nvSpPr>
          <p:cNvPr id="7" name="フリーフォーム: 図形 6">
            <a:extLst>
              <a:ext uri="{FF2B5EF4-FFF2-40B4-BE49-F238E27FC236}">
                <a16:creationId xmlns:a16="http://schemas.microsoft.com/office/drawing/2014/main" id="{5183F042-B05B-8313-D916-4D435BA05131}"/>
              </a:ext>
            </a:extLst>
          </p:cNvPr>
          <p:cNvSpPr/>
          <p:nvPr/>
        </p:nvSpPr>
        <p:spPr>
          <a:xfrm>
            <a:off x="1256388" y="6352685"/>
            <a:ext cx="1380066" cy="202200"/>
          </a:xfrm>
          <a:custGeom>
            <a:avLst/>
            <a:gdLst>
              <a:gd name="connsiteX0" fmla="*/ 0 w 1380066"/>
              <a:gd name="connsiteY0" fmla="*/ 202199 h 202200"/>
              <a:gd name="connsiteX1" fmla="*/ 1380066 w 1380066"/>
              <a:gd name="connsiteY1" fmla="*/ 0 h 202200"/>
            </a:gdLst>
            <a:ahLst/>
            <a:cxnLst>
              <a:cxn ang="0">
                <a:pos x="connsiteX0" y="connsiteY0"/>
              </a:cxn>
              <a:cxn ang="0">
                <a:pos x="connsiteX1" y="connsiteY1"/>
              </a:cxn>
            </a:cxnLst>
            <a:rect l="l" t="t" r="r" b="b"/>
            <a:pathLst>
              <a:path w="1380066" h="202200" extrusionOk="0">
                <a:moveTo>
                  <a:pt x="0" y="202199"/>
                </a:moveTo>
                <a:cubicBezTo>
                  <a:pt x="579868" y="55242"/>
                  <a:pt x="825186" y="128242"/>
                  <a:pt x="1380066" y="0"/>
                </a:cubicBezTo>
              </a:path>
            </a:pathLst>
          </a:custGeom>
          <a:noFill/>
          <a:ln cap="rnd">
            <a:solidFill>
              <a:schemeClr val="accent4"/>
            </a:solidFill>
            <a:round/>
            <a:headEnd type="none" w="med" len="med"/>
            <a:tailEnd type="arrow" w="lg" len="lg"/>
            <a:extLst>
              <a:ext uri="{C807C97D-BFC1-408E-A445-0C87EB9F89A2}">
                <ask:lineSketchStyleProps xmlns:ask="http://schemas.microsoft.com/office/drawing/2018/sketchyshapes" sd="697022472">
                  <a:custGeom>
                    <a:avLst/>
                    <a:gdLst>
                      <a:gd name="connsiteX0" fmla="*/ 0 w 2709333"/>
                      <a:gd name="connsiteY0" fmla="*/ 321732 h 321733"/>
                      <a:gd name="connsiteX1" fmla="*/ 1245419 w 2709333"/>
                      <a:gd name="connsiteY1" fmla="*/ 105712 h 321733"/>
                      <a:gd name="connsiteX2" fmla="*/ 2709333 w 2709333"/>
                      <a:gd name="connsiteY2" fmla="*/ 0 h 321733"/>
                      <a:gd name="connsiteX0" fmla="*/ 0 w 2709333"/>
                      <a:gd name="connsiteY0" fmla="*/ 321732 h 321732"/>
                      <a:gd name="connsiteX1" fmla="*/ 2709333 w 2709333"/>
                      <a:gd name="connsiteY1" fmla="*/ 0 h 321732"/>
                    </a:gdLst>
                    <a:ahLst/>
                    <a:cxnLst>
                      <a:cxn ang="0">
                        <a:pos x="connsiteX0" y="connsiteY0"/>
                      </a:cxn>
                      <a:cxn ang="0">
                        <a:pos x="connsiteX1" y="connsiteY1"/>
                      </a:cxn>
                    </a:cxnLst>
                    <a:rect l="l" t="t" r="r" b="b"/>
                    <a:pathLst>
                      <a:path w="2709333" h="321732" extrusionOk="0">
                        <a:moveTo>
                          <a:pt x="0" y="321732"/>
                        </a:moveTo>
                        <a:lnTo>
                          <a:pt x="2709333" y="0"/>
                        </a:lnTo>
                      </a:path>
                    </a:pathLst>
                  </a:cu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右大かっこ 7">
            <a:extLst>
              <a:ext uri="{FF2B5EF4-FFF2-40B4-BE49-F238E27FC236}">
                <a16:creationId xmlns:a16="http://schemas.microsoft.com/office/drawing/2014/main" id="{B56DB7F2-BBFC-B498-CF1C-E6E32288AFD5}"/>
              </a:ext>
            </a:extLst>
          </p:cNvPr>
          <p:cNvSpPr/>
          <p:nvPr/>
        </p:nvSpPr>
        <p:spPr>
          <a:xfrm>
            <a:off x="10875218" y="3429000"/>
            <a:ext cx="75875" cy="2144636"/>
          </a:xfrm>
          <a:custGeom>
            <a:avLst/>
            <a:gdLst>
              <a:gd name="connsiteX0" fmla="*/ 0 w 75875"/>
              <a:gd name="connsiteY0" fmla="*/ 0 h 2144636"/>
              <a:gd name="connsiteX1" fmla="*/ 75875 w 75875"/>
              <a:gd name="connsiteY1" fmla="*/ 6323 h 2144636"/>
              <a:gd name="connsiteX2" fmla="*/ 75875 w 75875"/>
              <a:gd name="connsiteY2" fmla="*/ 2138313 h 2144636"/>
              <a:gd name="connsiteX3" fmla="*/ 0 w 75875"/>
              <a:gd name="connsiteY3" fmla="*/ 2144636 h 2144636"/>
              <a:gd name="connsiteX4" fmla="*/ 0 w 75875"/>
              <a:gd name="connsiteY4" fmla="*/ 0 h 2144636"/>
              <a:gd name="connsiteX0" fmla="*/ 0 w 75875"/>
              <a:gd name="connsiteY0" fmla="*/ 0 h 2144636"/>
              <a:gd name="connsiteX1" fmla="*/ 75875 w 75875"/>
              <a:gd name="connsiteY1" fmla="*/ 6323 h 2144636"/>
              <a:gd name="connsiteX2" fmla="*/ 75875 w 75875"/>
              <a:gd name="connsiteY2" fmla="*/ 2138313 h 2144636"/>
              <a:gd name="connsiteX3" fmla="*/ 0 w 75875"/>
              <a:gd name="connsiteY3" fmla="*/ 2144636 h 2144636"/>
            </a:gdLst>
            <a:ahLst/>
            <a:cxnLst>
              <a:cxn ang="0">
                <a:pos x="connsiteX0" y="connsiteY0"/>
              </a:cxn>
              <a:cxn ang="0">
                <a:pos x="connsiteX1" y="connsiteY1"/>
              </a:cxn>
              <a:cxn ang="0">
                <a:pos x="connsiteX2" y="connsiteY2"/>
              </a:cxn>
              <a:cxn ang="0">
                <a:pos x="connsiteX3" y="connsiteY3"/>
              </a:cxn>
            </a:cxnLst>
            <a:rect l="l" t="t" r="r" b="b"/>
            <a:pathLst>
              <a:path w="75875" h="2144636" stroke="0" extrusionOk="0">
                <a:moveTo>
                  <a:pt x="0" y="0"/>
                </a:moveTo>
                <a:cubicBezTo>
                  <a:pt x="42231" y="260"/>
                  <a:pt x="75694" y="3473"/>
                  <a:pt x="75875" y="6323"/>
                </a:cubicBezTo>
                <a:cubicBezTo>
                  <a:pt x="36033" y="809005"/>
                  <a:pt x="117564" y="1463863"/>
                  <a:pt x="75875" y="2138313"/>
                </a:cubicBezTo>
                <a:cubicBezTo>
                  <a:pt x="75472" y="2141552"/>
                  <a:pt x="38285" y="2141821"/>
                  <a:pt x="0" y="2144636"/>
                </a:cubicBezTo>
                <a:cubicBezTo>
                  <a:pt x="132240" y="1282501"/>
                  <a:pt x="-92512" y="751834"/>
                  <a:pt x="0" y="0"/>
                </a:cubicBezTo>
                <a:close/>
              </a:path>
              <a:path w="75875" h="2144636" fill="none" extrusionOk="0">
                <a:moveTo>
                  <a:pt x="0" y="0"/>
                </a:moveTo>
                <a:cubicBezTo>
                  <a:pt x="42382" y="80"/>
                  <a:pt x="76249" y="3222"/>
                  <a:pt x="75875" y="6323"/>
                </a:cubicBezTo>
                <a:cubicBezTo>
                  <a:pt x="-24092" y="939947"/>
                  <a:pt x="-16176" y="1075997"/>
                  <a:pt x="75875" y="2138313"/>
                </a:cubicBezTo>
                <a:cubicBezTo>
                  <a:pt x="70834" y="2143479"/>
                  <a:pt x="44604" y="2144902"/>
                  <a:pt x="0" y="2144636"/>
                </a:cubicBezTo>
              </a:path>
              <a:path w="75875" h="2144636" fill="none" stroke="0" extrusionOk="0">
                <a:moveTo>
                  <a:pt x="0" y="0"/>
                </a:moveTo>
                <a:cubicBezTo>
                  <a:pt x="42098" y="-180"/>
                  <a:pt x="76088" y="3017"/>
                  <a:pt x="75875" y="6323"/>
                </a:cubicBezTo>
                <a:cubicBezTo>
                  <a:pt x="233756" y="726300"/>
                  <a:pt x="144075" y="1627586"/>
                  <a:pt x="75875" y="2138313"/>
                </a:cubicBezTo>
                <a:cubicBezTo>
                  <a:pt x="81323" y="2141035"/>
                  <a:pt x="43270" y="2142597"/>
                  <a:pt x="0" y="2144636"/>
                </a:cubicBezTo>
              </a:path>
            </a:pathLst>
          </a:custGeom>
          <a:ln w="19050">
            <a:solidFill>
              <a:schemeClr val="accent4"/>
            </a:solidFill>
            <a:extLst>
              <a:ext uri="{C807C97D-BFC1-408E-A445-0C87EB9F89A2}">
                <ask:lineSketchStyleProps xmlns:ask="http://schemas.microsoft.com/office/drawing/2018/sketchyshapes" sd="43512134">
                  <a:prstGeom prst="rightBracket">
                    <a:avLst/>
                  </a:prstGeom>
                  <ask:type>
                    <ask:lineSketchCurved/>
                  </ask:type>
                </ask:lineSketchStyleProps>
              </a:ext>
            </a:extLst>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379F5105-2867-CCBC-D635-B09EBEC74DE8}"/>
              </a:ext>
            </a:extLst>
          </p:cNvPr>
          <p:cNvSpPr txBox="1"/>
          <p:nvPr/>
        </p:nvSpPr>
        <p:spPr>
          <a:xfrm>
            <a:off x="8613397" y="3987244"/>
            <a:ext cx="1716014" cy="369332"/>
          </a:xfrm>
          <a:prstGeom prst="rect">
            <a:avLst/>
          </a:prstGeom>
          <a:solidFill>
            <a:srgbClr val="46877B"/>
          </a:solidFill>
        </p:spPr>
        <p:txBody>
          <a:bodyPr wrap="square">
            <a:spAutoFit/>
          </a:bodyPr>
          <a:lstStyle/>
          <a:p>
            <a:r>
              <a:rPr lang="en-US" altLang="ja-JP" b="1" dirty="0">
                <a:solidFill>
                  <a:schemeClr val="bg1"/>
                </a:solidFill>
                <a:latin typeface="游ゴシック" panose="020B0400000000000000" pitchFamily="50" charset="-128"/>
                <a:ea typeface="游ゴシック" panose="020B0400000000000000" pitchFamily="50" charset="-128"/>
              </a:rPr>
              <a:t> </a:t>
            </a:r>
            <a:r>
              <a:rPr lang="ja-JP" altLang="en-US" b="1" dirty="0">
                <a:solidFill>
                  <a:schemeClr val="bg1"/>
                </a:solidFill>
                <a:latin typeface="游ゴシック" panose="020B0400000000000000" pitchFamily="50" charset="-128"/>
                <a:ea typeface="游ゴシック" panose="020B0400000000000000" pitchFamily="50" charset="-128"/>
              </a:rPr>
              <a:t>何かの見出し</a:t>
            </a:r>
          </a:p>
        </p:txBody>
      </p:sp>
      <p:sp>
        <p:nvSpPr>
          <p:cNvPr id="36" name="フリーフォーム: 図形 35">
            <a:extLst>
              <a:ext uri="{FF2B5EF4-FFF2-40B4-BE49-F238E27FC236}">
                <a16:creationId xmlns:a16="http://schemas.microsoft.com/office/drawing/2014/main" id="{EFD584C9-55DF-601C-DC7A-86517FFDB48C}"/>
              </a:ext>
            </a:extLst>
          </p:cNvPr>
          <p:cNvSpPr/>
          <p:nvPr/>
        </p:nvSpPr>
        <p:spPr>
          <a:xfrm rot="2149832">
            <a:off x="1232946" y="5356494"/>
            <a:ext cx="1116215" cy="1248435"/>
          </a:xfrm>
          <a:custGeom>
            <a:avLst/>
            <a:gdLst>
              <a:gd name="connsiteX0" fmla="*/ 0 w 6381750"/>
              <a:gd name="connsiteY0" fmla="*/ 87460 h 350919"/>
              <a:gd name="connsiteX1" fmla="*/ 508000 w 6381750"/>
              <a:gd name="connsiteY1" fmla="*/ 258910 h 350919"/>
              <a:gd name="connsiteX2" fmla="*/ 908050 w 6381750"/>
              <a:gd name="connsiteY2" fmla="*/ 125560 h 350919"/>
              <a:gd name="connsiteX3" fmla="*/ 1314450 w 6381750"/>
              <a:gd name="connsiteY3" fmla="*/ 252560 h 350919"/>
              <a:gd name="connsiteX4" fmla="*/ 2032000 w 6381750"/>
              <a:gd name="connsiteY4" fmla="*/ 4910 h 350919"/>
              <a:gd name="connsiteX5" fmla="*/ 2635250 w 6381750"/>
              <a:gd name="connsiteY5" fmla="*/ 100160 h 350919"/>
              <a:gd name="connsiteX6" fmla="*/ 3943350 w 6381750"/>
              <a:gd name="connsiteY6" fmla="*/ 252560 h 350919"/>
              <a:gd name="connsiteX7" fmla="*/ 4648200 w 6381750"/>
              <a:gd name="connsiteY7" fmla="*/ 347810 h 350919"/>
              <a:gd name="connsiteX8" fmla="*/ 5308600 w 6381750"/>
              <a:gd name="connsiteY8" fmla="*/ 138260 h 350919"/>
              <a:gd name="connsiteX9" fmla="*/ 6381750 w 6381750"/>
              <a:gd name="connsiteY9" fmla="*/ 87460 h 350919"/>
              <a:gd name="connsiteX0" fmla="*/ 0 w 6381750"/>
              <a:gd name="connsiteY0" fmla="*/ 84727 h 347987"/>
              <a:gd name="connsiteX1" fmla="*/ 508000 w 6381750"/>
              <a:gd name="connsiteY1" fmla="*/ 256177 h 347987"/>
              <a:gd name="connsiteX2" fmla="*/ 908050 w 6381750"/>
              <a:gd name="connsiteY2" fmla="*/ 122827 h 347987"/>
              <a:gd name="connsiteX3" fmla="*/ 1314450 w 6381750"/>
              <a:gd name="connsiteY3" fmla="*/ 249827 h 347987"/>
              <a:gd name="connsiteX4" fmla="*/ 2032000 w 6381750"/>
              <a:gd name="connsiteY4" fmla="*/ 2177 h 347987"/>
              <a:gd name="connsiteX5" fmla="*/ 2876550 w 6381750"/>
              <a:gd name="connsiteY5" fmla="*/ 135527 h 347987"/>
              <a:gd name="connsiteX6" fmla="*/ 3943350 w 6381750"/>
              <a:gd name="connsiteY6" fmla="*/ 249827 h 347987"/>
              <a:gd name="connsiteX7" fmla="*/ 4648200 w 6381750"/>
              <a:gd name="connsiteY7" fmla="*/ 345077 h 347987"/>
              <a:gd name="connsiteX8" fmla="*/ 5308600 w 6381750"/>
              <a:gd name="connsiteY8" fmla="*/ 135527 h 347987"/>
              <a:gd name="connsiteX9" fmla="*/ 6381750 w 6381750"/>
              <a:gd name="connsiteY9" fmla="*/ 84727 h 347987"/>
              <a:gd name="connsiteX0" fmla="*/ 0 w 6381750"/>
              <a:gd name="connsiteY0" fmla="*/ 84727 h 347987"/>
              <a:gd name="connsiteX1" fmla="*/ 508000 w 6381750"/>
              <a:gd name="connsiteY1" fmla="*/ 256177 h 347987"/>
              <a:gd name="connsiteX2" fmla="*/ 908050 w 6381750"/>
              <a:gd name="connsiteY2" fmla="*/ 122827 h 347987"/>
              <a:gd name="connsiteX3" fmla="*/ 1314450 w 6381750"/>
              <a:gd name="connsiteY3" fmla="*/ 249827 h 347987"/>
              <a:gd name="connsiteX4" fmla="*/ 2032000 w 6381750"/>
              <a:gd name="connsiteY4" fmla="*/ 2177 h 347987"/>
              <a:gd name="connsiteX5" fmla="*/ 2876550 w 6381750"/>
              <a:gd name="connsiteY5" fmla="*/ 135527 h 347987"/>
              <a:gd name="connsiteX6" fmla="*/ 3943350 w 6381750"/>
              <a:gd name="connsiteY6" fmla="*/ 249827 h 347987"/>
              <a:gd name="connsiteX7" fmla="*/ 4648200 w 6381750"/>
              <a:gd name="connsiteY7" fmla="*/ 345077 h 347987"/>
              <a:gd name="connsiteX8" fmla="*/ 5308600 w 6381750"/>
              <a:gd name="connsiteY8" fmla="*/ 135527 h 347987"/>
              <a:gd name="connsiteX9" fmla="*/ 6381750 w 6381750"/>
              <a:gd name="connsiteY9" fmla="*/ 143994 h 347987"/>
              <a:gd name="connsiteX0" fmla="*/ 0 w 6381750"/>
              <a:gd name="connsiteY0" fmla="*/ 84727 h 347987"/>
              <a:gd name="connsiteX1" fmla="*/ 508000 w 6381750"/>
              <a:gd name="connsiteY1" fmla="*/ 256177 h 347987"/>
              <a:gd name="connsiteX2" fmla="*/ 908050 w 6381750"/>
              <a:gd name="connsiteY2" fmla="*/ 122827 h 347987"/>
              <a:gd name="connsiteX3" fmla="*/ 1314450 w 6381750"/>
              <a:gd name="connsiteY3" fmla="*/ 249827 h 347987"/>
              <a:gd name="connsiteX4" fmla="*/ 2032000 w 6381750"/>
              <a:gd name="connsiteY4" fmla="*/ 2177 h 347987"/>
              <a:gd name="connsiteX5" fmla="*/ 2876550 w 6381750"/>
              <a:gd name="connsiteY5" fmla="*/ 135527 h 347987"/>
              <a:gd name="connsiteX6" fmla="*/ 3943350 w 6381750"/>
              <a:gd name="connsiteY6" fmla="*/ 249827 h 347987"/>
              <a:gd name="connsiteX7" fmla="*/ 4648200 w 6381750"/>
              <a:gd name="connsiteY7" fmla="*/ 345077 h 347987"/>
              <a:gd name="connsiteX8" fmla="*/ 5308600 w 6381750"/>
              <a:gd name="connsiteY8" fmla="*/ 135527 h 347987"/>
              <a:gd name="connsiteX9" fmla="*/ 6381750 w 6381750"/>
              <a:gd name="connsiteY9" fmla="*/ 143994 h 347987"/>
              <a:gd name="connsiteX0" fmla="*/ 0 w 6381750"/>
              <a:gd name="connsiteY0" fmla="*/ 84727 h 347987"/>
              <a:gd name="connsiteX1" fmla="*/ 908050 w 6381750"/>
              <a:gd name="connsiteY1" fmla="*/ 122827 h 347987"/>
              <a:gd name="connsiteX2" fmla="*/ 1314450 w 6381750"/>
              <a:gd name="connsiteY2" fmla="*/ 249827 h 347987"/>
              <a:gd name="connsiteX3" fmla="*/ 2032000 w 6381750"/>
              <a:gd name="connsiteY3" fmla="*/ 2177 h 347987"/>
              <a:gd name="connsiteX4" fmla="*/ 2876550 w 6381750"/>
              <a:gd name="connsiteY4" fmla="*/ 135527 h 347987"/>
              <a:gd name="connsiteX5" fmla="*/ 3943350 w 6381750"/>
              <a:gd name="connsiteY5" fmla="*/ 249827 h 347987"/>
              <a:gd name="connsiteX6" fmla="*/ 4648200 w 6381750"/>
              <a:gd name="connsiteY6" fmla="*/ 345077 h 347987"/>
              <a:gd name="connsiteX7" fmla="*/ 5308600 w 6381750"/>
              <a:gd name="connsiteY7" fmla="*/ 135527 h 347987"/>
              <a:gd name="connsiteX8" fmla="*/ 6381750 w 6381750"/>
              <a:gd name="connsiteY8" fmla="*/ 143994 h 347987"/>
              <a:gd name="connsiteX0" fmla="*/ 0 w 6381750"/>
              <a:gd name="connsiteY0" fmla="*/ 84727 h 347987"/>
              <a:gd name="connsiteX1" fmla="*/ 1314450 w 6381750"/>
              <a:gd name="connsiteY1" fmla="*/ 249827 h 347987"/>
              <a:gd name="connsiteX2" fmla="*/ 2032000 w 6381750"/>
              <a:gd name="connsiteY2" fmla="*/ 2177 h 347987"/>
              <a:gd name="connsiteX3" fmla="*/ 2876550 w 6381750"/>
              <a:gd name="connsiteY3" fmla="*/ 135527 h 347987"/>
              <a:gd name="connsiteX4" fmla="*/ 3943350 w 6381750"/>
              <a:gd name="connsiteY4" fmla="*/ 249827 h 347987"/>
              <a:gd name="connsiteX5" fmla="*/ 4648200 w 6381750"/>
              <a:gd name="connsiteY5" fmla="*/ 345077 h 347987"/>
              <a:gd name="connsiteX6" fmla="*/ 5308600 w 6381750"/>
              <a:gd name="connsiteY6" fmla="*/ 135527 h 347987"/>
              <a:gd name="connsiteX7" fmla="*/ 6381750 w 6381750"/>
              <a:gd name="connsiteY7" fmla="*/ 143994 h 347987"/>
              <a:gd name="connsiteX0" fmla="*/ 0 w 6381750"/>
              <a:gd name="connsiteY0" fmla="*/ 83224 h 346484"/>
              <a:gd name="connsiteX1" fmla="*/ 2032000 w 6381750"/>
              <a:gd name="connsiteY1" fmla="*/ 674 h 346484"/>
              <a:gd name="connsiteX2" fmla="*/ 2876550 w 6381750"/>
              <a:gd name="connsiteY2" fmla="*/ 134024 h 346484"/>
              <a:gd name="connsiteX3" fmla="*/ 3943350 w 6381750"/>
              <a:gd name="connsiteY3" fmla="*/ 248324 h 346484"/>
              <a:gd name="connsiteX4" fmla="*/ 4648200 w 6381750"/>
              <a:gd name="connsiteY4" fmla="*/ 343574 h 346484"/>
              <a:gd name="connsiteX5" fmla="*/ 5308600 w 6381750"/>
              <a:gd name="connsiteY5" fmla="*/ 134024 h 346484"/>
              <a:gd name="connsiteX6" fmla="*/ 6381750 w 6381750"/>
              <a:gd name="connsiteY6" fmla="*/ 142491 h 346484"/>
              <a:gd name="connsiteX0" fmla="*/ 0 w 6381750"/>
              <a:gd name="connsiteY0" fmla="*/ 0 h 263260"/>
              <a:gd name="connsiteX1" fmla="*/ 2876550 w 6381750"/>
              <a:gd name="connsiteY1" fmla="*/ 50800 h 263260"/>
              <a:gd name="connsiteX2" fmla="*/ 3943350 w 6381750"/>
              <a:gd name="connsiteY2" fmla="*/ 165100 h 263260"/>
              <a:gd name="connsiteX3" fmla="*/ 4648200 w 6381750"/>
              <a:gd name="connsiteY3" fmla="*/ 260350 h 263260"/>
              <a:gd name="connsiteX4" fmla="*/ 5308600 w 6381750"/>
              <a:gd name="connsiteY4" fmla="*/ 50800 h 263260"/>
              <a:gd name="connsiteX5" fmla="*/ 6381750 w 6381750"/>
              <a:gd name="connsiteY5" fmla="*/ 59267 h 263260"/>
              <a:gd name="connsiteX0" fmla="*/ 0 w 6381750"/>
              <a:gd name="connsiteY0" fmla="*/ 0 h 263260"/>
              <a:gd name="connsiteX1" fmla="*/ 3943350 w 6381750"/>
              <a:gd name="connsiteY1" fmla="*/ 165100 h 263260"/>
              <a:gd name="connsiteX2" fmla="*/ 4648200 w 6381750"/>
              <a:gd name="connsiteY2" fmla="*/ 260350 h 263260"/>
              <a:gd name="connsiteX3" fmla="*/ 5308600 w 6381750"/>
              <a:gd name="connsiteY3" fmla="*/ 50800 h 263260"/>
              <a:gd name="connsiteX4" fmla="*/ 6381750 w 6381750"/>
              <a:gd name="connsiteY4" fmla="*/ 59267 h 263260"/>
              <a:gd name="connsiteX0" fmla="*/ 0 w 6381750"/>
              <a:gd name="connsiteY0" fmla="*/ 0 h 260350"/>
              <a:gd name="connsiteX1" fmla="*/ 4648200 w 6381750"/>
              <a:gd name="connsiteY1" fmla="*/ 260350 h 260350"/>
              <a:gd name="connsiteX2" fmla="*/ 5308600 w 6381750"/>
              <a:gd name="connsiteY2" fmla="*/ 50800 h 260350"/>
              <a:gd name="connsiteX3" fmla="*/ 6381750 w 6381750"/>
              <a:gd name="connsiteY3" fmla="*/ 59267 h 260350"/>
              <a:gd name="connsiteX0" fmla="*/ 0 w 6381750"/>
              <a:gd name="connsiteY0" fmla="*/ 0 h 59267"/>
              <a:gd name="connsiteX1" fmla="*/ 5308600 w 6381750"/>
              <a:gd name="connsiteY1" fmla="*/ 50800 h 59267"/>
              <a:gd name="connsiteX2" fmla="*/ 6381750 w 6381750"/>
              <a:gd name="connsiteY2" fmla="*/ 59267 h 59267"/>
              <a:gd name="connsiteX0" fmla="*/ 0 w 6381750"/>
              <a:gd name="connsiteY0" fmla="*/ 0 h 1124584"/>
              <a:gd name="connsiteX1" fmla="*/ 4528057 w 6381750"/>
              <a:gd name="connsiteY1" fmla="*/ 1124584 h 1124584"/>
              <a:gd name="connsiteX2" fmla="*/ 6381750 w 6381750"/>
              <a:gd name="connsiteY2" fmla="*/ 59267 h 1124584"/>
              <a:gd name="connsiteX0" fmla="*/ 0 w 3161177"/>
              <a:gd name="connsiteY0" fmla="*/ 2112889 h 2112889"/>
              <a:gd name="connsiteX1" fmla="*/ 1307484 w 3161177"/>
              <a:gd name="connsiteY1" fmla="*/ 1067394 h 2112889"/>
              <a:gd name="connsiteX2" fmla="*/ 3161177 w 3161177"/>
              <a:gd name="connsiteY2" fmla="*/ 2077 h 2112889"/>
              <a:gd name="connsiteX0" fmla="*/ 0 w 3161177"/>
              <a:gd name="connsiteY0" fmla="*/ 2110812 h 2110812"/>
              <a:gd name="connsiteX1" fmla="*/ 3161177 w 3161177"/>
              <a:gd name="connsiteY1" fmla="*/ 0 h 2110812"/>
              <a:gd name="connsiteX0" fmla="*/ 0 w 1482258"/>
              <a:gd name="connsiteY0" fmla="*/ 903680 h 903680"/>
              <a:gd name="connsiteX1" fmla="*/ 1482258 w 1482258"/>
              <a:gd name="connsiteY1" fmla="*/ 0 h 903680"/>
            </a:gdLst>
            <a:ahLst/>
            <a:cxnLst>
              <a:cxn ang="0">
                <a:pos x="connsiteX0" y="connsiteY0"/>
              </a:cxn>
              <a:cxn ang="0">
                <a:pos x="connsiteX1" y="connsiteY1"/>
              </a:cxn>
            </a:cxnLst>
            <a:rect l="l" t="t" r="r" b="b"/>
            <a:pathLst>
              <a:path w="1482258" h="903680">
                <a:moveTo>
                  <a:pt x="0" y="903680"/>
                </a:moveTo>
                <a:lnTo>
                  <a:pt x="1482258" y="0"/>
                </a:lnTo>
              </a:path>
            </a:pathLst>
          </a:custGeom>
          <a:noFill/>
          <a:ln w="57150">
            <a:solidFill>
              <a:schemeClr val="accent2"/>
            </a:solidFill>
            <a:tailEnd type="triangle"/>
          </a:ln>
          <a:effectLst>
            <a:glow rad="63500">
              <a:schemeClr val="accent2">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4" name="矢印: 右 43">
            <a:extLst>
              <a:ext uri="{FF2B5EF4-FFF2-40B4-BE49-F238E27FC236}">
                <a16:creationId xmlns:a16="http://schemas.microsoft.com/office/drawing/2014/main" id="{0A2734DE-E047-CC2D-F3E2-E701DEBB69AE}"/>
              </a:ext>
            </a:extLst>
          </p:cNvPr>
          <p:cNvSpPr/>
          <p:nvPr/>
        </p:nvSpPr>
        <p:spPr>
          <a:xfrm>
            <a:off x="3724405" y="5310395"/>
            <a:ext cx="1797864" cy="1126627"/>
          </a:xfrm>
          <a:custGeom>
            <a:avLst/>
            <a:gdLst>
              <a:gd name="connsiteX0" fmla="*/ 0 w 1797864"/>
              <a:gd name="connsiteY0" fmla="*/ 281657 h 1126627"/>
              <a:gd name="connsiteX1" fmla="*/ 1234551 w 1797864"/>
              <a:gd name="connsiteY1" fmla="*/ 281657 h 1126627"/>
              <a:gd name="connsiteX2" fmla="*/ 1234551 w 1797864"/>
              <a:gd name="connsiteY2" fmla="*/ 0 h 1126627"/>
              <a:gd name="connsiteX3" fmla="*/ 1797864 w 1797864"/>
              <a:gd name="connsiteY3" fmla="*/ 563314 h 1126627"/>
              <a:gd name="connsiteX4" fmla="*/ 1234551 w 1797864"/>
              <a:gd name="connsiteY4" fmla="*/ 1126627 h 1126627"/>
              <a:gd name="connsiteX5" fmla="*/ 1234551 w 1797864"/>
              <a:gd name="connsiteY5" fmla="*/ 844970 h 1126627"/>
              <a:gd name="connsiteX6" fmla="*/ 0 w 1797864"/>
              <a:gd name="connsiteY6" fmla="*/ 844970 h 1126627"/>
              <a:gd name="connsiteX7" fmla="*/ 0 w 1797864"/>
              <a:gd name="connsiteY7" fmla="*/ 281657 h 1126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97864" h="1126627" fill="none" extrusionOk="0">
                <a:moveTo>
                  <a:pt x="0" y="281657"/>
                </a:moveTo>
                <a:cubicBezTo>
                  <a:pt x="441140" y="341876"/>
                  <a:pt x="815292" y="313239"/>
                  <a:pt x="1234551" y="281657"/>
                </a:cubicBezTo>
                <a:cubicBezTo>
                  <a:pt x="1258466" y="194755"/>
                  <a:pt x="1214082" y="130057"/>
                  <a:pt x="1234551" y="0"/>
                </a:cubicBezTo>
                <a:cubicBezTo>
                  <a:pt x="1321461" y="170749"/>
                  <a:pt x="1683272" y="515097"/>
                  <a:pt x="1797864" y="563314"/>
                </a:cubicBezTo>
                <a:cubicBezTo>
                  <a:pt x="1683170" y="648249"/>
                  <a:pt x="1372263" y="1063564"/>
                  <a:pt x="1234551" y="1126627"/>
                </a:cubicBezTo>
                <a:cubicBezTo>
                  <a:pt x="1228919" y="1080683"/>
                  <a:pt x="1223293" y="925170"/>
                  <a:pt x="1234551" y="844970"/>
                </a:cubicBezTo>
                <a:cubicBezTo>
                  <a:pt x="625859" y="796345"/>
                  <a:pt x="503036" y="798970"/>
                  <a:pt x="0" y="844970"/>
                </a:cubicBezTo>
                <a:cubicBezTo>
                  <a:pt x="12149" y="711576"/>
                  <a:pt x="-34350" y="429484"/>
                  <a:pt x="0" y="281657"/>
                </a:cubicBezTo>
                <a:close/>
              </a:path>
              <a:path w="1797864" h="1126627" stroke="0" extrusionOk="0">
                <a:moveTo>
                  <a:pt x="0" y="281657"/>
                </a:moveTo>
                <a:cubicBezTo>
                  <a:pt x="501690" y="291445"/>
                  <a:pt x="664348" y="302673"/>
                  <a:pt x="1234551" y="281657"/>
                </a:cubicBezTo>
                <a:cubicBezTo>
                  <a:pt x="1244995" y="149561"/>
                  <a:pt x="1246456" y="46048"/>
                  <a:pt x="1234551" y="0"/>
                </a:cubicBezTo>
                <a:cubicBezTo>
                  <a:pt x="1416517" y="201720"/>
                  <a:pt x="1516224" y="323140"/>
                  <a:pt x="1797864" y="563314"/>
                </a:cubicBezTo>
                <a:cubicBezTo>
                  <a:pt x="1604474" y="781173"/>
                  <a:pt x="1263864" y="996785"/>
                  <a:pt x="1234551" y="1126627"/>
                </a:cubicBezTo>
                <a:cubicBezTo>
                  <a:pt x="1244859" y="1090226"/>
                  <a:pt x="1246547" y="961132"/>
                  <a:pt x="1234551" y="844970"/>
                </a:cubicBezTo>
                <a:cubicBezTo>
                  <a:pt x="826782" y="735023"/>
                  <a:pt x="170652" y="758181"/>
                  <a:pt x="0" y="844970"/>
                </a:cubicBezTo>
                <a:cubicBezTo>
                  <a:pt x="-923" y="604596"/>
                  <a:pt x="-16096" y="399535"/>
                  <a:pt x="0" y="281657"/>
                </a:cubicBezTo>
                <a:close/>
              </a:path>
            </a:pathLst>
          </a:custGeom>
          <a:solidFill>
            <a:schemeClr val="accent4"/>
          </a:solidFill>
          <a:ln>
            <a:solidFill>
              <a:schemeClr val="accent4"/>
            </a:solidFill>
            <a:extLst>
              <a:ext uri="{C807C97D-BFC1-408E-A445-0C87EB9F89A2}">
                <ask:lineSketchStyleProps xmlns:ask="http://schemas.microsoft.com/office/drawing/2018/sketchyshapes" sd="3864781296">
                  <a:prstGeom prst="rightArrow">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フリーフォーム: 図形 45">
            <a:extLst>
              <a:ext uri="{FF2B5EF4-FFF2-40B4-BE49-F238E27FC236}">
                <a16:creationId xmlns:a16="http://schemas.microsoft.com/office/drawing/2014/main" id="{6C0FD5AB-5B5F-7AA0-6FBC-206214218608}"/>
              </a:ext>
            </a:extLst>
          </p:cNvPr>
          <p:cNvSpPr/>
          <p:nvPr/>
        </p:nvSpPr>
        <p:spPr>
          <a:xfrm>
            <a:off x="529301" y="2977937"/>
            <a:ext cx="2457450" cy="553401"/>
          </a:xfrm>
          <a:custGeom>
            <a:avLst/>
            <a:gdLst>
              <a:gd name="connsiteX0" fmla="*/ 0 w 2457450"/>
              <a:gd name="connsiteY0" fmla="*/ 553401 h 553401"/>
              <a:gd name="connsiteX1" fmla="*/ 1066800 w 2457450"/>
              <a:gd name="connsiteY1" fmla="*/ 48576 h 553401"/>
              <a:gd name="connsiteX2" fmla="*/ 2457450 w 2457450"/>
              <a:gd name="connsiteY2" fmla="*/ 48576 h 553401"/>
            </a:gdLst>
            <a:ahLst/>
            <a:cxnLst>
              <a:cxn ang="0">
                <a:pos x="connsiteX0" y="connsiteY0"/>
              </a:cxn>
              <a:cxn ang="0">
                <a:pos x="connsiteX1" y="connsiteY1"/>
              </a:cxn>
              <a:cxn ang="0">
                <a:pos x="connsiteX2" y="connsiteY2"/>
              </a:cxn>
            </a:cxnLst>
            <a:rect l="l" t="t" r="r" b="b"/>
            <a:pathLst>
              <a:path w="2457450" h="553401">
                <a:moveTo>
                  <a:pt x="0" y="553401"/>
                </a:moveTo>
                <a:cubicBezTo>
                  <a:pt x="328612" y="343057"/>
                  <a:pt x="657225" y="132713"/>
                  <a:pt x="1066800" y="48576"/>
                </a:cubicBezTo>
                <a:cubicBezTo>
                  <a:pt x="1476375" y="-35561"/>
                  <a:pt x="1966912" y="6507"/>
                  <a:pt x="2457450" y="48576"/>
                </a:cubicBezTo>
              </a:path>
            </a:pathLst>
          </a:custGeom>
          <a:noFill/>
          <a:ln w="38100">
            <a:solidFill>
              <a:schemeClr val="accent4"/>
            </a:solidFill>
            <a:headEnd type="none" w="med" len="med"/>
            <a:tailEnd type="triangle" w="med" len="med"/>
          </a:ln>
          <a:effectLst>
            <a:glow rad="152400">
              <a:schemeClr val="bg1"/>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9" name="グループ化 8">
            <a:extLst>
              <a:ext uri="{FF2B5EF4-FFF2-40B4-BE49-F238E27FC236}">
                <a16:creationId xmlns:a16="http://schemas.microsoft.com/office/drawing/2014/main" id="{79366D17-C6F6-2F7E-0C8E-D7CA4265F094}"/>
              </a:ext>
            </a:extLst>
          </p:cNvPr>
          <p:cNvGrpSpPr/>
          <p:nvPr/>
        </p:nvGrpSpPr>
        <p:grpSpPr>
          <a:xfrm>
            <a:off x="7701975" y="5031844"/>
            <a:ext cx="866523" cy="923145"/>
            <a:chOff x="5897144" y="3284788"/>
            <a:chExt cx="866523" cy="923145"/>
          </a:xfrm>
        </p:grpSpPr>
        <p:sp>
          <p:nvSpPr>
            <p:cNvPr id="47" name="フリーフォーム: 図形 46">
              <a:extLst>
                <a:ext uri="{FF2B5EF4-FFF2-40B4-BE49-F238E27FC236}">
                  <a16:creationId xmlns:a16="http://schemas.microsoft.com/office/drawing/2014/main" id="{128A1380-4083-A4AF-A9AF-53345AAABDF1}"/>
                </a:ext>
              </a:extLst>
            </p:cNvPr>
            <p:cNvSpPr/>
            <p:nvPr/>
          </p:nvSpPr>
          <p:spPr>
            <a:xfrm>
              <a:off x="5897698" y="3332166"/>
              <a:ext cx="842754" cy="500765"/>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フリーフォーム: 図形 47">
              <a:extLst>
                <a:ext uri="{FF2B5EF4-FFF2-40B4-BE49-F238E27FC236}">
                  <a16:creationId xmlns:a16="http://schemas.microsoft.com/office/drawing/2014/main" id="{0F60FF85-8B94-7CA7-28BD-EE9A8905975E}"/>
                </a:ext>
              </a:extLst>
            </p:cNvPr>
            <p:cNvSpPr/>
            <p:nvPr/>
          </p:nvSpPr>
          <p:spPr>
            <a:xfrm rot="4964407">
              <a:off x="5961743" y="3402000"/>
              <a:ext cx="777334" cy="542909"/>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フリーフォーム: 図形 48">
              <a:extLst>
                <a:ext uri="{FF2B5EF4-FFF2-40B4-BE49-F238E27FC236}">
                  <a16:creationId xmlns:a16="http://schemas.microsoft.com/office/drawing/2014/main" id="{C44C3672-6F4A-8A28-B2E1-FDAAD4B9653C}"/>
                </a:ext>
              </a:extLst>
            </p:cNvPr>
            <p:cNvSpPr/>
            <p:nvPr/>
          </p:nvSpPr>
          <p:spPr>
            <a:xfrm rot="8884375">
              <a:off x="5897144" y="3395723"/>
              <a:ext cx="842754" cy="500765"/>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フリーフォーム: 図形 49">
              <a:extLst>
                <a:ext uri="{FF2B5EF4-FFF2-40B4-BE49-F238E27FC236}">
                  <a16:creationId xmlns:a16="http://schemas.microsoft.com/office/drawing/2014/main" id="{21E955EA-67B5-7ECC-CB8F-3C3E4686AE8A}"/>
                </a:ext>
              </a:extLst>
            </p:cNvPr>
            <p:cNvSpPr/>
            <p:nvPr/>
          </p:nvSpPr>
          <p:spPr>
            <a:xfrm rot="12451915">
              <a:off x="5920913" y="3415024"/>
              <a:ext cx="842754" cy="500765"/>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フリーフォーム: 図形 50">
              <a:extLst>
                <a:ext uri="{FF2B5EF4-FFF2-40B4-BE49-F238E27FC236}">
                  <a16:creationId xmlns:a16="http://schemas.microsoft.com/office/drawing/2014/main" id="{BDF494D2-1DAE-AEB3-A146-38DB5558CB4C}"/>
                </a:ext>
              </a:extLst>
            </p:cNvPr>
            <p:cNvSpPr/>
            <p:nvPr/>
          </p:nvSpPr>
          <p:spPr>
            <a:xfrm rot="15479593">
              <a:off x="5960037" y="3712865"/>
              <a:ext cx="777334" cy="212802"/>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17990791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DA62966E-E008-9DDC-DD95-31FEDECDAB7B}"/>
              </a:ext>
            </a:extLst>
          </p:cNvPr>
          <p:cNvSpPr>
            <a:spLocks noGrp="1"/>
          </p:cNvSpPr>
          <p:nvPr>
            <p:ph type="body" sz="quarter" idx="11"/>
          </p:nvPr>
        </p:nvSpPr>
        <p:spPr/>
        <p:txBody>
          <a:bodyPr>
            <a:normAutofit/>
          </a:bodyPr>
          <a:lstStyle/>
          <a:p>
            <a:r>
              <a:rPr kumimoji="1" lang="ja-JP" altLang="en-US" dirty="0"/>
              <a:t>良く使う図形パターン</a:t>
            </a:r>
          </a:p>
        </p:txBody>
      </p:sp>
      <p:grpSp>
        <p:nvGrpSpPr>
          <p:cNvPr id="24" name="グループ化 23">
            <a:extLst>
              <a:ext uri="{FF2B5EF4-FFF2-40B4-BE49-F238E27FC236}">
                <a16:creationId xmlns:a16="http://schemas.microsoft.com/office/drawing/2014/main" id="{29108725-9831-27F9-3FD3-71FC27129266}"/>
              </a:ext>
            </a:extLst>
          </p:cNvPr>
          <p:cNvGrpSpPr/>
          <p:nvPr/>
        </p:nvGrpSpPr>
        <p:grpSpPr>
          <a:xfrm>
            <a:off x="616017" y="1348268"/>
            <a:ext cx="6533120" cy="4938925"/>
            <a:chOff x="0" y="1396394"/>
            <a:chExt cx="6533120" cy="4938925"/>
          </a:xfrm>
        </p:grpSpPr>
        <p:sp>
          <p:nvSpPr>
            <p:cNvPr id="5" name="楕円 4">
              <a:extLst>
                <a:ext uri="{FF2B5EF4-FFF2-40B4-BE49-F238E27FC236}">
                  <a16:creationId xmlns:a16="http://schemas.microsoft.com/office/drawing/2014/main" id="{A0811D00-B639-7D58-D363-8290AD29E62C}"/>
                </a:ext>
              </a:extLst>
            </p:cNvPr>
            <p:cNvSpPr/>
            <p:nvPr/>
          </p:nvSpPr>
          <p:spPr>
            <a:xfrm>
              <a:off x="2173905" y="1396394"/>
              <a:ext cx="2232000" cy="2232000"/>
            </a:xfrm>
            <a:prstGeom prst="ellipse">
              <a:avLst/>
            </a:prstGeom>
            <a:solidFill>
              <a:schemeClr val="accent4"/>
            </a:solidFill>
            <a:ln>
              <a:solidFill>
                <a:schemeClr val="accent4"/>
              </a:solidFill>
              <a:extLst>
                <a:ext uri="{C807C97D-BFC1-408E-A445-0C87EB9F89A2}">
                  <ask:lineSketchStyleProps xmlns:ask="http://schemas.microsoft.com/office/drawing/2018/sketchyshapes" sd="138476517">
                    <a:custGeom>
                      <a:avLst/>
                      <a:gdLst>
                        <a:gd name="connsiteX0" fmla="*/ 0 w 2396691"/>
                        <a:gd name="connsiteY0" fmla="*/ 1176574 h 2353148"/>
                        <a:gd name="connsiteX1" fmla="*/ 1198346 w 2396691"/>
                        <a:gd name="connsiteY1" fmla="*/ 0 h 2353148"/>
                        <a:gd name="connsiteX2" fmla="*/ 2396692 w 2396691"/>
                        <a:gd name="connsiteY2" fmla="*/ 1176574 h 2353148"/>
                        <a:gd name="connsiteX3" fmla="*/ 1198346 w 2396691"/>
                        <a:gd name="connsiteY3" fmla="*/ 2353148 h 2353148"/>
                        <a:gd name="connsiteX4" fmla="*/ 0 w 2396691"/>
                        <a:gd name="connsiteY4" fmla="*/ 1176574 h 2353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6691" h="2353148" fill="none" extrusionOk="0">
                          <a:moveTo>
                            <a:pt x="0" y="1176574"/>
                          </a:moveTo>
                          <a:cubicBezTo>
                            <a:pt x="17053" y="544093"/>
                            <a:pt x="596455" y="78735"/>
                            <a:pt x="1198346" y="0"/>
                          </a:cubicBezTo>
                          <a:cubicBezTo>
                            <a:pt x="1834464" y="-42937"/>
                            <a:pt x="2341220" y="491711"/>
                            <a:pt x="2396692" y="1176574"/>
                          </a:cubicBezTo>
                          <a:cubicBezTo>
                            <a:pt x="2434753" y="1879535"/>
                            <a:pt x="1880410" y="2333741"/>
                            <a:pt x="1198346" y="2353148"/>
                          </a:cubicBezTo>
                          <a:cubicBezTo>
                            <a:pt x="503664" y="2298627"/>
                            <a:pt x="14412" y="1848257"/>
                            <a:pt x="0" y="1176574"/>
                          </a:cubicBezTo>
                          <a:close/>
                        </a:path>
                        <a:path w="2396691" h="2353148" stroke="0" extrusionOk="0">
                          <a:moveTo>
                            <a:pt x="0" y="1176574"/>
                          </a:moveTo>
                          <a:cubicBezTo>
                            <a:pt x="22017" y="512503"/>
                            <a:pt x="554245" y="-126587"/>
                            <a:pt x="1198346" y="0"/>
                          </a:cubicBezTo>
                          <a:cubicBezTo>
                            <a:pt x="1782464" y="-71399"/>
                            <a:pt x="2410063" y="501058"/>
                            <a:pt x="2396692" y="1176574"/>
                          </a:cubicBezTo>
                          <a:cubicBezTo>
                            <a:pt x="2422326" y="1889440"/>
                            <a:pt x="1843165" y="2478575"/>
                            <a:pt x="1198346" y="2353148"/>
                          </a:cubicBezTo>
                          <a:cubicBezTo>
                            <a:pt x="488789" y="2321300"/>
                            <a:pt x="-48884" y="1872731"/>
                            <a:pt x="0" y="1176574"/>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CEE3C2FA-C4E2-9188-98AB-D6750654E01E}"/>
                </a:ext>
              </a:extLst>
            </p:cNvPr>
            <p:cNvSpPr txBox="1"/>
            <p:nvPr/>
          </p:nvSpPr>
          <p:spPr>
            <a:xfrm>
              <a:off x="2139601" y="1944955"/>
              <a:ext cx="2396691" cy="954107"/>
            </a:xfrm>
            <a:prstGeom prst="rect">
              <a:avLst/>
            </a:prstGeom>
            <a:noFill/>
          </p:spPr>
          <p:txBody>
            <a:bodyPr wrap="square" rtlCol="0">
              <a:spAutoFit/>
            </a:bodyPr>
            <a:lstStyle/>
            <a:p>
              <a:pPr algn="ctr"/>
              <a:r>
                <a:rPr lang="ja-JP" altLang="en-US" sz="2800" b="1" dirty="0">
                  <a:solidFill>
                    <a:schemeClr val="bg1"/>
                  </a:solidFill>
                  <a:latin typeface="游ゴシック" panose="020B0400000000000000" pitchFamily="50" charset="-128"/>
                  <a:ea typeface="游ゴシック" panose="020B0400000000000000" pitchFamily="50" charset="-128"/>
                </a:rPr>
                <a:t>①</a:t>
              </a:r>
              <a:endParaRPr lang="en-US" altLang="ja-JP" sz="2800" b="1" dirty="0">
                <a:solidFill>
                  <a:schemeClr val="bg1"/>
                </a:solidFill>
                <a:latin typeface="游ゴシック" panose="020B0400000000000000" pitchFamily="50" charset="-128"/>
                <a:ea typeface="游ゴシック" panose="020B0400000000000000" pitchFamily="50" charset="-128"/>
              </a:endParaRPr>
            </a:p>
            <a:p>
              <a:pPr algn="ctr"/>
              <a:r>
                <a:rPr lang="ja-JP" altLang="en-US" sz="2800" b="1" dirty="0">
                  <a:solidFill>
                    <a:schemeClr val="bg1"/>
                  </a:solidFill>
                  <a:latin typeface="游ゴシック" panose="020B0400000000000000" pitchFamily="50" charset="-128"/>
                  <a:ea typeface="游ゴシック" panose="020B0400000000000000" pitchFamily="50" charset="-128"/>
                </a:rPr>
                <a:t>ひとつめ</a:t>
              </a:r>
              <a:endParaRPr kumimoji="1" lang="ja-JP" altLang="en-US" sz="2800" b="1" dirty="0">
                <a:solidFill>
                  <a:schemeClr val="bg1"/>
                </a:solidFill>
                <a:latin typeface="游ゴシック" panose="020B0400000000000000" pitchFamily="50" charset="-128"/>
                <a:ea typeface="游ゴシック" panose="020B0400000000000000" pitchFamily="50" charset="-128"/>
              </a:endParaRPr>
            </a:p>
          </p:txBody>
        </p:sp>
        <p:sp>
          <p:nvSpPr>
            <p:cNvPr id="7" name="楕円 6">
              <a:extLst>
                <a:ext uri="{FF2B5EF4-FFF2-40B4-BE49-F238E27FC236}">
                  <a16:creationId xmlns:a16="http://schemas.microsoft.com/office/drawing/2014/main" id="{F600B182-1E03-FE3F-38CF-BE77E0F38AC6}"/>
                </a:ext>
              </a:extLst>
            </p:cNvPr>
            <p:cNvSpPr/>
            <p:nvPr/>
          </p:nvSpPr>
          <p:spPr>
            <a:xfrm>
              <a:off x="815779" y="3666494"/>
              <a:ext cx="2232000" cy="2232000"/>
            </a:xfrm>
            <a:prstGeom prst="ellipse">
              <a:avLst/>
            </a:prstGeom>
            <a:solidFill>
              <a:schemeClr val="accent4"/>
            </a:solidFill>
            <a:ln>
              <a:solidFill>
                <a:schemeClr val="accent4"/>
              </a:solidFill>
              <a:extLst>
                <a:ext uri="{C807C97D-BFC1-408E-A445-0C87EB9F89A2}">
                  <ask:lineSketchStyleProps xmlns:ask="http://schemas.microsoft.com/office/drawing/2018/sketchyshapes" sd="138476517">
                    <a:custGeom>
                      <a:avLst/>
                      <a:gdLst>
                        <a:gd name="connsiteX0" fmla="*/ 0 w 2396691"/>
                        <a:gd name="connsiteY0" fmla="*/ 1176574 h 2353148"/>
                        <a:gd name="connsiteX1" fmla="*/ 1198346 w 2396691"/>
                        <a:gd name="connsiteY1" fmla="*/ 0 h 2353148"/>
                        <a:gd name="connsiteX2" fmla="*/ 2396692 w 2396691"/>
                        <a:gd name="connsiteY2" fmla="*/ 1176574 h 2353148"/>
                        <a:gd name="connsiteX3" fmla="*/ 1198346 w 2396691"/>
                        <a:gd name="connsiteY3" fmla="*/ 2353148 h 2353148"/>
                        <a:gd name="connsiteX4" fmla="*/ 0 w 2396691"/>
                        <a:gd name="connsiteY4" fmla="*/ 1176574 h 2353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6691" h="2353148" fill="none" extrusionOk="0">
                          <a:moveTo>
                            <a:pt x="0" y="1176574"/>
                          </a:moveTo>
                          <a:cubicBezTo>
                            <a:pt x="17053" y="544093"/>
                            <a:pt x="596455" y="78735"/>
                            <a:pt x="1198346" y="0"/>
                          </a:cubicBezTo>
                          <a:cubicBezTo>
                            <a:pt x="1834464" y="-42937"/>
                            <a:pt x="2341220" y="491711"/>
                            <a:pt x="2396692" y="1176574"/>
                          </a:cubicBezTo>
                          <a:cubicBezTo>
                            <a:pt x="2434753" y="1879535"/>
                            <a:pt x="1880410" y="2333741"/>
                            <a:pt x="1198346" y="2353148"/>
                          </a:cubicBezTo>
                          <a:cubicBezTo>
                            <a:pt x="503664" y="2298627"/>
                            <a:pt x="14412" y="1848257"/>
                            <a:pt x="0" y="1176574"/>
                          </a:cubicBezTo>
                          <a:close/>
                        </a:path>
                        <a:path w="2396691" h="2353148" stroke="0" extrusionOk="0">
                          <a:moveTo>
                            <a:pt x="0" y="1176574"/>
                          </a:moveTo>
                          <a:cubicBezTo>
                            <a:pt x="22017" y="512503"/>
                            <a:pt x="554245" y="-126587"/>
                            <a:pt x="1198346" y="0"/>
                          </a:cubicBezTo>
                          <a:cubicBezTo>
                            <a:pt x="1782464" y="-71399"/>
                            <a:pt x="2410063" y="501058"/>
                            <a:pt x="2396692" y="1176574"/>
                          </a:cubicBezTo>
                          <a:cubicBezTo>
                            <a:pt x="2422326" y="1889440"/>
                            <a:pt x="1843165" y="2478575"/>
                            <a:pt x="1198346" y="2353148"/>
                          </a:cubicBezTo>
                          <a:cubicBezTo>
                            <a:pt x="488789" y="2321300"/>
                            <a:pt x="-48884" y="1872731"/>
                            <a:pt x="0" y="1176574"/>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 name="テキスト ボックス 7">
              <a:extLst>
                <a:ext uri="{FF2B5EF4-FFF2-40B4-BE49-F238E27FC236}">
                  <a16:creationId xmlns:a16="http://schemas.microsoft.com/office/drawing/2014/main" id="{80636C0C-4196-FBC8-E6B1-2A2B6B9C99B7}"/>
                </a:ext>
              </a:extLst>
            </p:cNvPr>
            <p:cNvSpPr txBox="1"/>
            <p:nvPr/>
          </p:nvSpPr>
          <p:spPr>
            <a:xfrm>
              <a:off x="733433" y="4231597"/>
              <a:ext cx="2396691" cy="954107"/>
            </a:xfrm>
            <a:prstGeom prst="rect">
              <a:avLst/>
            </a:prstGeom>
            <a:noFill/>
          </p:spPr>
          <p:txBody>
            <a:bodyPr wrap="square" rtlCol="0">
              <a:spAutoFit/>
            </a:bodyPr>
            <a:lstStyle/>
            <a:p>
              <a:pPr algn="ctr"/>
              <a:r>
                <a:rPr lang="ja-JP" altLang="en-US" sz="2800" b="1" dirty="0">
                  <a:solidFill>
                    <a:schemeClr val="bg1"/>
                  </a:solidFill>
                  <a:latin typeface="游ゴシック" panose="020B0400000000000000" pitchFamily="50" charset="-128"/>
                  <a:ea typeface="游ゴシック" panose="020B0400000000000000" pitchFamily="50" charset="-128"/>
                </a:rPr>
                <a:t>③</a:t>
              </a:r>
              <a:endParaRPr lang="en-US" altLang="ja-JP" sz="2800" b="1" dirty="0">
                <a:solidFill>
                  <a:schemeClr val="bg1"/>
                </a:solidFill>
                <a:latin typeface="游ゴシック" panose="020B0400000000000000" pitchFamily="50" charset="-128"/>
                <a:ea typeface="游ゴシック" panose="020B0400000000000000" pitchFamily="50" charset="-128"/>
              </a:endParaRPr>
            </a:p>
            <a:p>
              <a:pPr algn="ctr"/>
              <a:r>
                <a:rPr lang="ja-JP" altLang="en-US" sz="2800" b="1" dirty="0">
                  <a:solidFill>
                    <a:schemeClr val="bg1"/>
                  </a:solidFill>
                  <a:latin typeface="游ゴシック" panose="020B0400000000000000" pitchFamily="50" charset="-128"/>
                  <a:ea typeface="游ゴシック" panose="020B0400000000000000" pitchFamily="50" charset="-128"/>
                </a:rPr>
                <a:t>みっつめ</a:t>
              </a:r>
              <a:endParaRPr kumimoji="1" lang="ja-JP" altLang="en-US" sz="2800" b="1" dirty="0">
                <a:solidFill>
                  <a:schemeClr val="bg1"/>
                </a:solidFill>
                <a:latin typeface="游ゴシック" panose="020B0400000000000000" pitchFamily="50" charset="-128"/>
                <a:ea typeface="游ゴシック" panose="020B0400000000000000" pitchFamily="50" charset="-128"/>
              </a:endParaRPr>
            </a:p>
          </p:txBody>
        </p:sp>
        <p:sp>
          <p:nvSpPr>
            <p:cNvPr id="9" name="楕円 8">
              <a:extLst>
                <a:ext uri="{FF2B5EF4-FFF2-40B4-BE49-F238E27FC236}">
                  <a16:creationId xmlns:a16="http://schemas.microsoft.com/office/drawing/2014/main" id="{11B58024-0DF9-700C-3393-339C7F03622C}"/>
                </a:ext>
              </a:extLst>
            </p:cNvPr>
            <p:cNvSpPr/>
            <p:nvPr/>
          </p:nvSpPr>
          <p:spPr>
            <a:xfrm>
              <a:off x="3565643" y="3653794"/>
              <a:ext cx="2232000" cy="2232000"/>
            </a:xfrm>
            <a:prstGeom prst="ellipse">
              <a:avLst/>
            </a:prstGeom>
            <a:solidFill>
              <a:schemeClr val="accent4"/>
            </a:solidFill>
            <a:ln>
              <a:solidFill>
                <a:schemeClr val="accent4"/>
              </a:solidFill>
              <a:extLst>
                <a:ext uri="{C807C97D-BFC1-408E-A445-0C87EB9F89A2}">
                  <ask:lineSketchStyleProps xmlns:ask="http://schemas.microsoft.com/office/drawing/2018/sketchyshapes" sd="138476517">
                    <a:custGeom>
                      <a:avLst/>
                      <a:gdLst>
                        <a:gd name="connsiteX0" fmla="*/ 0 w 2396691"/>
                        <a:gd name="connsiteY0" fmla="*/ 1176574 h 2353148"/>
                        <a:gd name="connsiteX1" fmla="*/ 1198346 w 2396691"/>
                        <a:gd name="connsiteY1" fmla="*/ 0 h 2353148"/>
                        <a:gd name="connsiteX2" fmla="*/ 2396692 w 2396691"/>
                        <a:gd name="connsiteY2" fmla="*/ 1176574 h 2353148"/>
                        <a:gd name="connsiteX3" fmla="*/ 1198346 w 2396691"/>
                        <a:gd name="connsiteY3" fmla="*/ 2353148 h 2353148"/>
                        <a:gd name="connsiteX4" fmla="*/ 0 w 2396691"/>
                        <a:gd name="connsiteY4" fmla="*/ 1176574 h 2353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6691" h="2353148" fill="none" extrusionOk="0">
                          <a:moveTo>
                            <a:pt x="0" y="1176574"/>
                          </a:moveTo>
                          <a:cubicBezTo>
                            <a:pt x="17053" y="544093"/>
                            <a:pt x="596455" y="78735"/>
                            <a:pt x="1198346" y="0"/>
                          </a:cubicBezTo>
                          <a:cubicBezTo>
                            <a:pt x="1834464" y="-42937"/>
                            <a:pt x="2341220" y="491711"/>
                            <a:pt x="2396692" y="1176574"/>
                          </a:cubicBezTo>
                          <a:cubicBezTo>
                            <a:pt x="2434753" y="1879535"/>
                            <a:pt x="1880410" y="2333741"/>
                            <a:pt x="1198346" y="2353148"/>
                          </a:cubicBezTo>
                          <a:cubicBezTo>
                            <a:pt x="503664" y="2298627"/>
                            <a:pt x="14412" y="1848257"/>
                            <a:pt x="0" y="1176574"/>
                          </a:cubicBezTo>
                          <a:close/>
                        </a:path>
                        <a:path w="2396691" h="2353148" stroke="0" extrusionOk="0">
                          <a:moveTo>
                            <a:pt x="0" y="1176574"/>
                          </a:moveTo>
                          <a:cubicBezTo>
                            <a:pt x="22017" y="512503"/>
                            <a:pt x="554245" y="-126587"/>
                            <a:pt x="1198346" y="0"/>
                          </a:cubicBezTo>
                          <a:cubicBezTo>
                            <a:pt x="1782464" y="-71399"/>
                            <a:pt x="2410063" y="501058"/>
                            <a:pt x="2396692" y="1176574"/>
                          </a:cubicBezTo>
                          <a:cubicBezTo>
                            <a:pt x="2422326" y="1889440"/>
                            <a:pt x="1843165" y="2478575"/>
                            <a:pt x="1198346" y="2353148"/>
                          </a:cubicBezTo>
                          <a:cubicBezTo>
                            <a:pt x="488789" y="2321300"/>
                            <a:pt x="-48884" y="1872731"/>
                            <a:pt x="0" y="1176574"/>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テキスト ボックス 9">
              <a:extLst>
                <a:ext uri="{FF2B5EF4-FFF2-40B4-BE49-F238E27FC236}">
                  <a16:creationId xmlns:a16="http://schemas.microsoft.com/office/drawing/2014/main" id="{7E243A9B-ED86-339C-E2EB-EFDFA00CF9EF}"/>
                </a:ext>
              </a:extLst>
            </p:cNvPr>
            <p:cNvSpPr txBox="1"/>
            <p:nvPr/>
          </p:nvSpPr>
          <p:spPr>
            <a:xfrm>
              <a:off x="3511913" y="4222775"/>
              <a:ext cx="2396691" cy="954107"/>
            </a:xfrm>
            <a:prstGeom prst="rect">
              <a:avLst/>
            </a:prstGeom>
            <a:noFill/>
          </p:spPr>
          <p:txBody>
            <a:bodyPr wrap="square" rtlCol="0">
              <a:spAutoFit/>
            </a:bodyPr>
            <a:lstStyle/>
            <a:p>
              <a:pPr algn="ctr"/>
              <a:r>
                <a:rPr lang="ja-JP" altLang="en-US" sz="2800" b="1" dirty="0">
                  <a:solidFill>
                    <a:schemeClr val="bg1"/>
                  </a:solidFill>
                  <a:latin typeface="游ゴシック" panose="020B0400000000000000" pitchFamily="50" charset="-128"/>
                  <a:ea typeface="游ゴシック" panose="020B0400000000000000" pitchFamily="50" charset="-128"/>
                </a:rPr>
                <a:t>➁</a:t>
              </a:r>
              <a:endParaRPr lang="en-US" altLang="ja-JP" sz="2800" b="1" dirty="0">
                <a:solidFill>
                  <a:schemeClr val="bg1"/>
                </a:solidFill>
                <a:latin typeface="游ゴシック" panose="020B0400000000000000" pitchFamily="50" charset="-128"/>
                <a:ea typeface="游ゴシック" panose="020B0400000000000000" pitchFamily="50" charset="-128"/>
              </a:endParaRPr>
            </a:p>
            <a:p>
              <a:pPr algn="ctr"/>
              <a:r>
                <a:rPr lang="ja-JP" altLang="en-US" sz="2800" b="1" dirty="0">
                  <a:solidFill>
                    <a:schemeClr val="bg1"/>
                  </a:solidFill>
                  <a:latin typeface="游ゴシック" panose="020B0400000000000000" pitchFamily="50" charset="-128"/>
                  <a:ea typeface="游ゴシック" panose="020B0400000000000000" pitchFamily="50" charset="-128"/>
                </a:rPr>
                <a:t>ふたつめ</a:t>
              </a:r>
              <a:endParaRPr kumimoji="1" lang="ja-JP" altLang="en-US" sz="2800" b="1" dirty="0">
                <a:solidFill>
                  <a:schemeClr val="bg1"/>
                </a:solidFill>
                <a:latin typeface="游ゴシック" panose="020B0400000000000000" pitchFamily="50" charset="-128"/>
                <a:ea typeface="游ゴシック" panose="020B0400000000000000" pitchFamily="50" charset="-128"/>
              </a:endParaRPr>
            </a:p>
          </p:txBody>
        </p:sp>
        <p:grpSp>
          <p:nvGrpSpPr>
            <p:cNvPr id="11" name="グループ化 10">
              <a:extLst>
                <a:ext uri="{FF2B5EF4-FFF2-40B4-BE49-F238E27FC236}">
                  <a16:creationId xmlns:a16="http://schemas.microsoft.com/office/drawing/2014/main" id="{27510278-8BCC-2772-B7D4-6900CC651828}"/>
                </a:ext>
              </a:extLst>
            </p:cNvPr>
            <p:cNvGrpSpPr/>
            <p:nvPr/>
          </p:nvGrpSpPr>
          <p:grpSpPr>
            <a:xfrm flipV="1">
              <a:off x="4488250" y="2706875"/>
              <a:ext cx="800237" cy="959619"/>
              <a:chOff x="2664127" y="3374455"/>
              <a:chExt cx="1201975" cy="1567649"/>
            </a:xfrm>
          </p:grpSpPr>
          <p:sp>
            <p:nvSpPr>
              <p:cNvPr id="12" name="二等辺三角形 11">
                <a:extLst>
                  <a:ext uri="{FF2B5EF4-FFF2-40B4-BE49-F238E27FC236}">
                    <a16:creationId xmlns:a16="http://schemas.microsoft.com/office/drawing/2014/main" id="{88C38720-FF04-C2D5-1BFB-D6E04C389897}"/>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フリーフォーム: 図形 12">
                <a:extLst>
                  <a:ext uri="{FF2B5EF4-FFF2-40B4-BE49-F238E27FC236}">
                    <a16:creationId xmlns:a16="http://schemas.microsoft.com/office/drawing/2014/main" id="{DCA25AA5-6EC2-3A91-C987-1FA6D6720F6A}"/>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4" name="グループ化 13">
              <a:extLst>
                <a:ext uri="{FF2B5EF4-FFF2-40B4-BE49-F238E27FC236}">
                  <a16:creationId xmlns:a16="http://schemas.microsoft.com/office/drawing/2014/main" id="{39545FA0-67FF-9A70-C888-13A69A398782}"/>
                </a:ext>
              </a:extLst>
            </p:cNvPr>
            <p:cNvGrpSpPr/>
            <p:nvPr/>
          </p:nvGrpSpPr>
          <p:grpSpPr>
            <a:xfrm rot="7241964" flipV="1">
              <a:off x="2843255" y="5233792"/>
              <a:ext cx="800237" cy="959619"/>
              <a:chOff x="2664127" y="3374455"/>
              <a:chExt cx="1201975" cy="1567649"/>
            </a:xfrm>
          </p:grpSpPr>
          <p:sp>
            <p:nvSpPr>
              <p:cNvPr id="15" name="二等辺三角形 14">
                <a:extLst>
                  <a:ext uri="{FF2B5EF4-FFF2-40B4-BE49-F238E27FC236}">
                    <a16:creationId xmlns:a16="http://schemas.microsoft.com/office/drawing/2014/main" id="{3767BD8E-FB78-2A44-9179-41A94C34D17A}"/>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6" name="フリーフォーム: 図形 15">
                <a:extLst>
                  <a:ext uri="{FF2B5EF4-FFF2-40B4-BE49-F238E27FC236}">
                    <a16:creationId xmlns:a16="http://schemas.microsoft.com/office/drawing/2014/main" id="{55A6798D-20C7-E00B-7A02-153B6F17D077}"/>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7" name="グループ化 16">
              <a:extLst>
                <a:ext uri="{FF2B5EF4-FFF2-40B4-BE49-F238E27FC236}">
                  <a16:creationId xmlns:a16="http://schemas.microsoft.com/office/drawing/2014/main" id="{1CC218CC-EEBC-1865-D9BB-837546C65874}"/>
                </a:ext>
              </a:extLst>
            </p:cNvPr>
            <p:cNvGrpSpPr/>
            <p:nvPr/>
          </p:nvGrpSpPr>
          <p:grpSpPr>
            <a:xfrm rot="14081671" flipV="1">
              <a:off x="1389673" y="2585074"/>
              <a:ext cx="800237" cy="959619"/>
              <a:chOff x="2664127" y="3374455"/>
              <a:chExt cx="1201975" cy="1567649"/>
            </a:xfrm>
          </p:grpSpPr>
          <p:sp>
            <p:nvSpPr>
              <p:cNvPr id="18" name="二等辺三角形 17">
                <a:extLst>
                  <a:ext uri="{FF2B5EF4-FFF2-40B4-BE49-F238E27FC236}">
                    <a16:creationId xmlns:a16="http://schemas.microsoft.com/office/drawing/2014/main" id="{F2F7520D-B9C9-EE46-43C0-1974C9EE110E}"/>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9" name="フリーフォーム: 図形 18">
                <a:extLst>
                  <a:ext uri="{FF2B5EF4-FFF2-40B4-BE49-F238E27FC236}">
                    <a16:creationId xmlns:a16="http://schemas.microsoft.com/office/drawing/2014/main" id="{91521E69-6981-7659-CD42-1242DA646433}"/>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21" name="テキスト ボックス 20">
              <a:extLst>
                <a:ext uri="{FF2B5EF4-FFF2-40B4-BE49-F238E27FC236}">
                  <a16:creationId xmlns:a16="http://schemas.microsoft.com/office/drawing/2014/main" id="{DBABD0C2-66B5-256B-4604-E348FEFAC56D}"/>
                </a:ext>
              </a:extLst>
            </p:cNvPr>
            <p:cNvSpPr txBox="1"/>
            <p:nvPr/>
          </p:nvSpPr>
          <p:spPr>
            <a:xfrm>
              <a:off x="4832338" y="2938238"/>
              <a:ext cx="1700782" cy="400110"/>
            </a:xfrm>
            <a:prstGeom prst="rect">
              <a:avLst/>
            </a:prstGeom>
            <a:noFill/>
          </p:spPr>
          <p:txBody>
            <a:bodyPr wrap="square" rtlCol="0">
              <a:spAutoFit/>
            </a:bodyPr>
            <a:lstStyle/>
            <a:p>
              <a:pPr algn="ctr"/>
              <a:r>
                <a:rPr lang="ja-JP" altLang="en-US" sz="2000" b="1" dirty="0">
                  <a:solidFill>
                    <a:schemeClr val="accent4"/>
                  </a:solidFill>
                  <a:latin typeface="游ゴシック" panose="020B0400000000000000" pitchFamily="50" charset="-128"/>
                  <a:ea typeface="游ゴシック" panose="020B0400000000000000" pitchFamily="50" charset="-128"/>
                </a:rPr>
                <a:t>変化</a:t>
              </a:r>
              <a:endParaRPr lang="en-US" altLang="ja-JP" sz="2000" b="1" dirty="0">
                <a:solidFill>
                  <a:schemeClr val="accent4"/>
                </a:solidFill>
                <a:latin typeface="游ゴシック" panose="020B0400000000000000" pitchFamily="50" charset="-128"/>
                <a:ea typeface="游ゴシック" panose="020B0400000000000000" pitchFamily="50" charset="-128"/>
              </a:endParaRPr>
            </a:p>
          </p:txBody>
        </p:sp>
        <p:sp>
          <p:nvSpPr>
            <p:cNvPr id="22" name="テキスト ボックス 21">
              <a:extLst>
                <a:ext uri="{FF2B5EF4-FFF2-40B4-BE49-F238E27FC236}">
                  <a16:creationId xmlns:a16="http://schemas.microsoft.com/office/drawing/2014/main" id="{D3D28F20-D312-FC56-A45A-9A9DD0F018F0}"/>
                </a:ext>
              </a:extLst>
            </p:cNvPr>
            <p:cNvSpPr txBox="1"/>
            <p:nvPr/>
          </p:nvSpPr>
          <p:spPr>
            <a:xfrm>
              <a:off x="2550709" y="5935209"/>
              <a:ext cx="1700782" cy="400110"/>
            </a:xfrm>
            <a:prstGeom prst="rect">
              <a:avLst/>
            </a:prstGeom>
            <a:noFill/>
          </p:spPr>
          <p:txBody>
            <a:bodyPr wrap="square" rtlCol="0">
              <a:spAutoFit/>
            </a:bodyPr>
            <a:lstStyle/>
            <a:p>
              <a:pPr algn="ctr"/>
              <a:r>
                <a:rPr lang="ja-JP" altLang="en-US" sz="2000" b="1" dirty="0">
                  <a:solidFill>
                    <a:schemeClr val="accent4"/>
                  </a:solidFill>
                  <a:latin typeface="游ゴシック" panose="020B0400000000000000" pitchFamily="50" charset="-128"/>
                  <a:ea typeface="游ゴシック" panose="020B0400000000000000" pitchFamily="50" charset="-128"/>
                </a:rPr>
                <a:t>変化</a:t>
              </a:r>
              <a:endParaRPr lang="en-US" altLang="ja-JP" sz="2000" b="1" dirty="0">
                <a:solidFill>
                  <a:schemeClr val="accent4"/>
                </a:solidFill>
                <a:latin typeface="游ゴシック" panose="020B0400000000000000" pitchFamily="50" charset="-128"/>
                <a:ea typeface="游ゴシック" panose="020B0400000000000000" pitchFamily="50" charset="-128"/>
              </a:endParaRPr>
            </a:p>
          </p:txBody>
        </p:sp>
        <p:sp>
          <p:nvSpPr>
            <p:cNvPr id="23" name="テキスト ボックス 22">
              <a:extLst>
                <a:ext uri="{FF2B5EF4-FFF2-40B4-BE49-F238E27FC236}">
                  <a16:creationId xmlns:a16="http://schemas.microsoft.com/office/drawing/2014/main" id="{032857B8-91F1-CA95-91BD-24CB159AB079}"/>
                </a:ext>
              </a:extLst>
            </p:cNvPr>
            <p:cNvSpPr txBox="1"/>
            <p:nvPr/>
          </p:nvSpPr>
          <p:spPr>
            <a:xfrm>
              <a:off x="0" y="2983833"/>
              <a:ext cx="1700782" cy="400110"/>
            </a:xfrm>
            <a:prstGeom prst="rect">
              <a:avLst/>
            </a:prstGeom>
            <a:noFill/>
          </p:spPr>
          <p:txBody>
            <a:bodyPr wrap="square" rtlCol="0">
              <a:spAutoFit/>
            </a:bodyPr>
            <a:lstStyle/>
            <a:p>
              <a:pPr algn="ctr"/>
              <a:r>
                <a:rPr lang="ja-JP" altLang="en-US" sz="2000" b="1" dirty="0">
                  <a:solidFill>
                    <a:schemeClr val="accent4"/>
                  </a:solidFill>
                  <a:latin typeface="游ゴシック" panose="020B0400000000000000" pitchFamily="50" charset="-128"/>
                  <a:ea typeface="游ゴシック" panose="020B0400000000000000" pitchFamily="50" charset="-128"/>
                </a:rPr>
                <a:t>変化</a:t>
              </a:r>
              <a:endParaRPr lang="en-US" altLang="ja-JP" sz="2000" b="1" dirty="0">
                <a:solidFill>
                  <a:schemeClr val="accent4"/>
                </a:solidFill>
                <a:latin typeface="游ゴシック" panose="020B0400000000000000" pitchFamily="50" charset="-128"/>
                <a:ea typeface="游ゴシック" panose="020B0400000000000000" pitchFamily="50" charset="-128"/>
              </a:endParaRPr>
            </a:p>
          </p:txBody>
        </p:sp>
      </p:grpSp>
      <p:sp>
        <p:nvSpPr>
          <p:cNvPr id="25" name="楕円 24">
            <a:extLst>
              <a:ext uri="{FF2B5EF4-FFF2-40B4-BE49-F238E27FC236}">
                <a16:creationId xmlns:a16="http://schemas.microsoft.com/office/drawing/2014/main" id="{FA69373F-043A-BD62-065E-9238200A2914}"/>
              </a:ext>
            </a:extLst>
          </p:cNvPr>
          <p:cNvSpPr/>
          <p:nvPr/>
        </p:nvSpPr>
        <p:spPr>
          <a:xfrm>
            <a:off x="7462655" y="1651262"/>
            <a:ext cx="323850" cy="323850"/>
          </a:xfrm>
          <a:prstGeom prst="ellipse">
            <a:avLst/>
          </a:prstGeom>
          <a:solidFill>
            <a:schemeClr val="accent2"/>
          </a:solidFill>
          <a:ln>
            <a:solidFill>
              <a:schemeClr val="accent2"/>
            </a:solidFill>
          </a:ln>
          <a:effectLst>
            <a:glow rad="101600">
              <a:schemeClr val="accent2">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楕円 25">
            <a:extLst>
              <a:ext uri="{FF2B5EF4-FFF2-40B4-BE49-F238E27FC236}">
                <a16:creationId xmlns:a16="http://schemas.microsoft.com/office/drawing/2014/main" id="{47A74F06-9B64-1B4A-43BA-C938BE525936}"/>
              </a:ext>
            </a:extLst>
          </p:cNvPr>
          <p:cNvSpPr/>
          <p:nvPr/>
        </p:nvSpPr>
        <p:spPr>
          <a:xfrm>
            <a:off x="8108150" y="1651112"/>
            <a:ext cx="324000" cy="324000"/>
          </a:xfrm>
          <a:prstGeom prst="ellipse">
            <a:avLst/>
          </a:prstGeom>
          <a:solidFill>
            <a:srgbClr val="46877B"/>
          </a:solidFill>
          <a:ln>
            <a:solidFill>
              <a:srgbClr val="46877B"/>
            </a:solidFill>
          </a:ln>
          <a:effectLst>
            <a:glow rad="101600">
              <a:srgbClr val="46877B">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7" name="楕円 26">
            <a:extLst>
              <a:ext uri="{FF2B5EF4-FFF2-40B4-BE49-F238E27FC236}">
                <a16:creationId xmlns:a16="http://schemas.microsoft.com/office/drawing/2014/main" id="{804C8D84-DF1A-9E36-6B35-4F08C09A0AEE}"/>
              </a:ext>
            </a:extLst>
          </p:cNvPr>
          <p:cNvSpPr/>
          <p:nvPr/>
        </p:nvSpPr>
        <p:spPr>
          <a:xfrm>
            <a:off x="7730366" y="2165069"/>
            <a:ext cx="342900" cy="333267"/>
          </a:xfrm>
          <a:prstGeom prst="ellipse">
            <a:avLst/>
          </a:prstGeom>
          <a:solidFill>
            <a:schemeClr val="accent2"/>
          </a:solidFill>
          <a:ln>
            <a:solidFill>
              <a:schemeClr val="accent2"/>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楕円 27">
            <a:extLst>
              <a:ext uri="{FF2B5EF4-FFF2-40B4-BE49-F238E27FC236}">
                <a16:creationId xmlns:a16="http://schemas.microsoft.com/office/drawing/2014/main" id="{57C0E608-BA74-F485-BAE3-702170BC32CC}"/>
              </a:ext>
            </a:extLst>
          </p:cNvPr>
          <p:cNvSpPr/>
          <p:nvPr/>
        </p:nvSpPr>
        <p:spPr>
          <a:xfrm>
            <a:off x="8528263" y="3060360"/>
            <a:ext cx="2901487" cy="1236539"/>
          </a:xfrm>
          <a:custGeom>
            <a:avLst/>
            <a:gdLst>
              <a:gd name="connsiteX0" fmla="*/ 0 w 2901487"/>
              <a:gd name="connsiteY0" fmla="*/ 618270 h 1236539"/>
              <a:gd name="connsiteX1" fmla="*/ 1450744 w 2901487"/>
              <a:gd name="connsiteY1" fmla="*/ 0 h 1236539"/>
              <a:gd name="connsiteX2" fmla="*/ 2901488 w 2901487"/>
              <a:gd name="connsiteY2" fmla="*/ 618270 h 1236539"/>
              <a:gd name="connsiteX3" fmla="*/ 1450744 w 2901487"/>
              <a:gd name="connsiteY3" fmla="*/ 1236540 h 1236539"/>
              <a:gd name="connsiteX4" fmla="*/ 0 w 2901487"/>
              <a:gd name="connsiteY4" fmla="*/ 618270 h 12365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1487" h="1236539" fill="none" extrusionOk="0">
                <a:moveTo>
                  <a:pt x="0" y="618270"/>
                </a:moveTo>
                <a:cubicBezTo>
                  <a:pt x="84712" y="196294"/>
                  <a:pt x="764269" y="7572"/>
                  <a:pt x="1450744" y="0"/>
                </a:cubicBezTo>
                <a:cubicBezTo>
                  <a:pt x="2280633" y="48997"/>
                  <a:pt x="2861081" y="275941"/>
                  <a:pt x="2901488" y="618270"/>
                </a:cubicBezTo>
                <a:cubicBezTo>
                  <a:pt x="3011552" y="975692"/>
                  <a:pt x="2166690" y="1197621"/>
                  <a:pt x="1450744" y="1236540"/>
                </a:cubicBezTo>
                <a:cubicBezTo>
                  <a:pt x="618922" y="1245671"/>
                  <a:pt x="36345" y="910461"/>
                  <a:pt x="0" y="618270"/>
                </a:cubicBezTo>
                <a:close/>
              </a:path>
              <a:path w="2901487" h="1236539" stroke="0" extrusionOk="0">
                <a:moveTo>
                  <a:pt x="0" y="618270"/>
                </a:moveTo>
                <a:cubicBezTo>
                  <a:pt x="-7565" y="290082"/>
                  <a:pt x="641644" y="-3252"/>
                  <a:pt x="1450744" y="0"/>
                </a:cubicBezTo>
                <a:cubicBezTo>
                  <a:pt x="2306126" y="-7995"/>
                  <a:pt x="2871529" y="331374"/>
                  <a:pt x="2901488" y="618270"/>
                </a:cubicBezTo>
                <a:cubicBezTo>
                  <a:pt x="2849516" y="977102"/>
                  <a:pt x="2227727" y="1265205"/>
                  <a:pt x="1450744" y="1236540"/>
                </a:cubicBezTo>
                <a:cubicBezTo>
                  <a:pt x="683291" y="1214685"/>
                  <a:pt x="-15441" y="963273"/>
                  <a:pt x="0" y="618270"/>
                </a:cubicBezTo>
                <a:close/>
              </a:path>
            </a:pathLst>
          </a:custGeom>
          <a:solidFill>
            <a:srgbClr val="D3E9E5"/>
          </a:solidFill>
          <a:ln>
            <a:solidFill>
              <a:srgbClr val="D3E9E5"/>
            </a:solidFill>
            <a:extLst>
              <a:ext uri="{C807C97D-BFC1-408E-A445-0C87EB9F89A2}">
                <ask:lineSketchStyleProps xmlns:ask="http://schemas.microsoft.com/office/drawing/2018/sketchyshapes" sd="981765707">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楕円 28">
            <a:extLst>
              <a:ext uri="{FF2B5EF4-FFF2-40B4-BE49-F238E27FC236}">
                <a16:creationId xmlns:a16="http://schemas.microsoft.com/office/drawing/2014/main" id="{11994F12-90A6-E96A-5BE6-5E9F08D17B74}"/>
              </a:ext>
            </a:extLst>
          </p:cNvPr>
          <p:cNvSpPr/>
          <p:nvPr/>
        </p:nvSpPr>
        <p:spPr>
          <a:xfrm>
            <a:off x="9518584" y="1567812"/>
            <a:ext cx="2235127" cy="2177274"/>
          </a:xfrm>
          <a:custGeom>
            <a:avLst/>
            <a:gdLst>
              <a:gd name="connsiteX0" fmla="*/ 0 w 2235127"/>
              <a:gd name="connsiteY0" fmla="*/ 1088637 h 2177274"/>
              <a:gd name="connsiteX1" fmla="*/ 1117564 w 2235127"/>
              <a:gd name="connsiteY1" fmla="*/ 0 h 2177274"/>
              <a:gd name="connsiteX2" fmla="*/ 2235128 w 2235127"/>
              <a:gd name="connsiteY2" fmla="*/ 1088637 h 2177274"/>
              <a:gd name="connsiteX3" fmla="*/ 1117564 w 2235127"/>
              <a:gd name="connsiteY3" fmla="*/ 2177274 h 2177274"/>
              <a:gd name="connsiteX4" fmla="*/ 0 w 2235127"/>
              <a:gd name="connsiteY4" fmla="*/ 1088637 h 2177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5127" h="2177274" fill="none" extrusionOk="0">
                <a:moveTo>
                  <a:pt x="0" y="1088637"/>
                </a:moveTo>
                <a:cubicBezTo>
                  <a:pt x="-78231" y="501361"/>
                  <a:pt x="470933" y="81460"/>
                  <a:pt x="1117564" y="0"/>
                </a:cubicBezTo>
                <a:cubicBezTo>
                  <a:pt x="1655506" y="-29676"/>
                  <a:pt x="2249283" y="494351"/>
                  <a:pt x="2235128" y="1088637"/>
                </a:cubicBezTo>
                <a:cubicBezTo>
                  <a:pt x="2256564" y="1635402"/>
                  <a:pt x="1745396" y="2193472"/>
                  <a:pt x="1117564" y="2177274"/>
                </a:cubicBezTo>
                <a:cubicBezTo>
                  <a:pt x="511602" y="2187319"/>
                  <a:pt x="85868" y="1650356"/>
                  <a:pt x="0" y="1088637"/>
                </a:cubicBezTo>
                <a:close/>
              </a:path>
              <a:path w="2235127" h="2177274" stroke="0" extrusionOk="0">
                <a:moveTo>
                  <a:pt x="0" y="1088637"/>
                </a:moveTo>
                <a:cubicBezTo>
                  <a:pt x="44180" y="558178"/>
                  <a:pt x="501211" y="-92223"/>
                  <a:pt x="1117564" y="0"/>
                </a:cubicBezTo>
                <a:cubicBezTo>
                  <a:pt x="1755182" y="98031"/>
                  <a:pt x="2176597" y="447074"/>
                  <a:pt x="2235128" y="1088637"/>
                </a:cubicBezTo>
                <a:cubicBezTo>
                  <a:pt x="2248407" y="1590409"/>
                  <a:pt x="1732930" y="2112771"/>
                  <a:pt x="1117564" y="2177274"/>
                </a:cubicBezTo>
                <a:cubicBezTo>
                  <a:pt x="512908" y="2113663"/>
                  <a:pt x="14757" y="1627634"/>
                  <a:pt x="0" y="1088637"/>
                </a:cubicBezTo>
                <a:close/>
              </a:path>
            </a:pathLst>
          </a:custGeom>
          <a:solidFill>
            <a:schemeClr val="accent2"/>
          </a:solidFill>
          <a:ln>
            <a:solidFill>
              <a:schemeClr val="accent2"/>
            </a:solidFill>
            <a:extLst>
              <a:ext uri="{C807C97D-BFC1-408E-A445-0C87EB9F89A2}">
                <ask:lineSketchStyleProps xmlns:ask="http://schemas.microsoft.com/office/drawing/2018/sketchyshapes" sd="3669468432">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chemeClr val="bg1"/>
                </a:solidFill>
                <a:latin typeface="游ゴシック" panose="020B0400000000000000" pitchFamily="50" charset="-128"/>
                <a:ea typeface="游ゴシック" panose="020B0400000000000000" pitchFamily="50" charset="-128"/>
              </a:rPr>
              <a:t> </a:t>
            </a:r>
            <a:r>
              <a:rPr lang="ja-JP" altLang="en-US" sz="2800" b="1" dirty="0">
                <a:solidFill>
                  <a:schemeClr val="bg1"/>
                </a:solidFill>
                <a:latin typeface="游ゴシック" panose="020B0400000000000000" pitchFamily="50" charset="-128"/>
                <a:ea typeface="游ゴシック" panose="020B0400000000000000" pitchFamily="50" charset="-128"/>
              </a:rPr>
              <a:t>何か</a:t>
            </a:r>
            <a:endParaRPr lang="en-US" altLang="ja-JP" sz="2800" b="1" dirty="0">
              <a:solidFill>
                <a:schemeClr val="bg1"/>
              </a:solidFill>
              <a:latin typeface="游ゴシック" panose="020B0400000000000000" pitchFamily="50" charset="-128"/>
              <a:ea typeface="游ゴシック" panose="020B0400000000000000" pitchFamily="50" charset="-128"/>
            </a:endParaRPr>
          </a:p>
          <a:p>
            <a:pPr algn="ctr"/>
            <a:r>
              <a:rPr lang="ja-JP" altLang="en-US" dirty="0">
                <a:solidFill>
                  <a:schemeClr val="bg1"/>
                </a:solidFill>
                <a:latin typeface="+mn-ea"/>
              </a:rPr>
              <a:t>メッセージ</a:t>
            </a:r>
            <a:endParaRPr lang="ja-JP" altLang="en-US" sz="1200" dirty="0">
              <a:solidFill>
                <a:schemeClr val="bg1"/>
              </a:solidFill>
              <a:latin typeface="+mn-ea"/>
            </a:endParaRPr>
          </a:p>
        </p:txBody>
      </p:sp>
      <p:sp>
        <p:nvSpPr>
          <p:cNvPr id="30" name="正方形/長方形 29">
            <a:extLst>
              <a:ext uri="{FF2B5EF4-FFF2-40B4-BE49-F238E27FC236}">
                <a16:creationId xmlns:a16="http://schemas.microsoft.com/office/drawing/2014/main" id="{9B369ACC-5757-B80B-61BF-EC839E501C38}"/>
              </a:ext>
            </a:extLst>
          </p:cNvPr>
          <p:cNvSpPr/>
          <p:nvPr/>
        </p:nvSpPr>
        <p:spPr>
          <a:xfrm rot="20169432">
            <a:off x="8795580" y="3503340"/>
            <a:ext cx="3160032" cy="167421"/>
          </a:xfrm>
          <a:custGeom>
            <a:avLst/>
            <a:gdLst>
              <a:gd name="connsiteX0" fmla="*/ 0 w 3160032"/>
              <a:gd name="connsiteY0" fmla="*/ 0 h 167421"/>
              <a:gd name="connsiteX1" fmla="*/ 3160032 w 3160032"/>
              <a:gd name="connsiteY1" fmla="*/ 0 h 167421"/>
              <a:gd name="connsiteX2" fmla="*/ 3160032 w 3160032"/>
              <a:gd name="connsiteY2" fmla="*/ 167421 h 167421"/>
              <a:gd name="connsiteX3" fmla="*/ 0 w 3160032"/>
              <a:gd name="connsiteY3" fmla="*/ 167421 h 167421"/>
              <a:gd name="connsiteX4" fmla="*/ 0 w 3160032"/>
              <a:gd name="connsiteY4" fmla="*/ 0 h 167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0032" h="167421" fill="none" extrusionOk="0">
                <a:moveTo>
                  <a:pt x="0" y="0"/>
                </a:moveTo>
                <a:cubicBezTo>
                  <a:pt x="1576265" y="-130857"/>
                  <a:pt x="1695485" y="63250"/>
                  <a:pt x="3160032" y="0"/>
                </a:cubicBezTo>
                <a:cubicBezTo>
                  <a:pt x="3149888" y="54417"/>
                  <a:pt x="3161660" y="117978"/>
                  <a:pt x="3160032" y="167421"/>
                </a:cubicBezTo>
                <a:cubicBezTo>
                  <a:pt x="2559770" y="222085"/>
                  <a:pt x="1098592" y="215523"/>
                  <a:pt x="0" y="167421"/>
                </a:cubicBezTo>
                <a:cubicBezTo>
                  <a:pt x="-5" y="147243"/>
                  <a:pt x="-2866" y="55723"/>
                  <a:pt x="0" y="0"/>
                </a:cubicBezTo>
                <a:close/>
              </a:path>
              <a:path w="3160032" h="167421" stroke="0" extrusionOk="0">
                <a:moveTo>
                  <a:pt x="0" y="0"/>
                </a:moveTo>
                <a:cubicBezTo>
                  <a:pt x="1189394" y="93023"/>
                  <a:pt x="2837410" y="111448"/>
                  <a:pt x="3160032" y="0"/>
                </a:cubicBezTo>
                <a:cubicBezTo>
                  <a:pt x="3145341" y="75065"/>
                  <a:pt x="3161279" y="142728"/>
                  <a:pt x="3160032" y="167421"/>
                </a:cubicBezTo>
                <a:cubicBezTo>
                  <a:pt x="2786659" y="165537"/>
                  <a:pt x="902558" y="243552"/>
                  <a:pt x="0" y="167421"/>
                </a:cubicBezTo>
                <a:cubicBezTo>
                  <a:pt x="-7129" y="150251"/>
                  <a:pt x="4229" y="45135"/>
                  <a:pt x="0" y="0"/>
                </a:cubicBezTo>
                <a:close/>
              </a:path>
            </a:pathLst>
          </a:custGeom>
          <a:solidFill>
            <a:schemeClr val="bg1"/>
          </a:solidFill>
          <a:ln>
            <a:solidFill>
              <a:schemeClr val="bg1"/>
            </a:solidFill>
            <a:extLst>
              <a:ext uri="{C807C97D-BFC1-408E-A445-0C87EB9F89A2}">
                <ask:lineSketchStyleProps xmlns:ask="http://schemas.microsoft.com/office/drawing/2018/sketchyshapes" sd="1001808606">
                  <a:prstGeom prst="rect">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十字形 30">
            <a:extLst>
              <a:ext uri="{FF2B5EF4-FFF2-40B4-BE49-F238E27FC236}">
                <a16:creationId xmlns:a16="http://schemas.microsoft.com/office/drawing/2014/main" id="{AE6B2308-93E3-CE3B-D6A4-F65B8B44608F}"/>
              </a:ext>
            </a:extLst>
          </p:cNvPr>
          <p:cNvSpPr/>
          <p:nvPr/>
        </p:nvSpPr>
        <p:spPr>
          <a:xfrm rot="2590055">
            <a:off x="8265921" y="4413059"/>
            <a:ext cx="1869719" cy="1886551"/>
          </a:xfrm>
          <a:custGeom>
            <a:avLst/>
            <a:gdLst>
              <a:gd name="connsiteX0" fmla="*/ 0 w 1869719"/>
              <a:gd name="connsiteY0" fmla="*/ 871682 h 1886551"/>
              <a:gd name="connsiteX1" fmla="*/ 871682 w 1869719"/>
              <a:gd name="connsiteY1" fmla="*/ 871682 h 1886551"/>
              <a:gd name="connsiteX2" fmla="*/ 871682 w 1869719"/>
              <a:gd name="connsiteY2" fmla="*/ 0 h 1886551"/>
              <a:gd name="connsiteX3" fmla="*/ 998037 w 1869719"/>
              <a:gd name="connsiteY3" fmla="*/ 0 h 1886551"/>
              <a:gd name="connsiteX4" fmla="*/ 998037 w 1869719"/>
              <a:gd name="connsiteY4" fmla="*/ 871682 h 1886551"/>
              <a:gd name="connsiteX5" fmla="*/ 1869719 w 1869719"/>
              <a:gd name="connsiteY5" fmla="*/ 871682 h 1886551"/>
              <a:gd name="connsiteX6" fmla="*/ 1869719 w 1869719"/>
              <a:gd name="connsiteY6" fmla="*/ 1014869 h 1886551"/>
              <a:gd name="connsiteX7" fmla="*/ 998037 w 1869719"/>
              <a:gd name="connsiteY7" fmla="*/ 1014869 h 1886551"/>
              <a:gd name="connsiteX8" fmla="*/ 998037 w 1869719"/>
              <a:gd name="connsiteY8" fmla="*/ 1886551 h 1886551"/>
              <a:gd name="connsiteX9" fmla="*/ 871682 w 1869719"/>
              <a:gd name="connsiteY9" fmla="*/ 1886551 h 1886551"/>
              <a:gd name="connsiteX10" fmla="*/ 871682 w 1869719"/>
              <a:gd name="connsiteY10" fmla="*/ 1014869 h 1886551"/>
              <a:gd name="connsiteX11" fmla="*/ 0 w 1869719"/>
              <a:gd name="connsiteY11" fmla="*/ 1014869 h 1886551"/>
              <a:gd name="connsiteX12" fmla="*/ 0 w 1869719"/>
              <a:gd name="connsiteY12" fmla="*/ 871682 h 188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69719" h="1886551" fill="none" extrusionOk="0">
                <a:moveTo>
                  <a:pt x="0" y="871682"/>
                </a:moveTo>
                <a:cubicBezTo>
                  <a:pt x="150577" y="878137"/>
                  <a:pt x="691672" y="826285"/>
                  <a:pt x="871682" y="871682"/>
                </a:cubicBezTo>
                <a:cubicBezTo>
                  <a:pt x="944600" y="699805"/>
                  <a:pt x="866968" y="165485"/>
                  <a:pt x="871682" y="0"/>
                </a:cubicBezTo>
                <a:cubicBezTo>
                  <a:pt x="917842" y="-3582"/>
                  <a:pt x="948566" y="-7301"/>
                  <a:pt x="998037" y="0"/>
                </a:cubicBezTo>
                <a:cubicBezTo>
                  <a:pt x="1034408" y="206213"/>
                  <a:pt x="958303" y="545702"/>
                  <a:pt x="998037" y="871682"/>
                </a:cubicBezTo>
                <a:cubicBezTo>
                  <a:pt x="1403914" y="918941"/>
                  <a:pt x="1768096" y="817161"/>
                  <a:pt x="1869719" y="871682"/>
                </a:cubicBezTo>
                <a:cubicBezTo>
                  <a:pt x="1862247" y="898346"/>
                  <a:pt x="1867979" y="944707"/>
                  <a:pt x="1869719" y="1014869"/>
                </a:cubicBezTo>
                <a:cubicBezTo>
                  <a:pt x="1548144" y="940983"/>
                  <a:pt x="1153210" y="1019821"/>
                  <a:pt x="998037" y="1014869"/>
                </a:cubicBezTo>
                <a:cubicBezTo>
                  <a:pt x="1038278" y="1306496"/>
                  <a:pt x="926672" y="1453007"/>
                  <a:pt x="998037" y="1886551"/>
                </a:cubicBezTo>
                <a:cubicBezTo>
                  <a:pt x="957192" y="1890993"/>
                  <a:pt x="910226" y="1892254"/>
                  <a:pt x="871682" y="1886551"/>
                </a:cubicBezTo>
                <a:cubicBezTo>
                  <a:pt x="900212" y="1470477"/>
                  <a:pt x="885227" y="1205920"/>
                  <a:pt x="871682" y="1014869"/>
                </a:cubicBezTo>
                <a:cubicBezTo>
                  <a:pt x="678222" y="1052749"/>
                  <a:pt x="371283" y="1038878"/>
                  <a:pt x="0" y="1014869"/>
                </a:cubicBezTo>
                <a:cubicBezTo>
                  <a:pt x="7573" y="960095"/>
                  <a:pt x="-108" y="893456"/>
                  <a:pt x="0" y="871682"/>
                </a:cubicBezTo>
                <a:close/>
              </a:path>
              <a:path w="1869719" h="1886551" stroke="0" extrusionOk="0">
                <a:moveTo>
                  <a:pt x="0" y="871682"/>
                </a:moveTo>
                <a:cubicBezTo>
                  <a:pt x="344289" y="885060"/>
                  <a:pt x="600800" y="905684"/>
                  <a:pt x="871682" y="871682"/>
                </a:cubicBezTo>
                <a:cubicBezTo>
                  <a:pt x="931893" y="628664"/>
                  <a:pt x="943650" y="370527"/>
                  <a:pt x="871682" y="0"/>
                </a:cubicBezTo>
                <a:cubicBezTo>
                  <a:pt x="893890" y="9838"/>
                  <a:pt x="946111" y="7517"/>
                  <a:pt x="998037" y="0"/>
                </a:cubicBezTo>
                <a:cubicBezTo>
                  <a:pt x="992055" y="159455"/>
                  <a:pt x="932820" y="532460"/>
                  <a:pt x="998037" y="871682"/>
                </a:cubicBezTo>
                <a:cubicBezTo>
                  <a:pt x="1357843" y="820993"/>
                  <a:pt x="1686362" y="905907"/>
                  <a:pt x="1869719" y="871682"/>
                </a:cubicBezTo>
                <a:cubicBezTo>
                  <a:pt x="1875174" y="925174"/>
                  <a:pt x="1873986" y="947346"/>
                  <a:pt x="1869719" y="1014869"/>
                </a:cubicBezTo>
                <a:cubicBezTo>
                  <a:pt x="1764808" y="1082825"/>
                  <a:pt x="1290886" y="1035898"/>
                  <a:pt x="998037" y="1014869"/>
                </a:cubicBezTo>
                <a:cubicBezTo>
                  <a:pt x="975473" y="1296156"/>
                  <a:pt x="935667" y="1781961"/>
                  <a:pt x="998037" y="1886551"/>
                </a:cubicBezTo>
                <a:cubicBezTo>
                  <a:pt x="962951" y="1880256"/>
                  <a:pt x="921537" y="1889798"/>
                  <a:pt x="871682" y="1886551"/>
                </a:cubicBezTo>
                <a:cubicBezTo>
                  <a:pt x="818077" y="1555126"/>
                  <a:pt x="859397" y="1130088"/>
                  <a:pt x="871682" y="1014869"/>
                </a:cubicBezTo>
                <a:cubicBezTo>
                  <a:pt x="608586" y="952921"/>
                  <a:pt x="306780" y="1005001"/>
                  <a:pt x="0" y="1014869"/>
                </a:cubicBezTo>
                <a:cubicBezTo>
                  <a:pt x="-3635" y="972697"/>
                  <a:pt x="-10926" y="894203"/>
                  <a:pt x="0" y="871682"/>
                </a:cubicBezTo>
                <a:close/>
              </a:path>
            </a:pathLst>
          </a:custGeom>
          <a:solidFill>
            <a:schemeClr val="accent2"/>
          </a:solidFill>
          <a:ln>
            <a:solidFill>
              <a:schemeClr val="accent2"/>
            </a:solidFill>
            <a:extLst>
              <a:ext uri="{C807C97D-BFC1-408E-A445-0C87EB9F89A2}">
                <ask:lineSketchStyleProps xmlns:ask="http://schemas.microsoft.com/office/drawing/2018/sketchyshapes" sd="3129110413">
                  <a:prstGeom prst="plus">
                    <a:avLst>
                      <a:gd name="adj" fmla="val 46621"/>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楕円 31">
            <a:extLst>
              <a:ext uri="{FF2B5EF4-FFF2-40B4-BE49-F238E27FC236}">
                <a16:creationId xmlns:a16="http://schemas.microsoft.com/office/drawing/2014/main" id="{4548D72B-CA5C-59FC-584F-E0EF5BBB25BA}"/>
              </a:ext>
            </a:extLst>
          </p:cNvPr>
          <p:cNvSpPr/>
          <p:nvPr/>
        </p:nvSpPr>
        <p:spPr>
          <a:xfrm>
            <a:off x="7090921" y="4792728"/>
            <a:ext cx="1253486" cy="1236539"/>
          </a:xfrm>
          <a:custGeom>
            <a:avLst/>
            <a:gdLst>
              <a:gd name="connsiteX0" fmla="*/ 0 w 1253486"/>
              <a:gd name="connsiteY0" fmla="*/ 618270 h 1236539"/>
              <a:gd name="connsiteX1" fmla="*/ 626743 w 1253486"/>
              <a:gd name="connsiteY1" fmla="*/ 0 h 1236539"/>
              <a:gd name="connsiteX2" fmla="*/ 1253486 w 1253486"/>
              <a:gd name="connsiteY2" fmla="*/ 618270 h 1236539"/>
              <a:gd name="connsiteX3" fmla="*/ 626743 w 1253486"/>
              <a:gd name="connsiteY3" fmla="*/ 1236540 h 1236539"/>
              <a:gd name="connsiteX4" fmla="*/ 0 w 1253486"/>
              <a:gd name="connsiteY4" fmla="*/ 618270 h 12365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3486" h="1236539" extrusionOk="0">
                <a:moveTo>
                  <a:pt x="0" y="618270"/>
                </a:moveTo>
                <a:cubicBezTo>
                  <a:pt x="11333" y="288976"/>
                  <a:pt x="265442" y="19656"/>
                  <a:pt x="626743" y="0"/>
                </a:cubicBezTo>
                <a:cubicBezTo>
                  <a:pt x="963521" y="-49908"/>
                  <a:pt x="1223269" y="275473"/>
                  <a:pt x="1253486" y="618270"/>
                </a:cubicBezTo>
                <a:cubicBezTo>
                  <a:pt x="1256702" y="984230"/>
                  <a:pt x="1029945" y="1242942"/>
                  <a:pt x="626743" y="1236540"/>
                </a:cubicBezTo>
                <a:cubicBezTo>
                  <a:pt x="282897" y="1246744"/>
                  <a:pt x="5423" y="961932"/>
                  <a:pt x="0" y="618270"/>
                </a:cubicBezTo>
                <a:close/>
              </a:path>
            </a:pathLst>
          </a:custGeom>
          <a:noFill/>
          <a:ln w="76200">
            <a:solidFill>
              <a:schemeClr val="accent4">
                <a:lumMod val="40000"/>
                <a:lumOff val="60000"/>
              </a:schemeClr>
            </a:solidFill>
            <a:extLst>
              <a:ext uri="{C807C97D-BFC1-408E-A445-0C87EB9F89A2}">
                <ask:lineSketchStyleProps xmlns:ask="http://schemas.microsoft.com/office/drawing/2018/sketchyshapes" sd="1678478707">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27312343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E16C55-369C-4304-9852-55ED13ACD070}"/>
              </a:ext>
            </a:extLst>
          </p:cNvPr>
          <p:cNvSpPr>
            <a:spLocks noGrp="1"/>
          </p:cNvSpPr>
          <p:nvPr>
            <p:ph type="title"/>
          </p:nvPr>
        </p:nvSpPr>
        <p:spPr>
          <a:xfrm>
            <a:off x="558799" y="1015999"/>
            <a:ext cx="11357897" cy="938159"/>
          </a:xfrm>
        </p:spPr>
        <p:txBody>
          <a:bodyPr/>
          <a:lstStyle/>
          <a:p>
            <a:r>
              <a:rPr lang="ja-JP" altLang="en-US" dirty="0"/>
              <a:t>３つあることが一目でわかる</a:t>
            </a:r>
            <a:endParaRPr kumimoji="1" lang="ja-JP" altLang="en-US" dirty="0"/>
          </a:p>
        </p:txBody>
      </p:sp>
      <p:sp>
        <p:nvSpPr>
          <p:cNvPr id="4" name="テキスト プレースホルダー 3">
            <a:extLst>
              <a:ext uri="{FF2B5EF4-FFF2-40B4-BE49-F238E27FC236}">
                <a16:creationId xmlns:a16="http://schemas.microsoft.com/office/drawing/2014/main" id="{2B61A5A0-94BF-4998-8B9C-2A7D26AFF253}"/>
              </a:ext>
            </a:extLst>
          </p:cNvPr>
          <p:cNvSpPr>
            <a:spLocks noGrp="1"/>
          </p:cNvSpPr>
          <p:nvPr>
            <p:ph type="body" sz="quarter" idx="11"/>
          </p:nvPr>
        </p:nvSpPr>
        <p:spPr/>
        <p:txBody>
          <a:bodyPr>
            <a:normAutofit/>
          </a:bodyPr>
          <a:lstStyle/>
          <a:p>
            <a:r>
              <a:rPr lang="ja-JP" altLang="en-US" dirty="0"/>
              <a:t>３</a:t>
            </a:r>
            <a:r>
              <a:rPr kumimoji="1" lang="ja-JP" altLang="en-US" dirty="0"/>
              <a:t>カードのレイアウトテンプレート</a:t>
            </a:r>
          </a:p>
        </p:txBody>
      </p:sp>
      <p:sp>
        <p:nvSpPr>
          <p:cNvPr id="5" name="正方形/長方形 4">
            <a:extLst>
              <a:ext uri="{FF2B5EF4-FFF2-40B4-BE49-F238E27FC236}">
                <a16:creationId xmlns:a16="http://schemas.microsoft.com/office/drawing/2014/main" id="{39C0D132-2F4B-4006-8549-232F72C8420E}"/>
              </a:ext>
            </a:extLst>
          </p:cNvPr>
          <p:cNvSpPr/>
          <p:nvPr/>
        </p:nvSpPr>
        <p:spPr>
          <a:xfrm>
            <a:off x="471271" y="1994510"/>
            <a:ext cx="3649340" cy="4622190"/>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A6B3703F-3442-4C13-A424-26EDC78FA83C}"/>
              </a:ext>
            </a:extLst>
          </p:cNvPr>
          <p:cNvSpPr/>
          <p:nvPr/>
        </p:nvSpPr>
        <p:spPr>
          <a:xfrm>
            <a:off x="4314710" y="1987780"/>
            <a:ext cx="3649340" cy="4622190"/>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12938DBA-3C61-44F9-B40C-5EE6E7382AD8}"/>
              </a:ext>
            </a:extLst>
          </p:cNvPr>
          <p:cNvSpPr/>
          <p:nvPr/>
        </p:nvSpPr>
        <p:spPr>
          <a:xfrm>
            <a:off x="8131938" y="1994510"/>
            <a:ext cx="3649340" cy="4622190"/>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A8841067-3C56-4306-BDEF-96AAF2CDC245}"/>
              </a:ext>
            </a:extLst>
          </p:cNvPr>
          <p:cNvSpPr txBox="1"/>
          <p:nvPr/>
        </p:nvSpPr>
        <p:spPr>
          <a:xfrm>
            <a:off x="531259" y="2006597"/>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①</a:t>
            </a:r>
          </a:p>
        </p:txBody>
      </p:sp>
      <p:sp>
        <p:nvSpPr>
          <p:cNvPr id="9" name="テキスト ボックス 8">
            <a:extLst>
              <a:ext uri="{FF2B5EF4-FFF2-40B4-BE49-F238E27FC236}">
                <a16:creationId xmlns:a16="http://schemas.microsoft.com/office/drawing/2014/main" id="{36301C33-873B-474E-BF88-9FB516462188}"/>
              </a:ext>
            </a:extLst>
          </p:cNvPr>
          <p:cNvSpPr txBox="1"/>
          <p:nvPr/>
        </p:nvSpPr>
        <p:spPr>
          <a:xfrm>
            <a:off x="4358102" y="2003704"/>
            <a:ext cx="954107" cy="369332"/>
          </a:xfrm>
          <a:prstGeom prst="rect">
            <a:avLst/>
          </a:prstGeom>
          <a:noFill/>
        </p:spPr>
        <p:txBody>
          <a:bodyPr wrap="none" rtlCol="0">
            <a:spAutoFit/>
          </a:bodyPr>
          <a:lstStyle/>
          <a:p>
            <a:r>
              <a:rPr kumimoji="1"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②</a:t>
            </a:r>
          </a:p>
        </p:txBody>
      </p:sp>
      <p:sp>
        <p:nvSpPr>
          <p:cNvPr id="10" name="テキスト ボックス 9">
            <a:extLst>
              <a:ext uri="{FF2B5EF4-FFF2-40B4-BE49-F238E27FC236}">
                <a16:creationId xmlns:a16="http://schemas.microsoft.com/office/drawing/2014/main" id="{5D7ED84C-8E42-4B3F-9C8D-98BF1B9561CF}"/>
              </a:ext>
            </a:extLst>
          </p:cNvPr>
          <p:cNvSpPr txBox="1"/>
          <p:nvPr/>
        </p:nvSpPr>
        <p:spPr>
          <a:xfrm>
            <a:off x="479700" y="228037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11" name="テキスト ボックス 10">
            <a:extLst>
              <a:ext uri="{FF2B5EF4-FFF2-40B4-BE49-F238E27FC236}">
                <a16:creationId xmlns:a16="http://schemas.microsoft.com/office/drawing/2014/main" id="{621D5999-FC9D-4598-9163-72444CBA8BFD}"/>
              </a:ext>
            </a:extLst>
          </p:cNvPr>
          <p:cNvSpPr txBox="1"/>
          <p:nvPr/>
        </p:nvSpPr>
        <p:spPr>
          <a:xfrm>
            <a:off x="4333110" y="2280372"/>
            <a:ext cx="2698175" cy="523220"/>
          </a:xfrm>
          <a:prstGeom prst="rect">
            <a:avLst/>
          </a:prstGeom>
          <a:noFill/>
        </p:spPr>
        <p:txBody>
          <a:bodyPr wrap="none" rtlCol="0">
            <a:spAutoFit/>
          </a:bodyPr>
          <a:lstStyle/>
          <a:p>
            <a:r>
              <a:rPr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endParaRPr kumimoji="1" lang="ja-JP" altLang="en-US" sz="2800" b="1" dirty="0">
              <a:solidFill>
                <a:schemeClr val="accent4"/>
              </a:solidFill>
              <a:latin typeface="游ゴシック" panose="020B0400000000000000" pitchFamily="50" charset="-128"/>
              <a:ea typeface="游ゴシック" panose="020B0400000000000000" pitchFamily="50" charset="-128"/>
            </a:endParaRPr>
          </a:p>
        </p:txBody>
      </p:sp>
      <p:sp>
        <p:nvSpPr>
          <p:cNvPr id="12" name="テキスト ボックス 11">
            <a:extLst>
              <a:ext uri="{FF2B5EF4-FFF2-40B4-BE49-F238E27FC236}">
                <a16:creationId xmlns:a16="http://schemas.microsoft.com/office/drawing/2014/main" id="{C150C880-B64C-462F-9C59-C613006463BF}"/>
              </a:ext>
            </a:extLst>
          </p:cNvPr>
          <p:cNvSpPr txBox="1"/>
          <p:nvPr/>
        </p:nvSpPr>
        <p:spPr>
          <a:xfrm>
            <a:off x="8202685" y="2003704"/>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③</a:t>
            </a:r>
          </a:p>
        </p:txBody>
      </p:sp>
      <p:sp>
        <p:nvSpPr>
          <p:cNvPr id="13" name="テキスト ボックス 12">
            <a:extLst>
              <a:ext uri="{FF2B5EF4-FFF2-40B4-BE49-F238E27FC236}">
                <a16:creationId xmlns:a16="http://schemas.microsoft.com/office/drawing/2014/main" id="{65A50A97-71BB-427E-9EEF-4F8464471794}"/>
              </a:ext>
            </a:extLst>
          </p:cNvPr>
          <p:cNvSpPr txBox="1"/>
          <p:nvPr/>
        </p:nvSpPr>
        <p:spPr>
          <a:xfrm>
            <a:off x="8148196" y="228037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Tree>
    <p:extLst>
      <p:ext uri="{BB962C8B-B14F-4D97-AF65-F5344CB8AC3E}">
        <p14:creationId xmlns:p14="http://schemas.microsoft.com/office/powerpoint/2010/main" val="13524943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E16C55-369C-4304-9852-55ED13ACD070}"/>
              </a:ext>
            </a:extLst>
          </p:cNvPr>
          <p:cNvSpPr>
            <a:spLocks noGrp="1"/>
          </p:cNvSpPr>
          <p:nvPr>
            <p:ph type="title"/>
          </p:nvPr>
        </p:nvSpPr>
        <p:spPr>
          <a:xfrm>
            <a:off x="558799" y="1015999"/>
            <a:ext cx="11357897" cy="938159"/>
          </a:xfrm>
        </p:spPr>
        <p:txBody>
          <a:bodyPr/>
          <a:lstStyle/>
          <a:p>
            <a:r>
              <a:rPr lang="ja-JP" altLang="en-US" dirty="0"/>
              <a:t>順序関係がある場合は並列よりこちらが良い</a:t>
            </a:r>
            <a:endParaRPr kumimoji="1" lang="ja-JP" altLang="en-US" dirty="0"/>
          </a:p>
        </p:txBody>
      </p:sp>
      <p:sp>
        <p:nvSpPr>
          <p:cNvPr id="4" name="テキスト プレースホルダー 3">
            <a:extLst>
              <a:ext uri="{FF2B5EF4-FFF2-40B4-BE49-F238E27FC236}">
                <a16:creationId xmlns:a16="http://schemas.microsoft.com/office/drawing/2014/main" id="{2B61A5A0-94BF-4998-8B9C-2A7D26AFF253}"/>
              </a:ext>
            </a:extLst>
          </p:cNvPr>
          <p:cNvSpPr>
            <a:spLocks noGrp="1"/>
          </p:cNvSpPr>
          <p:nvPr>
            <p:ph type="body" sz="quarter" idx="11"/>
          </p:nvPr>
        </p:nvSpPr>
        <p:spPr/>
        <p:txBody>
          <a:bodyPr>
            <a:normAutofit/>
          </a:bodyPr>
          <a:lstStyle/>
          <a:p>
            <a:r>
              <a:rPr lang="ja-JP" altLang="en-US" dirty="0"/>
              <a:t>３</a:t>
            </a:r>
            <a:r>
              <a:rPr kumimoji="1" lang="ja-JP" altLang="en-US" dirty="0"/>
              <a:t>カードのレイアウトテンプレートのアレンジ</a:t>
            </a:r>
          </a:p>
        </p:txBody>
      </p:sp>
      <p:sp>
        <p:nvSpPr>
          <p:cNvPr id="5" name="正方形/長方形 4">
            <a:extLst>
              <a:ext uri="{FF2B5EF4-FFF2-40B4-BE49-F238E27FC236}">
                <a16:creationId xmlns:a16="http://schemas.microsoft.com/office/drawing/2014/main" id="{39C0D132-2F4B-4006-8549-232F72C8420E}"/>
              </a:ext>
            </a:extLst>
          </p:cNvPr>
          <p:cNvSpPr/>
          <p:nvPr/>
        </p:nvSpPr>
        <p:spPr>
          <a:xfrm>
            <a:off x="471270" y="1994510"/>
            <a:ext cx="4333735" cy="3452668"/>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A6B3703F-3442-4C13-A424-26EDC78FA83C}"/>
              </a:ext>
            </a:extLst>
          </p:cNvPr>
          <p:cNvSpPr/>
          <p:nvPr/>
        </p:nvSpPr>
        <p:spPr>
          <a:xfrm>
            <a:off x="3975496" y="2474477"/>
            <a:ext cx="4333735" cy="3461104"/>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12938DBA-3C61-44F9-B40C-5EE6E7382AD8}"/>
              </a:ext>
            </a:extLst>
          </p:cNvPr>
          <p:cNvSpPr/>
          <p:nvPr/>
        </p:nvSpPr>
        <p:spPr>
          <a:xfrm>
            <a:off x="7479722" y="2962880"/>
            <a:ext cx="4333735" cy="3461104"/>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A8841067-3C56-4306-BDEF-96AAF2CDC245}"/>
              </a:ext>
            </a:extLst>
          </p:cNvPr>
          <p:cNvSpPr txBox="1"/>
          <p:nvPr/>
        </p:nvSpPr>
        <p:spPr>
          <a:xfrm>
            <a:off x="531259" y="2006597"/>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①</a:t>
            </a:r>
          </a:p>
        </p:txBody>
      </p:sp>
      <p:sp>
        <p:nvSpPr>
          <p:cNvPr id="9" name="テキスト ボックス 8">
            <a:extLst>
              <a:ext uri="{FF2B5EF4-FFF2-40B4-BE49-F238E27FC236}">
                <a16:creationId xmlns:a16="http://schemas.microsoft.com/office/drawing/2014/main" id="{36301C33-873B-474E-BF88-9FB516462188}"/>
              </a:ext>
            </a:extLst>
          </p:cNvPr>
          <p:cNvSpPr txBox="1"/>
          <p:nvPr/>
        </p:nvSpPr>
        <p:spPr>
          <a:xfrm>
            <a:off x="4018889" y="2490401"/>
            <a:ext cx="954107" cy="369332"/>
          </a:xfrm>
          <a:prstGeom prst="rect">
            <a:avLst/>
          </a:prstGeom>
          <a:noFill/>
        </p:spPr>
        <p:txBody>
          <a:bodyPr wrap="none" rtlCol="0">
            <a:spAutoFit/>
          </a:bodyPr>
          <a:lstStyle/>
          <a:p>
            <a:r>
              <a:rPr kumimoji="1"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②</a:t>
            </a:r>
          </a:p>
        </p:txBody>
      </p:sp>
      <p:sp>
        <p:nvSpPr>
          <p:cNvPr id="10" name="テキスト ボックス 9">
            <a:extLst>
              <a:ext uri="{FF2B5EF4-FFF2-40B4-BE49-F238E27FC236}">
                <a16:creationId xmlns:a16="http://schemas.microsoft.com/office/drawing/2014/main" id="{5D7ED84C-8E42-4B3F-9C8D-98BF1B9561CF}"/>
              </a:ext>
            </a:extLst>
          </p:cNvPr>
          <p:cNvSpPr txBox="1"/>
          <p:nvPr/>
        </p:nvSpPr>
        <p:spPr>
          <a:xfrm>
            <a:off x="479700" y="228037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11" name="テキスト ボックス 10">
            <a:extLst>
              <a:ext uri="{FF2B5EF4-FFF2-40B4-BE49-F238E27FC236}">
                <a16:creationId xmlns:a16="http://schemas.microsoft.com/office/drawing/2014/main" id="{621D5999-FC9D-4598-9163-72444CBA8BFD}"/>
              </a:ext>
            </a:extLst>
          </p:cNvPr>
          <p:cNvSpPr txBox="1"/>
          <p:nvPr/>
        </p:nvSpPr>
        <p:spPr>
          <a:xfrm>
            <a:off x="3993897" y="2767069"/>
            <a:ext cx="2698175" cy="523220"/>
          </a:xfrm>
          <a:prstGeom prst="rect">
            <a:avLst/>
          </a:prstGeom>
          <a:noFill/>
        </p:spPr>
        <p:txBody>
          <a:bodyPr wrap="none" rtlCol="0">
            <a:spAutoFit/>
          </a:bodyPr>
          <a:lstStyle/>
          <a:p>
            <a:r>
              <a:rPr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endParaRPr kumimoji="1" lang="ja-JP" altLang="en-US" sz="2800" b="1" dirty="0">
              <a:solidFill>
                <a:schemeClr val="accent4"/>
              </a:solidFill>
              <a:latin typeface="游ゴシック" panose="020B0400000000000000" pitchFamily="50" charset="-128"/>
              <a:ea typeface="游ゴシック" panose="020B0400000000000000" pitchFamily="50" charset="-128"/>
            </a:endParaRPr>
          </a:p>
        </p:txBody>
      </p:sp>
      <p:sp>
        <p:nvSpPr>
          <p:cNvPr id="12" name="テキスト ボックス 11">
            <a:extLst>
              <a:ext uri="{FF2B5EF4-FFF2-40B4-BE49-F238E27FC236}">
                <a16:creationId xmlns:a16="http://schemas.microsoft.com/office/drawing/2014/main" id="{C150C880-B64C-462F-9C59-C613006463BF}"/>
              </a:ext>
            </a:extLst>
          </p:cNvPr>
          <p:cNvSpPr txBox="1"/>
          <p:nvPr/>
        </p:nvSpPr>
        <p:spPr>
          <a:xfrm>
            <a:off x="7550470" y="2972074"/>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③</a:t>
            </a:r>
          </a:p>
        </p:txBody>
      </p:sp>
      <p:sp>
        <p:nvSpPr>
          <p:cNvPr id="13" name="テキスト ボックス 12">
            <a:extLst>
              <a:ext uri="{FF2B5EF4-FFF2-40B4-BE49-F238E27FC236}">
                <a16:creationId xmlns:a16="http://schemas.microsoft.com/office/drawing/2014/main" id="{65A50A97-71BB-427E-9EEF-4F8464471794}"/>
              </a:ext>
            </a:extLst>
          </p:cNvPr>
          <p:cNvSpPr txBox="1"/>
          <p:nvPr/>
        </p:nvSpPr>
        <p:spPr>
          <a:xfrm>
            <a:off x="7495981" y="324874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grpSp>
        <p:nvGrpSpPr>
          <p:cNvPr id="14" name="グループ化 13">
            <a:extLst>
              <a:ext uri="{FF2B5EF4-FFF2-40B4-BE49-F238E27FC236}">
                <a16:creationId xmlns:a16="http://schemas.microsoft.com/office/drawing/2014/main" id="{17F509DC-624C-49A3-87E6-BBEE33EDEF3D}"/>
              </a:ext>
            </a:extLst>
          </p:cNvPr>
          <p:cNvGrpSpPr/>
          <p:nvPr/>
        </p:nvGrpSpPr>
        <p:grpSpPr>
          <a:xfrm rot="19356426" flipV="1">
            <a:off x="4678821" y="1901851"/>
            <a:ext cx="638334" cy="948153"/>
            <a:chOff x="2664127" y="3374455"/>
            <a:chExt cx="1201975" cy="1567649"/>
          </a:xfrm>
        </p:grpSpPr>
        <p:sp>
          <p:nvSpPr>
            <p:cNvPr id="15" name="二等辺三角形 14">
              <a:extLst>
                <a:ext uri="{FF2B5EF4-FFF2-40B4-BE49-F238E27FC236}">
                  <a16:creationId xmlns:a16="http://schemas.microsoft.com/office/drawing/2014/main" id="{9EEC710F-D694-4533-BCFA-E134D0A97020}"/>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6" name="フリーフォーム: 図形 15">
              <a:extLst>
                <a:ext uri="{FF2B5EF4-FFF2-40B4-BE49-F238E27FC236}">
                  <a16:creationId xmlns:a16="http://schemas.microsoft.com/office/drawing/2014/main" id="{15C81248-34D7-4734-9365-7AF9C9D6CE42}"/>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17" name="グループ化 16">
            <a:extLst>
              <a:ext uri="{FF2B5EF4-FFF2-40B4-BE49-F238E27FC236}">
                <a16:creationId xmlns:a16="http://schemas.microsoft.com/office/drawing/2014/main" id="{62916356-7E2D-4DCC-AB30-31745E58C8A8}"/>
              </a:ext>
            </a:extLst>
          </p:cNvPr>
          <p:cNvGrpSpPr/>
          <p:nvPr/>
        </p:nvGrpSpPr>
        <p:grpSpPr>
          <a:xfrm rot="19356426" flipV="1">
            <a:off x="8176087" y="2353531"/>
            <a:ext cx="638334" cy="948153"/>
            <a:chOff x="2664127" y="3374455"/>
            <a:chExt cx="1201975" cy="1567649"/>
          </a:xfrm>
        </p:grpSpPr>
        <p:sp>
          <p:nvSpPr>
            <p:cNvPr id="18" name="二等辺三角形 17">
              <a:extLst>
                <a:ext uri="{FF2B5EF4-FFF2-40B4-BE49-F238E27FC236}">
                  <a16:creationId xmlns:a16="http://schemas.microsoft.com/office/drawing/2014/main" id="{C87AD141-B943-4BC4-BD07-C571A6486C27}"/>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9" name="フリーフォーム: 図形 18">
              <a:extLst>
                <a:ext uri="{FF2B5EF4-FFF2-40B4-BE49-F238E27FC236}">
                  <a16:creationId xmlns:a16="http://schemas.microsoft.com/office/drawing/2014/main" id="{7964E781-5C13-4DB8-8006-A03F32235976}"/>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Tree>
    <p:extLst>
      <p:ext uri="{BB962C8B-B14F-4D97-AF65-F5344CB8AC3E}">
        <p14:creationId xmlns:p14="http://schemas.microsoft.com/office/powerpoint/2010/main" val="34353251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E16C55-369C-4304-9852-55ED13ACD070}"/>
              </a:ext>
            </a:extLst>
          </p:cNvPr>
          <p:cNvSpPr>
            <a:spLocks noGrp="1"/>
          </p:cNvSpPr>
          <p:nvPr>
            <p:ph type="title"/>
          </p:nvPr>
        </p:nvSpPr>
        <p:spPr>
          <a:xfrm>
            <a:off x="558799" y="1015999"/>
            <a:ext cx="11357897" cy="938159"/>
          </a:xfrm>
        </p:spPr>
        <p:txBody>
          <a:bodyPr/>
          <a:lstStyle/>
          <a:p>
            <a:r>
              <a:rPr lang="ja-JP" altLang="en-US" dirty="0"/>
              <a:t>カードの間隔やアスペクト比は適宜調整</a:t>
            </a:r>
            <a:endParaRPr kumimoji="1" lang="ja-JP" altLang="en-US" dirty="0"/>
          </a:p>
        </p:txBody>
      </p:sp>
      <p:sp>
        <p:nvSpPr>
          <p:cNvPr id="4" name="テキスト プレースホルダー 3">
            <a:extLst>
              <a:ext uri="{FF2B5EF4-FFF2-40B4-BE49-F238E27FC236}">
                <a16:creationId xmlns:a16="http://schemas.microsoft.com/office/drawing/2014/main" id="{2B61A5A0-94BF-4998-8B9C-2A7D26AFF253}"/>
              </a:ext>
            </a:extLst>
          </p:cNvPr>
          <p:cNvSpPr>
            <a:spLocks noGrp="1"/>
          </p:cNvSpPr>
          <p:nvPr>
            <p:ph type="body" sz="quarter" idx="11"/>
          </p:nvPr>
        </p:nvSpPr>
        <p:spPr/>
        <p:txBody>
          <a:bodyPr>
            <a:normAutofit/>
          </a:bodyPr>
          <a:lstStyle/>
          <a:p>
            <a:r>
              <a:rPr kumimoji="1" lang="ja-JP" altLang="en-US" dirty="0"/>
              <a:t>４カードのレイアウトテンプレート</a:t>
            </a:r>
          </a:p>
        </p:txBody>
      </p:sp>
      <p:sp>
        <p:nvSpPr>
          <p:cNvPr id="5" name="正方形/長方形 4">
            <a:extLst>
              <a:ext uri="{FF2B5EF4-FFF2-40B4-BE49-F238E27FC236}">
                <a16:creationId xmlns:a16="http://schemas.microsoft.com/office/drawing/2014/main" id="{39C0D132-2F4B-4006-8549-232F72C8420E}"/>
              </a:ext>
            </a:extLst>
          </p:cNvPr>
          <p:cNvSpPr/>
          <p:nvPr/>
        </p:nvSpPr>
        <p:spPr>
          <a:xfrm>
            <a:off x="640876" y="1994510"/>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A8841067-3C56-4306-BDEF-96AAF2CDC245}"/>
              </a:ext>
            </a:extLst>
          </p:cNvPr>
          <p:cNvSpPr txBox="1"/>
          <p:nvPr/>
        </p:nvSpPr>
        <p:spPr>
          <a:xfrm>
            <a:off x="700865" y="2006597"/>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①</a:t>
            </a:r>
          </a:p>
        </p:txBody>
      </p:sp>
      <p:sp>
        <p:nvSpPr>
          <p:cNvPr id="10" name="テキスト ボックス 9">
            <a:extLst>
              <a:ext uri="{FF2B5EF4-FFF2-40B4-BE49-F238E27FC236}">
                <a16:creationId xmlns:a16="http://schemas.microsoft.com/office/drawing/2014/main" id="{5D7ED84C-8E42-4B3F-9C8D-98BF1B9561CF}"/>
              </a:ext>
            </a:extLst>
          </p:cNvPr>
          <p:cNvSpPr txBox="1"/>
          <p:nvPr/>
        </p:nvSpPr>
        <p:spPr>
          <a:xfrm>
            <a:off x="649306" y="228037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14" name="正方形/長方形 13">
            <a:extLst>
              <a:ext uri="{FF2B5EF4-FFF2-40B4-BE49-F238E27FC236}">
                <a16:creationId xmlns:a16="http://schemas.microsoft.com/office/drawing/2014/main" id="{5232DDF0-95D5-460E-AA94-DC8D8DD0F064}"/>
              </a:ext>
            </a:extLst>
          </p:cNvPr>
          <p:cNvSpPr/>
          <p:nvPr/>
        </p:nvSpPr>
        <p:spPr>
          <a:xfrm>
            <a:off x="640876" y="4391123"/>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C202D58C-18EE-4E67-9AEF-1DB098633F06}"/>
              </a:ext>
            </a:extLst>
          </p:cNvPr>
          <p:cNvSpPr txBox="1"/>
          <p:nvPr/>
        </p:nvSpPr>
        <p:spPr>
          <a:xfrm>
            <a:off x="700865" y="4403210"/>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lang="ja-JP" altLang="en-US" b="1" dirty="0">
                <a:solidFill>
                  <a:schemeClr val="tx2"/>
                </a:solidFill>
                <a:latin typeface="游ゴシック" panose="020B0400000000000000" pitchFamily="50" charset="-128"/>
                <a:ea typeface="游ゴシック" panose="020B0400000000000000" pitchFamily="50" charset="-128"/>
              </a:rPr>
              <a:t>②</a:t>
            </a:r>
            <a:endParaRPr kumimoji="1" lang="ja-JP" altLang="en-US" b="1" dirty="0">
              <a:solidFill>
                <a:schemeClr val="tx2"/>
              </a:solidFill>
              <a:latin typeface="游ゴシック" panose="020B0400000000000000" pitchFamily="50" charset="-128"/>
              <a:ea typeface="游ゴシック" panose="020B0400000000000000" pitchFamily="50" charset="-128"/>
            </a:endParaRPr>
          </a:p>
        </p:txBody>
      </p:sp>
      <p:sp>
        <p:nvSpPr>
          <p:cNvPr id="16" name="テキスト ボックス 15">
            <a:extLst>
              <a:ext uri="{FF2B5EF4-FFF2-40B4-BE49-F238E27FC236}">
                <a16:creationId xmlns:a16="http://schemas.microsoft.com/office/drawing/2014/main" id="{543829EA-747F-4BA0-8F66-AFA3FDC010E5}"/>
              </a:ext>
            </a:extLst>
          </p:cNvPr>
          <p:cNvSpPr txBox="1"/>
          <p:nvPr/>
        </p:nvSpPr>
        <p:spPr>
          <a:xfrm>
            <a:off x="649306" y="4676985"/>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17" name="正方形/長方形 16">
            <a:extLst>
              <a:ext uri="{FF2B5EF4-FFF2-40B4-BE49-F238E27FC236}">
                <a16:creationId xmlns:a16="http://schemas.microsoft.com/office/drawing/2014/main" id="{9F1A11E8-9C9F-4A77-8B31-57D3139B4012}"/>
              </a:ext>
            </a:extLst>
          </p:cNvPr>
          <p:cNvSpPr/>
          <p:nvPr/>
        </p:nvSpPr>
        <p:spPr>
          <a:xfrm>
            <a:off x="6201018" y="1994510"/>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305F87C2-6D93-4EA3-9EEA-55D3CDA272FA}"/>
              </a:ext>
            </a:extLst>
          </p:cNvPr>
          <p:cNvSpPr txBox="1"/>
          <p:nvPr/>
        </p:nvSpPr>
        <p:spPr>
          <a:xfrm>
            <a:off x="6261007" y="2006597"/>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③</a:t>
            </a:r>
          </a:p>
        </p:txBody>
      </p:sp>
      <p:sp>
        <p:nvSpPr>
          <p:cNvPr id="19" name="テキスト ボックス 18">
            <a:extLst>
              <a:ext uri="{FF2B5EF4-FFF2-40B4-BE49-F238E27FC236}">
                <a16:creationId xmlns:a16="http://schemas.microsoft.com/office/drawing/2014/main" id="{DC663FC7-C1AA-4982-A767-1FF58FE96905}"/>
              </a:ext>
            </a:extLst>
          </p:cNvPr>
          <p:cNvSpPr txBox="1"/>
          <p:nvPr/>
        </p:nvSpPr>
        <p:spPr>
          <a:xfrm>
            <a:off x="6209448" y="228037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20" name="正方形/長方形 19">
            <a:extLst>
              <a:ext uri="{FF2B5EF4-FFF2-40B4-BE49-F238E27FC236}">
                <a16:creationId xmlns:a16="http://schemas.microsoft.com/office/drawing/2014/main" id="{4ACBC013-96B2-409F-A562-B589C1D0B1BD}"/>
              </a:ext>
            </a:extLst>
          </p:cNvPr>
          <p:cNvSpPr/>
          <p:nvPr/>
        </p:nvSpPr>
        <p:spPr>
          <a:xfrm>
            <a:off x="6201018" y="4391123"/>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E3373E90-C939-46D0-994B-AB3E8CD503F8}"/>
              </a:ext>
            </a:extLst>
          </p:cNvPr>
          <p:cNvSpPr txBox="1"/>
          <p:nvPr/>
        </p:nvSpPr>
        <p:spPr>
          <a:xfrm>
            <a:off x="6261007" y="4403210"/>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④</a:t>
            </a:r>
          </a:p>
        </p:txBody>
      </p:sp>
      <p:sp>
        <p:nvSpPr>
          <p:cNvPr id="22" name="テキスト ボックス 21">
            <a:extLst>
              <a:ext uri="{FF2B5EF4-FFF2-40B4-BE49-F238E27FC236}">
                <a16:creationId xmlns:a16="http://schemas.microsoft.com/office/drawing/2014/main" id="{0D3CB004-3604-4BD1-BEAE-D199DD31A9E0}"/>
              </a:ext>
            </a:extLst>
          </p:cNvPr>
          <p:cNvSpPr txBox="1"/>
          <p:nvPr/>
        </p:nvSpPr>
        <p:spPr>
          <a:xfrm>
            <a:off x="6209448" y="4676985"/>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Tree>
    <p:extLst>
      <p:ext uri="{BB962C8B-B14F-4D97-AF65-F5344CB8AC3E}">
        <p14:creationId xmlns:p14="http://schemas.microsoft.com/office/powerpoint/2010/main" val="38382897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正方形/長方形 16">
            <a:extLst>
              <a:ext uri="{FF2B5EF4-FFF2-40B4-BE49-F238E27FC236}">
                <a16:creationId xmlns:a16="http://schemas.microsoft.com/office/drawing/2014/main" id="{9F1A11E8-9C9F-4A77-8B31-57D3139B4012}"/>
              </a:ext>
            </a:extLst>
          </p:cNvPr>
          <p:cNvSpPr/>
          <p:nvPr/>
        </p:nvSpPr>
        <p:spPr>
          <a:xfrm>
            <a:off x="6201018" y="1994510"/>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4ACBC013-96B2-409F-A562-B589C1D0B1BD}"/>
              </a:ext>
            </a:extLst>
          </p:cNvPr>
          <p:cNvSpPr/>
          <p:nvPr/>
        </p:nvSpPr>
        <p:spPr>
          <a:xfrm>
            <a:off x="6201018" y="4391123"/>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5232DDF0-95D5-460E-AA94-DC8D8DD0F064}"/>
              </a:ext>
            </a:extLst>
          </p:cNvPr>
          <p:cNvSpPr/>
          <p:nvPr/>
        </p:nvSpPr>
        <p:spPr>
          <a:xfrm>
            <a:off x="640876" y="4391123"/>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39C0D132-2F4B-4006-8549-232F72C8420E}"/>
              </a:ext>
            </a:extLst>
          </p:cNvPr>
          <p:cNvSpPr/>
          <p:nvPr/>
        </p:nvSpPr>
        <p:spPr>
          <a:xfrm>
            <a:off x="640876" y="1994510"/>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6DE16C55-369C-4304-9852-55ED13ACD070}"/>
              </a:ext>
            </a:extLst>
          </p:cNvPr>
          <p:cNvSpPr>
            <a:spLocks noGrp="1"/>
          </p:cNvSpPr>
          <p:nvPr>
            <p:ph type="title"/>
          </p:nvPr>
        </p:nvSpPr>
        <p:spPr>
          <a:xfrm>
            <a:off x="558799" y="1015999"/>
            <a:ext cx="11357897" cy="938159"/>
          </a:xfrm>
        </p:spPr>
        <p:txBody>
          <a:bodyPr/>
          <a:lstStyle/>
          <a:p>
            <a:r>
              <a:rPr lang="ja-JP" altLang="en-US" dirty="0"/>
              <a:t>循環がある場合はこんな感じが良い</a:t>
            </a:r>
            <a:endParaRPr kumimoji="1" lang="ja-JP" altLang="en-US" dirty="0"/>
          </a:p>
        </p:txBody>
      </p:sp>
      <p:sp>
        <p:nvSpPr>
          <p:cNvPr id="4" name="テキスト プレースホルダー 3">
            <a:extLst>
              <a:ext uri="{FF2B5EF4-FFF2-40B4-BE49-F238E27FC236}">
                <a16:creationId xmlns:a16="http://schemas.microsoft.com/office/drawing/2014/main" id="{2B61A5A0-94BF-4998-8B9C-2A7D26AFF253}"/>
              </a:ext>
            </a:extLst>
          </p:cNvPr>
          <p:cNvSpPr>
            <a:spLocks noGrp="1"/>
          </p:cNvSpPr>
          <p:nvPr>
            <p:ph type="body" sz="quarter" idx="11"/>
          </p:nvPr>
        </p:nvSpPr>
        <p:spPr/>
        <p:txBody>
          <a:bodyPr>
            <a:normAutofit/>
          </a:bodyPr>
          <a:lstStyle/>
          <a:p>
            <a:r>
              <a:rPr kumimoji="1" lang="ja-JP" altLang="en-US" dirty="0"/>
              <a:t>４カードのレイアウトテンプレートのアレンジ</a:t>
            </a:r>
          </a:p>
        </p:txBody>
      </p:sp>
      <p:sp>
        <p:nvSpPr>
          <p:cNvPr id="8" name="テキスト ボックス 7">
            <a:extLst>
              <a:ext uri="{FF2B5EF4-FFF2-40B4-BE49-F238E27FC236}">
                <a16:creationId xmlns:a16="http://schemas.microsoft.com/office/drawing/2014/main" id="{A8841067-3C56-4306-BDEF-96AAF2CDC245}"/>
              </a:ext>
            </a:extLst>
          </p:cNvPr>
          <p:cNvSpPr txBox="1"/>
          <p:nvPr/>
        </p:nvSpPr>
        <p:spPr>
          <a:xfrm>
            <a:off x="700865" y="2006597"/>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①</a:t>
            </a:r>
          </a:p>
        </p:txBody>
      </p:sp>
      <p:sp>
        <p:nvSpPr>
          <p:cNvPr id="10" name="テキスト ボックス 9">
            <a:extLst>
              <a:ext uri="{FF2B5EF4-FFF2-40B4-BE49-F238E27FC236}">
                <a16:creationId xmlns:a16="http://schemas.microsoft.com/office/drawing/2014/main" id="{5D7ED84C-8E42-4B3F-9C8D-98BF1B9561CF}"/>
              </a:ext>
            </a:extLst>
          </p:cNvPr>
          <p:cNvSpPr txBox="1"/>
          <p:nvPr/>
        </p:nvSpPr>
        <p:spPr>
          <a:xfrm>
            <a:off x="649306" y="228037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15" name="テキスト ボックス 14">
            <a:extLst>
              <a:ext uri="{FF2B5EF4-FFF2-40B4-BE49-F238E27FC236}">
                <a16:creationId xmlns:a16="http://schemas.microsoft.com/office/drawing/2014/main" id="{C202D58C-18EE-4E67-9AEF-1DB098633F06}"/>
              </a:ext>
            </a:extLst>
          </p:cNvPr>
          <p:cNvSpPr txBox="1"/>
          <p:nvPr/>
        </p:nvSpPr>
        <p:spPr>
          <a:xfrm>
            <a:off x="700865" y="4403210"/>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lang="ja-JP" altLang="en-US" b="1" dirty="0">
                <a:solidFill>
                  <a:schemeClr val="tx2"/>
                </a:solidFill>
                <a:latin typeface="游ゴシック" panose="020B0400000000000000" pitchFamily="50" charset="-128"/>
                <a:ea typeface="游ゴシック" panose="020B0400000000000000" pitchFamily="50" charset="-128"/>
              </a:rPr>
              <a:t>②</a:t>
            </a:r>
            <a:endParaRPr kumimoji="1" lang="ja-JP" altLang="en-US" b="1" dirty="0">
              <a:solidFill>
                <a:schemeClr val="tx2"/>
              </a:solidFill>
              <a:latin typeface="游ゴシック" panose="020B0400000000000000" pitchFamily="50" charset="-128"/>
              <a:ea typeface="游ゴシック" panose="020B0400000000000000" pitchFamily="50" charset="-128"/>
            </a:endParaRPr>
          </a:p>
        </p:txBody>
      </p:sp>
      <p:sp>
        <p:nvSpPr>
          <p:cNvPr id="16" name="テキスト ボックス 15">
            <a:extLst>
              <a:ext uri="{FF2B5EF4-FFF2-40B4-BE49-F238E27FC236}">
                <a16:creationId xmlns:a16="http://schemas.microsoft.com/office/drawing/2014/main" id="{543829EA-747F-4BA0-8F66-AFA3FDC010E5}"/>
              </a:ext>
            </a:extLst>
          </p:cNvPr>
          <p:cNvSpPr txBox="1"/>
          <p:nvPr/>
        </p:nvSpPr>
        <p:spPr>
          <a:xfrm>
            <a:off x="649306" y="4676985"/>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18" name="テキスト ボックス 17">
            <a:extLst>
              <a:ext uri="{FF2B5EF4-FFF2-40B4-BE49-F238E27FC236}">
                <a16:creationId xmlns:a16="http://schemas.microsoft.com/office/drawing/2014/main" id="{305F87C2-6D93-4EA3-9EEA-55D3CDA272FA}"/>
              </a:ext>
            </a:extLst>
          </p:cNvPr>
          <p:cNvSpPr txBox="1"/>
          <p:nvPr/>
        </p:nvSpPr>
        <p:spPr>
          <a:xfrm>
            <a:off x="6261007" y="2006597"/>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③</a:t>
            </a:r>
          </a:p>
        </p:txBody>
      </p:sp>
      <p:sp>
        <p:nvSpPr>
          <p:cNvPr id="19" name="テキスト ボックス 18">
            <a:extLst>
              <a:ext uri="{FF2B5EF4-FFF2-40B4-BE49-F238E27FC236}">
                <a16:creationId xmlns:a16="http://schemas.microsoft.com/office/drawing/2014/main" id="{DC663FC7-C1AA-4982-A767-1FF58FE96905}"/>
              </a:ext>
            </a:extLst>
          </p:cNvPr>
          <p:cNvSpPr txBox="1"/>
          <p:nvPr/>
        </p:nvSpPr>
        <p:spPr>
          <a:xfrm>
            <a:off x="6209448" y="2280372"/>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sp>
        <p:nvSpPr>
          <p:cNvPr id="21" name="テキスト ボックス 20">
            <a:extLst>
              <a:ext uri="{FF2B5EF4-FFF2-40B4-BE49-F238E27FC236}">
                <a16:creationId xmlns:a16="http://schemas.microsoft.com/office/drawing/2014/main" id="{E3373E90-C939-46D0-994B-AB3E8CD503F8}"/>
              </a:ext>
            </a:extLst>
          </p:cNvPr>
          <p:cNvSpPr txBox="1"/>
          <p:nvPr/>
        </p:nvSpPr>
        <p:spPr>
          <a:xfrm>
            <a:off x="6261007" y="4403210"/>
            <a:ext cx="954107" cy="369332"/>
          </a:xfrm>
          <a:prstGeom prst="rect">
            <a:avLst/>
          </a:prstGeom>
          <a:noFill/>
        </p:spPr>
        <p:txBody>
          <a:bodyPr wrap="none" rtlCol="0">
            <a:spAutoFit/>
          </a:bodyPr>
          <a:lstStyle/>
          <a:p>
            <a:r>
              <a:rPr lang="ja-JP" altLang="en-US" sz="1400" b="1" dirty="0">
                <a:solidFill>
                  <a:schemeClr val="tx2"/>
                </a:solidFill>
                <a:latin typeface="游ゴシック" panose="020B0400000000000000" pitchFamily="50" charset="-128"/>
                <a:ea typeface="游ゴシック" panose="020B0400000000000000" pitchFamily="50" charset="-128"/>
              </a:rPr>
              <a:t>カード</a:t>
            </a:r>
            <a:r>
              <a:rPr kumimoji="1" lang="ja-JP" altLang="en-US" b="1" dirty="0">
                <a:solidFill>
                  <a:schemeClr val="tx2"/>
                </a:solidFill>
                <a:latin typeface="游ゴシック" panose="020B0400000000000000" pitchFamily="50" charset="-128"/>
                <a:ea typeface="游ゴシック" panose="020B0400000000000000" pitchFamily="50" charset="-128"/>
              </a:rPr>
              <a:t>④</a:t>
            </a:r>
          </a:p>
        </p:txBody>
      </p:sp>
      <p:sp>
        <p:nvSpPr>
          <p:cNvPr id="22" name="テキスト ボックス 21">
            <a:extLst>
              <a:ext uri="{FF2B5EF4-FFF2-40B4-BE49-F238E27FC236}">
                <a16:creationId xmlns:a16="http://schemas.microsoft.com/office/drawing/2014/main" id="{0D3CB004-3604-4BD1-BEAE-D199DD31A9E0}"/>
              </a:ext>
            </a:extLst>
          </p:cNvPr>
          <p:cNvSpPr txBox="1"/>
          <p:nvPr/>
        </p:nvSpPr>
        <p:spPr>
          <a:xfrm>
            <a:off x="6209448" y="4676985"/>
            <a:ext cx="2698175" cy="523220"/>
          </a:xfrm>
          <a:prstGeom prst="rect">
            <a:avLst/>
          </a:prstGeom>
          <a:noFill/>
        </p:spPr>
        <p:txBody>
          <a:bodyPr wrap="none" rtlCol="0">
            <a:spAutoFit/>
          </a:bodyPr>
          <a:lstStyle/>
          <a:p>
            <a:r>
              <a:rPr kumimoji="1" lang="ja-JP" altLang="en-US" sz="2800" b="1" dirty="0">
                <a:solidFill>
                  <a:schemeClr val="accent4"/>
                </a:solidFill>
                <a:latin typeface="游ゴシック" panose="020B0400000000000000" pitchFamily="50" charset="-128"/>
                <a:ea typeface="游ゴシック" panose="020B0400000000000000" pitchFamily="50" charset="-128"/>
              </a:rPr>
              <a:t>カードの見出し</a:t>
            </a:r>
          </a:p>
        </p:txBody>
      </p:sp>
      <p:grpSp>
        <p:nvGrpSpPr>
          <p:cNvPr id="38" name="グループ化 37">
            <a:extLst>
              <a:ext uri="{FF2B5EF4-FFF2-40B4-BE49-F238E27FC236}">
                <a16:creationId xmlns:a16="http://schemas.microsoft.com/office/drawing/2014/main" id="{F763E3EA-C838-48BF-92C8-FD155CD72C61}"/>
              </a:ext>
            </a:extLst>
          </p:cNvPr>
          <p:cNvGrpSpPr/>
          <p:nvPr/>
        </p:nvGrpSpPr>
        <p:grpSpPr>
          <a:xfrm>
            <a:off x="5963376" y="5058404"/>
            <a:ext cx="595261" cy="523221"/>
            <a:chOff x="1572269" y="4816089"/>
            <a:chExt cx="938304" cy="840658"/>
          </a:xfrm>
        </p:grpSpPr>
        <p:sp>
          <p:nvSpPr>
            <p:cNvPr id="39" name="二等辺三角形 38">
              <a:extLst>
                <a:ext uri="{FF2B5EF4-FFF2-40B4-BE49-F238E27FC236}">
                  <a16:creationId xmlns:a16="http://schemas.microsoft.com/office/drawing/2014/main" id="{857E573D-CBEA-4840-BB8D-12A43C05AF2C}"/>
                </a:ext>
              </a:extLst>
            </p:cNvPr>
            <p:cNvSpPr/>
            <p:nvPr/>
          </p:nvSpPr>
          <p:spPr>
            <a:xfrm rot="4051206">
              <a:off x="1854270" y="5000443"/>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0" name="フリーフォーム: 図形 39">
              <a:extLst>
                <a:ext uri="{FF2B5EF4-FFF2-40B4-BE49-F238E27FC236}">
                  <a16:creationId xmlns:a16="http://schemas.microsoft.com/office/drawing/2014/main" id="{5EF6E50A-F8C0-4A0B-828C-3A1574F01379}"/>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dirty="0"/>
            </a:p>
          </p:txBody>
        </p:sp>
      </p:grpSp>
      <p:grpSp>
        <p:nvGrpSpPr>
          <p:cNvPr id="41" name="グループ化 40">
            <a:extLst>
              <a:ext uri="{FF2B5EF4-FFF2-40B4-BE49-F238E27FC236}">
                <a16:creationId xmlns:a16="http://schemas.microsoft.com/office/drawing/2014/main" id="{98959377-C979-4DBC-91B0-EE8A4B495524}"/>
              </a:ext>
            </a:extLst>
          </p:cNvPr>
          <p:cNvGrpSpPr/>
          <p:nvPr/>
        </p:nvGrpSpPr>
        <p:grpSpPr>
          <a:xfrm rot="16200000">
            <a:off x="6871061" y="3852436"/>
            <a:ext cx="595261" cy="523221"/>
            <a:chOff x="1572269" y="4816089"/>
            <a:chExt cx="938304" cy="840658"/>
          </a:xfrm>
        </p:grpSpPr>
        <p:sp>
          <p:nvSpPr>
            <p:cNvPr id="42" name="二等辺三角形 41">
              <a:extLst>
                <a:ext uri="{FF2B5EF4-FFF2-40B4-BE49-F238E27FC236}">
                  <a16:creationId xmlns:a16="http://schemas.microsoft.com/office/drawing/2014/main" id="{D24E386F-2924-40CC-9E36-E7C432F87F61}"/>
                </a:ext>
              </a:extLst>
            </p:cNvPr>
            <p:cNvSpPr/>
            <p:nvPr/>
          </p:nvSpPr>
          <p:spPr>
            <a:xfrm rot="4051206">
              <a:off x="1854270" y="5000443"/>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3" name="フリーフォーム: 図形 42">
              <a:extLst>
                <a:ext uri="{FF2B5EF4-FFF2-40B4-BE49-F238E27FC236}">
                  <a16:creationId xmlns:a16="http://schemas.microsoft.com/office/drawing/2014/main" id="{01947CE4-9925-438C-87B9-4BD670E28BBC}"/>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dirty="0"/>
            </a:p>
          </p:txBody>
        </p:sp>
      </p:grpSp>
      <p:grpSp>
        <p:nvGrpSpPr>
          <p:cNvPr id="44" name="グループ化 43">
            <a:extLst>
              <a:ext uri="{FF2B5EF4-FFF2-40B4-BE49-F238E27FC236}">
                <a16:creationId xmlns:a16="http://schemas.microsoft.com/office/drawing/2014/main" id="{3F72FAD5-5227-424C-B040-A021696E413C}"/>
              </a:ext>
            </a:extLst>
          </p:cNvPr>
          <p:cNvGrpSpPr/>
          <p:nvPr/>
        </p:nvGrpSpPr>
        <p:grpSpPr>
          <a:xfrm rot="10800000">
            <a:off x="5622654" y="3077138"/>
            <a:ext cx="595261" cy="523221"/>
            <a:chOff x="1572269" y="4816089"/>
            <a:chExt cx="938304" cy="840658"/>
          </a:xfrm>
        </p:grpSpPr>
        <p:sp>
          <p:nvSpPr>
            <p:cNvPr id="45" name="二等辺三角形 44">
              <a:extLst>
                <a:ext uri="{FF2B5EF4-FFF2-40B4-BE49-F238E27FC236}">
                  <a16:creationId xmlns:a16="http://schemas.microsoft.com/office/drawing/2014/main" id="{CC9CF80C-33A0-4CD9-A492-0F5FE96D7E9F}"/>
                </a:ext>
              </a:extLst>
            </p:cNvPr>
            <p:cNvSpPr/>
            <p:nvPr/>
          </p:nvSpPr>
          <p:spPr>
            <a:xfrm rot="4051206">
              <a:off x="1854270" y="5000443"/>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6" name="フリーフォーム: 図形 45">
              <a:extLst>
                <a:ext uri="{FF2B5EF4-FFF2-40B4-BE49-F238E27FC236}">
                  <a16:creationId xmlns:a16="http://schemas.microsoft.com/office/drawing/2014/main" id="{464BB2E2-722B-44B5-98C5-2E999D1E52E1}"/>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dirty="0"/>
            </a:p>
          </p:txBody>
        </p:sp>
      </p:grpSp>
      <p:grpSp>
        <p:nvGrpSpPr>
          <p:cNvPr id="47" name="グループ化 46">
            <a:extLst>
              <a:ext uri="{FF2B5EF4-FFF2-40B4-BE49-F238E27FC236}">
                <a16:creationId xmlns:a16="http://schemas.microsoft.com/office/drawing/2014/main" id="{DF776DC2-B0C8-4C4B-870E-11E5094A648C}"/>
              </a:ext>
            </a:extLst>
          </p:cNvPr>
          <p:cNvGrpSpPr/>
          <p:nvPr/>
        </p:nvGrpSpPr>
        <p:grpSpPr>
          <a:xfrm rot="5400000">
            <a:off x="4798844" y="4214160"/>
            <a:ext cx="595261" cy="523221"/>
            <a:chOff x="1572269" y="4816089"/>
            <a:chExt cx="938304" cy="840658"/>
          </a:xfrm>
        </p:grpSpPr>
        <p:sp>
          <p:nvSpPr>
            <p:cNvPr id="48" name="二等辺三角形 47">
              <a:extLst>
                <a:ext uri="{FF2B5EF4-FFF2-40B4-BE49-F238E27FC236}">
                  <a16:creationId xmlns:a16="http://schemas.microsoft.com/office/drawing/2014/main" id="{B73EA7B5-2C86-4BC2-927B-676AE8EE2F83}"/>
                </a:ext>
              </a:extLst>
            </p:cNvPr>
            <p:cNvSpPr/>
            <p:nvPr/>
          </p:nvSpPr>
          <p:spPr>
            <a:xfrm rot="4051206">
              <a:off x="1854270" y="5000443"/>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9" name="フリーフォーム: 図形 48">
              <a:extLst>
                <a:ext uri="{FF2B5EF4-FFF2-40B4-BE49-F238E27FC236}">
                  <a16:creationId xmlns:a16="http://schemas.microsoft.com/office/drawing/2014/main" id="{6394FB25-B87E-4AD3-80ED-6FD1473CADC2}"/>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dirty="0"/>
            </a:p>
          </p:txBody>
        </p:sp>
      </p:grpSp>
    </p:spTree>
    <p:extLst>
      <p:ext uri="{BB962C8B-B14F-4D97-AF65-F5344CB8AC3E}">
        <p14:creationId xmlns:p14="http://schemas.microsoft.com/office/powerpoint/2010/main" val="1994194877"/>
      </p:ext>
    </p:extLst>
  </p:cSld>
  <p:clrMapOvr>
    <a:masterClrMapping/>
  </p:clrMapOvr>
</p:sld>
</file>

<file path=ppt/theme/theme1.xml><?xml version="1.0" encoding="utf-8"?>
<a:theme xmlns:a="http://schemas.openxmlformats.org/drawingml/2006/main" name="研究発表スライドマスタ">
  <a:themeElements>
    <a:clrScheme name="ユーザー定義 8">
      <a:dk1>
        <a:srgbClr val="4D4D4D"/>
      </a:dk1>
      <a:lt1>
        <a:srgbClr val="F8F8F8"/>
      </a:lt1>
      <a:dk2>
        <a:srgbClr val="7F7F7F"/>
      </a:dk2>
      <a:lt2>
        <a:srgbClr val="B2B2B2"/>
      </a:lt2>
      <a:accent1>
        <a:srgbClr val="2E5B96"/>
      </a:accent1>
      <a:accent2>
        <a:srgbClr val="C03936"/>
      </a:accent2>
      <a:accent3>
        <a:srgbClr val="ED7D31"/>
      </a:accent3>
      <a:accent4>
        <a:srgbClr val="3E9288"/>
      </a:accent4>
      <a:accent5>
        <a:srgbClr val="4747C1"/>
      </a:accent5>
      <a:accent6>
        <a:srgbClr val="70AD47"/>
      </a:accent6>
      <a:hlink>
        <a:srgbClr val="0563C1"/>
      </a:hlink>
      <a:folHlink>
        <a:srgbClr val="954F72"/>
      </a:folHlink>
    </a:clrScheme>
    <a:fontScheme name="ユーザー定義 2">
      <a:majorFont>
        <a:latin typeface="Segoe UI"/>
        <a:ea typeface="游ゴシック Medium"/>
        <a:cs typeface=""/>
      </a:majorFont>
      <a:minorFont>
        <a:latin typeface="Segoe UI"/>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テンプレート" id="{4277D8D4-9358-CF46-AD5D-1A76F80E8CDA}" vid="{490466FF-E944-CA4C-8335-8B13B1B780AB}"/>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E7783413B678BA4F83764129A5DB4607" ma:contentTypeVersion="0" ma:contentTypeDescription="新しいドキュメントを作成します。" ma:contentTypeScope="" ma:versionID="36bbfa3e05015206d9e02241ed477da6">
  <xsd:schema xmlns:xsd="http://www.w3.org/2001/XMLSchema" xmlns:xs="http://www.w3.org/2001/XMLSchema" xmlns:p="http://schemas.microsoft.com/office/2006/metadata/properties" targetNamespace="http://schemas.microsoft.com/office/2006/metadata/properties" ma:root="true" ma:fieldsID="bfa5fc393d419cfd9816b88a984ff78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EFD21F3-24CC-4605-A5CE-D678D2531AFB}">
  <ds:schemaRefs>
    <ds:schemaRef ds:uri="http://schemas.microsoft.com/sharepoint/v3/contenttype/forms"/>
  </ds:schemaRefs>
</ds:datastoreItem>
</file>

<file path=customXml/itemProps2.xml><?xml version="1.0" encoding="utf-8"?>
<ds:datastoreItem xmlns:ds="http://schemas.openxmlformats.org/officeDocument/2006/customXml" ds:itemID="{2B33ED81-A378-482E-B710-0D21A32023B2}">
  <ds:schemaRefs>
    <ds:schemaRef ds:uri="http://www.w3.org/XML/1998/namespace"/>
    <ds:schemaRef ds:uri="http://purl.org/dc/terms/"/>
    <ds:schemaRef ds:uri="http://schemas.microsoft.com/office/2006/metadata/properties"/>
    <ds:schemaRef ds:uri="http://schemas.microsoft.com/office/2006/documentManagement/types"/>
    <ds:schemaRef ds:uri="http://purl.org/dc/dcmitype/"/>
    <ds:schemaRef ds:uri="http://purl.org/dc/elements/1.1/"/>
    <ds:schemaRef ds:uri="http://schemas.openxmlformats.org/package/2006/metadata/core-properties"/>
    <ds:schemaRef ds:uri="http://schemas.microsoft.com/office/infopath/2007/PartnerControls"/>
  </ds:schemaRefs>
</ds:datastoreItem>
</file>

<file path=customXml/itemProps3.xml><?xml version="1.0" encoding="utf-8"?>
<ds:datastoreItem xmlns:ds="http://schemas.openxmlformats.org/officeDocument/2006/customXml" ds:itemID="{BE74453E-F96D-478A-A3EE-1788D5BEB2B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研究発表スライドマスタ</Template>
  <TotalTime>786</TotalTime>
  <Words>1121</Words>
  <Application>Microsoft Macintosh PowerPoint</Application>
  <PresentationFormat>ワイド画面</PresentationFormat>
  <Paragraphs>190</Paragraphs>
  <Slides>17</Slides>
  <Notes>0</Notes>
  <HiddenSlides>7</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17</vt:i4>
      </vt:variant>
    </vt:vector>
  </HeadingPairs>
  <TitlesOfParts>
    <vt:vector size="24" baseType="lpstr">
      <vt:lpstr>游ゴシック</vt:lpstr>
      <vt:lpstr>游ゴシック Medium</vt:lpstr>
      <vt:lpstr>Arial</vt:lpstr>
      <vt:lpstr>Cambria Math</vt:lpstr>
      <vt:lpstr>Segoe UI</vt:lpstr>
      <vt:lpstr>Wingdings</vt:lpstr>
      <vt:lpstr>研究発表スライドマスタ</vt:lpstr>
      <vt:lpstr>目的：TGR5に結合して活性化する作用を持つ生理活性ペプチドの探索</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寸法や色は場合に応じて調整しましょう</vt:lpstr>
      <vt:lpstr>PowerPoint プレゼンテーション</vt:lpstr>
      <vt:lpstr>３つあることが一目でわかる</vt:lpstr>
      <vt:lpstr>順序関係がある場合は並列よりこちらが良い</vt:lpstr>
      <vt:lpstr>カードの間隔やアスペクト比は適宜調整</vt:lpstr>
      <vt:lpstr>循環がある場合はこんな感じが良い</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NAKAMURA Yusaku</dc:creator>
  <cp:lastModifiedBy>NAKAMURA Yusaku</cp:lastModifiedBy>
  <cp:revision>7</cp:revision>
  <dcterms:created xsi:type="dcterms:W3CDTF">2024-05-30T04:20:08Z</dcterms:created>
  <dcterms:modified xsi:type="dcterms:W3CDTF">2024-06-06T02:19:48Z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0x010100E7783413B678BA4F83764129A5DB4607</vt:lpwstr>
  </property>
</Properties>
</file>