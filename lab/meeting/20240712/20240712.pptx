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4"/>
  </p:sldMasterIdLst>
  <p:notesMasterIdLst>
    <p:notesMasterId r:id="rId43"/>
  </p:notesMasterIdLst>
  <p:handoutMasterIdLst>
    <p:handoutMasterId r:id="rId44"/>
  </p:handoutMasterIdLst>
  <p:sldIdLst>
    <p:sldId id="296" r:id="rId5"/>
    <p:sldId id="354" r:id="rId6"/>
    <p:sldId id="330" r:id="rId7"/>
    <p:sldId id="332" r:id="rId8"/>
    <p:sldId id="323" r:id="rId9"/>
    <p:sldId id="334" r:id="rId10"/>
    <p:sldId id="351" r:id="rId11"/>
    <p:sldId id="337" r:id="rId12"/>
    <p:sldId id="339" r:id="rId13"/>
    <p:sldId id="340" r:id="rId14"/>
    <p:sldId id="349" r:id="rId15"/>
    <p:sldId id="342" r:id="rId16"/>
    <p:sldId id="333" r:id="rId17"/>
    <p:sldId id="328" r:id="rId18"/>
    <p:sldId id="350" r:id="rId19"/>
    <p:sldId id="345" r:id="rId20"/>
    <p:sldId id="346" r:id="rId21"/>
    <p:sldId id="347" r:id="rId22"/>
    <p:sldId id="348" r:id="rId23"/>
    <p:sldId id="352" r:id="rId24"/>
    <p:sldId id="357" r:id="rId25"/>
    <p:sldId id="359" r:id="rId26"/>
    <p:sldId id="360" r:id="rId27"/>
    <p:sldId id="362" r:id="rId28"/>
    <p:sldId id="361" r:id="rId29"/>
    <p:sldId id="355" r:id="rId30"/>
    <p:sldId id="356" r:id="rId31"/>
    <p:sldId id="327" r:id="rId32"/>
    <p:sldId id="353" r:id="rId33"/>
    <p:sldId id="335" r:id="rId34"/>
    <p:sldId id="329" r:id="rId35"/>
    <p:sldId id="331" r:id="rId36"/>
    <p:sldId id="298" r:id="rId37"/>
    <p:sldId id="304" r:id="rId38"/>
    <p:sldId id="300" r:id="rId39"/>
    <p:sldId id="302" r:id="rId40"/>
    <p:sldId id="301" r:id="rId41"/>
    <p:sldId id="303" r:id="rId4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B9B7"/>
    <a:srgbClr val="FFFFFF"/>
    <a:srgbClr val="E8AEAD"/>
    <a:srgbClr val="AADBD5"/>
    <a:srgbClr val="F2EAE2"/>
    <a:srgbClr val="F8F8F8"/>
    <a:srgbClr val="3B6FBB"/>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66" autoAdjust="0"/>
    <p:restoredTop sz="75985"/>
  </p:normalViewPr>
  <p:slideViewPr>
    <p:cSldViewPr snapToGrid="0">
      <p:cViewPr>
        <p:scale>
          <a:sx n="122" d="100"/>
          <a:sy n="122" d="100"/>
        </p:scale>
        <p:origin x="1536" y="168"/>
      </p:cViewPr>
      <p:guideLst/>
    </p:cSldViewPr>
  </p:slideViewPr>
  <p:notesTextViewPr>
    <p:cViewPr>
      <p:scale>
        <a:sx n="1" d="1"/>
        <a:sy n="1" d="1"/>
      </p:scale>
      <p:origin x="0" y="0"/>
    </p:cViewPr>
  </p:notesTextViewPr>
  <p:notesViewPr>
    <p:cSldViewPr snapToGrid="0">
      <p:cViewPr varScale="1">
        <p:scale>
          <a:sx n="49" d="100"/>
          <a:sy n="49" d="100"/>
        </p:scale>
        <p:origin x="2733" y="3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oleObject" Target="file:////Volumes/users/&#20491;&#20154;/&#28165;&#27700;&#32724;&#22826;/4.%20&#20462;&#35542;&#12539;&#21330;&#35542;/&#20462;&#35542;/&#21407;&#31295;/&#12486;&#12441;&#12540;&#12479;/Supp/FigS17/231226.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yutteee/univ/latex/&#30740;&#31350;/3/resul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yutteee/univ/latex/&#30740;&#31350;/4/4_resul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yutteee/univ/latex/&#30740;&#31350;/5/20240607_resul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yutteee/univ/latex/&#30740;&#31350;/6/20240614_resul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Users/yutteee/univ/latex/&#30740;&#31350;/7/20240624_resul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Users/yutteee/univ/latex/&#30740;&#31350;/8/2024_0705_resul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Volumes/users/&#20491;&#20154;/&#28165;&#27700;&#32724;&#22826;/4.%20&#20462;&#35542;&#12539;&#21330;&#35542;/&#20462;&#35542;/&#21407;&#31295;/&#12486;&#12441;&#12540;&#12479;/Supp/FigS17/231226.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Users/yutteee/univ/latex/&#30740;&#31350;/4/Book1.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2">
                <a:lumMod val="60000"/>
                <a:lumOff val="40000"/>
              </a:schemeClr>
            </a:solidFill>
            <a:ln>
              <a:noFill/>
            </a:ln>
            <a:effectLst/>
          </c:spPr>
          <c:invertIfNegative val="0"/>
          <c:errBars>
            <c:errBarType val="both"/>
            <c:errValType val="fixedVal"/>
            <c:noEndCap val="0"/>
            <c:val val="5"/>
            <c:spPr>
              <a:noFill/>
              <a:ln w="25400" cap="flat" cmpd="sng" algn="ctr">
                <a:solidFill>
                  <a:schemeClr val="tx1"/>
                </a:solidFill>
                <a:round/>
              </a:ln>
              <a:effectLst/>
            </c:spPr>
          </c:errBars>
          <c:cat>
            <c:strRef>
              <c:f>(Sheet4!$B$3:$B$10,Sheet4!$B$13:$B$16)</c:f>
              <c:strCache>
                <c:ptCount val="12"/>
                <c:pt idx="0">
                  <c:v>control</c:v>
                </c:pt>
                <c:pt idx="1">
                  <c:v>DCA only</c:v>
                </c:pt>
                <c:pt idx="2">
                  <c:v>QRPRGS</c:v>
                </c:pt>
                <c:pt idx="3">
                  <c:v>QRPRGS + DCA</c:v>
                </c:pt>
                <c:pt idx="4">
                  <c:v>QSKSRR</c:v>
                </c:pt>
                <c:pt idx="5">
                  <c:v>QSKSRR + DCA</c:v>
                </c:pt>
                <c:pt idx="6">
                  <c:v>QLSRRA</c:v>
                </c:pt>
                <c:pt idx="7">
                  <c:v>QLSRRA + DCA</c:v>
                </c:pt>
                <c:pt idx="8">
                  <c:v>PRPRQP</c:v>
                </c:pt>
                <c:pt idx="9">
                  <c:v>PRPRQP + DCA</c:v>
                </c:pt>
                <c:pt idx="10">
                  <c:v>VRFPLL</c:v>
                </c:pt>
                <c:pt idx="11">
                  <c:v>VRFPLL + DCA</c:v>
                </c:pt>
              </c:strCache>
              <c:extLst/>
            </c:strRef>
          </c:cat>
          <c:val>
            <c:numRef>
              <c:f>(Sheet4!$F$3:$F$10,Sheet4!$F$13:$F$16)</c:f>
              <c:numCache>
                <c:formatCode>General</c:formatCode>
                <c:ptCount val="12"/>
                <c:pt idx="0">
                  <c:v>0</c:v>
                </c:pt>
                <c:pt idx="1">
                  <c:v>100.00000000000004</c:v>
                </c:pt>
                <c:pt idx="2">
                  <c:v>8.2852903901651871</c:v>
                </c:pt>
                <c:pt idx="3">
                  <c:v>128.74320238019871</c:v>
                </c:pt>
                <c:pt idx="4">
                  <c:v>15.860671707190846</c:v>
                </c:pt>
                <c:pt idx="5">
                  <c:v>113.04825768679719</c:v>
                </c:pt>
                <c:pt idx="6">
                  <c:v>11.811442651584946</c:v>
                </c:pt>
                <c:pt idx="7">
                  <c:v>140.00015340523683</c:v>
                </c:pt>
                <c:pt idx="8">
                  <c:v>0.70597139303162315</c:v>
                </c:pt>
                <c:pt idx="9">
                  <c:v>93.790172635210297</c:v>
                </c:pt>
                <c:pt idx="10">
                  <c:v>7.7515603852156412</c:v>
                </c:pt>
                <c:pt idx="11">
                  <c:v>101.59868607414002</c:v>
                </c:pt>
              </c:numCache>
              <c:extLst/>
            </c:numRef>
          </c:val>
          <c:extLst>
            <c:ext xmlns:c16="http://schemas.microsoft.com/office/drawing/2014/chart" uri="{C3380CC4-5D6E-409C-BE32-E72D297353CC}">
              <c16:uniqueId val="{00000000-C313-CF4E-B2C3-C25C397DC9CF}"/>
            </c:ext>
          </c:extLst>
        </c:ser>
        <c:dLbls>
          <c:showLegendKey val="0"/>
          <c:showVal val="0"/>
          <c:showCatName val="0"/>
          <c:showSerName val="0"/>
          <c:showPercent val="0"/>
          <c:showBubbleSize val="0"/>
        </c:dLbls>
        <c:gapWidth val="219"/>
        <c:overlap val="-27"/>
        <c:axId val="734067296"/>
        <c:axId val="734063336"/>
      </c:barChart>
      <c:catAx>
        <c:axId val="734067296"/>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crossAx val="734063336"/>
        <c:crosses val="autoZero"/>
        <c:auto val="1"/>
        <c:lblAlgn val="ctr"/>
        <c:lblOffset val="100"/>
        <c:noMultiLvlLbl val="0"/>
      </c:catAx>
      <c:valAx>
        <c:axId val="734063336"/>
        <c:scaling>
          <c:orientation val="minMax"/>
        </c:scaling>
        <c:delete val="0"/>
        <c:axPos val="l"/>
        <c:title>
          <c:tx>
            <c:rich>
              <a:bodyPr rot="-540000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en-US"/>
                  <a:t>Relative Luc activity [%]</a:t>
                </a:r>
                <a:endParaRPr lang="ja-JP"/>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crossAx val="7340672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solidFill>
            <a:schemeClr val="tx1"/>
          </a:solidFill>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45310933803777"/>
          <c:y val="3.416098417987419E-2"/>
          <c:w val="0.83173492832916196"/>
          <c:h val="0.92842922508290615"/>
        </c:manualLayout>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Sheet1!$B$28:$I$28</c:f>
                <c:numCache>
                  <c:formatCode>General</c:formatCode>
                  <c:ptCount val="8"/>
                  <c:pt idx="0">
                    <c:v>3.2366675823025002</c:v>
                  </c:pt>
                  <c:pt idx="1">
                    <c:v>24.037740626834424</c:v>
                  </c:pt>
                  <c:pt idx="2">
                    <c:v>0.75470226497672044</c:v>
                  </c:pt>
                  <c:pt idx="3">
                    <c:v>18.582048776929167</c:v>
                  </c:pt>
                  <c:pt idx="4">
                    <c:v>8.054982092444849</c:v>
                  </c:pt>
                  <c:pt idx="5">
                    <c:v>33.931685262444397</c:v>
                  </c:pt>
                  <c:pt idx="6">
                    <c:v>9.1012345222664681</c:v>
                  </c:pt>
                  <c:pt idx="7">
                    <c:v>18.958747776136605</c:v>
                  </c:pt>
                </c:numCache>
              </c:numRef>
            </c:plus>
            <c:minus>
              <c:numRef>
                <c:f>Sheet1!$B$28:$I$28</c:f>
                <c:numCache>
                  <c:formatCode>General</c:formatCode>
                  <c:ptCount val="8"/>
                  <c:pt idx="0">
                    <c:v>3.2366675823025002</c:v>
                  </c:pt>
                  <c:pt idx="1">
                    <c:v>24.037740626834424</c:v>
                  </c:pt>
                  <c:pt idx="2">
                    <c:v>0.75470226497672044</c:v>
                  </c:pt>
                  <c:pt idx="3">
                    <c:v>18.582048776929167</c:v>
                  </c:pt>
                  <c:pt idx="4">
                    <c:v>8.054982092444849</c:v>
                  </c:pt>
                  <c:pt idx="5">
                    <c:v>33.931685262444397</c:v>
                  </c:pt>
                  <c:pt idx="6">
                    <c:v>9.1012345222664681</c:v>
                  </c:pt>
                  <c:pt idx="7">
                    <c:v>18.958747776136605</c:v>
                  </c:pt>
                </c:numCache>
              </c:numRef>
            </c:minus>
            <c:spPr>
              <a:noFill/>
              <a:ln w="25400" cap="flat" cmpd="sng" algn="ctr">
                <a:solidFill>
                  <a:schemeClr val="tx1"/>
                </a:solidFill>
                <a:round/>
              </a:ln>
              <a:effectLst/>
            </c:spPr>
          </c:errBars>
          <c:cat>
            <c:strRef>
              <c:f>Sheet1!$B$30:$I$30</c:f>
              <c:strCache>
                <c:ptCount val="8"/>
                <c:pt idx="0">
                  <c:v>control</c:v>
                </c:pt>
                <c:pt idx="1">
                  <c:v>DCA only</c:v>
                </c:pt>
                <c:pt idx="2">
                  <c:v>QLSRRA</c:v>
                </c:pt>
                <c:pt idx="3">
                  <c:v>QLSRRA +DCA</c:v>
                </c:pt>
                <c:pt idx="4">
                  <c:v>VRFPLL</c:v>
                </c:pt>
                <c:pt idx="5">
                  <c:v>VRFPLL +DCA</c:v>
                </c:pt>
                <c:pt idx="6">
                  <c:v>QSKSRR</c:v>
                </c:pt>
                <c:pt idx="7">
                  <c:v>QSKSRR +DCA</c:v>
                </c:pt>
              </c:strCache>
            </c:strRef>
          </c:cat>
          <c:val>
            <c:numRef>
              <c:f>Sheet1!$B$27:$I$27</c:f>
              <c:numCache>
                <c:formatCode>General</c:formatCode>
                <c:ptCount val="8"/>
                <c:pt idx="0">
                  <c:v>6.4520083540763186E-9</c:v>
                </c:pt>
                <c:pt idx="1">
                  <c:v>100.00000005749814</c:v>
                </c:pt>
                <c:pt idx="2">
                  <c:v>4.2831039187564778E-2</c:v>
                </c:pt>
                <c:pt idx="3">
                  <c:v>134.06604131637079</c:v>
                </c:pt>
                <c:pt idx="4">
                  <c:v>9.6623204265659215</c:v>
                </c:pt>
                <c:pt idx="5">
                  <c:v>80.948022967734289</c:v>
                </c:pt>
                <c:pt idx="6">
                  <c:v>4.8672449811789908</c:v>
                </c:pt>
                <c:pt idx="7">
                  <c:v>67.726276066030863</c:v>
                </c:pt>
              </c:numCache>
            </c:numRef>
          </c:val>
          <c:extLst>
            <c:ext xmlns:c16="http://schemas.microsoft.com/office/drawing/2014/chart" uri="{C3380CC4-5D6E-409C-BE32-E72D297353CC}">
              <c16:uniqueId val="{00000000-7A0C-2646-92B8-DBBED71A76FD}"/>
            </c:ext>
          </c:extLst>
        </c:ser>
        <c:dLbls>
          <c:showLegendKey val="0"/>
          <c:showVal val="0"/>
          <c:showCatName val="0"/>
          <c:showSerName val="0"/>
          <c:showPercent val="0"/>
          <c:showBubbleSize val="0"/>
        </c:dLbls>
        <c:gapWidth val="219"/>
        <c:overlap val="-27"/>
        <c:axId val="2049632768"/>
        <c:axId val="2124795136"/>
      </c:barChart>
      <c:catAx>
        <c:axId val="204963276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0" spcFirstLastPara="1" vertOverflow="ellipsis"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2124795136"/>
        <c:crosses val="autoZero"/>
        <c:auto val="1"/>
        <c:lblAlgn val="ctr"/>
        <c:lblOffset val="100"/>
        <c:noMultiLvlLbl val="0"/>
      </c:catAx>
      <c:valAx>
        <c:axId val="2124795136"/>
        <c:scaling>
          <c:orientation val="minMax"/>
          <c:max val="160"/>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a:t>Relative Luc activity [%]</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20496327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b="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Sheet1!$B$33:$C$33</c:f>
                <c:numCache>
                  <c:formatCode>General</c:formatCode>
                  <c:ptCount val="2"/>
                  <c:pt idx="0">
                    <c:v>46107.289900000003</c:v>
                  </c:pt>
                  <c:pt idx="1">
                    <c:v>35830.679900000003</c:v>
                  </c:pt>
                </c:numCache>
              </c:numRef>
            </c:plus>
            <c:minus>
              <c:numRef>
                <c:f>Sheet1!$B$33:$C$33</c:f>
                <c:numCache>
                  <c:formatCode>General</c:formatCode>
                  <c:ptCount val="2"/>
                  <c:pt idx="0">
                    <c:v>46107.289900000003</c:v>
                  </c:pt>
                  <c:pt idx="1">
                    <c:v>35830.679900000003</c:v>
                  </c:pt>
                </c:numCache>
              </c:numRef>
            </c:minus>
            <c:spPr>
              <a:noFill/>
              <a:ln w="25400" cap="flat" cmpd="sng" algn="ctr">
                <a:solidFill>
                  <a:schemeClr val="tx1"/>
                </a:solidFill>
                <a:round/>
              </a:ln>
              <a:effectLst/>
            </c:spPr>
          </c:errBars>
          <c:cat>
            <c:strRef>
              <c:f>Sheet1!$B$31:$C$31</c:f>
              <c:strCache>
                <c:ptCount val="2"/>
                <c:pt idx="0">
                  <c:v>12well</c:v>
                </c:pt>
                <c:pt idx="1">
                  <c:v>24well</c:v>
                </c:pt>
              </c:strCache>
            </c:strRef>
          </c:cat>
          <c:val>
            <c:numRef>
              <c:f>Sheet1!$B$32:$C$32</c:f>
              <c:numCache>
                <c:formatCode>General</c:formatCode>
                <c:ptCount val="2"/>
                <c:pt idx="0">
                  <c:v>427270.74800000002</c:v>
                </c:pt>
                <c:pt idx="1">
                  <c:v>459924.25400000002</c:v>
                </c:pt>
              </c:numCache>
            </c:numRef>
          </c:val>
          <c:extLst>
            <c:ext xmlns:c16="http://schemas.microsoft.com/office/drawing/2014/chart" uri="{C3380CC4-5D6E-409C-BE32-E72D297353CC}">
              <c16:uniqueId val="{00000000-9CF9-B94D-ABEA-3701AC9B92D4}"/>
            </c:ext>
          </c:extLst>
        </c:ser>
        <c:dLbls>
          <c:showLegendKey val="0"/>
          <c:showVal val="0"/>
          <c:showCatName val="0"/>
          <c:showSerName val="0"/>
          <c:showPercent val="0"/>
          <c:showBubbleSize val="0"/>
        </c:dLbls>
        <c:gapWidth val="219"/>
        <c:overlap val="-27"/>
        <c:axId val="2071365456"/>
        <c:axId val="281192303"/>
      </c:barChart>
      <c:catAx>
        <c:axId val="2071365456"/>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281192303"/>
        <c:crosses val="autoZero"/>
        <c:auto val="1"/>
        <c:lblAlgn val="ctr"/>
        <c:lblOffset val="100"/>
        <c:noMultiLvlLbl val="0"/>
      </c:catAx>
      <c:valAx>
        <c:axId val="281192303"/>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altLang="ja-JP" sz="1400" b="0" i="0" u="none" strike="noStrike" kern="1200" baseline="0" dirty="0">
                    <a:solidFill>
                      <a:srgbClr val="4D4D4D"/>
                    </a:solidFill>
                    <a:latin typeface="Arial" panose="020B0604020202020204" pitchFamily="34" charset="0"/>
                    <a:cs typeface="Arial" panose="020B0604020202020204" pitchFamily="34" charset="0"/>
                  </a:rPr>
                  <a:t>Luc activity [-]</a:t>
                </a:r>
                <a:endParaRPr lang="ja-JP" altLang="en-US" sz="1400" b="0" i="0" u="none" strike="noStrike" kern="1200" baseline="0">
                  <a:solidFill>
                    <a:srgbClr val="4D4D4D"/>
                  </a:solidFill>
                  <a:latin typeface="Arial" panose="020B0604020202020204" pitchFamily="34" charset="0"/>
                  <a:cs typeface="Arial" panose="020B0604020202020204" pitchFamily="34" charset="0"/>
                </a:endParaRP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20713654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luc!$C$25:$D$25</c:f>
                <c:numCache>
                  <c:formatCode>General</c:formatCode>
                  <c:ptCount val="2"/>
                  <c:pt idx="0">
                    <c:v>366939.25496811338</c:v>
                  </c:pt>
                  <c:pt idx="1">
                    <c:v>209866.37534055626</c:v>
                  </c:pt>
                </c:numCache>
              </c:numRef>
            </c:plus>
            <c:minus>
              <c:numRef>
                <c:f>luc!$C$25:$D$25</c:f>
                <c:numCache>
                  <c:formatCode>General</c:formatCode>
                  <c:ptCount val="2"/>
                  <c:pt idx="0">
                    <c:v>366939.25496811338</c:v>
                  </c:pt>
                  <c:pt idx="1">
                    <c:v>209866.37534055626</c:v>
                  </c:pt>
                </c:numCache>
              </c:numRef>
            </c:minus>
            <c:spPr>
              <a:noFill/>
              <a:ln w="25400" cap="flat" cmpd="sng" algn="ctr">
                <a:solidFill>
                  <a:schemeClr val="tx1"/>
                </a:solidFill>
                <a:round/>
              </a:ln>
              <a:effectLst/>
            </c:spPr>
          </c:errBars>
          <c:cat>
            <c:strRef>
              <c:f>luc!$C$26:$D$26</c:f>
              <c:strCache>
                <c:ptCount val="2"/>
                <c:pt idx="0">
                  <c:v>24well</c:v>
                </c:pt>
                <c:pt idx="1">
                  <c:v>60mmdish</c:v>
                </c:pt>
              </c:strCache>
            </c:strRef>
          </c:cat>
          <c:val>
            <c:numRef>
              <c:f>luc!$C$24:$D$24</c:f>
              <c:numCache>
                <c:formatCode>General</c:formatCode>
                <c:ptCount val="2"/>
                <c:pt idx="0">
                  <c:v>763871.00364674663</c:v>
                </c:pt>
                <c:pt idx="1">
                  <c:v>2171196.4717701166</c:v>
                </c:pt>
              </c:numCache>
            </c:numRef>
          </c:val>
          <c:extLst>
            <c:ext xmlns:c16="http://schemas.microsoft.com/office/drawing/2014/chart" uri="{C3380CC4-5D6E-409C-BE32-E72D297353CC}">
              <c16:uniqueId val="{00000000-AF6F-7C48-BBE9-54ADFFE42FC6}"/>
            </c:ext>
          </c:extLst>
        </c:ser>
        <c:dLbls>
          <c:showLegendKey val="0"/>
          <c:showVal val="0"/>
          <c:showCatName val="0"/>
          <c:showSerName val="0"/>
          <c:showPercent val="0"/>
          <c:showBubbleSize val="0"/>
        </c:dLbls>
        <c:gapWidth val="219"/>
        <c:overlap val="-27"/>
        <c:axId val="62271183"/>
        <c:axId val="643815680"/>
      </c:barChart>
      <c:catAx>
        <c:axId val="6227118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643815680"/>
        <c:crosses val="autoZero"/>
        <c:auto val="1"/>
        <c:lblAlgn val="ctr"/>
        <c:lblOffset val="100"/>
        <c:noMultiLvlLbl val="0"/>
      </c:catAx>
      <c:valAx>
        <c:axId val="643815680"/>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altLang="ja-JP" dirty="0"/>
                  <a:t>Luc</a:t>
                </a:r>
                <a:r>
                  <a:rPr lang="en-US" altLang="ja-JP" baseline="0" dirty="0"/>
                  <a:t> activity [-]</a:t>
                </a:r>
                <a:endParaRPr lang="ja-JP" altLang="en-US"/>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622711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chemeClr val="accent4"/>
              </a:solidFill>
              <a:round/>
            </a:ln>
            <a:effectLst/>
          </c:spPr>
          <c:marker>
            <c:symbol val="none"/>
          </c:marker>
          <c:errBars>
            <c:errDir val="y"/>
            <c:errBarType val="both"/>
            <c:errValType val="cust"/>
            <c:noEndCap val="0"/>
            <c:plus>
              <c:numRef>
                <c:f>Sheet1!$B$20:$E$20</c:f>
                <c:numCache>
                  <c:formatCode>General</c:formatCode>
                  <c:ptCount val="4"/>
                  <c:pt idx="0">
                    <c:v>46744.179498309568</c:v>
                  </c:pt>
                  <c:pt idx="1">
                    <c:v>49615.405629628236</c:v>
                  </c:pt>
                  <c:pt idx="2">
                    <c:v>31034.044792404162</c:v>
                  </c:pt>
                  <c:pt idx="3">
                    <c:v>136691.77663598795</c:v>
                  </c:pt>
                </c:numCache>
              </c:numRef>
            </c:plus>
            <c:minus>
              <c:numRef>
                <c:f>Sheet1!$B$20:$E$20</c:f>
                <c:numCache>
                  <c:formatCode>General</c:formatCode>
                  <c:ptCount val="4"/>
                  <c:pt idx="0">
                    <c:v>46744.179498309568</c:v>
                  </c:pt>
                  <c:pt idx="1">
                    <c:v>49615.405629628236</c:v>
                  </c:pt>
                  <c:pt idx="2">
                    <c:v>31034.044792404162</c:v>
                  </c:pt>
                  <c:pt idx="3">
                    <c:v>136691.77663598795</c:v>
                  </c:pt>
                </c:numCache>
              </c:numRef>
            </c:minus>
            <c:spPr>
              <a:noFill/>
              <a:ln w="22225" cap="flat" cmpd="sng" algn="ctr">
                <a:solidFill>
                  <a:schemeClr val="tx1"/>
                </a:solidFill>
                <a:round/>
              </a:ln>
              <a:effectLst/>
            </c:spPr>
          </c:errBars>
          <c:cat>
            <c:numRef>
              <c:f>Sheet1!$Q$22:$T$22</c:f>
              <c:numCache>
                <c:formatCode>General</c:formatCode>
                <c:ptCount val="4"/>
                <c:pt idx="0">
                  <c:v>1</c:v>
                </c:pt>
                <c:pt idx="1">
                  <c:v>2</c:v>
                </c:pt>
                <c:pt idx="2">
                  <c:v>3</c:v>
                </c:pt>
                <c:pt idx="3">
                  <c:v>5</c:v>
                </c:pt>
              </c:numCache>
            </c:numRef>
          </c:cat>
          <c:val>
            <c:numRef>
              <c:f>Sheet1!$B$19:$E$19</c:f>
              <c:numCache>
                <c:formatCode>General</c:formatCode>
                <c:ptCount val="4"/>
                <c:pt idx="0">
                  <c:v>308885.19701443746</c:v>
                </c:pt>
                <c:pt idx="1">
                  <c:v>758237.16409640771</c:v>
                </c:pt>
                <c:pt idx="2">
                  <c:v>1110500.1418742521</c:v>
                </c:pt>
                <c:pt idx="3">
                  <c:v>1374964.1813554734</c:v>
                </c:pt>
              </c:numCache>
            </c:numRef>
          </c:val>
          <c:smooth val="0"/>
          <c:extLst>
            <c:ext xmlns:c16="http://schemas.microsoft.com/office/drawing/2014/chart" uri="{C3380CC4-5D6E-409C-BE32-E72D297353CC}">
              <c16:uniqueId val="{00000000-DC08-5943-9A3D-21AEDAE24602}"/>
            </c:ext>
          </c:extLst>
        </c:ser>
        <c:dLbls>
          <c:showLegendKey val="0"/>
          <c:showVal val="0"/>
          <c:showCatName val="0"/>
          <c:showSerName val="0"/>
          <c:showPercent val="0"/>
          <c:showBubbleSize val="0"/>
        </c:dLbls>
        <c:smooth val="0"/>
        <c:axId val="1606203312"/>
        <c:axId val="2081170384"/>
      </c:lineChart>
      <c:dateAx>
        <c:axId val="1606203312"/>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altLang="ja-JP" dirty="0"/>
                  <a:t>DCA</a:t>
                </a:r>
                <a:r>
                  <a:rPr lang="ja-JP" altLang="en-US"/>
                  <a:t>反応時間</a:t>
                </a:r>
                <a:r>
                  <a:rPr lang="en-US" altLang="ja-JP" dirty="0"/>
                  <a:t> [h]</a:t>
                </a:r>
                <a:endParaRPr lang="ja-JP" altLang="en-US"/>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2081170384"/>
        <c:crosses val="autoZero"/>
        <c:auto val="0"/>
        <c:lblOffset val="100"/>
        <c:baseTimeUnit val="days"/>
      </c:dateAx>
      <c:valAx>
        <c:axId val="2081170384"/>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altLang="ja-JP"/>
                  <a:t>Luc</a:t>
                </a:r>
                <a:r>
                  <a:rPr lang="en-US" altLang="ja-JP" baseline="0"/>
                  <a:t> activity [-]</a:t>
                </a:r>
                <a:endParaRPr lang="ja-JP" altLang="en-US"/>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1606203312"/>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5400" cap="rnd">
              <a:solidFill>
                <a:schemeClr val="accent4"/>
              </a:solidFill>
              <a:round/>
            </a:ln>
            <a:effectLst/>
          </c:spPr>
          <c:marker>
            <c:symbol val="none"/>
          </c:marker>
          <c:errBars>
            <c:errDir val="y"/>
            <c:errBarType val="both"/>
            <c:errValType val="cust"/>
            <c:noEndCap val="0"/>
            <c:plus>
              <c:numRef>
                <c:f>Sheet1!$B$19:$H$19</c:f>
                <c:numCache>
                  <c:formatCode>General</c:formatCode>
                  <c:ptCount val="7"/>
                  <c:pt idx="0">
                    <c:v>4076.1173113249201</c:v>
                  </c:pt>
                  <c:pt idx="1">
                    <c:v>3163.6999944167515</c:v>
                  </c:pt>
                  <c:pt idx="2">
                    <c:v>3060.5593553159824</c:v>
                  </c:pt>
                  <c:pt idx="3">
                    <c:v>2945.3550548589133</c:v>
                  </c:pt>
                  <c:pt idx="4">
                    <c:v>15073.887093323076</c:v>
                  </c:pt>
                  <c:pt idx="5">
                    <c:v>6939.5447383758974</c:v>
                  </c:pt>
                  <c:pt idx="6">
                    <c:v>7645.3418132725637</c:v>
                  </c:pt>
                </c:numCache>
              </c:numRef>
            </c:plus>
            <c:minus>
              <c:numRef>
                <c:f>Sheet1!$B$19:$H$19</c:f>
                <c:numCache>
                  <c:formatCode>General</c:formatCode>
                  <c:ptCount val="7"/>
                  <c:pt idx="0">
                    <c:v>4076.1173113249201</c:v>
                  </c:pt>
                  <c:pt idx="1">
                    <c:v>3163.6999944167515</c:v>
                  </c:pt>
                  <c:pt idx="2">
                    <c:v>3060.5593553159824</c:v>
                  </c:pt>
                  <c:pt idx="3">
                    <c:v>2945.3550548589133</c:v>
                  </c:pt>
                  <c:pt idx="4">
                    <c:v>15073.887093323076</c:v>
                  </c:pt>
                  <c:pt idx="5">
                    <c:v>6939.5447383758974</c:v>
                  </c:pt>
                  <c:pt idx="6">
                    <c:v>7645.3418132725637</c:v>
                  </c:pt>
                </c:numCache>
              </c:numRef>
            </c:minus>
            <c:spPr>
              <a:noFill/>
              <a:ln w="25400" cap="flat" cmpd="sng" algn="ctr">
                <a:solidFill>
                  <a:schemeClr val="tx1"/>
                </a:solidFill>
                <a:round/>
              </a:ln>
              <a:effectLst/>
            </c:spPr>
          </c:errBars>
          <c:xVal>
            <c:numRef>
              <c:f>Sheet1!$B$14:$H$14</c:f>
              <c:numCache>
                <c:formatCode>General</c:formatCode>
                <c:ptCount val="7"/>
                <c:pt idx="0">
                  <c:v>0</c:v>
                </c:pt>
                <c:pt idx="1">
                  <c:v>0.01</c:v>
                </c:pt>
                <c:pt idx="2">
                  <c:v>0.1</c:v>
                </c:pt>
                <c:pt idx="3">
                  <c:v>1</c:v>
                </c:pt>
                <c:pt idx="4">
                  <c:v>10</c:v>
                </c:pt>
                <c:pt idx="5">
                  <c:v>20</c:v>
                </c:pt>
                <c:pt idx="6">
                  <c:v>100</c:v>
                </c:pt>
              </c:numCache>
            </c:numRef>
          </c:xVal>
          <c:yVal>
            <c:numRef>
              <c:f>Sheet1!$B$18:$H$18</c:f>
              <c:numCache>
                <c:formatCode>General</c:formatCode>
                <c:ptCount val="7"/>
                <c:pt idx="0">
                  <c:v>34706.675092775666</c:v>
                </c:pt>
                <c:pt idx="1">
                  <c:v>33643.801875628182</c:v>
                </c:pt>
                <c:pt idx="2">
                  <c:v>31339.889091830421</c:v>
                </c:pt>
                <c:pt idx="3">
                  <c:v>72763.131239787777</c:v>
                </c:pt>
                <c:pt idx="4">
                  <c:v>143821.87439268609</c:v>
                </c:pt>
                <c:pt idx="5">
                  <c:v>166247.92552114956</c:v>
                </c:pt>
                <c:pt idx="6">
                  <c:v>183480.12518616914</c:v>
                </c:pt>
              </c:numCache>
            </c:numRef>
          </c:yVal>
          <c:smooth val="0"/>
          <c:extLst>
            <c:ext xmlns:c16="http://schemas.microsoft.com/office/drawing/2014/chart" uri="{C3380CC4-5D6E-409C-BE32-E72D297353CC}">
              <c16:uniqueId val="{00000000-B346-F94B-89C9-E8B0005348F9}"/>
            </c:ext>
          </c:extLst>
        </c:ser>
        <c:dLbls>
          <c:showLegendKey val="0"/>
          <c:showVal val="0"/>
          <c:showCatName val="0"/>
          <c:showSerName val="0"/>
          <c:showPercent val="0"/>
          <c:showBubbleSize val="0"/>
        </c:dLbls>
        <c:axId val="207122639"/>
        <c:axId val="443113423"/>
      </c:scatterChart>
      <c:valAx>
        <c:axId val="207122639"/>
        <c:scaling>
          <c:logBase val="10"/>
          <c:orientation val="minMax"/>
        </c:scaling>
        <c:delete val="0"/>
        <c:axPos val="b"/>
        <c:title>
          <c:tx>
            <c:rich>
              <a:bodyPr rot="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a:t>DCA</a:t>
                </a:r>
                <a:r>
                  <a:rPr lang="ja-JP"/>
                  <a:t>濃度</a:t>
                </a:r>
                <a:r>
                  <a:rPr lang="en-US"/>
                  <a:t> [log(µM)]</a:t>
                </a:r>
                <a:endParaRPr lang="ja-JP"/>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443113423"/>
        <c:crosses val="autoZero"/>
        <c:crossBetween val="midCat"/>
      </c:valAx>
      <c:valAx>
        <c:axId val="443113423"/>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a:t>Luc activity [-]</a:t>
                </a:r>
                <a:endParaRPr lang="ja-JP"/>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207122639"/>
        <c:crossesAt val="1E-3"/>
        <c:crossBetween val="midCat"/>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Sheet1!$B$30:$M$30</c:f>
                <c:numCache>
                  <c:formatCode>General</c:formatCode>
                  <c:ptCount val="12"/>
                  <c:pt idx="0">
                    <c:v>5.2254290371402359</c:v>
                  </c:pt>
                  <c:pt idx="1">
                    <c:v>15.189915402225068</c:v>
                  </c:pt>
                  <c:pt idx="2">
                    <c:v>9.8803476361860181</c:v>
                  </c:pt>
                  <c:pt idx="3">
                    <c:v>31.385706168104743</c:v>
                  </c:pt>
                  <c:pt idx="4">
                    <c:v>23.255909105997276</c:v>
                  </c:pt>
                  <c:pt idx="5">
                    <c:v>28.896330061292137</c:v>
                  </c:pt>
                  <c:pt idx="6">
                    <c:v>11.403554424968641</c:v>
                  </c:pt>
                  <c:pt idx="7">
                    <c:v>15.913594199298162</c:v>
                  </c:pt>
                  <c:pt idx="8">
                    <c:v>18.458173454560001</c:v>
                  </c:pt>
                  <c:pt idx="9">
                    <c:v>14.799966868782333</c:v>
                  </c:pt>
                  <c:pt idx="10">
                    <c:v>12.909658285258976</c:v>
                  </c:pt>
                  <c:pt idx="11">
                    <c:v>9.1972189130564139</c:v>
                  </c:pt>
                </c:numCache>
              </c:numRef>
            </c:plus>
            <c:minus>
              <c:numRef>
                <c:f>Sheet1!$B$30:$M$30</c:f>
                <c:numCache>
                  <c:formatCode>General</c:formatCode>
                  <c:ptCount val="12"/>
                  <c:pt idx="0">
                    <c:v>5.2254290371402359</c:v>
                  </c:pt>
                  <c:pt idx="1">
                    <c:v>15.189915402225068</c:v>
                  </c:pt>
                  <c:pt idx="2">
                    <c:v>9.8803476361860181</c:v>
                  </c:pt>
                  <c:pt idx="3">
                    <c:v>31.385706168104743</c:v>
                  </c:pt>
                  <c:pt idx="4">
                    <c:v>23.255909105997276</c:v>
                  </c:pt>
                  <c:pt idx="5">
                    <c:v>28.896330061292137</c:v>
                  </c:pt>
                  <c:pt idx="6">
                    <c:v>11.403554424968641</c:v>
                  </c:pt>
                  <c:pt idx="7">
                    <c:v>15.913594199298162</c:v>
                  </c:pt>
                  <c:pt idx="8">
                    <c:v>18.458173454560001</c:v>
                  </c:pt>
                  <c:pt idx="9">
                    <c:v>14.799966868782333</c:v>
                  </c:pt>
                  <c:pt idx="10">
                    <c:v>12.909658285258976</c:v>
                  </c:pt>
                  <c:pt idx="11">
                    <c:v>9.1972189130564139</c:v>
                  </c:pt>
                </c:numCache>
              </c:numRef>
            </c:minus>
            <c:spPr>
              <a:noFill/>
              <a:ln w="25400" cap="flat" cmpd="sng" algn="ctr">
                <a:solidFill>
                  <a:schemeClr val="tx1"/>
                </a:solidFill>
                <a:round/>
              </a:ln>
              <a:effectLst/>
            </c:spPr>
          </c:errBars>
          <c:cat>
            <c:strRef>
              <c:f>Sheet1!$B$22:$M$22</c:f>
              <c:strCache>
                <c:ptCount val="12"/>
                <c:pt idx="0">
                  <c:v>control</c:v>
                </c:pt>
                <c:pt idx="1">
                  <c:v>DCA only</c:v>
                </c:pt>
                <c:pt idx="2">
                  <c:v>QRPRGS</c:v>
                </c:pt>
                <c:pt idx="3">
                  <c:v>QRPRGS + DCA</c:v>
                </c:pt>
                <c:pt idx="4">
                  <c:v>QSKSRR</c:v>
                </c:pt>
                <c:pt idx="5">
                  <c:v>QSKSRR + DCA</c:v>
                </c:pt>
                <c:pt idx="6">
                  <c:v>QLSRRA</c:v>
                </c:pt>
                <c:pt idx="7">
                  <c:v>QLSRRA + DCA</c:v>
                </c:pt>
                <c:pt idx="8">
                  <c:v>PRPRQP</c:v>
                </c:pt>
                <c:pt idx="9">
                  <c:v>PRPRQP + DCA</c:v>
                </c:pt>
                <c:pt idx="10">
                  <c:v>VRFPLL</c:v>
                </c:pt>
                <c:pt idx="11">
                  <c:v>VRFPLL + DCA</c:v>
                </c:pt>
              </c:strCache>
            </c:strRef>
          </c:cat>
          <c:val>
            <c:numRef>
              <c:f>Sheet1!$B$29:$M$29</c:f>
              <c:numCache>
                <c:formatCode>General</c:formatCode>
                <c:ptCount val="12"/>
                <c:pt idx="0">
                  <c:v>-5.7561563522771655E-8</c:v>
                </c:pt>
                <c:pt idx="1">
                  <c:v>99.999999979393081</c:v>
                </c:pt>
                <c:pt idx="2">
                  <c:v>19.186321302997005</c:v>
                </c:pt>
                <c:pt idx="3">
                  <c:v>153.25035921005531</c:v>
                </c:pt>
                <c:pt idx="4">
                  <c:v>12.207730317219582</c:v>
                </c:pt>
                <c:pt idx="5">
                  <c:v>146.48204556468235</c:v>
                </c:pt>
                <c:pt idx="6">
                  <c:v>32.140966737114482</c:v>
                </c:pt>
                <c:pt idx="7">
                  <c:v>144.07460564889598</c:v>
                </c:pt>
                <c:pt idx="8">
                  <c:v>36.623627916124221</c:v>
                </c:pt>
                <c:pt idx="9">
                  <c:v>171.15942006570896</c:v>
                </c:pt>
                <c:pt idx="10">
                  <c:v>33.020816260535618</c:v>
                </c:pt>
                <c:pt idx="11">
                  <c:v>188.79703945980287</c:v>
                </c:pt>
              </c:numCache>
            </c:numRef>
          </c:val>
          <c:extLst>
            <c:ext xmlns:c16="http://schemas.microsoft.com/office/drawing/2014/chart" uri="{C3380CC4-5D6E-409C-BE32-E72D297353CC}">
              <c16:uniqueId val="{00000000-2CF9-2242-BC50-F938E979A7A5}"/>
            </c:ext>
          </c:extLst>
        </c:ser>
        <c:dLbls>
          <c:showLegendKey val="0"/>
          <c:showVal val="0"/>
          <c:showCatName val="0"/>
          <c:showSerName val="0"/>
          <c:showPercent val="0"/>
          <c:showBubbleSize val="0"/>
        </c:dLbls>
        <c:gapWidth val="219"/>
        <c:overlap val="-27"/>
        <c:axId val="1295225423"/>
        <c:axId val="1295412271"/>
      </c:barChart>
      <c:catAx>
        <c:axId val="129522542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1500000" spcFirstLastPara="1" vertOverflow="ellipsis"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1295412271"/>
        <c:crosses val="autoZero"/>
        <c:auto val="1"/>
        <c:lblAlgn val="ctr"/>
        <c:lblOffset val="100"/>
        <c:noMultiLvlLbl val="0"/>
      </c:catAx>
      <c:valAx>
        <c:axId val="1295412271"/>
        <c:scaling>
          <c:orientation val="minMax"/>
          <c:max val="200"/>
          <c:min val="0"/>
        </c:scaling>
        <c:delete val="0"/>
        <c:axPos val="l"/>
        <c:title>
          <c:tx>
            <c:rich>
              <a:bodyPr rot="-54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r>
                  <a:rPr lang="en-US"/>
                  <a:t>Relative Luc activity [%]</a:t>
                </a:r>
                <a:endParaRPr lang="ja-JP"/>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12952254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2">
                <a:lumMod val="60000"/>
                <a:lumOff val="40000"/>
              </a:schemeClr>
            </a:solidFill>
            <a:ln>
              <a:noFill/>
            </a:ln>
            <a:effectLst/>
          </c:spPr>
          <c:invertIfNegative val="0"/>
          <c:errBars>
            <c:errBarType val="both"/>
            <c:errValType val="cust"/>
            <c:noEndCap val="0"/>
            <c:plus>
              <c:numRef>
                <c:f>(Sheet4!$G$3:$G$10,Sheet4!$G$13:$G$16)</c:f>
                <c:numCache>
                  <c:formatCode>General</c:formatCode>
                  <c:ptCount val="12"/>
                  <c:pt idx="0">
                    <c:v>1.0799859024002267</c:v>
                  </c:pt>
                  <c:pt idx="1">
                    <c:v>4.4360260042003379</c:v>
                  </c:pt>
                  <c:pt idx="2">
                    <c:v>3.8449485173074089</c:v>
                  </c:pt>
                  <c:pt idx="3">
                    <c:v>5.1457612893946481</c:v>
                  </c:pt>
                  <c:pt idx="4">
                    <c:v>5.8603983112307638</c:v>
                  </c:pt>
                  <c:pt idx="5">
                    <c:v>11.268286967902357</c:v>
                  </c:pt>
                  <c:pt idx="6">
                    <c:v>0.86799982825952293</c:v>
                  </c:pt>
                  <c:pt idx="7">
                    <c:v>9.7561797328895228</c:v>
                  </c:pt>
                  <c:pt idx="8">
                    <c:v>3.7522262939985378</c:v>
                  </c:pt>
                  <c:pt idx="9">
                    <c:v>5.87499781676956</c:v>
                  </c:pt>
                  <c:pt idx="10">
                    <c:v>2.4732020143812274</c:v>
                  </c:pt>
                  <c:pt idx="11">
                    <c:v>5.7716883631944933</c:v>
                  </c:pt>
                </c:numCache>
                <c:extLst/>
              </c:numRef>
            </c:plus>
            <c:minus>
              <c:numRef>
                <c:f>(Sheet4!$G$3:$G$10,Sheet4!$G$13:$G$16)</c:f>
                <c:numCache>
                  <c:formatCode>General</c:formatCode>
                  <c:ptCount val="12"/>
                  <c:pt idx="0">
                    <c:v>1.0799859024002267</c:v>
                  </c:pt>
                  <c:pt idx="1">
                    <c:v>4.4360260042003379</c:v>
                  </c:pt>
                  <c:pt idx="2">
                    <c:v>3.8449485173074089</c:v>
                  </c:pt>
                  <c:pt idx="3">
                    <c:v>5.1457612893946481</c:v>
                  </c:pt>
                  <c:pt idx="4">
                    <c:v>5.8603983112307638</c:v>
                  </c:pt>
                  <c:pt idx="5">
                    <c:v>11.268286967902357</c:v>
                  </c:pt>
                  <c:pt idx="6">
                    <c:v>0.86799982825952293</c:v>
                  </c:pt>
                  <c:pt idx="7">
                    <c:v>9.7561797328895228</c:v>
                  </c:pt>
                  <c:pt idx="8">
                    <c:v>3.7522262939985378</c:v>
                  </c:pt>
                  <c:pt idx="9">
                    <c:v>5.87499781676956</c:v>
                  </c:pt>
                  <c:pt idx="10">
                    <c:v>2.4732020143812274</c:v>
                  </c:pt>
                  <c:pt idx="11">
                    <c:v>5.7716883631944933</c:v>
                  </c:pt>
                </c:numCache>
                <c:extLst/>
              </c:numRef>
            </c:minus>
            <c:spPr>
              <a:noFill/>
              <a:ln w="25400" cap="flat" cmpd="sng" algn="ctr">
                <a:solidFill>
                  <a:schemeClr val="tx1"/>
                </a:solidFill>
                <a:round/>
              </a:ln>
              <a:effectLst/>
            </c:spPr>
          </c:errBars>
          <c:cat>
            <c:strRef>
              <c:f>(Sheet4!$B$3:$B$10,Sheet4!$B$13:$B$16)</c:f>
              <c:strCache>
                <c:ptCount val="12"/>
                <c:pt idx="0">
                  <c:v>control</c:v>
                </c:pt>
                <c:pt idx="1">
                  <c:v>DCA only</c:v>
                </c:pt>
                <c:pt idx="2">
                  <c:v>QRPRGS</c:v>
                </c:pt>
                <c:pt idx="3">
                  <c:v>QRPRGS + DCA</c:v>
                </c:pt>
                <c:pt idx="4">
                  <c:v>QSKSRR</c:v>
                </c:pt>
                <c:pt idx="5">
                  <c:v>QSKSRR + DCA</c:v>
                </c:pt>
                <c:pt idx="6">
                  <c:v>QLSRRA</c:v>
                </c:pt>
                <c:pt idx="7">
                  <c:v>QLSRRA + DCA</c:v>
                </c:pt>
                <c:pt idx="8">
                  <c:v>PRPRQP</c:v>
                </c:pt>
                <c:pt idx="9">
                  <c:v>PRPRQP + DCA</c:v>
                </c:pt>
                <c:pt idx="10">
                  <c:v>VRFPLL</c:v>
                </c:pt>
                <c:pt idx="11">
                  <c:v>VRFPLL + DCA</c:v>
                </c:pt>
              </c:strCache>
              <c:extLst/>
            </c:strRef>
          </c:cat>
          <c:val>
            <c:numRef>
              <c:f>(Sheet4!$F$3:$F$10,Sheet4!$F$13:$F$16)</c:f>
              <c:numCache>
                <c:formatCode>General</c:formatCode>
                <c:ptCount val="12"/>
                <c:pt idx="0">
                  <c:v>0</c:v>
                </c:pt>
                <c:pt idx="1">
                  <c:v>100.00000000000004</c:v>
                </c:pt>
                <c:pt idx="2">
                  <c:v>8.2852903901651871</c:v>
                </c:pt>
                <c:pt idx="3">
                  <c:v>128.74320238019871</c:v>
                </c:pt>
                <c:pt idx="4">
                  <c:v>15.860671707190846</c:v>
                </c:pt>
                <c:pt idx="5">
                  <c:v>113.04825768679719</c:v>
                </c:pt>
                <c:pt idx="6">
                  <c:v>11.811442651584946</c:v>
                </c:pt>
                <c:pt idx="7">
                  <c:v>140.00015340523683</c:v>
                </c:pt>
                <c:pt idx="8">
                  <c:v>0.70597139303162315</c:v>
                </c:pt>
                <c:pt idx="9">
                  <c:v>93.790172635210297</c:v>
                </c:pt>
                <c:pt idx="10">
                  <c:v>7.7515603852156412</c:v>
                </c:pt>
                <c:pt idx="11">
                  <c:v>101.59868607414002</c:v>
                </c:pt>
              </c:numCache>
              <c:extLst/>
            </c:numRef>
          </c:val>
          <c:extLst>
            <c:ext xmlns:c16="http://schemas.microsoft.com/office/drawing/2014/chart" uri="{C3380CC4-5D6E-409C-BE32-E72D297353CC}">
              <c16:uniqueId val="{00000000-8460-2142-8794-C95E88F6A6A0}"/>
            </c:ext>
          </c:extLst>
        </c:ser>
        <c:dLbls>
          <c:showLegendKey val="0"/>
          <c:showVal val="0"/>
          <c:showCatName val="0"/>
          <c:showSerName val="0"/>
          <c:showPercent val="0"/>
          <c:showBubbleSize val="0"/>
        </c:dLbls>
        <c:gapWidth val="219"/>
        <c:overlap val="-27"/>
        <c:axId val="734067296"/>
        <c:axId val="734063336"/>
      </c:barChart>
      <c:catAx>
        <c:axId val="734067296"/>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1500000" spcFirstLastPara="1" vertOverflow="ellipsis"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734063336"/>
        <c:crosses val="autoZero"/>
        <c:auto val="1"/>
        <c:lblAlgn val="ctr"/>
        <c:lblOffset val="100"/>
        <c:noMultiLvlLbl val="0"/>
      </c:catAx>
      <c:valAx>
        <c:axId val="734063336"/>
        <c:scaling>
          <c:orientation val="minMax"/>
          <c:max val="200"/>
          <c:min val="0"/>
        </c:scaling>
        <c:delete val="0"/>
        <c:axPos val="l"/>
        <c:title>
          <c:tx>
            <c:rich>
              <a:bodyPr rot="-540000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r>
                  <a:rPr lang="en-US"/>
                  <a:t>Relative Luc activity [%]</a:t>
                </a:r>
                <a:endParaRPr lang="ja-JP"/>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7340672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FFFFFF"/>
    </a:solidFill>
    <a:ln w="9525" cap="flat" cmpd="sng" algn="ctr">
      <a:noFill/>
      <a:round/>
    </a:ln>
    <a:effectLst/>
  </c:spPr>
  <c:txPr>
    <a:bodyPr/>
    <a:lstStyle/>
    <a:p>
      <a:pPr>
        <a:defRPr sz="10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Sheet1!$B$28:$G$28</c:f>
                <c:numCache>
                  <c:formatCode>General</c:formatCode>
                  <c:ptCount val="6"/>
                  <c:pt idx="0">
                    <c:v>151018.15969109716</c:v>
                  </c:pt>
                  <c:pt idx="1">
                    <c:v>43555.511963143195</c:v>
                  </c:pt>
                  <c:pt idx="2">
                    <c:v>46107.289876667259</c:v>
                  </c:pt>
                  <c:pt idx="3">
                    <c:v>25139.026096383364</c:v>
                  </c:pt>
                  <c:pt idx="4">
                    <c:v>41315.072308543007</c:v>
                  </c:pt>
                  <c:pt idx="5">
                    <c:v>35830.679882686403</c:v>
                  </c:pt>
                </c:numCache>
              </c:numRef>
            </c:plus>
            <c:minus>
              <c:numRef>
                <c:f>Sheet1!$B$28:$G$28</c:f>
                <c:numCache>
                  <c:formatCode>General</c:formatCode>
                  <c:ptCount val="6"/>
                  <c:pt idx="0">
                    <c:v>151018.15969109716</c:v>
                  </c:pt>
                  <c:pt idx="1">
                    <c:v>43555.511963143195</c:v>
                  </c:pt>
                  <c:pt idx="2">
                    <c:v>46107.289876667259</c:v>
                  </c:pt>
                  <c:pt idx="3">
                    <c:v>25139.026096383364</c:v>
                  </c:pt>
                  <c:pt idx="4">
                    <c:v>41315.072308543007</c:v>
                  </c:pt>
                  <c:pt idx="5">
                    <c:v>35830.679882686403</c:v>
                  </c:pt>
                </c:numCache>
              </c:numRef>
            </c:minus>
            <c:spPr>
              <a:noFill/>
              <a:ln w="28575" cap="flat" cmpd="sng" algn="ctr">
                <a:solidFill>
                  <a:schemeClr val="tx1"/>
                </a:solidFill>
                <a:round/>
              </a:ln>
              <a:effectLst/>
            </c:spPr>
          </c:errBars>
          <c:cat>
            <c:strRef>
              <c:f>Sheet1!$A$3:$F$3</c:f>
              <c:strCache>
                <c:ptCount val="6"/>
                <c:pt idx="0">
                  <c:v>12well 1/10希釈</c:v>
                </c:pt>
                <c:pt idx="1">
                  <c:v>12well 1/30希釈</c:v>
                </c:pt>
                <c:pt idx="2">
                  <c:v>12well 1/60希釈</c:v>
                </c:pt>
                <c:pt idx="3">
                  <c:v>24well 1/10希釈</c:v>
                </c:pt>
                <c:pt idx="4">
                  <c:v>24well 1/30希釈</c:v>
                </c:pt>
                <c:pt idx="5">
                  <c:v>24well 1/60希釈</c:v>
                </c:pt>
              </c:strCache>
            </c:strRef>
          </c:cat>
          <c:val>
            <c:numRef>
              <c:f>Sheet1!$B$27:$G$27</c:f>
              <c:numCache>
                <c:formatCode>General</c:formatCode>
                <c:ptCount val="6"/>
                <c:pt idx="0">
                  <c:v>349157.22132540587</c:v>
                </c:pt>
                <c:pt idx="1">
                  <c:v>483097.69667094335</c:v>
                </c:pt>
                <c:pt idx="2">
                  <c:v>427270.7479654848</c:v>
                </c:pt>
                <c:pt idx="3">
                  <c:v>438224.60531345912</c:v>
                </c:pt>
                <c:pt idx="4">
                  <c:v>429771.65561638406</c:v>
                </c:pt>
                <c:pt idx="5">
                  <c:v>459924.25387088669</c:v>
                </c:pt>
              </c:numCache>
            </c:numRef>
          </c:val>
          <c:extLst>
            <c:ext xmlns:c16="http://schemas.microsoft.com/office/drawing/2014/chart" uri="{C3380CC4-5D6E-409C-BE32-E72D297353CC}">
              <c16:uniqueId val="{00000000-10B9-9947-96D2-69F3974DADFB}"/>
            </c:ext>
          </c:extLst>
        </c:ser>
        <c:dLbls>
          <c:showLegendKey val="0"/>
          <c:showVal val="0"/>
          <c:showCatName val="0"/>
          <c:showSerName val="0"/>
          <c:showPercent val="0"/>
          <c:showBubbleSize val="0"/>
        </c:dLbls>
        <c:gapWidth val="219"/>
        <c:overlap val="-27"/>
        <c:axId val="2099067776"/>
        <c:axId val="2098673024"/>
      </c:barChart>
      <c:catAx>
        <c:axId val="2099067776"/>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2098673024"/>
        <c:crosses val="autoZero"/>
        <c:auto val="1"/>
        <c:lblAlgn val="ctr"/>
        <c:lblOffset val="100"/>
        <c:noMultiLvlLbl val="0"/>
      </c:catAx>
      <c:valAx>
        <c:axId val="2098673024"/>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a:t>Luc activity [-]</a:t>
                </a:r>
                <a:endParaRPr lang="ja-JP"/>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20990677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64B9691-87D6-48EF-9BFD-698344D045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286BE10E-3BBD-4023-B684-892AE173FF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02328F-004D-4D3A-9F80-6B7A705D1367}" type="datetimeFigureOut">
              <a:rPr kumimoji="1" lang="ja-JP" altLang="en-US" smtClean="0"/>
              <a:t>2024/7/12</a:t>
            </a:fld>
            <a:endParaRPr kumimoji="1" lang="ja-JP" altLang="en-US"/>
          </a:p>
        </p:txBody>
      </p:sp>
      <p:sp>
        <p:nvSpPr>
          <p:cNvPr id="4" name="フッター プレースホルダー 3">
            <a:extLst>
              <a:ext uri="{FF2B5EF4-FFF2-40B4-BE49-F238E27FC236}">
                <a16:creationId xmlns:a16="http://schemas.microsoft.com/office/drawing/2014/main" id="{F6367B9F-A0B4-4348-9C4B-89D15EDCB2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42CC2C2F-D89E-474B-9003-7069E7D90C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DCC25F-5D23-455B-B707-89EC30CA97BB}" type="slidenum">
              <a:rPr kumimoji="1" lang="ja-JP" altLang="en-US" smtClean="0"/>
              <a:t>‹#›</a:t>
            </a:fld>
            <a:endParaRPr kumimoji="1" lang="ja-JP" altLang="en-US"/>
          </a:p>
        </p:txBody>
      </p:sp>
    </p:spTree>
    <p:extLst>
      <p:ext uri="{BB962C8B-B14F-4D97-AF65-F5344CB8AC3E}">
        <p14:creationId xmlns:p14="http://schemas.microsoft.com/office/powerpoint/2010/main" val="34457490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00887C-0EF1-4AC1-9E9B-79863B12620D}" type="datetimeFigureOut">
              <a:rPr kumimoji="1" lang="ja-JP" altLang="en-US" smtClean="0"/>
              <a:t>2024/7/12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A420A-BDF0-4775-9670-07D3BFB5E94B}" type="slidenum">
              <a:rPr kumimoji="1" lang="ja-JP" altLang="en-US" smtClean="0"/>
              <a:t>‹#›</a:t>
            </a:fld>
            <a:endParaRPr kumimoji="1" lang="ja-JP" altLang="en-US"/>
          </a:p>
        </p:txBody>
      </p:sp>
    </p:spTree>
    <p:extLst>
      <p:ext uri="{BB962C8B-B14F-4D97-AF65-F5344CB8AC3E}">
        <p14:creationId xmlns:p14="http://schemas.microsoft.com/office/powerpoint/2010/main" val="17996778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0</a:t>
            </a:fld>
            <a:endParaRPr kumimoji="1" lang="ja-JP" altLang="en-US"/>
          </a:p>
        </p:txBody>
      </p:sp>
    </p:spTree>
    <p:extLst>
      <p:ext uri="{BB962C8B-B14F-4D97-AF65-F5344CB8AC3E}">
        <p14:creationId xmlns:p14="http://schemas.microsoft.com/office/powerpoint/2010/main" val="544885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Tx/>
              <a:buChar char="-"/>
            </a:pPr>
            <a:r>
              <a:rPr kumimoji="1" lang="en-US" altLang="ja-JP" dirty="0"/>
              <a:t>TGR5</a:t>
            </a:r>
            <a:r>
              <a:rPr kumimoji="1" lang="ja-JP" altLang="en-US"/>
              <a:t>について</a:t>
            </a:r>
            <a:endParaRPr kumimoji="1" lang="en-US" altLang="ja-JP" dirty="0"/>
          </a:p>
          <a:p>
            <a:pPr marL="628650" lvl="1" indent="-171450">
              <a:buFontTx/>
              <a:buChar char="-"/>
            </a:pPr>
            <a:r>
              <a:rPr kumimoji="1" lang="en-US" altLang="ja-JP" dirty="0"/>
              <a:t>TGR5</a:t>
            </a:r>
            <a:r>
              <a:rPr kumimoji="1" lang="ja-JP" altLang="en-US"/>
              <a:t>は小腸、胃、肝臓などで発現している胆汁酸受容体</a:t>
            </a:r>
            <a:endParaRPr kumimoji="1" lang="en-US" altLang="ja-JP" dirty="0"/>
          </a:p>
          <a:p>
            <a:pPr marL="628650" lvl="1" indent="-171450">
              <a:buFontTx/>
              <a:buChar char="-"/>
            </a:pPr>
            <a:r>
              <a:rPr kumimoji="1" lang="ja-JP" altLang="en-US"/>
              <a:t>特に、腸管</a:t>
            </a:r>
            <a:r>
              <a:rPr kumimoji="1" lang="en-US" altLang="ja-JP" dirty="0"/>
              <a:t>L</a:t>
            </a:r>
            <a:r>
              <a:rPr kumimoji="1" lang="ja-JP" altLang="en-US"/>
              <a:t>細胞では</a:t>
            </a:r>
            <a:endParaRPr kumimoji="1" lang="en-US" altLang="ja-JP" dirty="0"/>
          </a:p>
          <a:p>
            <a:pPr marL="1085850" lvl="2" indent="-171450">
              <a:buFontTx/>
              <a:buChar char="-"/>
            </a:pPr>
            <a:r>
              <a:rPr kumimoji="1" lang="en-US" altLang="ja-JP" dirty="0"/>
              <a:t>TGR5</a:t>
            </a:r>
            <a:r>
              <a:rPr kumimoji="1" lang="ja-JP" altLang="en-US"/>
              <a:t>と胆汁酸が結合して</a:t>
            </a:r>
            <a:r>
              <a:rPr kumimoji="1" lang="en-US" altLang="ja-JP" dirty="0"/>
              <a:t>GLP-1</a:t>
            </a:r>
            <a:r>
              <a:rPr kumimoji="1" lang="ja-JP" altLang="en-US"/>
              <a:t>分泌を促進</a:t>
            </a:r>
            <a:endParaRPr kumimoji="1" lang="en-US" altLang="ja-JP" dirty="0"/>
          </a:p>
          <a:p>
            <a:pPr marL="1085850" lvl="2" indent="-171450">
              <a:buFontTx/>
              <a:buChar char="-"/>
            </a:pPr>
            <a:r>
              <a:rPr kumimoji="1" lang="en-US" altLang="ja-JP" dirty="0"/>
              <a:t>GLP-1</a:t>
            </a:r>
            <a:r>
              <a:rPr kumimoji="1" lang="ja-JP" altLang="en-US"/>
              <a:t>は膵</a:t>
            </a:r>
            <a:r>
              <a:rPr kumimoji="1" lang="en-US" altLang="ja-JP" dirty="0"/>
              <a:t>β</a:t>
            </a:r>
            <a:r>
              <a:rPr kumimoji="1" lang="ja-JP" altLang="en-US"/>
              <a:t>細胞のインスリン分泌を促進</a:t>
            </a:r>
            <a:endParaRPr kumimoji="1" lang="en-US" altLang="ja-JP" dirty="0"/>
          </a:p>
          <a:p>
            <a:pPr marL="1085850" lvl="2" indent="-171450">
              <a:buFontTx/>
              <a:buChar char="-"/>
            </a:pPr>
            <a:r>
              <a:rPr kumimoji="1" lang="ja-JP" altLang="en-US"/>
              <a:t>抗肥満作用、血糖降下作用をもたらし、糖尿病治療に有益</a:t>
            </a:r>
            <a:endParaRPr kumimoji="1" lang="en-US" altLang="ja-JP" dirty="0"/>
          </a:p>
          <a:p>
            <a:pPr marL="1085850" lvl="2" indent="-171450">
              <a:buFontTx/>
              <a:buChar char="-"/>
            </a:pPr>
            <a:r>
              <a:rPr kumimoji="1" lang="en-US" altLang="ja-JP" dirty="0"/>
              <a:t>TGR5</a:t>
            </a:r>
            <a:r>
              <a:rPr kumimoji="1" lang="ja-JP" altLang="en-US"/>
              <a:t>に結合して活性化するアゴニストがあれば良い</a:t>
            </a:r>
          </a:p>
          <a:p>
            <a:pPr marL="171450" indent="-171450">
              <a:buFontTx/>
              <a:buChar char="-"/>
            </a:pPr>
            <a:r>
              <a:rPr kumimoji="1" lang="ja-JP" altLang="en-US"/>
              <a:t>胆汁酸の問題点</a:t>
            </a:r>
            <a:endParaRPr kumimoji="1" lang="en-US" altLang="ja-JP" dirty="0"/>
          </a:p>
          <a:p>
            <a:pPr marL="628650" lvl="1" indent="-171450">
              <a:buFontTx/>
              <a:buChar char="-"/>
            </a:pPr>
            <a:r>
              <a:rPr kumimoji="1" lang="en-US" altLang="ja-JP" dirty="0"/>
              <a:t>TGR5</a:t>
            </a:r>
            <a:r>
              <a:rPr kumimoji="1" lang="ja-JP" altLang="en-US"/>
              <a:t>以外の胆汁酸受容体に影響を与える</a:t>
            </a:r>
            <a:endParaRPr kumimoji="1" lang="en-US" altLang="ja-JP" dirty="0"/>
          </a:p>
          <a:p>
            <a:pPr marL="1085850" lvl="2" indent="-171450">
              <a:buFontTx/>
              <a:buChar char="-"/>
            </a:pPr>
            <a:r>
              <a:rPr kumimoji="1" lang="en-US" altLang="ja-JP" dirty="0"/>
              <a:t>FXR</a:t>
            </a:r>
            <a:r>
              <a:rPr kumimoji="1" lang="ja-JP" altLang="en-US"/>
              <a:t>は消化管上皮細胞などに発現していて</a:t>
            </a:r>
            <a:endParaRPr kumimoji="1" lang="en-US" altLang="ja-JP" dirty="0"/>
          </a:p>
          <a:p>
            <a:pPr marL="1085850" lvl="2" indent="-171450">
              <a:buFontTx/>
              <a:buChar char="-"/>
            </a:pPr>
            <a:r>
              <a:rPr kumimoji="1" lang="en-US" altLang="ja-JP" dirty="0"/>
              <a:t>FXR</a:t>
            </a:r>
            <a:r>
              <a:rPr kumimoji="1" lang="ja-JP" altLang="en-US"/>
              <a:t>は胆汁酸の代謝と輸送を調節する</a:t>
            </a:r>
            <a:endParaRPr kumimoji="1" lang="en-US" altLang="ja-JP" dirty="0"/>
          </a:p>
          <a:p>
            <a:pPr marL="1085850" lvl="2" indent="-171450">
              <a:buFontTx/>
              <a:buChar char="-"/>
            </a:pPr>
            <a:r>
              <a:rPr kumimoji="1" lang="ja-JP" altLang="en-US"/>
              <a:t>過剰に活性化されると胆汁の流れが阻害されて胆汁酸が蓄積されてしまう</a:t>
            </a:r>
            <a:endParaRPr kumimoji="1" lang="en-US" altLang="ja-JP" dirty="0"/>
          </a:p>
          <a:p>
            <a:pPr marL="1543050" lvl="3" indent="-171450">
              <a:buFontTx/>
              <a:buChar char="-"/>
            </a:pPr>
            <a:r>
              <a:rPr kumimoji="1" lang="ja-JP" altLang="en-US"/>
              <a:t>胆汁うったいが起こる</a:t>
            </a:r>
            <a:endParaRPr kumimoji="1" lang="en-US" altLang="ja-JP" dirty="0"/>
          </a:p>
          <a:p>
            <a:pPr marL="628650" lvl="1" indent="-171450">
              <a:buFontTx/>
              <a:buChar char="-"/>
            </a:pPr>
            <a:r>
              <a:rPr kumimoji="1" lang="ja-JP" altLang="en-US"/>
              <a:t>腸管</a:t>
            </a:r>
            <a:r>
              <a:rPr kumimoji="1" lang="en-US" altLang="ja-JP" dirty="0"/>
              <a:t>L</a:t>
            </a:r>
            <a:r>
              <a:rPr kumimoji="1" lang="ja-JP" altLang="en-US"/>
              <a:t>細胞以外に発現している</a:t>
            </a:r>
            <a:r>
              <a:rPr kumimoji="1" lang="en-US" altLang="ja-JP" dirty="0"/>
              <a:t>TGR5</a:t>
            </a:r>
            <a:r>
              <a:rPr kumimoji="1" lang="ja-JP" altLang="en-US"/>
              <a:t>に影響を及ぼす</a:t>
            </a:r>
            <a:endParaRPr kumimoji="1" lang="en-US" altLang="ja-JP" dirty="0"/>
          </a:p>
          <a:p>
            <a:pPr marL="1085850" lvl="2" indent="-171450">
              <a:buFontTx/>
              <a:buChar char="-"/>
            </a:pPr>
            <a:r>
              <a:rPr lang="ja-JP" altLang="en-US"/>
              <a:t>胆嚢細胞上の</a:t>
            </a:r>
            <a:r>
              <a:rPr lang="en" altLang="ja-JP" dirty="0"/>
              <a:t>TGR5</a:t>
            </a:r>
            <a:r>
              <a:rPr lang="ja-JP" altLang="en-US"/>
              <a:t>受容体を活性化すると胆汁の排出が阻害され、胆嚢容積が増大する可能性</a:t>
            </a:r>
            <a:endParaRPr lang="en-US" altLang="ja-JP" dirty="0"/>
          </a:p>
          <a:p>
            <a:pPr marL="1543050" lvl="3" indent="-171450">
              <a:buFontTx/>
              <a:buChar char="-"/>
            </a:pPr>
            <a:r>
              <a:rPr kumimoji="1" lang="ja-JP" altLang="en-US"/>
              <a:t>胆石形成や、炎症などが起こる可能性</a:t>
            </a:r>
            <a:endParaRPr kumimoji="1" lang="en-US" altLang="ja-JP" dirty="0"/>
          </a:p>
          <a:p>
            <a:pPr marL="628650" lvl="1" indent="-171450">
              <a:buFontTx/>
              <a:buChar char="-"/>
            </a:pPr>
            <a:r>
              <a:rPr kumimoji="1" lang="en-US" altLang="ja-JP" dirty="0"/>
              <a:t>TGR5</a:t>
            </a:r>
            <a:r>
              <a:rPr kumimoji="1" lang="ja-JP" altLang="en-US"/>
              <a:t>に組織特異的に結合するアゴニストが必要</a:t>
            </a:r>
            <a:endParaRPr kumimoji="1" lang="en-US" altLang="ja-JP" dirty="0"/>
          </a:p>
          <a:p>
            <a:pPr marL="171450" indent="-171450">
              <a:buFontTx/>
              <a:buChar char="-"/>
            </a:pPr>
            <a:endParaRPr kumimoji="1" lang="en-US" altLang="ja-JP" dirty="0"/>
          </a:p>
          <a:p>
            <a:pPr marL="171450" indent="-171450">
              <a:buFontTx/>
              <a:buChar char="-"/>
            </a:pPr>
            <a:endParaRPr kumimoji="1" lang="en-US" altLang="ja-JP" dirty="0"/>
          </a:p>
          <a:p>
            <a:pPr marL="171450" indent="-171450">
              <a:buFontTx/>
              <a:buChar char="-"/>
            </a:pPr>
            <a:r>
              <a:rPr kumimoji="1" lang="en-US" altLang="ja-JP" dirty="0"/>
              <a:t>GLP-1</a:t>
            </a:r>
            <a:r>
              <a:rPr kumimoji="1" lang="ja-JP" altLang="en-US"/>
              <a:t>に基づく糖尿病治療薬</a:t>
            </a:r>
            <a:endParaRPr kumimoji="1" lang="en-US" altLang="ja-JP" dirty="0"/>
          </a:p>
          <a:p>
            <a:pPr marL="628650" lvl="1" indent="-171450">
              <a:buFontTx/>
              <a:buChar char="-"/>
            </a:pPr>
            <a:r>
              <a:rPr kumimoji="1" lang="ja-JP" altLang="en-US"/>
              <a:t>非経口投与が必要</a:t>
            </a:r>
            <a:endParaRPr kumimoji="1" lang="en-US" altLang="ja-JP" dirty="0"/>
          </a:p>
          <a:p>
            <a:pPr marL="628650" lvl="1" indent="-171450">
              <a:buFontTx/>
              <a:buChar char="-"/>
            </a:pPr>
            <a:r>
              <a:rPr kumimoji="1" lang="ja-JP" altLang="en-US"/>
              <a:t>生体内での安定性が低い</a:t>
            </a:r>
            <a:endParaRPr kumimoji="1" lang="en-US" altLang="ja-JP" dirty="0"/>
          </a:p>
          <a:p>
            <a:pPr marL="628650" lvl="1" indent="-171450">
              <a:buFontTx/>
              <a:buChar char="-"/>
            </a:pPr>
            <a:r>
              <a:rPr kumimoji="1" lang="ja-JP" altLang="en-US"/>
              <a:t>別のアプローチが期待されている</a:t>
            </a:r>
            <a:endParaRPr kumimoji="1" lang="en-US" altLang="ja-JP" dirty="0"/>
          </a:p>
          <a:p>
            <a:pPr marL="171450" indent="-171450">
              <a:buFontTx/>
              <a:buChar char="-"/>
            </a:pPr>
            <a:endParaRPr kumimoji="1" lang="en-US" altLang="ja-JP"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a:t>
            </a:fld>
            <a:endParaRPr kumimoji="1" lang="ja-JP" altLang="en-US"/>
          </a:p>
        </p:txBody>
      </p:sp>
    </p:spTree>
    <p:extLst>
      <p:ext uri="{BB962C8B-B14F-4D97-AF65-F5344CB8AC3E}">
        <p14:creationId xmlns:p14="http://schemas.microsoft.com/office/powerpoint/2010/main" val="3706306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Tx/>
              <a:buChar char="-"/>
            </a:pPr>
            <a:r>
              <a:rPr kumimoji="1" lang="ja-JP" altLang="en-US"/>
              <a:t>先行研究で、複数の</a:t>
            </a:r>
            <a:r>
              <a:rPr kumimoji="1" lang="en-US" altLang="ja-JP" dirty="0"/>
              <a:t>DCA</a:t>
            </a:r>
            <a:r>
              <a:rPr kumimoji="1" lang="ja-JP" altLang="en-US"/>
              <a:t>結合ペプチドが</a:t>
            </a:r>
            <a:r>
              <a:rPr kumimoji="1" lang="en-US" altLang="ja-JP" dirty="0"/>
              <a:t>TGR5</a:t>
            </a:r>
            <a:r>
              <a:rPr kumimoji="1" lang="ja-JP" altLang="en-US"/>
              <a:t>を活性化した</a:t>
            </a:r>
            <a:endParaRPr kumimoji="1" lang="en-US" altLang="ja-JP" dirty="0"/>
          </a:p>
          <a:p>
            <a:pPr marL="628650" lvl="1" indent="-171450">
              <a:buFontTx/>
              <a:buChar char="-"/>
            </a:pPr>
            <a:r>
              <a:rPr kumimoji="1" lang="en-US" altLang="ja-JP" dirty="0"/>
              <a:t>4</a:t>
            </a:r>
            <a:r>
              <a:rPr kumimoji="1" lang="ja-JP" altLang="en-US"/>
              <a:t>つの</a:t>
            </a:r>
            <a:r>
              <a:rPr kumimoji="1" lang="en-US" altLang="ja-JP" dirty="0"/>
              <a:t>peptide</a:t>
            </a:r>
            <a:r>
              <a:rPr kumimoji="1" lang="ja-JP" altLang="en-US"/>
              <a:t>で小さいが活性</a:t>
            </a:r>
            <a:endParaRPr kumimoji="1" lang="en-US" altLang="ja-JP" dirty="0"/>
          </a:p>
          <a:p>
            <a:pPr marL="628650" lvl="1" indent="-171450">
              <a:buFontTx/>
              <a:buChar char="-"/>
            </a:pPr>
            <a:r>
              <a:rPr kumimoji="1" lang="ja-JP" altLang="en-US"/>
              <a:t>共添加した系で</a:t>
            </a:r>
            <a:r>
              <a:rPr kumimoji="1" lang="en-US" altLang="ja-JP" dirty="0"/>
              <a:t>DCA</a:t>
            </a:r>
            <a:r>
              <a:rPr kumimoji="1" lang="ja-JP" altLang="en-US"/>
              <a:t>単体に比べて高い活性</a:t>
            </a:r>
            <a:endParaRPr kumimoji="1" lang="en-US" altLang="ja-JP" dirty="0"/>
          </a:p>
          <a:p>
            <a:pPr marL="628650" lvl="1" indent="-171450">
              <a:buFontTx/>
              <a:buChar char="-"/>
            </a:pPr>
            <a:r>
              <a:rPr kumimoji="1" lang="en-US" altLang="ja-JP" dirty="0"/>
              <a:t>TGR5</a:t>
            </a:r>
            <a:r>
              <a:rPr kumimoji="1" lang="ja-JP" altLang="en-US"/>
              <a:t>アゴニストとして作用するペプチドが存在した</a:t>
            </a:r>
            <a:endParaRPr kumimoji="1" lang="en-US" altLang="ja-JP" dirty="0"/>
          </a:p>
          <a:p>
            <a:pPr marL="171450" indent="-171450">
              <a:buFontTx/>
              <a:buChar char="-"/>
            </a:pPr>
            <a:r>
              <a:rPr kumimoji="1" lang="en-US" altLang="ja-JP" dirty="0"/>
              <a:t>TGR5</a:t>
            </a:r>
            <a:r>
              <a:rPr kumimoji="1" lang="ja-JP" altLang="en-US"/>
              <a:t>アゴニストペプチドは機能性表示食品への応用が期待できる</a:t>
            </a:r>
            <a:endParaRPr kumimoji="1" lang="en-US" altLang="ja-JP" dirty="0"/>
          </a:p>
          <a:p>
            <a:pPr marL="628650" lvl="1" indent="-171450">
              <a:buFontTx/>
              <a:buChar char="-"/>
            </a:pPr>
            <a:r>
              <a:rPr kumimoji="1" lang="ja-JP" altLang="en-US"/>
              <a:t>大豆などの可食生タンパク質から生理活性ペプチドを取得することができれば、</a:t>
            </a:r>
            <a:endParaRPr kumimoji="1" lang="en-US" altLang="ja-JP" dirty="0"/>
          </a:p>
          <a:p>
            <a:pPr marL="628650" lvl="1" indent="-171450">
              <a:buFontTx/>
              <a:buChar char="-"/>
            </a:pPr>
            <a:r>
              <a:rPr kumimoji="1" lang="ja-JP" altLang="en-US"/>
              <a:t>安全な機能性表示食品への応用ができる</a:t>
            </a:r>
            <a:endParaRPr kumimoji="1" lang="en-US" altLang="ja-JP"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2</a:t>
            </a:fld>
            <a:endParaRPr kumimoji="1" lang="ja-JP" altLang="en-US"/>
          </a:p>
        </p:txBody>
      </p:sp>
    </p:spTree>
    <p:extLst>
      <p:ext uri="{BB962C8B-B14F-4D97-AF65-F5344CB8AC3E}">
        <p14:creationId xmlns:p14="http://schemas.microsoft.com/office/powerpoint/2010/main" val="3009657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 </a:t>
            </a:r>
            <a:r>
              <a:rPr kumimoji="1" lang="ja-JP" altLang="en-US"/>
              <a:t>本研究の目的は、</a:t>
            </a:r>
            <a:r>
              <a:rPr kumimoji="1" lang="en-US" altLang="ja-JP" dirty="0"/>
              <a:t>TGR5</a:t>
            </a:r>
            <a:r>
              <a:rPr kumimoji="1" lang="ja-JP" altLang="en-US"/>
              <a:t>に結合して活性化する作用を持つ生理活性ペプチドの探索です</a:t>
            </a:r>
            <a:endParaRPr kumimoji="1" lang="en-US" altLang="ja-JP" dirty="0"/>
          </a:p>
          <a:p>
            <a:pPr marL="171450" indent="-171450">
              <a:buFontTx/>
              <a:buChar char="-"/>
            </a:pPr>
            <a:r>
              <a:rPr kumimoji="1" lang="ja-JP" altLang="en-US"/>
              <a:t>探索の手法として、現在報告されている</a:t>
            </a:r>
            <a:r>
              <a:rPr kumimoji="1" lang="en-US" altLang="ja-JP" dirty="0"/>
              <a:t>TGR5</a:t>
            </a:r>
            <a:r>
              <a:rPr kumimoji="1" lang="ja-JP" altLang="en-US"/>
              <a:t>アゴニストとペプチドの類似度が高いペプチドを合成する</a:t>
            </a:r>
            <a:endParaRPr kumimoji="1" lang="en-US" altLang="ja-JP" dirty="0"/>
          </a:p>
          <a:p>
            <a:pPr marL="628650" lvl="1" indent="-171450">
              <a:buFontTx/>
              <a:buChar char="-"/>
            </a:pPr>
            <a:r>
              <a:rPr kumimoji="1" lang="ja-JP" altLang="en-US"/>
              <a:t>これについては後ほど詳しく説明する</a:t>
            </a:r>
            <a:endParaRPr kumimoji="1" lang="en-US" altLang="ja-JP" dirty="0"/>
          </a:p>
          <a:p>
            <a:pPr marL="171450" indent="-171450">
              <a:buFontTx/>
              <a:buChar char="-"/>
            </a:pPr>
            <a:r>
              <a:rPr kumimoji="1" lang="ja-JP" altLang="en-US"/>
              <a:t>合成したペプチドの</a:t>
            </a:r>
            <a:r>
              <a:rPr kumimoji="1" lang="en-US" altLang="ja-JP" dirty="0"/>
              <a:t>TGR5</a:t>
            </a:r>
            <a:r>
              <a:rPr kumimoji="1" lang="ja-JP" altLang="en-US"/>
              <a:t>活性評価</a:t>
            </a:r>
            <a:endParaRPr kumimoji="1" lang="en-US" altLang="ja-JP" dirty="0"/>
          </a:p>
          <a:p>
            <a:pPr marL="628650" lvl="1" indent="-171450">
              <a:buFontTx/>
              <a:buChar char="-"/>
            </a:pPr>
            <a:r>
              <a:rPr kumimoji="1" lang="ja-JP" altLang="en-US"/>
              <a:t>先行研究で利用していた、</a:t>
            </a:r>
            <a:r>
              <a:rPr kumimoji="1" lang="en-US" altLang="ja-JP" dirty="0"/>
              <a:t>TGR5</a:t>
            </a:r>
            <a:r>
              <a:rPr kumimoji="1" lang="ja-JP" altLang="en-US"/>
              <a:t>の活性化でルシフェラーゼを発現させ、発現量から</a:t>
            </a:r>
            <a:r>
              <a:rPr kumimoji="1" lang="en-US" altLang="ja-JP" dirty="0"/>
              <a:t>TGR5</a:t>
            </a:r>
            <a:r>
              <a:rPr kumimoji="1" lang="ja-JP" altLang="en-US"/>
              <a:t>活性を評価する系を利用</a:t>
            </a:r>
            <a:endParaRPr kumimoji="1" lang="en-US" altLang="ja-JP" dirty="0"/>
          </a:p>
          <a:p>
            <a:pPr marL="171450" indent="-171450">
              <a:buFontTx/>
              <a:buChar char="-"/>
            </a:pPr>
            <a:r>
              <a:rPr kumimoji="1" lang="ja-JP" altLang="en-US"/>
              <a:t>可食生タンパク質のアミノ酸配列から、生理活性ペプチドを切り出す</a:t>
            </a:r>
            <a:endParaRPr kumimoji="1" lang="en-US" altLang="ja-JP" dirty="0"/>
          </a:p>
          <a:p>
            <a:pPr marL="628650" lvl="1" indent="-171450">
              <a:buFontTx/>
              <a:buChar char="-"/>
            </a:pPr>
            <a:r>
              <a:rPr kumimoji="1" lang="ja-JP" altLang="en-US"/>
              <a:t>可食生タンパク質から、</a:t>
            </a:r>
            <a:r>
              <a:rPr kumimoji="1" lang="en-US" altLang="ja-JP" dirty="0"/>
              <a:t> </a:t>
            </a:r>
            <a:r>
              <a:rPr kumimoji="1" lang="ja-JP" altLang="en-US"/>
              <a:t>活性があったペプチドを探し出して切り出す</a:t>
            </a: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3</a:t>
            </a:fld>
            <a:endParaRPr kumimoji="1" lang="ja-JP" altLang="en-US"/>
          </a:p>
        </p:txBody>
      </p:sp>
    </p:spTree>
    <p:extLst>
      <p:ext uri="{BB962C8B-B14F-4D97-AF65-F5344CB8AC3E}">
        <p14:creationId xmlns:p14="http://schemas.microsoft.com/office/powerpoint/2010/main" val="1486817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TGR5</a:t>
            </a:r>
            <a:r>
              <a:rPr kumimoji="1" lang="ja-JP" altLang="en-US"/>
              <a:t>活性評価系の改善について話します</a:t>
            </a:r>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4</a:t>
            </a:fld>
            <a:endParaRPr kumimoji="1" lang="ja-JP" altLang="en-US"/>
          </a:p>
        </p:txBody>
      </p:sp>
    </p:spTree>
    <p:extLst>
      <p:ext uri="{BB962C8B-B14F-4D97-AF65-F5344CB8AC3E}">
        <p14:creationId xmlns:p14="http://schemas.microsoft.com/office/powerpoint/2010/main" val="821601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Tx/>
              <a:buChar char="-"/>
            </a:pPr>
            <a:r>
              <a:rPr kumimoji="1" lang="ja-JP" altLang="en-US"/>
              <a:t>先行研究の結果の再現をした</a:t>
            </a:r>
            <a:endParaRPr kumimoji="1" lang="en-US" altLang="ja-JP" dirty="0"/>
          </a:p>
          <a:p>
            <a:pPr marL="628650" lvl="1" indent="-171450">
              <a:buFontTx/>
              <a:buChar char="-"/>
            </a:pPr>
            <a:r>
              <a:rPr kumimoji="1" lang="ja-JP" altLang="en-US"/>
              <a:t>方法は、</a:t>
            </a:r>
            <a:r>
              <a:rPr kumimoji="1" lang="en-US" altLang="ja-JP" dirty="0"/>
              <a:t>HEK293T</a:t>
            </a:r>
            <a:r>
              <a:rPr kumimoji="1" lang="ja-JP" altLang="en-US"/>
              <a:t>を播種して</a:t>
            </a:r>
            <a:endParaRPr kumimoji="1" lang="en-US" altLang="ja-JP" dirty="0"/>
          </a:p>
          <a:p>
            <a:pPr marL="628650" lvl="1" indent="-171450">
              <a:buFontTx/>
              <a:buChar char="-"/>
            </a:pPr>
            <a:r>
              <a:rPr kumimoji="1" lang="en-US" altLang="ja-JP" dirty="0"/>
              <a:t>TGR5, CRE-</a:t>
            </a:r>
            <a:r>
              <a:rPr kumimoji="1" lang="en-US" altLang="ja-JP" dirty="0" err="1"/>
              <a:t>luc</a:t>
            </a:r>
            <a:r>
              <a:rPr kumimoji="1" lang="en-US" altLang="ja-JP" dirty="0"/>
              <a:t>, β-gal</a:t>
            </a:r>
            <a:r>
              <a:rPr kumimoji="1" lang="ja-JP" altLang="en-US"/>
              <a:t>をトランスフェクション</a:t>
            </a:r>
            <a:endParaRPr kumimoji="1" lang="en-US" altLang="ja-JP" dirty="0"/>
          </a:p>
          <a:p>
            <a:pPr marL="628650" lvl="1" indent="-171450">
              <a:buFontTx/>
              <a:buChar char="-"/>
            </a:pPr>
            <a:r>
              <a:rPr kumimoji="1" lang="en-US" altLang="ja-JP" dirty="0"/>
              <a:t>DCA</a:t>
            </a:r>
            <a:r>
              <a:rPr kumimoji="1" lang="ja-JP" altLang="en-US"/>
              <a:t>、またはペプチドを添加して</a:t>
            </a:r>
            <a:r>
              <a:rPr kumimoji="1" lang="en-US" altLang="ja-JP" dirty="0"/>
              <a:t>TGR5</a:t>
            </a:r>
            <a:r>
              <a:rPr kumimoji="1" lang="ja-JP" altLang="en-US"/>
              <a:t>と反応させる</a:t>
            </a:r>
            <a:endParaRPr kumimoji="1" lang="en-US" altLang="ja-JP" dirty="0"/>
          </a:p>
          <a:p>
            <a:pPr marL="628650" lvl="1" indent="-171450">
              <a:buFontTx/>
              <a:buChar char="-"/>
            </a:pPr>
            <a:r>
              <a:rPr kumimoji="1" lang="ja-JP" altLang="en-US"/>
              <a:t>細胞を回収して破砕し、発光測定する</a:t>
            </a:r>
            <a:endParaRPr kumimoji="1" lang="en-US" altLang="ja-JP" dirty="0"/>
          </a:p>
          <a:p>
            <a:pPr marL="171450" indent="-171450">
              <a:buFontTx/>
              <a:buChar char="-"/>
            </a:pPr>
            <a:r>
              <a:rPr kumimoji="1" lang="ja-JP" altLang="en-US"/>
              <a:t>結果は</a:t>
            </a:r>
            <a:endParaRPr kumimoji="1" lang="en-US" altLang="ja-JP" dirty="0"/>
          </a:p>
          <a:p>
            <a:pPr marL="628650" lvl="1" indent="-171450">
              <a:buFontTx/>
              <a:buChar char="-"/>
            </a:pPr>
            <a:r>
              <a:rPr kumimoji="1" lang="ja-JP" altLang="en-US"/>
              <a:t>一部の再現は取れた</a:t>
            </a:r>
            <a:endParaRPr kumimoji="1" lang="en-US" altLang="ja-JP" dirty="0"/>
          </a:p>
          <a:p>
            <a:pPr marL="628650" lvl="1" indent="-171450">
              <a:buFontTx/>
              <a:buChar char="-"/>
            </a:pPr>
            <a:r>
              <a:rPr kumimoji="1" lang="ja-JP" altLang="en-US"/>
              <a:t>細胞のばらつきが大きかった</a:t>
            </a:r>
            <a:r>
              <a:rPr kumimoji="1" lang="en-US" altLang="ja-JP" dirty="0"/>
              <a:t> </a:t>
            </a:r>
          </a:p>
          <a:p>
            <a:pPr marL="1085850" lvl="2" indent="-171450">
              <a:buFontTx/>
              <a:buChar char="-"/>
            </a:pPr>
            <a:r>
              <a:rPr kumimoji="1" lang="ja-JP" altLang="en-US"/>
              <a:t>実際に目で見ても剥がれていた</a:t>
            </a:r>
            <a:endParaRPr kumimoji="1" lang="en-US" altLang="ja-JP" dirty="0"/>
          </a:p>
          <a:p>
            <a:pPr marL="628650" lvl="1" indent="-171450">
              <a:buFontTx/>
              <a:buChar char="-"/>
            </a:pPr>
            <a:r>
              <a:rPr kumimoji="1" lang="ja-JP" altLang="en-US"/>
              <a:t>操作が大変だった</a:t>
            </a:r>
            <a:endParaRPr kumimoji="1" lang="en-US" altLang="ja-JP" dirty="0"/>
          </a:p>
          <a:p>
            <a:pPr marL="1085850" lvl="2" indent="-171450">
              <a:buFontTx/>
              <a:buChar char="-"/>
            </a:pPr>
            <a:endParaRPr kumimoji="1" lang="en-US" altLang="ja-JP"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5</a:t>
            </a:fld>
            <a:endParaRPr kumimoji="1" lang="ja-JP" altLang="en-US"/>
          </a:p>
        </p:txBody>
      </p:sp>
    </p:spTree>
    <p:extLst>
      <p:ext uri="{BB962C8B-B14F-4D97-AF65-F5344CB8AC3E}">
        <p14:creationId xmlns:p14="http://schemas.microsoft.com/office/powerpoint/2010/main" val="2365048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 </a:t>
            </a:r>
            <a:r>
              <a:rPr kumimoji="1" lang="ja-JP" altLang="en-US"/>
              <a:t>細胞の剥がれを抑制する、操作の簡便にするための実験を行った</a:t>
            </a:r>
            <a:endParaRPr kumimoji="1" lang="en-US" altLang="ja-JP" dirty="0"/>
          </a:p>
          <a:p>
            <a:pPr marL="171450" indent="-171450">
              <a:buFontTx/>
              <a:buChar char="-"/>
            </a:pPr>
            <a:r>
              <a:rPr kumimoji="1" lang="en-US" altLang="ja-JP" dirty="0"/>
              <a:t>12well</a:t>
            </a:r>
            <a:r>
              <a:rPr kumimoji="1" lang="ja-JP" altLang="en-US"/>
              <a:t>だとプレート一枚あたりで評価できるペプチドの種類が少ない</a:t>
            </a:r>
            <a:endParaRPr kumimoji="1" lang="en-US" altLang="ja-JP" dirty="0"/>
          </a:p>
          <a:p>
            <a:pPr marL="628650" lvl="1" indent="-171450">
              <a:buFontTx/>
              <a:buChar char="-"/>
            </a:pPr>
            <a:r>
              <a:rPr kumimoji="1" lang="en-US" altLang="ja-JP" dirty="0"/>
              <a:t>24well</a:t>
            </a:r>
            <a:r>
              <a:rPr kumimoji="1" lang="ja-JP" altLang="en-US"/>
              <a:t>にして結果が変わらないか</a:t>
            </a:r>
            <a:endParaRPr kumimoji="1" lang="en-US" altLang="ja-JP" dirty="0"/>
          </a:p>
          <a:p>
            <a:pPr marL="171450" indent="-171450">
              <a:buFontTx/>
              <a:buChar char="-"/>
            </a:pPr>
            <a:r>
              <a:rPr kumimoji="1" lang="ja-JP" altLang="en-US"/>
              <a:t>トランスフェクションで細胞が剥がれ、</a:t>
            </a:r>
            <a:r>
              <a:rPr kumimoji="1" lang="en-US" altLang="ja-JP" dirty="0"/>
              <a:t>well</a:t>
            </a:r>
            <a:r>
              <a:rPr kumimoji="1" lang="ja-JP" altLang="en-US"/>
              <a:t>ごとの細胞数に差が生じる</a:t>
            </a:r>
            <a:endParaRPr kumimoji="1" lang="en-US" altLang="ja-JP" dirty="0"/>
          </a:p>
          <a:p>
            <a:pPr marL="628650" lvl="1" indent="-171450">
              <a:buFontTx/>
              <a:buChar char="-"/>
            </a:pPr>
            <a:r>
              <a:rPr kumimoji="1" lang="en-US" altLang="ja-JP" dirty="0"/>
              <a:t>Dish</a:t>
            </a:r>
            <a:r>
              <a:rPr kumimoji="1" lang="ja-JP" altLang="en-US"/>
              <a:t>で一気にトランスフェクションして、その後の細胞を撒くことで細胞数のばらつきを抑制する</a:t>
            </a:r>
            <a:endParaRPr kumimoji="1" lang="en-US" altLang="ja-JP" dirty="0"/>
          </a:p>
          <a:p>
            <a:r>
              <a:rPr kumimoji="1" lang="en-US" altLang="ja-JP" dirty="0"/>
              <a:t>- 12well</a:t>
            </a:r>
            <a:r>
              <a:rPr kumimoji="1" lang="ja-JP" altLang="en-US"/>
              <a:t>と</a:t>
            </a:r>
            <a:r>
              <a:rPr kumimoji="1" lang="en-US" altLang="ja-JP" dirty="0"/>
              <a:t>24well</a:t>
            </a:r>
            <a:r>
              <a:rPr kumimoji="1" lang="ja-JP" altLang="en-US"/>
              <a:t>で結果はほとんど変わらなかったので、</a:t>
            </a:r>
            <a:r>
              <a:rPr kumimoji="1" lang="en-US" altLang="ja-JP" dirty="0"/>
              <a:t>24well</a:t>
            </a:r>
            <a:r>
              <a:rPr kumimoji="1" lang="ja-JP" altLang="en-US"/>
              <a:t>でも問題ない</a:t>
            </a:r>
            <a:endParaRPr kumimoji="1" lang="en-US" altLang="ja-JP" dirty="0"/>
          </a:p>
          <a:p>
            <a:pPr marL="171450" indent="-171450">
              <a:buFontTx/>
              <a:buChar char="-"/>
            </a:pPr>
            <a:r>
              <a:rPr kumimoji="1" lang="en-US" altLang="ja-JP" dirty="0"/>
              <a:t>24well</a:t>
            </a:r>
            <a:r>
              <a:rPr kumimoji="1" lang="ja-JP" altLang="en-US"/>
              <a:t>と比べて</a:t>
            </a:r>
            <a:r>
              <a:rPr kumimoji="1" lang="en-US" altLang="ja-JP" dirty="0"/>
              <a:t>60mmdish</a:t>
            </a:r>
            <a:r>
              <a:rPr kumimoji="1" lang="ja-JP" altLang="en-US"/>
              <a:t>の方は細胞数のばらつきが少なく、結果的にも誤差が少なかった</a:t>
            </a:r>
            <a:endParaRPr kumimoji="1" lang="en-US" altLang="ja-JP" dirty="0"/>
          </a:p>
          <a:p>
            <a:pPr marL="628650" lvl="1" indent="-171450">
              <a:buFontTx/>
              <a:buChar char="-"/>
            </a:pPr>
            <a:r>
              <a:rPr kumimoji="1" lang="ja-JP" altLang="en-US"/>
              <a:t>実際に見ても</a:t>
            </a:r>
            <a:r>
              <a:rPr kumimoji="1" lang="en-US" altLang="ja-JP" dirty="0"/>
              <a:t>dish</a:t>
            </a:r>
            <a:r>
              <a:rPr kumimoji="1" lang="ja-JP" altLang="en-US"/>
              <a:t>の方は</a:t>
            </a:r>
            <a:r>
              <a:rPr kumimoji="1" lang="en-US" altLang="ja-JP" dirty="0"/>
              <a:t>well</a:t>
            </a:r>
            <a:r>
              <a:rPr kumimoji="1" lang="ja-JP" altLang="en-US"/>
              <a:t>ごとの剥がれなどは見られなかった</a:t>
            </a:r>
            <a:endParaRPr kumimoji="1" lang="en-US" altLang="ja-JP" dirty="0"/>
          </a:p>
          <a:p>
            <a:pPr marL="628650" lvl="1" indent="-171450">
              <a:buFontTx/>
              <a:buChar char="-"/>
            </a:pPr>
            <a:r>
              <a:rPr kumimoji="1" lang="en-US" altLang="ja-JP" dirty="0"/>
              <a:t>Luc activity</a:t>
            </a:r>
            <a:r>
              <a:rPr kumimoji="1" lang="ja-JP" altLang="en-US"/>
              <a:t>に差があるのは、トランスフェクションした時の濃度が違うから</a:t>
            </a:r>
            <a:endParaRPr kumimoji="1" lang="en-US" altLang="ja-JP"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6</a:t>
            </a:fld>
            <a:endParaRPr kumimoji="1" lang="ja-JP" altLang="en-US"/>
          </a:p>
        </p:txBody>
      </p:sp>
    </p:spTree>
    <p:extLst>
      <p:ext uri="{BB962C8B-B14F-4D97-AF65-F5344CB8AC3E}">
        <p14:creationId xmlns:p14="http://schemas.microsoft.com/office/powerpoint/2010/main" val="15168511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トランスフェクションの時間に関する検討を行いました</a:t>
            </a:r>
            <a:endParaRPr kumimoji="1" lang="en-US" altLang="ja-JP" dirty="0"/>
          </a:p>
          <a:p>
            <a:pPr marL="171450" indent="-171450">
              <a:buFontTx/>
              <a:buChar char="-"/>
            </a:pPr>
            <a:r>
              <a:rPr kumimoji="1" lang="en-US" altLang="ja-JP" dirty="0"/>
              <a:t>4h</a:t>
            </a:r>
            <a:r>
              <a:rPr kumimoji="1" lang="ja-JP" altLang="en-US"/>
              <a:t>だと</a:t>
            </a:r>
            <a:r>
              <a:rPr kumimoji="1" lang="en-US" altLang="ja-JP" dirty="0"/>
              <a:t>1</a:t>
            </a:r>
            <a:r>
              <a:rPr kumimoji="1" lang="ja-JP" altLang="en-US"/>
              <a:t>日に実験する量が増えて大変なので、</a:t>
            </a:r>
            <a:r>
              <a:rPr kumimoji="1" lang="en-US" altLang="ja-JP" dirty="0"/>
              <a:t>24h</a:t>
            </a:r>
            <a:r>
              <a:rPr kumimoji="1" lang="ja-JP" altLang="en-US"/>
              <a:t>でも行えないかを検討しました</a:t>
            </a:r>
            <a:endParaRPr kumimoji="1" lang="en-US" altLang="ja-JP" dirty="0"/>
          </a:p>
          <a:p>
            <a:pPr marL="171450" indent="-171450">
              <a:buFontTx/>
              <a:buChar char="-"/>
            </a:pPr>
            <a:r>
              <a:rPr kumimoji="1" lang="ja-JP" altLang="en-US"/>
              <a:t>結果は</a:t>
            </a:r>
            <a:endParaRPr kumimoji="1" lang="en-US" altLang="ja-JP" dirty="0"/>
          </a:p>
          <a:p>
            <a:pPr marL="628650" lvl="1" indent="-171450">
              <a:buFontTx/>
              <a:buChar char="-"/>
            </a:pPr>
            <a:r>
              <a:rPr kumimoji="1" lang="ja-JP" altLang="en-US"/>
              <a:t>ルシフェラーゼの発現量は変わらなかったのですが</a:t>
            </a:r>
            <a:endParaRPr kumimoji="1" lang="en-US" altLang="ja-JP" dirty="0"/>
          </a:p>
          <a:p>
            <a:pPr marL="628650" lvl="1" indent="-171450">
              <a:buFontTx/>
              <a:buChar char="-"/>
            </a:pPr>
            <a:r>
              <a:rPr kumimoji="1" lang="en-US" altLang="ja-JP" dirty="0"/>
              <a:t>β-gal</a:t>
            </a:r>
            <a:r>
              <a:rPr kumimoji="1" lang="ja-JP" altLang="en-US"/>
              <a:t>の発現量が</a:t>
            </a:r>
            <a:r>
              <a:rPr kumimoji="1" lang="en-US" altLang="ja-JP" dirty="0"/>
              <a:t>24h</a:t>
            </a:r>
            <a:r>
              <a:rPr kumimoji="1" lang="ja-JP" altLang="en-US"/>
              <a:t>で大きくなった</a:t>
            </a:r>
            <a:endParaRPr kumimoji="1" lang="en-US" altLang="ja-JP" dirty="0"/>
          </a:p>
          <a:p>
            <a:pPr marL="628650" lvl="1" indent="-171450">
              <a:buFontTx/>
              <a:buChar char="-"/>
            </a:pPr>
            <a:endParaRPr kumimoji="1" lang="en-US" altLang="ja-JP" dirty="0"/>
          </a:p>
          <a:p>
            <a:pPr marL="628650" lvl="1" indent="-171450">
              <a:buFontTx/>
              <a:buChar char="-"/>
            </a:pPr>
            <a:r>
              <a:rPr kumimoji="1" lang="ja-JP" altLang="en-US"/>
              <a:t>でもこれは問題ない</a:t>
            </a:r>
            <a:endParaRPr kumimoji="1" lang="en-US" altLang="ja-JP" dirty="0"/>
          </a:p>
          <a:p>
            <a:pPr marL="628650" lvl="1" indent="-171450">
              <a:buFontTx/>
              <a:buChar char="-"/>
            </a:pPr>
            <a:r>
              <a:rPr kumimoji="1" lang="ja-JP" altLang="en-US"/>
              <a:t>ルシフェラーゼの発現量が見れるため</a:t>
            </a:r>
            <a:endParaRPr kumimoji="1" lang="en-US" altLang="ja-JP" dirty="0"/>
          </a:p>
          <a:p>
            <a:pPr marL="628650" lvl="1" indent="-171450">
              <a:buFontTx/>
              <a:buChar char="-"/>
            </a:pPr>
            <a:r>
              <a:rPr kumimoji="1" lang="el-GR" altLang="ja-JP" dirty="0"/>
              <a:t>Β</a:t>
            </a:r>
            <a:r>
              <a:rPr kumimoji="1" lang="en-US" altLang="ja-JP" dirty="0"/>
              <a:t>-gal</a:t>
            </a:r>
            <a:r>
              <a:rPr kumimoji="1" lang="ja-JP" altLang="en-US"/>
              <a:t>活性が増えることに問題はない</a:t>
            </a:r>
            <a:endParaRPr kumimoji="1" lang="en-US" altLang="ja-JP"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7</a:t>
            </a:fld>
            <a:endParaRPr kumimoji="1" lang="ja-JP" altLang="en-US"/>
          </a:p>
        </p:txBody>
      </p:sp>
    </p:spTree>
    <p:extLst>
      <p:ext uri="{BB962C8B-B14F-4D97-AF65-F5344CB8AC3E}">
        <p14:creationId xmlns:p14="http://schemas.microsoft.com/office/powerpoint/2010/main" val="2427625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 DCA</a:t>
            </a:r>
            <a:r>
              <a:rPr kumimoji="1" lang="ja-JP" altLang="en-US"/>
              <a:t>と</a:t>
            </a:r>
            <a:r>
              <a:rPr kumimoji="1" lang="en-US" altLang="ja-JP" dirty="0"/>
              <a:t>TGR5</a:t>
            </a:r>
            <a:r>
              <a:rPr kumimoji="1" lang="ja-JP" altLang="en-US"/>
              <a:t>の反応時間の検討をしました</a:t>
            </a:r>
            <a:endParaRPr kumimoji="1" lang="en-US" altLang="ja-JP" dirty="0"/>
          </a:p>
          <a:p>
            <a:pPr marL="171450" indent="-171450">
              <a:buFontTx/>
              <a:buChar char="-"/>
            </a:pPr>
            <a:r>
              <a:rPr kumimoji="1" lang="ja-JP" altLang="en-US"/>
              <a:t>目的は、反応時間がもともと</a:t>
            </a:r>
            <a:r>
              <a:rPr kumimoji="1" lang="en-US" altLang="ja-JP" dirty="0"/>
              <a:t>5</a:t>
            </a:r>
            <a:r>
              <a:rPr kumimoji="1" lang="ja-JP" altLang="en-US"/>
              <a:t>時間で</a:t>
            </a:r>
            <a:r>
              <a:rPr kumimoji="1" lang="en-US" altLang="ja-JP" dirty="0"/>
              <a:t>1</a:t>
            </a:r>
            <a:r>
              <a:rPr kumimoji="1" lang="ja-JP" altLang="en-US"/>
              <a:t>日に実験する量が多いので、反応時間を短くして早く実験を終わらせるようにすることです</a:t>
            </a:r>
            <a:endParaRPr kumimoji="1" lang="en-US" altLang="ja-JP" dirty="0"/>
          </a:p>
          <a:p>
            <a:pPr marL="171450" indent="-171450">
              <a:buFontTx/>
              <a:buChar char="-"/>
            </a:pPr>
            <a:r>
              <a:rPr kumimoji="1" lang="en-US" altLang="ja-JP" dirty="0"/>
              <a:t>DCA</a:t>
            </a:r>
            <a:r>
              <a:rPr kumimoji="1" lang="ja-JP" altLang="en-US"/>
              <a:t>添加後、</a:t>
            </a:r>
            <a:r>
              <a:rPr kumimoji="1" lang="en-US" altLang="ja-JP" dirty="0"/>
              <a:t>1, 2, 3, 5</a:t>
            </a:r>
            <a:r>
              <a:rPr kumimoji="1" lang="ja-JP" altLang="en-US"/>
              <a:t>時間で反応させ、それぞれについて発光測定を行いました。</a:t>
            </a:r>
            <a:endParaRPr kumimoji="1" lang="en-US" altLang="ja-JP" dirty="0"/>
          </a:p>
          <a:p>
            <a:pPr marL="171450" indent="-171450">
              <a:buFontTx/>
              <a:buChar char="-"/>
            </a:pPr>
            <a:r>
              <a:rPr kumimoji="1" lang="ja-JP" altLang="en-US"/>
              <a:t>結果はグラフのようになり、時間に依存してルシフェラーゼの発現量が増加しました。</a:t>
            </a:r>
            <a:endParaRPr kumimoji="1" lang="en-US" altLang="ja-JP" dirty="0"/>
          </a:p>
          <a:p>
            <a:pPr marL="628650" lvl="1" indent="-171450">
              <a:buFontTx/>
              <a:buChar char="-"/>
            </a:pPr>
            <a:r>
              <a:rPr kumimoji="1" lang="ja-JP" altLang="en-US"/>
              <a:t>もともと</a:t>
            </a:r>
            <a:r>
              <a:rPr kumimoji="1" lang="en-US" altLang="ja-JP" dirty="0"/>
              <a:t>5</a:t>
            </a:r>
            <a:r>
              <a:rPr kumimoji="1" lang="ja-JP" altLang="en-US"/>
              <a:t>時間で行っていたのですが、</a:t>
            </a:r>
            <a:r>
              <a:rPr kumimoji="1" lang="en-US" altLang="ja-JP" dirty="0"/>
              <a:t>5</a:t>
            </a:r>
            <a:r>
              <a:rPr kumimoji="1" lang="ja-JP" altLang="en-US"/>
              <a:t>時間くらいから発現量が漸近していることがわかります</a:t>
            </a:r>
            <a:endParaRPr kumimoji="1" lang="en-US" altLang="ja-JP" dirty="0"/>
          </a:p>
          <a:p>
            <a:pPr marL="628650" lvl="1" indent="-171450">
              <a:buFontTx/>
              <a:buChar char="-"/>
            </a:pPr>
            <a:r>
              <a:rPr kumimoji="1" lang="ja-JP" altLang="en-US"/>
              <a:t>発現量が上限に達している場合、ペプチドを共添加してもさらなる活性が望めない可能性があります</a:t>
            </a:r>
            <a:endParaRPr kumimoji="1" lang="en-US" altLang="ja-JP" dirty="0"/>
          </a:p>
          <a:p>
            <a:r>
              <a:rPr kumimoji="1" lang="en-US" altLang="ja-JP" dirty="0"/>
              <a:t>- </a:t>
            </a:r>
            <a:r>
              <a:rPr kumimoji="1" lang="ja-JP" altLang="en-US"/>
              <a:t>そのためできるだけ短い時間で反応をさせるべきだと考えました。</a:t>
            </a:r>
            <a:endParaRPr kumimoji="1" lang="en-US" altLang="ja-JP" dirty="0"/>
          </a:p>
          <a:p>
            <a:r>
              <a:rPr kumimoji="1" lang="en-US" altLang="ja-JP" dirty="0"/>
              <a:t>- 2h</a:t>
            </a:r>
            <a:r>
              <a:rPr kumimoji="1" lang="ja-JP" altLang="en-US"/>
              <a:t>で</a:t>
            </a:r>
            <a:r>
              <a:rPr kumimoji="1" lang="en-US" altLang="ja-JP" dirty="0"/>
              <a:t>control</a:t>
            </a:r>
            <a:r>
              <a:rPr kumimoji="1" lang="ja-JP" altLang="en-US"/>
              <a:t>と優位さが出るので、</a:t>
            </a:r>
            <a:r>
              <a:rPr kumimoji="1" lang="en-US" altLang="ja-JP" dirty="0"/>
              <a:t>DCA</a:t>
            </a:r>
            <a:r>
              <a:rPr kumimoji="1" lang="ja-JP" altLang="en-US"/>
              <a:t>の反応時間は</a:t>
            </a:r>
            <a:r>
              <a:rPr kumimoji="1" lang="en-US" altLang="ja-JP" dirty="0"/>
              <a:t>2</a:t>
            </a:r>
            <a:r>
              <a:rPr kumimoji="1" lang="ja-JP" altLang="en-US"/>
              <a:t>時間に決定しました</a:t>
            </a:r>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8</a:t>
            </a:fld>
            <a:endParaRPr kumimoji="1" lang="ja-JP" altLang="en-US"/>
          </a:p>
        </p:txBody>
      </p:sp>
    </p:spTree>
    <p:extLst>
      <p:ext uri="{BB962C8B-B14F-4D97-AF65-F5344CB8AC3E}">
        <p14:creationId xmlns:p14="http://schemas.microsoft.com/office/powerpoint/2010/main" val="1445277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lvl="1"/>
            <a:r>
              <a:rPr kumimoji="1" lang="en-US" altLang="ja-JP" dirty="0"/>
              <a:t>- DCA</a:t>
            </a:r>
            <a:r>
              <a:rPr kumimoji="1" lang="ja-JP" altLang="en-US"/>
              <a:t>の濃度についても検討しました</a:t>
            </a:r>
            <a:endParaRPr kumimoji="1" lang="en-US" altLang="ja-JP" dirty="0"/>
          </a:p>
          <a:p>
            <a:pPr lvl="1"/>
            <a:r>
              <a:rPr kumimoji="1" lang="en-US" altLang="ja-JP" dirty="0"/>
              <a:t>- </a:t>
            </a:r>
            <a:r>
              <a:rPr kumimoji="1" lang="ja-JP" altLang="en-US"/>
              <a:t>目的は、</a:t>
            </a:r>
            <a:r>
              <a:rPr kumimoji="1" lang="en-US" altLang="ja-JP" dirty="0"/>
              <a:t>DCA</a:t>
            </a:r>
            <a:r>
              <a:rPr kumimoji="1" lang="ja-JP" altLang="en-US"/>
              <a:t>の添加を</a:t>
            </a:r>
            <a:r>
              <a:rPr kumimoji="1" lang="en-US" altLang="ja-JP" dirty="0"/>
              <a:t>20µM</a:t>
            </a:r>
            <a:r>
              <a:rPr kumimoji="1" lang="ja-JP" altLang="en-US"/>
              <a:t>で行っていましたが、報告されている</a:t>
            </a:r>
            <a:r>
              <a:rPr kumimoji="1" lang="en-US" altLang="ja-JP" dirty="0"/>
              <a:t>EC50</a:t>
            </a:r>
            <a:r>
              <a:rPr kumimoji="1" lang="ja-JP" altLang="en-US"/>
              <a:t>は</a:t>
            </a:r>
            <a:r>
              <a:rPr kumimoji="1" lang="en-US" altLang="ja-JP" dirty="0"/>
              <a:t>1.01µM</a:t>
            </a:r>
            <a:r>
              <a:rPr kumimoji="1" lang="ja-JP" altLang="en-US"/>
              <a:t>であり、適切な濃度を検討することです。</a:t>
            </a:r>
            <a:endParaRPr kumimoji="1" lang="en-US" altLang="ja-JP" dirty="0"/>
          </a:p>
          <a:p>
            <a:pPr lvl="1"/>
            <a:r>
              <a:rPr kumimoji="1" lang="en-US" altLang="ja-JP" dirty="0"/>
              <a:t>- </a:t>
            </a:r>
            <a:r>
              <a:rPr kumimoji="1" lang="ja-JP" altLang="en-US"/>
              <a:t>幅広い濃度で</a:t>
            </a:r>
            <a:r>
              <a:rPr kumimoji="1" lang="en-US" altLang="ja-JP" dirty="0"/>
              <a:t>DCA</a:t>
            </a:r>
            <a:r>
              <a:rPr kumimoji="1" lang="ja-JP" altLang="en-US"/>
              <a:t>を添加し、結果がどうなるかを検討しました</a:t>
            </a:r>
            <a:endParaRPr kumimoji="1" lang="en-US" altLang="ja-JP" dirty="0"/>
          </a:p>
          <a:p>
            <a:pPr marL="628650" lvl="1" indent="-171450">
              <a:buFontTx/>
              <a:buChar char="-"/>
            </a:pPr>
            <a:r>
              <a:rPr kumimoji="1" lang="ja-JP" altLang="en-US"/>
              <a:t>結果はこのようになりました。</a:t>
            </a:r>
            <a:endParaRPr kumimoji="1" lang="en-US" altLang="ja-JP" dirty="0"/>
          </a:p>
          <a:p>
            <a:pPr marL="1085850" lvl="2" indent="-171450">
              <a:buFontTx/>
              <a:buChar char="-"/>
            </a:pPr>
            <a:r>
              <a:rPr kumimoji="1" lang="ja-JP" altLang="en-US"/>
              <a:t>図から、</a:t>
            </a:r>
            <a:r>
              <a:rPr kumimoji="1" lang="en-US" altLang="ja-JP" dirty="0"/>
              <a:t>EC50</a:t>
            </a:r>
            <a:r>
              <a:rPr kumimoji="1" lang="ja-JP" altLang="en-US"/>
              <a:t>は</a:t>
            </a:r>
            <a:r>
              <a:rPr kumimoji="1" lang="en-US" altLang="ja-JP" dirty="0"/>
              <a:t>2µM</a:t>
            </a:r>
            <a:r>
              <a:rPr kumimoji="1" lang="ja-JP" altLang="en-US"/>
              <a:t>程度であることが読み取れます。</a:t>
            </a:r>
            <a:endParaRPr kumimoji="1" lang="en-US" altLang="ja-JP" dirty="0"/>
          </a:p>
          <a:p>
            <a:pPr marL="1085850" lvl="2" indent="-171450">
              <a:buFontTx/>
              <a:buChar char="-"/>
            </a:pPr>
            <a:r>
              <a:rPr kumimoji="1" lang="en-US" altLang="ja-JP" dirty="0"/>
              <a:t>20µM</a:t>
            </a:r>
            <a:r>
              <a:rPr kumimoji="1" lang="ja-JP" altLang="en-US"/>
              <a:t>は上限に近い濃度であることがわかるので、先ほどと同様に</a:t>
            </a:r>
            <a:endParaRPr kumimoji="1" lang="en-US" altLang="ja-JP" dirty="0"/>
          </a:p>
          <a:p>
            <a:pPr marL="1543050" lvl="3" indent="-171450">
              <a:buFontTx/>
              <a:buChar char="-"/>
            </a:pPr>
            <a:r>
              <a:rPr kumimoji="1" lang="ja-JP" altLang="en-US"/>
              <a:t>上限に近い濃度でやっていると、ペプチドを共添加してもさらなる活性が望めない可能性がある</a:t>
            </a:r>
            <a:endParaRPr kumimoji="1" lang="en-US" altLang="ja-JP" dirty="0"/>
          </a:p>
          <a:p>
            <a:pPr lvl="1"/>
            <a:r>
              <a:rPr kumimoji="1" lang="en-US" altLang="ja-JP" dirty="0"/>
              <a:t>- </a:t>
            </a:r>
            <a:r>
              <a:rPr kumimoji="1" lang="ja-JP" altLang="en-US"/>
              <a:t>ので、</a:t>
            </a:r>
            <a:r>
              <a:rPr kumimoji="1" lang="en-US" altLang="ja-JP" dirty="0"/>
              <a:t>DCA</a:t>
            </a:r>
            <a:r>
              <a:rPr kumimoji="1" lang="ja-JP" altLang="en-US"/>
              <a:t>の濃度は</a:t>
            </a:r>
            <a:r>
              <a:rPr kumimoji="1" lang="en-US" altLang="ja-JP" dirty="0"/>
              <a:t>2µM</a:t>
            </a:r>
            <a:r>
              <a:rPr kumimoji="1" lang="ja-JP" altLang="en-US"/>
              <a:t>に決定しました。</a:t>
            </a:r>
            <a:endParaRPr kumimoji="1" lang="en-US" altLang="ja-JP" dirty="0"/>
          </a:p>
          <a:p>
            <a:pPr lvl="1"/>
            <a:r>
              <a:rPr kumimoji="1" lang="en-US" altLang="ja-JP" dirty="0"/>
              <a:t>- </a:t>
            </a:r>
          </a:p>
          <a:p>
            <a:pPr lvl="1"/>
            <a:endParaRPr kumimoji="1" lang="en-US" altLang="ja-JP" dirty="0"/>
          </a:p>
          <a:p>
            <a:pPr marL="628650" lvl="1" indent="-171450">
              <a:buFontTx/>
              <a:buChar char="-"/>
            </a:pPr>
            <a:endParaRPr kumimoji="1" lang="en-US" altLang="ja-JP"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9</a:t>
            </a:fld>
            <a:endParaRPr kumimoji="1" lang="ja-JP" altLang="en-US"/>
          </a:p>
        </p:txBody>
      </p:sp>
    </p:spTree>
    <p:extLst>
      <p:ext uri="{BB962C8B-B14F-4D97-AF65-F5344CB8AC3E}">
        <p14:creationId xmlns:p14="http://schemas.microsoft.com/office/powerpoint/2010/main" val="1808804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 </a:t>
            </a:r>
            <a:r>
              <a:rPr kumimoji="1" lang="ja-JP" altLang="en-US"/>
              <a:t>改善した評価系です</a:t>
            </a:r>
            <a:endParaRPr kumimoji="1" lang="en-US" altLang="ja-JP" dirty="0"/>
          </a:p>
          <a:p>
            <a:r>
              <a:rPr kumimoji="1" lang="en-US" altLang="ja-JP" dirty="0"/>
              <a:t>- </a:t>
            </a:r>
            <a:r>
              <a:rPr kumimoji="1" lang="ja-JP" altLang="en-US"/>
              <a:t>変更点は図で示したように</a:t>
            </a:r>
            <a:r>
              <a:rPr kumimoji="1" lang="en-US" altLang="ja-JP" dirty="0"/>
              <a:t>〜</a:t>
            </a:r>
          </a:p>
          <a:p>
            <a:r>
              <a:rPr kumimoji="1" lang="en-US" altLang="ja-JP" dirty="0"/>
              <a:t>- </a:t>
            </a:r>
          </a:p>
          <a:p>
            <a:pPr marL="171450" indent="-171450">
              <a:buFontTx/>
              <a:buChar char="-"/>
            </a:pPr>
            <a:r>
              <a:rPr kumimoji="1" lang="en-US" altLang="ja-JP" dirty="0"/>
              <a:t>Well</a:t>
            </a:r>
            <a:r>
              <a:rPr kumimoji="1" lang="ja-JP" altLang="en-US"/>
              <a:t>ごとの細胞の剥がれを抑制すること</a:t>
            </a:r>
            <a:endParaRPr kumimoji="1" lang="en-US" altLang="ja-JP" dirty="0"/>
          </a:p>
          <a:p>
            <a:pPr marL="171450" indent="-171450">
              <a:buFontTx/>
              <a:buChar char="-"/>
            </a:pPr>
            <a:r>
              <a:rPr kumimoji="1" lang="ja-JP" altLang="en-US"/>
              <a:t>実験の操作時間を減らすことが可能になりました</a:t>
            </a:r>
            <a:endParaRPr kumimoji="1" lang="en-US" altLang="ja-JP" dirty="0"/>
          </a:p>
          <a:p>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10</a:t>
            </a:fld>
            <a:endParaRPr kumimoji="1" lang="ja-JP" altLang="en-US"/>
          </a:p>
        </p:txBody>
      </p:sp>
    </p:spTree>
    <p:extLst>
      <p:ext uri="{BB962C8B-B14F-4D97-AF65-F5344CB8AC3E}">
        <p14:creationId xmlns:p14="http://schemas.microsoft.com/office/powerpoint/2010/main" val="131773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Tx/>
              <a:buChar char="-"/>
            </a:pPr>
            <a:r>
              <a:rPr kumimoji="1" lang="ja-JP" altLang="en-US"/>
              <a:t>新しい評価系で、先行研究の再現を行いました。</a:t>
            </a:r>
            <a:endParaRPr kumimoji="1" lang="en-US" altLang="ja-JP" dirty="0"/>
          </a:p>
          <a:p>
            <a:pPr marL="171450" indent="-171450">
              <a:buFontTx/>
              <a:buChar char="-"/>
            </a:pPr>
            <a:r>
              <a:rPr kumimoji="1" lang="ja-JP" altLang="en-US"/>
              <a:t>今回はペプチドは新しく合成したものを使用しました。</a:t>
            </a:r>
            <a:endParaRPr kumimoji="1" lang="en-US" altLang="ja-JP" dirty="0"/>
          </a:p>
          <a:p>
            <a:pPr marL="171450" indent="-171450">
              <a:buFontTx/>
              <a:buChar char="-"/>
            </a:pPr>
            <a:r>
              <a:rPr kumimoji="1" lang="ja-JP" altLang="en-US"/>
              <a:t>左が新しい評価系での結果で、右が先行研究で報告された結果です。</a:t>
            </a:r>
            <a:endParaRPr kumimoji="1" lang="en-US" altLang="ja-JP" dirty="0"/>
          </a:p>
          <a:p>
            <a:pPr marL="171450" indent="-171450">
              <a:buFontTx/>
              <a:buChar char="-"/>
            </a:pPr>
            <a:r>
              <a:rPr kumimoji="1" lang="ja-JP" altLang="en-US"/>
              <a:t>新しい結果で、共添加した系で先行研究よりも高い活性が得られました。</a:t>
            </a:r>
            <a:endParaRPr kumimoji="1" lang="en-US" altLang="ja-JP" dirty="0"/>
          </a:p>
          <a:p>
            <a:pPr marL="628650" lvl="1" indent="-171450">
              <a:buFontTx/>
              <a:buChar char="-"/>
            </a:pPr>
            <a:r>
              <a:rPr kumimoji="1" lang="en-US" altLang="ja-JP" dirty="0"/>
              <a:t>DCA</a:t>
            </a:r>
            <a:r>
              <a:rPr kumimoji="1" lang="ja-JP" altLang="en-US"/>
              <a:t>の濃度を減らしたことにより、ペプチドの反応の余地が生まれたことによるものだと考えています</a:t>
            </a:r>
            <a:endParaRPr kumimoji="1" lang="en-US" altLang="ja-JP" dirty="0"/>
          </a:p>
          <a:p>
            <a:pPr marL="171450" indent="-171450">
              <a:buFontTx/>
              <a:buChar char="-"/>
            </a:pPr>
            <a:r>
              <a:rPr kumimoji="1" lang="ja-JP" altLang="en-US"/>
              <a:t>また、先行研究で活性が見られなかったペプチドを含め、どのペプチドでも活性が見られました</a:t>
            </a:r>
            <a:endParaRPr kumimoji="1" lang="en-US" altLang="ja-JP" dirty="0"/>
          </a:p>
          <a:p>
            <a:pPr marL="628650" lvl="1" indent="-171450">
              <a:buFontTx/>
              <a:buChar char="-"/>
            </a:pPr>
            <a:r>
              <a:rPr kumimoji="1" lang="ja-JP" altLang="en-US"/>
              <a:t>ペプチドの添加する濃度を</a:t>
            </a:r>
            <a:r>
              <a:rPr kumimoji="1" lang="en-US" altLang="ja-JP" dirty="0"/>
              <a:t>2µM</a:t>
            </a:r>
            <a:r>
              <a:rPr kumimoji="1" lang="ja-JP" altLang="en-US"/>
              <a:t>で添加しているので、活性が減ることも考えられたのですが、このような結果になりました</a:t>
            </a:r>
            <a:endParaRPr kumimoji="1" lang="en-US" altLang="ja-JP" dirty="0"/>
          </a:p>
          <a:p>
            <a:pPr marL="628650" lvl="1" indent="-171450">
              <a:buFontTx/>
              <a:buChar char="-"/>
            </a:pPr>
            <a:r>
              <a:rPr kumimoji="1" lang="ja-JP" altLang="en-US"/>
              <a:t>これに関しては何故かよくわかっていないので、</a:t>
            </a:r>
            <a:r>
              <a:rPr kumimoji="1" lang="en-US" altLang="ja-JP" dirty="0"/>
              <a:t>DCA</a:t>
            </a:r>
            <a:r>
              <a:rPr kumimoji="1" lang="ja-JP" altLang="en-US"/>
              <a:t>結合ペプチド以外の、適当なペプチド配列で活性が出ないかどうかを今後確認しようと考えています。</a:t>
            </a:r>
            <a:endParaRPr kumimoji="1" lang="en-US" altLang="ja-JP" dirty="0"/>
          </a:p>
          <a:p>
            <a:r>
              <a:rPr kumimoji="1" lang="en-US" altLang="ja-JP" dirty="0"/>
              <a:t>- </a:t>
            </a:r>
            <a:r>
              <a:rPr kumimoji="1" lang="ja-JP" altLang="en-US"/>
              <a:t>今回の実験では、細胞があまり増えずに実験を続けてしまったので、結果の誤差が大きくなってしまっています</a:t>
            </a:r>
            <a:endParaRPr kumimoji="1" lang="en-US" altLang="ja-JP" dirty="0"/>
          </a:p>
          <a:p>
            <a:r>
              <a:rPr kumimoji="1" lang="en-US" altLang="ja-JP" dirty="0"/>
              <a:t>- </a:t>
            </a:r>
          </a:p>
          <a:p>
            <a:r>
              <a:rPr kumimoji="1" lang="en-US" altLang="ja-JP" dirty="0"/>
              <a:t>- </a:t>
            </a:r>
            <a:r>
              <a:rPr kumimoji="1" lang="ja-JP" altLang="en-US"/>
              <a:t>結果として、ペプチドの共添加した系での</a:t>
            </a:r>
            <a:r>
              <a:rPr kumimoji="1" lang="en-US" altLang="ja-JP" dirty="0"/>
              <a:t>TGR5</a:t>
            </a:r>
            <a:r>
              <a:rPr kumimoji="1" lang="ja-JP" altLang="en-US"/>
              <a:t>活性を有意に評価できることが確認できました。</a:t>
            </a:r>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11</a:t>
            </a:fld>
            <a:endParaRPr kumimoji="1" lang="ja-JP" altLang="en-US"/>
          </a:p>
        </p:txBody>
      </p:sp>
    </p:spTree>
    <p:extLst>
      <p:ext uri="{BB962C8B-B14F-4D97-AF65-F5344CB8AC3E}">
        <p14:creationId xmlns:p14="http://schemas.microsoft.com/office/powerpoint/2010/main" val="4023490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TGR5</a:t>
            </a:r>
            <a:r>
              <a:rPr kumimoji="1" lang="ja-JP" altLang="en-US"/>
              <a:t>アゴニスト類似ペプチドの探索について話します。</a:t>
            </a:r>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12</a:t>
            </a:fld>
            <a:endParaRPr kumimoji="1" lang="ja-JP" altLang="en-US"/>
          </a:p>
        </p:txBody>
      </p:sp>
    </p:spTree>
    <p:extLst>
      <p:ext uri="{BB962C8B-B14F-4D97-AF65-F5344CB8AC3E}">
        <p14:creationId xmlns:p14="http://schemas.microsoft.com/office/powerpoint/2010/main" val="25933881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まず構造相関について話します。</a:t>
            </a:r>
            <a:endParaRPr kumimoji="1" lang="en-US" altLang="ja-JP" dirty="0"/>
          </a:p>
          <a:p>
            <a:r>
              <a:rPr kumimoji="1" lang="en-US" altLang="ja-JP" dirty="0"/>
              <a:t>- </a:t>
            </a:r>
            <a:r>
              <a:rPr kumimoji="1" lang="ja-JP" altLang="en-US"/>
              <a:t>一般的に、化学構造が類似の化合物は同じ作用を持つ傾向があります。</a:t>
            </a:r>
            <a:endParaRPr kumimoji="1" lang="en-US" altLang="ja-JP" dirty="0"/>
          </a:p>
          <a:p>
            <a:r>
              <a:rPr kumimoji="1" lang="en-US" altLang="ja-JP" dirty="0"/>
              <a:t>- </a:t>
            </a:r>
            <a:r>
              <a:rPr kumimoji="1" lang="ja-JP" altLang="en-US"/>
              <a:t>化合物同士の類似度を算出する方法として、フィンガープリントというものがあり、創薬の現場などで用いられています。</a:t>
            </a:r>
            <a:endParaRPr kumimoji="1" lang="en-US" altLang="ja-JP" dirty="0"/>
          </a:p>
          <a:p>
            <a:pPr marL="171450" indent="-171450">
              <a:buFontTx/>
              <a:buChar char="-"/>
            </a:pPr>
            <a:r>
              <a:rPr kumimoji="1" lang="ja-JP" altLang="en-US"/>
              <a:t>フィンガープリント</a:t>
            </a:r>
            <a:endParaRPr kumimoji="1" lang="en-US" altLang="ja-JP" dirty="0"/>
          </a:p>
          <a:p>
            <a:pPr marL="628650" lvl="1" indent="-171450">
              <a:buFontTx/>
              <a:buChar char="-"/>
            </a:pPr>
            <a:r>
              <a:rPr kumimoji="1" lang="ja-JP" altLang="en-US"/>
              <a:t>化合物のベクトル表現で、</a:t>
            </a:r>
            <a:endParaRPr kumimoji="1" lang="en-US" altLang="ja-JP" dirty="0"/>
          </a:p>
          <a:p>
            <a:pPr marL="628650" lvl="1" indent="-171450">
              <a:buFontTx/>
              <a:buChar char="-"/>
            </a:pPr>
            <a:r>
              <a:rPr kumimoji="1" lang="ja-JP" altLang="en-US"/>
              <a:t>化合物の特徴的な部分構造を定義しておき、</a:t>
            </a:r>
            <a:endParaRPr kumimoji="1" lang="en-US" altLang="ja-JP" dirty="0"/>
          </a:p>
          <a:p>
            <a:pPr marL="628650" lvl="1" indent="-171450">
              <a:buFontTx/>
              <a:buChar char="-"/>
            </a:pPr>
            <a:r>
              <a:rPr kumimoji="1" lang="ja-JP" altLang="en-US"/>
              <a:t>その部分構造があるかないかでビット文字列をつくり、ベクトル表現に変換します</a:t>
            </a:r>
            <a:endParaRPr kumimoji="1" lang="en-US" altLang="ja-JP" dirty="0"/>
          </a:p>
          <a:p>
            <a:pPr marL="171450" indent="-171450">
              <a:buFontTx/>
              <a:buChar char="-"/>
            </a:pPr>
            <a:r>
              <a:rPr kumimoji="1" lang="ja-JP" altLang="en-US"/>
              <a:t>フィンガープリントで表した化合物同士の類似度の算出する方法として、</a:t>
            </a:r>
            <a:r>
              <a:rPr kumimoji="1" lang="en-US" altLang="ja-JP" dirty="0" err="1"/>
              <a:t>Tanimoto</a:t>
            </a:r>
            <a:r>
              <a:rPr kumimoji="1" lang="ja-JP" altLang="en-US"/>
              <a:t>係数があります。</a:t>
            </a:r>
            <a:endParaRPr kumimoji="1" lang="en-US" altLang="ja-JP" dirty="0"/>
          </a:p>
          <a:p>
            <a:pPr marL="628650" lvl="1" indent="-171450">
              <a:buFontTx/>
              <a:buChar char="-"/>
            </a:pPr>
            <a:r>
              <a:rPr kumimoji="1" lang="ja-JP" altLang="en-US"/>
              <a:t>これは、比較する化合物どうしのいずれかに含まれる特徴量分の、共通する特徴料で算出することができます。</a:t>
            </a:r>
            <a:endParaRPr kumimoji="1" lang="en-US" altLang="ja-JP" dirty="0"/>
          </a:p>
          <a:p>
            <a:r>
              <a:rPr kumimoji="1" lang="en-US" altLang="ja-JP" dirty="0"/>
              <a:t>- </a:t>
            </a:r>
          </a:p>
          <a:p>
            <a:r>
              <a:rPr kumimoji="1" lang="en-US" altLang="ja-JP" dirty="0"/>
              <a:t>- </a:t>
            </a:r>
          </a:p>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13</a:t>
            </a:fld>
            <a:endParaRPr kumimoji="1" lang="ja-JP" altLang="en-US"/>
          </a:p>
        </p:txBody>
      </p:sp>
    </p:spTree>
    <p:extLst>
      <p:ext uri="{BB962C8B-B14F-4D97-AF65-F5344CB8AC3E}">
        <p14:creationId xmlns:p14="http://schemas.microsoft.com/office/powerpoint/2010/main" val="42019311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今回自分の研究では、</a:t>
            </a:r>
            <a:endParaRPr kumimoji="1" lang="en-US" altLang="ja-JP" dirty="0"/>
          </a:p>
          <a:p>
            <a:r>
              <a:rPr kumimoji="1" lang="en-US" altLang="ja-JP" dirty="0"/>
              <a:t>- TGR5</a:t>
            </a:r>
            <a:r>
              <a:rPr kumimoji="1" lang="ja-JP" altLang="en-US"/>
              <a:t>アゴニストと類似した構造を持つペプチドが</a:t>
            </a:r>
            <a:r>
              <a:rPr kumimoji="1" lang="en-US" altLang="ja-JP" dirty="0"/>
              <a:t>TGR5</a:t>
            </a:r>
            <a:r>
              <a:rPr kumimoji="1" lang="ja-JP" altLang="en-US"/>
              <a:t>活性を持つのではないかという仮説を立て、それの検討をしていきます。</a:t>
            </a:r>
            <a:endParaRPr kumimoji="1" lang="en-US" altLang="ja-JP" dirty="0"/>
          </a:p>
          <a:p>
            <a:pPr marL="171450" indent="-171450">
              <a:buFontTx/>
              <a:buChar char="-"/>
            </a:pPr>
            <a:r>
              <a:rPr kumimoji="1" lang="ja-JP" altLang="en-US"/>
              <a:t>方法</a:t>
            </a:r>
            <a:endParaRPr kumimoji="1" lang="en-US" altLang="ja-JP" dirty="0"/>
          </a:p>
          <a:p>
            <a:pPr marL="628650" lvl="1" indent="-171450">
              <a:buFontTx/>
              <a:buChar char="-"/>
            </a:pPr>
            <a:r>
              <a:rPr kumimoji="1" lang="ja-JP" altLang="en-US"/>
              <a:t>報告されている</a:t>
            </a:r>
            <a:r>
              <a:rPr kumimoji="1" lang="en-US" altLang="ja-JP" dirty="0"/>
              <a:t>TGR5</a:t>
            </a:r>
            <a:r>
              <a:rPr kumimoji="1" lang="ja-JP" altLang="en-US"/>
              <a:t>アゴニストと、それとサイズが同じくらいの</a:t>
            </a:r>
            <a:r>
              <a:rPr kumimoji="1" lang="en-US" altLang="ja-JP" dirty="0"/>
              <a:t>3</a:t>
            </a:r>
            <a:r>
              <a:rPr kumimoji="1" lang="ja-JP" altLang="en-US"/>
              <a:t>残機ペプチドを全てフィンガープリントで表現します</a:t>
            </a:r>
            <a:endParaRPr kumimoji="1" lang="en-US" altLang="ja-JP" dirty="0"/>
          </a:p>
          <a:p>
            <a:pPr marL="628650" lvl="1" indent="-171450">
              <a:buFontTx/>
              <a:buChar char="-"/>
            </a:pPr>
            <a:r>
              <a:rPr kumimoji="1" lang="ja-JP" altLang="en-US"/>
              <a:t>ターゲットの</a:t>
            </a:r>
            <a:r>
              <a:rPr kumimoji="1" lang="en-US" altLang="ja-JP" dirty="0"/>
              <a:t>TGR5</a:t>
            </a:r>
            <a:r>
              <a:rPr kumimoji="1" lang="ja-JP" altLang="en-US"/>
              <a:t>アゴニストと、</a:t>
            </a:r>
            <a:r>
              <a:rPr kumimoji="1" lang="en-US" altLang="ja-JP" dirty="0"/>
              <a:t>3</a:t>
            </a:r>
            <a:r>
              <a:rPr kumimoji="1" lang="ja-JP" altLang="en-US"/>
              <a:t>残機ペプチド全</a:t>
            </a:r>
            <a:r>
              <a:rPr kumimoji="1" lang="en-US" altLang="ja-JP" dirty="0"/>
              <a:t>8000</a:t>
            </a:r>
            <a:r>
              <a:rPr kumimoji="1" lang="ja-JP" altLang="en-US"/>
              <a:t>種類の類似度を</a:t>
            </a:r>
            <a:r>
              <a:rPr kumimoji="1" lang="en-US" altLang="ja-JP" dirty="0" err="1"/>
              <a:t>Tanimoto</a:t>
            </a:r>
            <a:r>
              <a:rPr kumimoji="1" lang="ja-JP" altLang="en-US"/>
              <a:t>係数によって比較して、</a:t>
            </a:r>
            <a:endParaRPr kumimoji="1" lang="en-US" altLang="ja-JP" dirty="0"/>
          </a:p>
          <a:p>
            <a:pPr marL="628650" lvl="1" indent="-171450">
              <a:buFontTx/>
              <a:buChar char="-"/>
            </a:pPr>
            <a:r>
              <a:rPr kumimoji="1" lang="ja-JP" altLang="en-US"/>
              <a:t>上位のペプチドが</a:t>
            </a:r>
            <a:r>
              <a:rPr kumimoji="1" lang="en-US" altLang="ja-JP" dirty="0"/>
              <a:t>TGR5</a:t>
            </a:r>
            <a:r>
              <a:rPr kumimoji="1" lang="ja-JP" altLang="en-US"/>
              <a:t>活性を持っているのではないかと考えました。</a:t>
            </a:r>
            <a:endParaRPr kumimoji="1" lang="en-US" altLang="ja-JP" dirty="0"/>
          </a:p>
          <a:p>
            <a:r>
              <a:rPr kumimoji="1" lang="en-US" altLang="ja-JP" dirty="0"/>
              <a:t>- </a:t>
            </a:r>
          </a:p>
          <a:p>
            <a:r>
              <a:rPr kumimoji="1" lang="en-US" altLang="ja-JP" dirty="0"/>
              <a:t>- </a:t>
            </a:r>
          </a:p>
          <a:p>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14</a:t>
            </a:fld>
            <a:endParaRPr kumimoji="1" lang="ja-JP" altLang="en-US"/>
          </a:p>
        </p:txBody>
      </p:sp>
    </p:spTree>
    <p:extLst>
      <p:ext uri="{BB962C8B-B14F-4D97-AF65-F5344CB8AC3E}">
        <p14:creationId xmlns:p14="http://schemas.microsoft.com/office/powerpoint/2010/main" val="2610224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結果です。</a:t>
            </a:r>
            <a:endParaRPr kumimoji="1" lang="en-US" altLang="ja-JP" dirty="0"/>
          </a:p>
          <a:p>
            <a:r>
              <a:rPr kumimoji="1" lang="en-US" altLang="ja-JP" dirty="0"/>
              <a:t>- </a:t>
            </a:r>
            <a:r>
              <a:rPr kumimoji="1" lang="ja-JP" altLang="en-US"/>
              <a:t>まず、</a:t>
            </a:r>
            <a:r>
              <a:rPr kumimoji="1" lang="en-US" altLang="ja-JP" dirty="0" err="1"/>
              <a:t>MACCS_Keys</a:t>
            </a:r>
            <a:r>
              <a:rPr kumimoji="1" lang="ja-JP" altLang="en-US"/>
              <a:t>フィンガープリントを用いた類似度評価をしました。</a:t>
            </a:r>
            <a:endParaRPr kumimoji="1" lang="en-US" altLang="ja-JP" dirty="0"/>
          </a:p>
          <a:p>
            <a:pPr marL="171450" indent="-171450">
              <a:buFontTx/>
              <a:buChar char="-"/>
            </a:pPr>
            <a:r>
              <a:rPr kumimoji="1" lang="en-US" altLang="ja-JP" dirty="0" err="1"/>
              <a:t>MACCS_Keys</a:t>
            </a:r>
            <a:r>
              <a:rPr kumimoji="1" lang="ja-JP" altLang="en-US"/>
              <a:t>フィンガープリントは、官能基などのあらかじめ決められた</a:t>
            </a:r>
            <a:r>
              <a:rPr kumimoji="1" lang="en-US" altLang="ja-JP" dirty="0"/>
              <a:t>166</a:t>
            </a:r>
            <a:r>
              <a:rPr kumimoji="1" lang="ja-JP" altLang="en-US"/>
              <a:t>この部分構造を評価するフィンガープリントです。</a:t>
            </a:r>
            <a:endParaRPr kumimoji="1" lang="en-US" altLang="ja-JP" dirty="0"/>
          </a:p>
          <a:p>
            <a:pPr marL="171450" indent="-171450">
              <a:buFontTx/>
              <a:buChar char="-"/>
            </a:pPr>
            <a:r>
              <a:rPr kumimoji="1" lang="ja-JP" altLang="en-US"/>
              <a:t>結果は図に示したようになっています</a:t>
            </a:r>
            <a:endParaRPr kumimoji="1" lang="en-US" altLang="ja-JP" dirty="0"/>
          </a:p>
          <a:p>
            <a:pPr marL="628650" lvl="1" indent="-171450">
              <a:buFontTx/>
              <a:buChar char="-"/>
            </a:pPr>
            <a:r>
              <a:rPr kumimoji="1" lang="ja-JP" altLang="en-US"/>
              <a:t>図の数値は類似度です。</a:t>
            </a:r>
            <a:endParaRPr kumimoji="1" lang="en-US" altLang="ja-JP" dirty="0"/>
          </a:p>
          <a:p>
            <a:pPr marL="628650" lvl="1" indent="-171450">
              <a:buFontTx/>
              <a:buChar char="-"/>
            </a:pPr>
            <a:r>
              <a:rPr kumimoji="1" lang="ja-JP" altLang="en-US"/>
              <a:t>上位のペプチドとターゲットの構造を見る限り、数値的にも感覚的にも似ている構造ではないように思えました。</a:t>
            </a:r>
            <a:endParaRPr kumimoji="1" lang="en-US" altLang="ja-JP" dirty="0"/>
          </a:p>
          <a:p>
            <a:pPr marL="628650" lvl="1" indent="-171450">
              <a:buFontTx/>
              <a:buChar char="-"/>
            </a:pPr>
            <a:r>
              <a:rPr kumimoji="1" lang="en-US" altLang="ja-JP" dirty="0" err="1"/>
              <a:t>MACCS_Keys</a:t>
            </a:r>
            <a:r>
              <a:rPr kumimoji="1" lang="ja-JP" altLang="en-US"/>
              <a:t>は</a:t>
            </a:r>
            <a:r>
              <a:rPr kumimoji="1" lang="en-US" altLang="ja-JP" dirty="0"/>
              <a:t>166</a:t>
            </a:r>
            <a:r>
              <a:rPr kumimoji="1" lang="ja-JP" altLang="en-US"/>
              <a:t>個以外の部分構造以外は評価できないため、精度が良くないと言われています。</a:t>
            </a:r>
            <a:endParaRPr kumimoji="1" lang="en-US" altLang="ja-JP" dirty="0"/>
          </a:p>
          <a:p>
            <a:pPr marL="171450" indent="-171450">
              <a:buFontTx/>
              <a:buChar char="-"/>
            </a:pPr>
            <a:r>
              <a:rPr kumimoji="1" lang="ja-JP" altLang="en-US"/>
              <a:t>この結果を受けた方針として、</a:t>
            </a:r>
            <a:endParaRPr kumimoji="1" lang="en-US" altLang="ja-JP" dirty="0"/>
          </a:p>
          <a:p>
            <a:pPr marL="628650" lvl="1" indent="-171450">
              <a:buFontTx/>
              <a:buChar char="-"/>
            </a:pPr>
            <a:r>
              <a:rPr kumimoji="1" lang="ja-JP" altLang="en-US"/>
              <a:t>化合物の特徴を</a:t>
            </a:r>
            <a:r>
              <a:rPr kumimoji="1" lang="en-US" altLang="ja-JP" dirty="0" err="1"/>
              <a:t>MACCS_Keys</a:t>
            </a:r>
            <a:r>
              <a:rPr kumimoji="1" lang="ja-JP" altLang="en-US"/>
              <a:t>よりも多く表現できる手法を用いること</a:t>
            </a:r>
            <a:endParaRPr kumimoji="1" lang="en-US" altLang="ja-JP" dirty="0"/>
          </a:p>
          <a:p>
            <a:pPr marL="628650" lvl="1" indent="-171450">
              <a:buFontTx/>
              <a:buChar char="-"/>
            </a:pPr>
            <a:r>
              <a:rPr kumimoji="1" lang="ja-JP" altLang="en-US"/>
              <a:t>化学的性質を評価することができる手法を用いることをけんとうしました　</a:t>
            </a:r>
            <a:endParaRPr kumimoji="1" lang="en-US" altLang="ja-JP" dirty="0"/>
          </a:p>
          <a:p>
            <a:r>
              <a:rPr kumimoji="1" lang="en-US" altLang="ja-JP" dirty="0"/>
              <a:t>-</a:t>
            </a:r>
          </a:p>
          <a:p>
            <a:r>
              <a:rPr kumimoji="1" lang="en-US" altLang="ja-JP" dirty="0"/>
              <a:t>- </a:t>
            </a:r>
          </a:p>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15</a:t>
            </a:fld>
            <a:endParaRPr kumimoji="1" lang="ja-JP" altLang="en-US"/>
          </a:p>
        </p:txBody>
      </p:sp>
    </p:spTree>
    <p:extLst>
      <p:ext uri="{BB962C8B-B14F-4D97-AF65-F5344CB8AC3E}">
        <p14:creationId xmlns:p14="http://schemas.microsoft.com/office/powerpoint/2010/main" val="2616329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Tx/>
              <a:buChar char="-"/>
            </a:pPr>
            <a:r>
              <a:rPr kumimoji="1" lang="en-US" altLang="ja-JP" dirty="0" err="1"/>
              <a:t>MACCS_Keys</a:t>
            </a:r>
            <a:r>
              <a:rPr kumimoji="1" lang="ja-JP" altLang="en-US"/>
              <a:t>よりも詳細に化合物の特徴を表現する手法として、</a:t>
            </a:r>
            <a:r>
              <a:rPr kumimoji="1" lang="en-US" altLang="ja-JP" dirty="0"/>
              <a:t>KCF-S</a:t>
            </a:r>
            <a:r>
              <a:rPr kumimoji="1" lang="ja-JP" altLang="en-US"/>
              <a:t>を用いました。</a:t>
            </a:r>
            <a:endParaRPr kumimoji="1" lang="en-US" altLang="ja-JP" dirty="0"/>
          </a:p>
          <a:p>
            <a:pPr marL="171450" indent="-171450">
              <a:buFontTx/>
              <a:buChar char="-"/>
            </a:pPr>
            <a:r>
              <a:rPr kumimoji="1" lang="ja-JP" altLang="en-US"/>
              <a:t>これは原子、原子ペア、連続した</a:t>
            </a:r>
            <a:r>
              <a:rPr kumimoji="1" lang="en-US" altLang="ja-JP" dirty="0"/>
              <a:t>3</a:t>
            </a:r>
            <a:r>
              <a:rPr kumimoji="1" lang="ja-JP" altLang="en-US"/>
              <a:t>つの原子、環構造、骨格などの属性から部分構造を定義して、化合物の特徴を抽出する手法です。</a:t>
            </a:r>
            <a:endParaRPr kumimoji="1" lang="en-US" altLang="ja-JP" dirty="0"/>
          </a:p>
          <a:p>
            <a:pPr marL="628650" lvl="1" indent="-171450">
              <a:buFontTx/>
              <a:buChar char="-"/>
            </a:pPr>
            <a:r>
              <a:rPr kumimoji="1" lang="ja-JP" altLang="en-US"/>
              <a:t>データの量的に</a:t>
            </a:r>
            <a:r>
              <a:rPr kumimoji="1" lang="en-US" altLang="ja-JP" dirty="0" err="1"/>
              <a:t>MACCS_Keys</a:t>
            </a:r>
            <a:r>
              <a:rPr kumimoji="1" lang="ja-JP" altLang="en-US"/>
              <a:t>の</a:t>
            </a:r>
            <a:r>
              <a:rPr kumimoji="1" lang="en-US" altLang="ja-JP" dirty="0"/>
              <a:t>166</a:t>
            </a:r>
            <a:r>
              <a:rPr kumimoji="1" lang="ja-JP" altLang="en-US"/>
              <a:t>個よりもはるかに多く表現することができます</a:t>
            </a:r>
            <a:endParaRPr kumimoji="1" lang="en-US" altLang="ja-JP" dirty="0"/>
          </a:p>
          <a:p>
            <a:pPr marL="171450" indent="-171450">
              <a:buFontTx/>
              <a:buChar char="-"/>
            </a:pPr>
            <a:r>
              <a:rPr kumimoji="1" lang="ja-JP" altLang="en-US"/>
              <a:t>計算をした結果が図に示したようになっています。</a:t>
            </a:r>
            <a:endParaRPr kumimoji="1" lang="en-US" altLang="ja-JP" dirty="0"/>
          </a:p>
          <a:p>
            <a:pPr marL="628650" lvl="1" indent="-171450">
              <a:buFontTx/>
              <a:buChar char="-"/>
            </a:pPr>
            <a:r>
              <a:rPr kumimoji="1" lang="ja-JP" altLang="en-US"/>
              <a:t>類似度が高かった上位</a:t>
            </a:r>
            <a:r>
              <a:rPr kumimoji="1" lang="en-US" altLang="ja-JP" dirty="0"/>
              <a:t>9</a:t>
            </a:r>
            <a:r>
              <a:rPr kumimoji="1" lang="ja-JP" altLang="en-US"/>
              <a:t>つのペプチドを乗せてあります</a:t>
            </a:r>
            <a:endParaRPr kumimoji="1" lang="en-US" altLang="ja-JP" dirty="0"/>
          </a:p>
          <a:p>
            <a:r>
              <a:rPr kumimoji="1" lang="en-US" altLang="ja-JP" dirty="0"/>
              <a:t>- </a:t>
            </a:r>
          </a:p>
          <a:p>
            <a:r>
              <a:rPr kumimoji="1" lang="en-US" altLang="ja-JP" dirty="0"/>
              <a:t>- </a:t>
            </a:r>
          </a:p>
          <a:p>
            <a:r>
              <a:rPr kumimoji="1" lang="en-US" altLang="ja-JP" dirty="0"/>
              <a:t>- </a:t>
            </a:r>
          </a:p>
          <a:p>
            <a:r>
              <a:rPr kumimoji="1" lang="en-US" altLang="ja-JP" dirty="0"/>
              <a:t>- </a:t>
            </a:r>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16</a:t>
            </a:fld>
            <a:endParaRPr kumimoji="1" lang="ja-JP" altLang="en-US"/>
          </a:p>
        </p:txBody>
      </p:sp>
    </p:spTree>
    <p:extLst>
      <p:ext uri="{BB962C8B-B14F-4D97-AF65-F5344CB8AC3E}">
        <p14:creationId xmlns:p14="http://schemas.microsoft.com/office/powerpoint/2010/main" val="16425196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化合物の化学的性質を表現することができる手法として、ドナーアクセプターフィンガープリントを用いました</a:t>
            </a:r>
            <a:endParaRPr kumimoji="1" lang="en-US" altLang="ja-JP" dirty="0"/>
          </a:p>
          <a:p>
            <a:pPr marL="171450" indent="-171450">
              <a:buFontTx/>
              <a:buChar char="-"/>
            </a:pPr>
            <a:r>
              <a:rPr kumimoji="1" lang="ja-JP" altLang="en-US"/>
              <a:t>原子をようイオン、陰イオン、水素結合の供与、受容体、極性原子などの</a:t>
            </a:r>
            <a:r>
              <a:rPr kumimoji="1" lang="en-US" altLang="ja-JP" dirty="0"/>
              <a:t>7</a:t>
            </a:r>
            <a:r>
              <a:rPr kumimoji="1" lang="ja-JP" altLang="en-US"/>
              <a:t>つの性質の分類をして特徴量を抽出します</a:t>
            </a:r>
            <a:endParaRPr kumimoji="1" lang="en-US" altLang="ja-JP" dirty="0"/>
          </a:p>
          <a:p>
            <a:pPr marL="171450" indent="-171450">
              <a:buFontTx/>
              <a:buChar char="-"/>
            </a:pPr>
            <a:r>
              <a:rPr kumimoji="1" lang="ja-JP" altLang="en-US"/>
              <a:t>これによって化合物の化学的性質を表現することができます</a:t>
            </a:r>
            <a:endParaRPr kumimoji="1" lang="en-US" altLang="ja-JP" dirty="0"/>
          </a:p>
          <a:p>
            <a:pPr marL="171450" indent="-171450">
              <a:buFontTx/>
              <a:buChar char="-"/>
            </a:pPr>
            <a:r>
              <a:rPr kumimoji="1" lang="ja-JP" altLang="en-US"/>
              <a:t>アゴニストと</a:t>
            </a:r>
            <a:r>
              <a:rPr kumimoji="1" lang="en-US" altLang="ja-JP" dirty="0"/>
              <a:t>TGR5</a:t>
            </a:r>
            <a:r>
              <a:rPr kumimoji="1" lang="ja-JP" altLang="en-US"/>
              <a:t>の結合に着目する上で、部分構造の化学的性質を見ることができることはアゴニストの類似度を評価するのに適していると考えて使用しました。</a:t>
            </a:r>
            <a:endParaRPr kumimoji="1" lang="en-US" altLang="ja-JP" dirty="0"/>
          </a:p>
          <a:p>
            <a:pPr marL="171450" indent="-171450">
              <a:buFontTx/>
              <a:buChar char="-"/>
            </a:pPr>
            <a:r>
              <a:rPr kumimoji="1" lang="ja-JP" altLang="en-US"/>
              <a:t>上位のペプチドはこのようになりました。</a:t>
            </a:r>
            <a:endParaRPr kumimoji="1" lang="en-US" altLang="ja-JP" dirty="0"/>
          </a:p>
          <a:p>
            <a:r>
              <a:rPr kumimoji="1" lang="en-US" altLang="ja-JP" dirty="0"/>
              <a:t>- </a:t>
            </a:r>
          </a:p>
          <a:p>
            <a:r>
              <a:rPr kumimoji="1" lang="en-US" altLang="ja-JP" dirty="0"/>
              <a:t>- </a:t>
            </a:r>
          </a:p>
          <a:p>
            <a:r>
              <a:rPr kumimoji="1" lang="en-US" altLang="ja-JP" dirty="0"/>
              <a:t>- </a:t>
            </a:r>
          </a:p>
          <a:p>
            <a:r>
              <a:rPr kumimoji="1" lang="en-US" altLang="ja-JP" dirty="0"/>
              <a:t>- </a:t>
            </a:r>
          </a:p>
          <a:p>
            <a:r>
              <a:rPr kumimoji="1" lang="en-US" altLang="ja-JP" dirty="0"/>
              <a:t>- </a:t>
            </a:r>
          </a:p>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17</a:t>
            </a:fld>
            <a:endParaRPr kumimoji="1" lang="ja-JP" altLang="en-US"/>
          </a:p>
        </p:txBody>
      </p:sp>
    </p:spTree>
    <p:extLst>
      <p:ext uri="{BB962C8B-B14F-4D97-AF65-F5344CB8AC3E}">
        <p14:creationId xmlns:p14="http://schemas.microsoft.com/office/powerpoint/2010/main" val="21102632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結果ですが、どちらのフィンガープリントもそこまで感覚的に類似度が高くは出ませんでした</a:t>
            </a:r>
            <a:endParaRPr kumimoji="1" lang="en-US" altLang="ja-JP" dirty="0"/>
          </a:p>
          <a:p>
            <a:pPr marL="171450" indent="-171450">
              <a:buFontTx/>
              <a:buChar char="-"/>
            </a:pPr>
            <a:r>
              <a:rPr kumimoji="1" lang="ja-JP" altLang="en-US"/>
              <a:t>ただ合成して実際に評価してみないと活性があるかがわからないので、一度これらで出た上位</a:t>
            </a:r>
            <a:r>
              <a:rPr kumimoji="1" lang="en-US" altLang="ja-JP" dirty="0"/>
              <a:t>5</a:t>
            </a:r>
            <a:r>
              <a:rPr kumimoji="1" lang="ja-JP" altLang="en-US"/>
              <a:t>配列を合成して活性が得られるかどうかを実験しようと思います。</a:t>
            </a:r>
            <a:endParaRPr kumimoji="1" lang="en-US" altLang="ja-JP"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1" lang="ja-JP" altLang="en-US"/>
              <a:t>今回は</a:t>
            </a:r>
            <a:r>
              <a:rPr lang="en-US" altLang="ja-JP" sz="1200" b="0" dirty="0">
                <a:latin typeface="+mn-ea"/>
              </a:rPr>
              <a:t>3-</a:t>
            </a:r>
            <a:r>
              <a:rPr lang="ja-JP" altLang="en-US" sz="1200" b="0">
                <a:latin typeface="+mn-ea"/>
              </a:rPr>
              <a:t>アリール</a:t>
            </a:r>
            <a:r>
              <a:rPr lang="en-US" altLang="ja-JP" sz="1200" b="0" dirty="0">
                <a:latin typeface="+mn-ea"/>
              </a:rPr>
              <a:t>-4-</a:t>
            </a:r>
            <a:r>
              <a:rPr lang="ja-JP" altLang="en-US" sz="1200" b="0">
                <a:latin typeface="+mn-ea"/>
              </a:rPr>
              <a:t>イソオキサゾールカルボキサミド</a:t>
            </a:r>
            <a:r>
              <a:rPr kumimoji="1" lang="ja-JP" altLang="en-US" sz="1200" b="0">
                <a:latin typeface="+mn-ea"/>
              </a:rPr>
              <a:t>の構造相関をみているので、他の</a:t>
            </a:r>
            <a:r>
              <a:rPr kumimoji="1" lang="en-US" altLang="ja-JP" sz="1200" b="0" dirty="0">
                <a:latin typeface="+mn-ea"/>
              </a:rPr>
              <a:t>TGR5</a:t>
            </a:r>
            <a:r>
              <a:rPr kumimoji="1" lang="ja-JP" altLang="en-US" sz="1200" b="0">
                <a:latin typeface="+mn-ea"/>
              </a:rPr>
              <a:t>アゴニストと比較して出た上位の配列についても実験しようと思います。</a:t>
            </a:r>
            <a:endParaRPr kumimoji="1" lang="en-US" altLang="ja-JP" sz="1200" b="0" dirty="0">
              <a:latin typeface="+mn-ea"/>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1200">
                <a:latin typeface="+mn-ea"/>
              </a:rPr>
              <a:t>また、どの部分構造が類似度の高さに寄与しているのか、データを詳しくみていこうと思っています。</a:t>
            </a:r>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18</a:t>
            </a:fld>
            <a:endParaRPr kumimoji="1" lang="ja-JP" altLang="en-US"/>
          </a:p>
        </p:txBody>
      </p:sp>
    </p:spTree>
    <p:extLst>
      <p:ext uri="{BB962C8B-B14F-4D97-AF65-F5344CB8AC3E}">
        <p14:creationId xmlns:p14="http://schemas.microsoft.com/office/powerpoint/2010/main" val="439107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最後に今後の予定です。</a:t>
            </a:r>
            <a:endParaRPr kumimoji="1" lang="en-US" altLang="ja-JP" dirty="0"/>
          </a:p>
          <a:p>
            <a:pPr marL="171450" indent="-171450">
              <a:buFontTx/>
              <a:buChar char="-"/>
            </a:pPr>
            <a:r>
              <a:rPr kumimoji="1" lang="en-US" altLang="ja-JP" dirty="0"/>
              <a:t>TGR5</a:t>
            </a:r>
            <a:r>
              <a:rPr kumimoji="1" lang="ja-JP" altLang="en-US"/>
              <a:t>アゴニストの類似度評価を引き続き行い、データの解析をしていきます</a:t>
            </a:r>
            <a:endParaRPr kumimoji="1" lang="en-US" altLang="ja-JP" dirty="0"/>
          </a:p>
          <a:p>
            <a:pPr marL="171450" indent="-171450">
              <a:buFontTx/>
              <a:buChar char="-"/>
            </a:pPr>
            <a:r>
              <a:rPr kumimoji="1" lang="ja-JP" altLang="en-US"/>
              <a:t>並行して、類似度が高かったトリペプチドを合成して、それらの活性の評価を行っていきたいと考えています。</a:t>
            </a:r>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19</a:t>
            </a:fld>
            <a:endParaRPr kumimoji="1" lang="ja-JP" altLang="en-US"/>
          </a:p>
        </p:txBody>
      </p:sp>
    </p:spTree>
    <p:extLst>
      <p:ext uri="{BB962C8B-B14F-4D97-AF65-F5344CB8AC3E}">
        <p14:creationId xmlns:p14="http://schemas.microsoft.com/office/powerpoint/2010/main" val="39200625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20</a:t>
            </a:fld>
            <a:endParaRPr kumimoji="1" lang="ja-JP" altLang="en-US"/>
          </a:p>
        </p:txBody>
      </p:sp>
    </p:spTree>
    <p:extLst>
      <p:ext uri="{BB962C8B-B14F-4D97-AF65-F5344CB8AC3E}">
        <p14:creationId xmlns:p14="http://schemas.microsoft.com/office/powerpoint/2010/main" val="2468580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524000" y="2570163"/>
            <a:ext cx="9144000" cy="2387600"/>
          </a:xfrm>
        </p:spPr>
        <p:txBody>
          <a:bodyPr anchor="b">
            <a:noAutofit/>
          </a:bodyPr>
          <a:lstStyle>
            <a:lvl1pPr algn="l">
              <a:defRPr sz="48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発表の内容と構成が想像できる</a:t>
            </a:r>
            <a:br>
              <a:rPr kumimoji="1" lang="en-US" altLang="ja-JP" dirty="0"/>
            </a:br>
            <a:r>
              <a:rPr kumimoji="1" lang="ja-JP" altLang="en-US" dirty="0"/>
              <a:t>発表題目をここに書く．</a:t>
            </a:r>
            <a:br>
              <a:rPr kumimoji="1" lang="en-US" altLang="ja-JP" dirty="0"/>
            </a:br>
            <a:r>
              <a:rPr kumimoji="1" lang="ja-JP" altLang="en-US" dirty="0"/>
              <a:t>単語の途中で改行しない．</a:t>
            </a:r>
          </a:p>
        </p:txBody>
      </p:sp>
      <p:sp>
        <p:nvSpPr>
          <p:cNvPr id="3" name="サブタイトル 2"/>
          <p:cNvSpPr>
            <a:spLocks noGrp="1"/>
          </p:cNvSpPr>
          <p:nvPr>
            <p:ph type="subTitle" idx="1" hasCustomPrompt="1"/>
          </p:nvPr>
        </p:nvSpPr>
        <p:spPr>
          <a:xfrm>
            <a:off x="1524000" y="5110163"/>
            <a:ext cx="9144000" cy="561975"/>
          </a:xfrm>
        </p:spPr>
        <p:txBody>
          <a:bodyPr>
            <a:noAutofit/>
          </a:bodyPr>
          <a:lstStyle>
            <a:lvl1pPr marL="0" indent="0" algn="l">
              <a:buNone/>
              <a:defRPr sz="3600">
                <a:latin typeface="游ゴシック" panose="020B0400000000000000" pitchFamily="50" charset="-128"/>
                <a:ea typeface="游ゴシック" panose="020B0400000000000000"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発表者名</a:t>
            </a:r>
            <a:endParaRPr kumimoji="1" lang="en-US" altLang="ja-JP" dirty="0"/>
          </a:p>
        </p:txBody>
      </p:sp>
      <p:sp>
        <p:nvSpPr>
          <p:cNvPr id="11" name="テキスト プレースホルダー 10"/>
          <p:cNvSpPr>
            <a:spLocks noGrp="1"/>
          </p:cNvSpPr>
          <p:nvPr>
            <p:ph type="body" sz="quarter" idx="11" hasCustomPrompt="1"/>
          </p:nvPr>
        </p:nvSpPr>
        <p:spPr>
          <a:xfrm>
            <a:off x="1524000" y="5740400"/>
            <a:ext cx="9144000" cy="469900"/>
          </a:xfrm>
        </p:spPr>
        <p:txBody>
          <a:bodyPr/>
          <a:lstStyle>
            <a:lvl1pPr marL="0" indent="0" algn="l">
              <a:buNone/>
              <a:defRPr>
                <a:latin typeface="游ゴシック Medium" panose="020B0500000000000000" pitchFamily="50" charset="-128"/>
                <a:ea typeface="游ゴシック Medium" panose="020B0500000000000000" pitchFamily="50" charset="-128"/>
              </a:defRPr>
            </a:lvl1pPr>
          </a:lstStyle>
          <a:p>
            <a:pPr lvl="0"/>
            <a:r>
              <a:rPr kumimoji="1" lang="ja-JP" altLang="en-US" dirty="0"/>
              <a:t>身分や所属など．関連する</a:t>
            </a:r>
            <a:r>
              <a:rPr kumimoji="1" lang="en-US" altLang="ja-JP" dirty="0"/>
              <a:t>SNS</a:t>
            </a:r>
            <a:r>
              <a:rPr kumimoji="1" lang="ja-JP" altLang="en-US" dirty="0"/>
              <a:t>アカウントなども．</a:t>
            </a:r>
          </a:p>
        </p:txBody>
      </p:sp>
      <p:cxnSp>
        <p:nvCxnSpPr>
          <p:cNvPr id="13" name="直線コネクタ 12"/>
          <p:cNvCxnSpPr/>
          <p:nvPr userDrawn="1"/>
        </p:nvCxnSpPr>
        <p:spPr>
          <a:xfrm flipV="1">
            <a:off x="0" y="5029200"/>
            <a:ext cx="121920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テキスト プレースホルダー 14"/>
          <p:cNvSpPr>
            <a:spLocks noGrp="1"/>
          </p:cNvSpPr>
          <p:nvPr>
            <p:ph type="body" sz="quarter" idx="12" hasCustomPrompt="1"/>
          </p:nvPr>
        </p:nvSpPr>
        <p:spPr>
          <a:xfrm>
            <a:off x="8420098" y="152399"/>
            <a:ext cx="3594101" cy="378541"/>
          </a:xfrm>
          <a:ln>
            <a:noFill/>
          </a:ln>
        </p:spPr>
        <p:txBody>
          <a:bodyPr>
            <a:noAutofit/>
          </a:bodyPr>
          <a:lstStyle>
            <a:lvl1pPr marL="0" indent="0">
              <a:buNone/>
              <a:defRPr sz="2000">
                <a:solidFill>
                  <a:schemeClr val="tx2"/>
                </a:solidFill>
                <a:latin typeface="游ゴシック Medium" panose="020B0500000000000000" pitchFamily="50" charset="-128"/>
                <a:ea typeface="游ゴシック Medium" panose="020B0500000000000000" pitchFamily="50" charset="-128"/>
              </a:defRPr>
            </a:lvl1pPr>
          </a:lstStyle>
          <a:p>
            <a:pPr lvl="0"/>
            <a:r>
              <a:rPr kumimoji="1" lang="ja-JP" altLang="en-US" dirty="0"/>
              <a:t>会議名と日程を書いておく</a:t>
            </a:r>
          </a:p>
        </p:txBody>
      </p:sp>
      <p:sp>
        <p:nvSpPr>
          <p:cNvPr id="17" name="図プレースホルダー 16"/>
          <p:cNvSpPr>
            <a:spLocks noGrp="1"/>
          </p:cNvSpPr>
          <p:nvPr>
            <p:ph type="pic" sz="quarter" idx="13" hasCustomPrompt="1"/>
          </p:nvPr>
        </p:nvSpPr>
        <p:spPr>
          <a:xfrm>
            <a:off x="1523999" y="647700"/>
            <a:ext cx="9144000" cy="1841500"/>
          </a:xfrm>
        </p:spPr>
        <p:txBody>
          <a:bodyPr/>
          <a:lstStyle>
            <a:lvl1pPr marL="0" indent="0">
              <a:buNone/>
              <a:defRPr>
                <a:solidFill>
                  <a:schemeClr val="bg2"/>
                </a:solidFill>
                <a:latin typeface="游ゴシック Medium" panose="020B0500000000000000" pitchFamily="50" charset="-128"/>
                <a:ea typeface="游ゴシック Medium" panose="020B0500000000000000" pitchFamily="50" charset="-128"/>
              </a:defRPr>
            </a:lvl1pPr>
          </a:lstStyle>
          <a:p>
            <a:r>
              <a:rPr kumimoji="1" lang="ja-JP" altLang="en-US" dirty="0"/>
              <a:t>題目の説明の助けになる図や動画があれば載せる．</a:t>
            </a:r>
            <a:endParaRPr kumimoji="1" lang="en-US" altLang="ja-JP" dirty="0"/>
          </a:p>
        </p:txBody>
      </p:sp>
    </p:spTree>
    <p:extLst>
      <p:ext uri="{BB962C8B-B14F-4D97-AF65-F5344CB8AC3E}">
        <p14:creationId xmlns:p14="http://schemas.microsoft.com/office/powerpoint/2010/main" val="421259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パラグラフスライド">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546100" y="6021647"/>
            <a:ext cx="11099800" cy="725176"/>
          </a:xfrm>
        </p:spPr>
        <p:txBody>
          <a:bodyPr>
            <a:noAutofit/>
          </a:bodyPr>
          <a:lstStyle>
            <a:lvl1pPr algn="ctr">
              <a:defRPr sz="2400" b="1" u="sng">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話題について伝えるべきメッセージ（問いの答え）</a:t>
            </a:r>
          </a:p>
        </p:txBody>
      </p:sp>
      <p:sp>
        <p:nvSpPr>
          <p:cNvPr id="3" name="コンテンツ プレースホルダー 2"/>
          <p:cNvSpPr>
            <a:spLocks noGrp="1"/>
          </p:cNvSpPr>
          <p:nvPr>
            <p:ph idx="1" hasCustomPrompt="1"/>
          </p:nvPr>
        </p:nvSpPr>
        <p:spPr>
          <a:xfrm>
            <a:off x="546100" y="1038484"/>
            <a:ext cx="11099800" cy="4797052"/>
          </a:xfrm>
        </p:spPr>
        <p:txBody>
          <a:bodyPr/>
          <a:lstStyle>
            <a:lvl1pPr marL="457200" indent="-457200">
              <a:lnSpc>
                <a:spcPct val="100000"/>
              </a:lnSpc>
              <a:spcBef>
                <a:spcPts val="1400"/>
              </a:spcBef>
              <a:buFont typeface="Wingdings" panose="05000000000000000000" pitchFamily="2" charset="2"/>
              <a:buChar char="l"/>
              <a:defRPr>
                <a:solidFill>
                  <a:schemeClr val="tx1"/>
                </a:solidFill>
                <a:latin typeface="游ゴシック" panose="020B0400000000000000" pitchFamily="50" charset="-128"/>
                <a:ea typeface="游ゴシック" panose="020B0400000000000000" pitchFamily="50" charset="-128"/>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solidFill>
                  <a:schemeClr val="tx1"/>
                </a:solidFill>
                <a:latin typeface="游ゴシック Medium" panose="020B0500000000000000" pitchFamily="50" charset="-128"/>
                <a:ea typeface="游ゴシック Medium" panose="020B0500000000000000" pitchFamily="50" charset="-128"/>
              </a:defRPr>
            </a:lvl2pPr>
            <a:lvl3pPr>
              <a:defRPr>
                <a:solidFill>
                  <a:schemeClr val="tx1"/>
                </a:solidFill>
              </a:defRPr>
            </a:lvl3pPr>
            <a:lvl4pPr>
              <a:defRPr>
                <a:solidFill>
                  <a:schemeClr val="tx1"/>
                </a:solidFill>
              </a:defRPr>
            </a:lvl4pPr>
            <a:lvl5pPr>
              <a:defRPr>
                <a:solidFill>
                  <a:schemeClr val="tx1"/>
                </a:solidFill>
              </a:defRPr>
            </a:lvl5pPr>
          </a:lstStyle>
          <a:p>
            <a:pPr lvl="0"/>
            <a:r>
              <a:rPr kumimoji="1" lang="en-US" altLang="ja-JP" dirty="0" err="1"/>
              <a:t>afa</a:t>
            </a:r>
            <a:endParaRPr kumimoji="1" lang="en-US" altLang="ja-JP" dirty="0"/>
          </a:p>
          <a:p>
            <a:pPr lvl="0"/>
            <a:r>
              <a:rPr kumimoji="1" lang="ja-JP" altLang="en-US"/>
              <a:t>メッセージの補足説明（根拠／解説／具体例）</a:t>
            </a:r>
            <a:endParaRPr kumimoji="1" lang="en-US" altLang="ja-JP" dirty="0"/>
          </a:p>
          <a:p>
            <a:pPr lvl="1"/>
            <a:r>
              <a:rPr kumimoji="1" lang="ja-JP" altLang="en-US"/>
              <a:t>第２段</a:t>
            </a:r>
            <a:endParaRPr kumimoji="1" lang="en-US" altLang="ja-JP" dirty="0"/>
          </a:p>
          <a:p>
            <a:pPr lvl="2"/>
            <a:r>
              <a:rPr kumimoji="1" lang="ja-JP" altLang="en-US"/>
              <a:t>第３段</a:t>
            </a:r>
            <a:endParaRPr kumimoji="1" lang="en-US" altLang="ja-JP" dirty="0"/>
          </a:p>
          <a:p>
            <a:pPr lvl="3"/>
            <a:r>
              <a:rPr kumimoji="1" lang="ja-JP" altLang="en-US"/>
              <a:t>第４段</a:t>
            </a:r>
            <a:endParaRPr kumimoji="1" lang="en-US" altLang="ja-JP" dirty="0"/>
          </a:p>
          <a:p>
            <a:pPr lvl="4"/>
            <a:r>
              <a:rPr kumimoji="1" lang="ja-JP" altLang="en-US"/>
              <a:t>第５弾</a:t>
            </a:r>
            <a:endParaRPr kumimoji="1" lang="en-US" altLang="ja-JP" dirty="0"/>
          </a:p>
          <a:p>
            <a:pPr lvl="4"/>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210574" y="348226"/>
            <a:ext cx="11455400" cy="469900"/>
          </a:xfrm>
        </p:spPr>
        <p:txBody>
          <a:bodyPr/>
          <a:lstStyle>
            <a:lvl1pPr marL="0" indent="0">
              <a:buNone/>
              <a:defRPr b="0">
                <a:latin typeface="游ゴシック Medium" panose="020B0500000000000000" pitchFamily="50" charset="-128"/>
                <a:ea typeface="游ゴシック Medium" panose="020B0500000000000000"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スライドの話題＝問い</a:t>
            </a:r>
            <a:r>
              <a:rPr kumimoji="1" lang="en-US" altLang="ja-JP" dirty="0"/>
              <a:t>=</a:t>
            </a:r>
            <a:r>
              <a:rPr kumimoji="1" lang="ja-JP" altLang="en-US" dirty="0"/>
              <a:t>論点</a:t>
            </a:r>
            <a:endParaRPr kumimoji="1" lang="en-US" altLang="ja-JP" dirty="0"/>
          </a:p>
        </p:txBody>
      </p:sp>
      <p:sp>
        <p:nvSpPr>
          <p:cNvPr id="23" name="テキスト ボックス 22"/>
          <p:cNvSpPr txBox="1"/>
          <p:nvPr userDrawn="1"/>
        </p:nvSpPr>
        <p:spPr>
          <a:xfrm>
            <a:off x="11183256" y="340852"/>
            <a:ext cx="1015021" cy="461665"/>
          </a:xfrm>
          <a:prstGeom prst="rect">
            <a:avLst/>
          </a:prstGeom>
          <a:noFill/>
        </p:spPr>
        <p:txBody>
          <a:bodyPr wrap="none" rtlCol="0">
            <a:spAutoFit/>
          </a:bodyPr>
          <a:lstStyle/>
          <a:p>
            <a:fld id="{F8A53700-8F90-3442-A47C-78139B6BC0ED}" type="slidenum">
              <a:rPr kumimoji="1" lang="ja-JP" altLang="en-US" sz="2400" smtClean="0">
                <a:solidFill>
                  <a:schemeClr val="tx1"/>
                </a:solidFill>
                <a:latin typeface="+mn-lt"/>
                <a:ea typeface="游ゴシック Medium" panose="020B0500000000000000" pitchFamily="50" charset="-128"/>
              </a:rPr>
              <a:t>‹#›</a:t>
            </a:fld>
            <a:r>
              <a:rPr kumimoji="1" lang="en-US" altLang="ja-JP" sz="2400" dirty="0">
                <a:solidFill>
                  <a:schemeClr val="tx1"/>
                </a:solidFill>
                <a:latin typeface="+mn-lt"/>
                <a:ea typeface="游ゴシック Medium" panose="020B0500000000000000" pitchFamily="50" charset="-128"/>
              </a:rPr>
              <a:t>/19</a:t>
            </a:r>
            <a:endParaRPr kumimoji="1" lang="ja-JP" altLang="en-US" sz="24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2984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カー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6383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23D9B2-A3E9-9949-B706-993C7CA3857D}" type="datetime1">
              <a:rPr kumimoji="1" lang="ja-JP" altLang="en-US" smtClean="0"/>
              <a:t>2024/7/12</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1B92D0-3845-473E-8E13-C70357A36CF6}" type="slidenum">
              <a:rPr kumimoji="1" lang="ja-JP" altLang="en-US" smtClean="0"/>
              <a:t>‹#›</a:t>
            </a:fld>
            <a:endParaRPr kumimoji="1" lang="ja-JP" altLang="en-US"/>
          </a:p>
        </p:txBody>
      </p:sp>
    </p:spTree>
    <p:extLst>
      <p:ext uri="{BB962C8B-B14F-4D97-AF65-F5344CB8AC3E}">
        <p14:creationId xmlns:p14="http://schemas.microsoft.com/office/powerpoint/2010/main" val="306934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12.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3.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image" Target="../media/image16.png"/><Relationship Id="rId7"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7.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6.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9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20.png"/><Relationship Id="rId4" Type="http://schemas.openxmlformats.org/officeDocument/2006/relationships/image" Target="../media/image6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3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14.png"/><Relationship Id="rId7" Type="http://schemas.openxmlformats.org/officeDocument/2006/relationships/image" Target="../media/image17.png"/><Relationship Id="rId12"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3.png"/><Relationship Id="rId9"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6F0535-4030-4C35-945F-92B453107136}"/>
              </a:ext>
            </a:extLst>
          </p:cNvPr>
          <p:cNvSpPr>
            <a:spLocks noGrp="1"/>
          </p:cNvSpPr>
          <p:nvPr>
            <p:ph type="ctrTitle"/>
          </p:nvPr>
        </p:nvSpPr>
        <p:spPr/>
        <p:txBody>
          <a:bodyPr/>
          <a:lstStyle/>
          <a:p>
            <a:r>
              <a:rPr kumimoji="1" lang="en-US" altLang="ja-JP" dirty="0"/>
              <a:t>Luc</a:t>
            </a:r>
            <a:r>
              <a:rPr kumimoji="1" lang="ja-JP" altLang="en-US"/>
              <a:t>レポーター遺伝子発現系を使った</a:t>
            </a:r>
            <a:r>
              <a:rPr kumimoji="1" lang="en-US" altLang="ja-JP" dirty="0"/>
              <a:t>TGR5</a:t>
            </a:r>
            <a:r>
              <a:rPr kumimoji="1" lang="ja-JP" altLang="en-US"/>
              <a:t>アゴニストペプチドの探索</a:t>
            </a:r>
            <a:endParaRPr kumimoji="1" lang="ja-JP" altLang="en-US" dirty="0"/>
          </a:p>
        </p:txBody>
      </p:sp>
      <p:sp>
        <p:nvSpPr>
          <p:cNvPr id="3" name="字幕 2">
            <a:extLst>
              <a:ext uri="{FF2B5EF4-FFF2-40B4-BE49-F238E27FC236}">
                <a16:creationId xmlns:a16="http://schemas.microsoft.com/office/drawing/2014/main" id="{42FD679A-CDD2-4005-984B-113143E13B1F}"/>
              </a:ext>
            </a:extLst>
          </p:cNvPr>
          <p:cNvSpPr>
            <a:spLocks noGrp="1"/>
          </p:cNvSpPr>
          <p:nvPr>
            <p:ph type="subTitle" idx="1"/>
          </p:nvPr>
        </p:nvSpPr>
        <p:spPr/>
        <p:txBody>
          <a:bodyPr/>
          <a:lstStyle/>
          <a:p>
            <a:r>
              <a:rPr kumimoji="1" lang="en-US" altLang="ja-JP" dirty="0"/>
              <a:t>B4 </a:t>
            </a:r>
            <a:r>
              <a:rPr kumimoji="1" lang="ja-JP" altLang="en-US"/>
              <a:t>中村</a:t>
            </a:r>
            <a:r>
              <a:rPr kumimoji="1" lang="en-US" altLang="ja-JP" dirty="0"/>
              <a:t> </a:t>
            </a:r>
            <a:r>
              <a:rPr kumimoji="1" lang="ja-JP" altLang="en-US"/>
              <a:t>優作</a:t>
            </a:r>
            <a:endParaRPr kumimoji="1" lang="ja-JP" altLang="en-US" dirty="0"/>
          </a:p>
        </p:txBody>
      </p:sp>
      <p:sp>
        <p:nvSpPr>
          <p:cNvPr id="5" name="テキスト プレースホルダー 4">
            <a:extLst>
              <a:ext uri="{FF2B5EF4-FFF2-40B4-BE49-F238E27FC236}">
                <a16:creationId xmlns:a16="http://schemas.microsoft.com/office/drawing/2014/main" id="{1F08FD74-8A95-4CC4-8A3E-A416E77C6F43}"/>
              </a:ext>
            </a:extLst>
          </p:cNvPr>
          <p:cNvSpPr>
            <a:spLocks noGrp="1"/>
          </p:cNvSpPr>
          <p:nvPr>
            <p:ph type="body" sz="quarter" idx="12"/>
          </p:nvPr>
        </p:nvSpPr>
        <p:spPr/>
        <p:txBody>
          <a:bodyPr/>
          <a:lstStyle/>
          <a:p>
            <a:r>
              <a:rPr kumimoji="1" lang="en-US" altLang="ja-JP" dirty="0"/>
              <a:t>2024/07/12 </a:t>
            </a:r>
            <a:r>
              <a:rPr kumimoji="1" lang="ja-JP" altLang="en-US"/>
              <a:t>中間報告</a:t>
            </a:r>
            <a:endParaRPr kumimoji="1" lang="ja-JP" altLang="en-US" dirty="0"/>
          </a:p>
        </p:txBody>
      </p:sp>
      <p:sp>
        <p:nvSpPr>
          <p:cNvPr id="6" name="図プレースホルダー 5">
            <a:extLst>
              <a:ext uri="{FF2B5EF4-FFF2-40B4-BE49-F238E27FC236}">
                <a16:creationId xmlns:a16="http://schemas.microsoft.com/office/drawing/2014/main" id="{0AFE5A35-E172-4CE5-9706-822A8837189E}"/>
              </a:ext>
            </a:extLst>
          </p:cNvPr>
          <p:cNvSpPr>
            <a:spLocks noGrp="1"/>
          </p:cNvSpPr>
          <p:nvPr>
            <p:ph type="pic" sz="quarter" idx="13"/>
          </p:nvPr>
        </p:nvSpPr>
        <p:spPr/>
        <p:txBody>
          <a:bodyPr/>
          <a:lstStyle/>
          <a:p>
            <a:endParaRPr lang="ja-JP" altLang="en-US"/>
          </a:p>
        </p:txBody>
      </p:sp>
      <p:sp>
        <p:nvSpPr>
          <p:cNvPr id="8" name="テキスト プレースホルダー 7">
            <a:extLst>
              <a:ext uri="{FF2B5EF4-FFF2-40B4-BE49-F238E27FC236}">
                <a16:creationId xmlns:a16="http://schemas.microsoft.com/office/drawing/2014/main" id="{64E488D7-820E-7BCF-E277-575B6E3BB1D4}"/>
              </a:ext>
            </a:extLst>
          </p:cNvPr>
          <p:cNvSpPr>
            <a:spLocks noGrp="1"/>
          </p:cNvSpPr>
          <p:nvPr>
            <p:ph type="body" sz="quarter" idx="11"/>
          </p:nvPr>
        </p:nvSpPr>
        <p:spPr/>
        <p:txBody>
          <a:bodyPr/>
          <a:lstStyle/>
          <a:p>
            <a:r>
              <a:rPr kumimoji="1" lang="ja-JP" altLang="en-US"/>
              <a:t>名古屋大学</a:t>
            </a:r>
            <a:r>
              <a:rPr kumimoji="1" lang="en-US" altLang="ja-JP" dirty="0"/>
              <a:t> </a:t>
            </a:r>
            <a:r>
              <a:rPr kumimoji="1" lang="ja-JP" altLang="en-US"/>
              <a:t>生命分子工学専攻</a:t>
            </a:r>
            <a:r>
              <a:rPr lang="en-US" altLang="ja-JP" dirty="0"/>
              <a:t> </a:t>
            </a:r>
            <a:r>
              <a:rPr lang="ja-JP" altLang="en-US"/>
              <a:t>本多研究室</a:t>
            </a:r>
            <a:endParaRPr kumimoji="1" lang="ja-JP" altLang="en-US"/>
          </a:p>
        </p:txBody>
      </p:sp>
    </p:spTree>
    <p:extLst>
      <p:ext uri="{BB962C8B-B14F-4D97-AF65-F5344CB8AC3E}">
        <p14:creationId xmlns:p14="http://schemas.microsoft.com/office/powerpoint/2010/main" val="1462107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正方形/長方形 52">
            <a:extLst>
              <a:ext uri="{FF2B5EF4-FFF2-40B4-BE49-F238E27FC236}">
                <a16:creationId xmlns:a16="http://schemas.microsoft.com/office/drawing/2014/main" id="{F805CD36-E677-1E30-F062-F3E2B0C8DA69}"/>
              </a:ext>
            </a:extLst>
          </p:cNvPr>
          <p:cNvSpPr/>
          <p:nvPr/>
        </p:nvSpPr>
        <p:spPr>
          <a:xfrm>
            <a:off x="17062" y="844763"/>
            <a:ext cx="12188742" cy="270455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8" name="図 47" descr="アイコン&#10;&#10;自動的に生成された説明">
            <a:extLst>
              <a:ext uri="{FF2B5EF4-FFF2-40B4-BE49-F238E27FC236}">
                <a16:creationId xmlns:a16="http://schemas.microsoft.com/office/drawing/2014/main" id="{60A31556-BA1B-1029-F186-81D092A59539}"/>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4229" t="5254" r="3904" b="4055"/>
          <a:stretch/>
        </p:blipFill>
        <p:spPr>
          <a:xfrm>
            <a:off x="4253022" y="1817316"/>
            <a:ext cx="1238579" cy="1033290"/>
          </a:xfrm>
          <a:prstGeom prst="rect">
            <a:avLst/>
          </a:prstGeom>
        </p:spPr>
      </p:pic>
      <p:sp>
        <p:nvSpPr>
          <p:cNvPr id="2" name="タイトル 1">
            <a:extLst>
              <a:ext uri="{FF2B5EF4-FFF2-40B4-BE49-F238E27FC236}">
                <a16:creationId xmlns:a16="http://schemas.microsoft.com/office/drawing/2014/main" id="{69FD98EC-8D25-482F-8132-04421A268D61}"/>
              </a:ext>
            </a:extLst>
          </p:cNvPr>
          <p:cNvSpPr>
            <a:spLocks noGrp="1"/>
          </p:cNvSpPr>
          <p:nvPr>
            <p:ph type="title"/>
          </p:nvPr>
        </p:nvSpPr>
        <p:spPr/>
        <p:txBody>
          <a:bodyPr/>
          <a:lstStyle/>
          <a:p>
            <a:r>
              <a:rPr kumimoji="1" lang="en-US" altLang="ja-JP" dirty="0"/>
              <a:t>TGR5</a:t>
            </a:r>
            <a:r>
              <a:rPr kumimoji="1" lang="ja-JP" altLang="en-US"/>
              <a:t>に特異的に結合するアゴニストが必要</a:t>
            </a:r>
            <a:endParaRPr kumimoji="1" lang="ja-JP" altLang="en-US" dirty="0"/>
          </a:p>
        </p:txBody>
      </p:sp>
      <p:sp>
        <p:nvSpPr>
          <p:cNvPr id="3" name="コンテンツ プレースホルダー 2">
            <a:extLst>
              <a:ext uri="{FF2B5EF4-FFF2-40B4-BE49-F238E27FC236}">
                <a16:creationId xmlns:a16="http://schemas.microsoft.com/office/drawing/2014/main" id="{51CDB890-8D30-437B-8CC3-08166F8C7210}"/>
              </a:ext>
            </a:extLst>
          </p:cNvPr>
          <p:cNvSpPr>
            <a:spLocks noGrp="1"/>
          </p:cNvSpPr>
          <p:nvPr>
            <p:ph idx="1"/>
          </p:nvPr>
        </p:nvSpPr>
        <p:spPr>
          <a:xfrm>
            <a:off x="546100" y="1038484"/>
            <a:ext cx="9173972" cy="469900"/>
          </a:xfrm>
        </p:spPr>
        <p:txBody>
          <a:bodyPr/>
          <a:lstStyle/>
          <a:p>
            <a:pPr marL="0" indent="0">
              <a:buNone/>
            </a:pPr>
            <a:r>
              <a:rPr kumimoji="1" lang="en-US" altLang="ja-JP" dirty="0"/>
              <a:t>TGR5</a:t>
            </a:r>
            <a:r>
              <a:rPr kumimoji="1" lang="ja-JP" altLang="en-US"/>
              <a:t>：小腸、胃、肝臓などで発現している胆汁酸受容体</a:t>
            </a:r>
            <a:endParaRPr kumimoji="1" lang="en-US" altLang="ja-JP" dirty="0"/>
          </a:p>
          <a:p>
            <a:pPr marL="0" indent="0">
              <a:buNone/>
            </a:pPr>
            <a:endParaRPr lang="en-US" altLang="ja-JP" dirty="0"/>
          </a:p>
        </p:txBody>
      </p:sp>
      <p:sp>
        <p:nvSpPr>
          <p:cNvPr id="4" name="テキスト プレースホルダー 3">
            <a:extLst>
              <a:ext uri="{FF2B5EF4-FFF2-40B4-BE49-F238E27FC236}">
                <a16:creationId xmlns:a16="http://schemas.microsoft.com/office/drawing/2014/main" id="{7573968E-BF17-4017-AA59-5326CD607CE0}"/>
              </a:ext>
            </a:extLst>
          </p:cNvPr>
          <p:cNvSpPr>
            <a:spLocks noGrp="1"/>
          </p:cNvSpPr>
          <p:nvPr>
            <p:ph type="body" sz="quarter" idx="11"/>
          </p:nvPr>
        </p:nvSpPr>
        <p:spPr/>
        <p:txBody>
          <a:bodyPr>
            <a:normAutofit/>
          </a:bodyPr>
          <a:lstStyle/>
          <a:p>
            <a:r>
              <a:rPr kumimoji="1" lang="en-US" altLang="ja-JP" dirty="0"/>
              <a:t>Introduction - TGR5</a:t>
            </a:r>
            <a:endParaRPr kumimoji="1" lang="ja-JP" altLang="en-US"/>
          </a:p>
        </p:txBody>
      </p:sp>
      <p:pic>
        <p:nvPicPr>
          <p:cNvPr id="9" name="図 8" descr="電子機器, コンパクトディスク が含まれている画像&#10;&#10;自動的に生成された説明">
            <a:extLst>
              <a:ext uri="{FF2B5EF4-FFF2-40B4-BE49-F238E27FC236}">
                <a16:creationId xmlns:a16="http://schemas.microsoft.com/office/drawing/2014/main" id="{E24FED12-4EC6-09DE-994D-B7B9454B3950}"/>
              </a:ext>
            </a:extLst>
          </p:cNvPr>
          <p:cNvPicPr>
            <a:picLocks noChangeAspect="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5428" t="3148" r="3607" b="3180"/>
          <a:stretch/>
        </p:blipFill>
        <p:spPr>
          <a:xfrm>
            <a:off x="5734777" y="1922066"/>
            <a:ext cx="1005855" cy="846209"/>
          </a:xfrm>
          <a:prstGeom prst="rect">
            <a:avLst/>
          </a:prstGeom>
        </p:spPr>
      </p:pic>
      <p:pic>
        <p:nvPicPr>
          <p:cNvPr id="11" name="図 10" descr="アイコン&#10;&#10;自動的に生成された説明">
            <a:extLst>
              <a:ext uri="{FF2B5EF4-FFF2-40B4-BE49-F238E27FC236}">
                <a16:creationId xmlns:a16="http://schemas.microsoft.com/office/drawing/2014/main" id="{EDECFB7F-5950-126A-FF42-CA67D4F56B1C}"/>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4229" t="5254" r="3904" b="4055"/>
          <a:stretch/>
        </p:blipFill>
        <p:spPr>
          <a:xfrm>
            <a:off x="1912694" y="1817316"/>
            <a:ext cx="1238579" cy="1033290"/>
          </a:xfrm>
          <a:prstGeom prst="rect">
            <a:avLst/>
          </a:prstGeom>
        </p:spPr>
      </p:pic>
      <p:pic>
        <p:nvPicPr>
          <p:cNvPr id="12" name="図 11" descr="巣蜜, 建物, ミラー が含まれている画像&#10;&#10;自動的に生成された説明">
            <a:extLst>
              <a:ext uri="{FF2B5EF4-FFF2-40B4-BE49-F238E27FC236}">
                <a16:creationId xmlns:a16="http://schemas.microsoft.com/office/drawing/2014/main" id="{4C427747-01F6-EC0A-FEA3-707C607955E8}"/>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8326" y="2377125"/>
            <a:ext cx="852594" cy="504736"/>
          </a:xfrm>
          <a:prstGeom prst="rect">
            <a:avLst/>
          </a:prstGeom>
        </p:spPr>
      </p:pic>
      <p:grpSp>
        <p:nvGrpSpPr>
          <p:cNvPr id="13" name="グループ化 12">
            <a:extLst>
              <a:ext uri="{FF2B5EF4-FFF2-40B4-BE49-F238E27FC236}">
                <a16:creationId xmlns:a16="http://schemas.microsoft.com/office/drawing/2014/main" id="{FEF5747A-160C-E17B-196A-09AD39E061D4}"/>
              </a:ext>
            </a:extLst>
          </p:cNvPr>
          <p:cNvGrpSpPr/>
          <p:nvPr/>
        </p:nvGrpSpPr>
        <p:grpSpPr>
          <a:xfrm rot="5875602" flipH="1">
            <a:off x="1552635" y="2145299"/>
            <a:ext cx="279082" cy="374341"/>
            <a:chOff x="2664127" y="3374455"/>
            <a:chExt cx="1201975" cy="1567649"/>
          </a:xfrm>
          <a:solidFill>
            <a:schemeClr val="bg2"/>
          </a:solidFill>
        </p:grpSpPr>
        <p:sp>
          <p:nvSpPr>
            <p:cNvPr id="14" name="二等辺三角形 4">
              <a:extLst>
                <a:ext uri="{FF2B5EF4-FFF2-40B4-BE49-F238E27FC236}">
                  <a16:creationId xmlns:a16="http://schemas.microsoft.com/office/drawing/2014/main" id="{244C62FC-FD02-0CC9-6361-1DF74A5C2092}"/>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フリーフォーム: 図形 9">
              <a:extLst>
                <a:ext uri="{FF2B5EF4-FFF2-40B4-BE49-F238E27FC236}">
                  <a16:creationId xmlns:a16="http://schemas.microsoft.com/office/drawing/2014/main" id="{32E8090D-BA99-DAF5-41FC-5BC6EA36740E}"/>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16" name="テキスト ボックス 15">
            <a:extLst>
              <a:ext uri="{FF2B5EF4-FFF2-40B4-BE49-F238E27FC236}">
                <a16:creationId xmlns:a16="http://schemas.microsoft.com/office/drawing/2014/main" id="{2E3635DF-A10B-7FB1-1232-BD50A75A8493}"/>
              </a:ext>
            </a:extLst>
          </p:cNvPr>
          <p:cNvSpPr txBox="1"/>
          <p:nvPr/>
        </p:nvSpPr>
        <p:spPr>
          <a:xfrm>
            <a:off x="752985" y="2890304"/>
            <a:ext cx="723275" cy="307777"/>
          </a:xfrm>
          <a:prstGeom prst="rect">
            <a:avLst/>
          </a:prstGeom>
          <a:noFill/>
        </p:spPr>
        <p:txBody>
          <a:bodyPr wrap="none" rtlCol="0">
            <a:spAutoFit/>
          </a:bodyPr>
          <a:lstStyle/>
          <a:p>
            <a:r>
              <a:rPr kumimoji="1" lang="ja-JP" altLang="en-US" sz="1400"/>
              <a:t>胆汁酸</a:t>
            </a:r>
          </a:p>
        </p:txBody>
      </p:sp>
      <p:sp>
        <p:nvSpPr>
          <p:cNvPr id="17" name="テキスト ボックス 16">
            <a:extLst>
              <a:ext uri="{FF2B5EF4-FFF2-40B4-BE49-F238E27FC236}">
                <a16:creationId xmlns:a16="http://schemas.microsoft.com/office/drawing/2014/main" id="{C0856D2E-D9E8-087E-DFBB-2D3AA57B45F0}"/>
              </a:ext>
            </a:extLst>
          </p:cNvPr>
          <p:cNvSpPr txBox="1"/>
          <p:nvPr/>
        </p:nvSpPr>
        <p:spPr>
          <a:xfrm>
            <a:off x="2097575" y="2864425"/>
            <a:ext cx="987771" cy="307777"/>
          </a:xfrm>
          <a:prstGeom prst="rect">
            <a:avLst/>
          </a:prstGeom>
          <a:noFill/>
        </p:spPr>
        <p:txBody>
          <a:bodyPr wrap="none" rtlCol="0">
            <a:spAutoFit/>
          </a:bodyPr>
          <a:lstStyle/>
          <a:p>
            <a:r>
              <a:rPr kumimoji="1" lang="ja-JP" altLang="en-US" sz="1400"/>
              <a:t>腸管</a:t>
            </a:r>
            <a:r>
              <a:rPr kumimoji="1" lang="en-US" altLang="ja-JP" sz="1400" dirty="0"/>
              <a:t>L</a:t>
            </a:r>
            <a:r>
              <a:rPr kumimoji="1" lang="ja-JP" altLang="en-US" sz="1400"/>
              <a:t>細胞</a:t>
            </a:r>
          </a:p>
        </p:txBody>
      </p:sp>
      <p:sp>
        <p:nvSpPr>
          <p:cNvPr id="18" name="テキスト ボックス 17">
            <a:extLst>
              <a:ext uri="{FF2B5EF4-FFF2-40B4-BE49-F238E27FC236}">
                <a16:creationId xmlns:a16="http://schemas.microsoft.com/office/drawing/2014/main" id="{DB6F2E4F-2B9A-7F59-FA4F-8192B3FD170E}"/>
              </a:ext>
            </a:extLst>
          </p:cNvPr>
          <p:cNvSpPr txBox="1"/>
          <p:nvPr/>
        </p:nvSpPr>
        <p:spPr>
          <a:xfrm>
            <a:off x="1751876" y="1787700"/>
            <a:ext cx="737702" cy="338554"/>
          </a:xfrm>
          <a:prstGeom prst="rect">
            <a:avLst/>
          </a:prstGeom>
          <a:noFill/>
        </p:spPr>
        <p:txBody>
          <a:bodyPr wrap="none" rtlCol="0">
            <a:spAutoFit/>
          </a:bodyPr>
          <a:lstStyle/>
          <a:p>
            <a:r>
              <a:rPr kumimoji="1" lang="en-US" altLang="ja-JP" sz="1600" b="1" dirty="0">
                <a:latin typeface="Yu Gothic" panose="020B0400000000000000" pitchFamily="34" charset="-128"/>
                <a:ea typeface="Yu Gothic" panose="020B0400000000000000" pitchFamily="34" charset="-128"/>
              </a:rPr>
              <a:t>TGR5</a:t>
            </a:r>
            <a:endParaRPr kumimoji="1" lang="ja-JP" altLang="en-US" sz="1600" b="1">
              <a:latin typeface="Yu Gothic" panose="020B0400000000000000" pitchFamily="34" charset="-128"/>
              <a:ea typeface="Yu Gothic" panose="020B0400000000000000" pitchFamily="34" charset="-128"/>
            </a:endParaRPr>
          </a:p>
        </p:txBody>
      </p:sp>
      <p:sp>
        <p:nvSpPr>
          <p:cNvPr id="19" name="山形 18">
            <a:extLst>
              <a:ext uri="{FF2B5EF4-FFF2-40B4-BE49-F238E27FC236}">
                <a16:creationId xmlns:a16="http://schemas.microsoft.com/office/drawing/2014/main" id="{8650B36B-FA56-97B6-CC2E-4CC843C0BC57}"/>
              </a:ext>
            </a:extLst>
          </p:cNvPr>
          <p:cNvSpPr/>
          <p:nvPr/>
        </p:nvSpPr>
        <p:spPr>
          <a:xfrm>
            <a:off x="3390429" y="2172822"/>
            <a:ext cx="263384" cy="332252"/>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pic>
        <p:nvPicPr>
          <p:cNvPr id="21" name="図 20" descr="巣蜜, 建物, ミラー が含まれている画像&#10;&#10;自動的に生成された説明">
            <a:extLst>
              <a:ext uri="{FF2B5EF4-FFF2-40B4-BE49-F238E27FC236}">
                <a16:creationId xmlns:a16="http://schemas.microsoft.com/office/drawing/2014/main" id="{97216302-12CD-19DE-57D6-7640C3D076EA}"/>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20766317">
            <a:off x="3821654" y="2350087"/>
            <a:ext cx="561236" cy="332252"/>
          </a:xfrm>
          <a:prstGeom prst="rect">
            <a:avLst/>
          </a:prstGeom>
        </p:spPr>
      </p:pic>
      <p:sp>
        <p:nvSpPr>
          <p:cNvPr id="22" name="円/楕円 21">
            <a:extLst>
              <a:ext uri="{FF2B5EF4-FFF2-40B4-BE49-F238E27FC236}">
                <a16:creationId xmlns:a16="http://schemas.microsoft.com/office/drawing/2014/main" id="{B254654F-C67A-CAD3-F7C7-63F2B3E20905}"/>
              </a:ext>
            </a:extLst>
          </p:cNvPr>
          <p:cNvSpPr>
            <a:spLocks noChangeAspect="1"/>
          </p:cNvSpPr>
          <p:nvPr/>
        </p:nvSpPr>
        <p:spPr>
          <a:xfrm>
            <a:off x="4796485" y="2170924"/>
            <a:ext cx="90000" cy="90000"/>
          </a:xfrm>
          <a:prstGeom prst="ellipse">
            <a:avLst/>
          </a:prstGeom>
          <a:solidFill>
            <a:schemeClr val="accent4">
              <a:lumMod val="40000"/>
              <a:lumOff val="6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a:extLst>
              <a:ext uri="{FF2B5EF4-FFF2-40B4-BE49-F238E27FC236}">
                <a16:creationId xmlns:a16="http://schemas.microsoft.com/office/drawing/2014/main" id="{4B068D05-AEC9-D85E-839A-7416EA2DF7A7}"/>
              </a:ext>
            </a:extLst>
          </p:cNvPr>
          <p:cNvSpPr>
            <a:spLocks noChangeAspect="1"/>
          </p:cNvSpPr>
          <p:nvPr/>
        </p:nvSpPr>
        <p:spPr>
          <a:xfrm>
            <a:off x="4832268" y="2310619"/>
            <a:ext cx="90000" cy="90000"/>
          </a:xfrm>
          <a:prstGeom prst="ellipse">
            <a:avLst/>
          </a:prstGeom>
          <a:solidFill>
            <a:schemeClr val="accent4">
              <a:lumMod val="40000"/>
              <a:lumOff val="6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23">
            <a:extLst>
              <a:ext uri="{FF2B5EF4-FFF2-40B4-BE49-F238E27FC236}">
                <a16:creationId xmlns:a16="http://schemas.microsoft.com/office/drawing/2014/main" id="{195DAA4C-37E1-3B04-243E-448218A64DEF}"/>
              </a:ext>
            </a:extLst>
          </p:cNvPr>
          <p:cNvSpPr>
            <a:spLocks noChangeAspect="1"/>
          </p:cNvSpPr>
          <p:nvPr/>
        </p:nvSpPr>
        <p:spPr>
          <a:xfrm>
            <a:off x="4763703" y="2491408"/>
            <a:ext cx="90000" cy="90000"/>
          </a:xfrm>
          <a:prstGeom prst="ellipse">
            <a:avLst/>
          </a:prstGeom>
          <a:solidFill>
            <a:schemeClr val="accent4">
              <a:lumMod val="40000"/>
              <a:lumOff val="6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24">
            <a:extLst>
              <a:ext uri="{FF2B5EF4-FFF2-40B4-BE49-F238E27FC236}">
                <a16:creationId xmlns:a16="http://schemas.microsoft.com/office/drawing/2014/main" id="{F08DE086-DA37-4C1F-81D2-372C11D60A69}"/>
              </a:ext>
            </a:extLst>
          </p:cNvPr>
          <p:cNvSpPr>
            <a:spLocks noChangeAspect="1"/>
          </p:cNvSpPr>
          <p:nvPr/>
        </p:nvSpPr>
        <p:spPr>
          <a:xfrm>
            <a:off x="5013590" y="2207738"/>
            <a:ext cx="90000" cy="90000"/>
          </a:xfrm>
          <a:prstGeom prst="ellipse">
            <a:avLst/>
          </a:prstGeom>
          <a:solidFill>
            <a:schemeClr val="accent4">
              <a:lumMod val="40000"/>
              <a:lumOff val="6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円/楕円 25">
            <a:extLst>
              <a:ext uri="{FF2B5EF4-FFF2-40B4-BE49-F238E27FC236}">
                <a16:creationId xmlns:a16="http://schemas.microsoft.com/office/drawing/2014/main" id="{CE097DF8-ED94-0945-6431-EC4F6A79F989}"/>
              </a:ext>
            </a:extLst>
          </p:cNvPr>
          <p:cNvSpPr>
            <a:spLocks noChangeAspect="1"/>
          </p:cNvSpPr>
          <p:nvPr/>
        </p:nvSpPr>
        <p:spPr>
          <a:xfrm>
            <a:off x="5130308" y="2333961"/>
            <a:ext cx="90000" cy="90000"/>
          </a:xfrm>
          <a:prstGeom prst="ellipse">
            <a:avLst/>
          </a:prstGeom>
          <a:solidFill>
            <a:schemeClr val="accent4">
              <a:lumMod val="40000"/>
              <a:lumOff val="6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a:extLst>
              <a:ext uri="{FF2B5EF4-FFF2-40B4-BE49-F238E27FC236}">
                <a16:creationId xmlns:a16="http://schemas.microsoft.com/office/drawing/2014/main" id="{B92A5145-618C-221C-7230-BE5E388DAF79}"/>
              </a:ext>
            </a:extLst>
          </p:cNvPr>
          <p:cNvSpPr>
            <a:spLocks noChangeAspect="1"/>
          </p:cNvSpPr>
          <p:nvPr/>
        </p:nvSpPr>
        <p:spPr>
          <a:xfrm>
            <a:off x="4942386" y="2442950"/>
            <a:ext cx="90000" cy="90000"/>
          </a:xfrm>
          <a:prstGeom prst="ellipse">
            <a:avLst/>
          </a:prstGeom>
          <a:solidFill>
            <a:schemeClr val="accent4">
              <a:lumMod val="40000"/>
              <a:lumOff val="6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43F11EEC-71BB-65D4-1F8C-AC76A3D2109B}"/>
              </a:ext>
            </a:extLst>
          </p:cNvPr>
          <p:cNvSpPr txBox="1"/>
          <p:nvPr/>
        </p:nvSpPr>
        <p:spPr>
          <a:xfrm>
            <a:off x="5891871" y="2783367"/>
            <a:ext cx="821059" cy="307777"/>
          </a:xfrm>
          <a:prstGeom prst="rect">
            <a:avLst/>
          </a:prstGeom>
          <a:noFill/>
        </p:spPr>
        <p:txBody>
          <a:bodyPr wrap="none" rtlCol="0">
            <a:spAutoFit/>
          </a:bodyPr>
          <a:lstStyle/>
          <a:p>
            <a:r>
              <a:rPr lang="ja-JP" altLang="en-US" sz="1400"/>
              <a:t>膵</a:t>
            </a:r>
            <a:r>
              <a:rPr lang="en-US" altLang="ja-JP" sz="1400" dirty="0"/>
              <a:t>β</a:t>
            </a:r>
            <a:r>
              <a:rPr lang="ja-JP" altLang="en-US" sz="1400"/>
              <a:t>細胞</a:t>
            </a:r>
            <a:endParaRPr kumimoji="1" lang="ja-JP" altLang="en-US" sz="1400"/>
          </a:p>
        </p:txBody>
      </p:sp>
      <p:sp>
        <p:nvSpPr>
          <p:cNvPr id="34" name="山形 33">
            <a:extLst>
              <a:ext uri="{FF2B5EF4-FFF2-40B4-BE49-F238E27FC236}">
                <a16:creationId xmlns:a16="http://schemas.microsoft.com/office/drawing/2014/main" id="{F91111F6-9DAF-5D8E-2847-F4CAB89A8013}"/>
              </a:ext>
            </a:extLst>
          </p:cNvPr>
          <p:cNvSpPr/>
          <p:nvPr/>
        </p:nvSpPr>
        <p:spPr>
          <a:xfrm>
            <a:off x="6984694" y="2154278"/>
            <a:ext cx="263384" cy="332252"/>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pic>
        <p:nvPicPr>
          <p:cNvPr id="35" name="図 34" descr="電子機器, コンパクトディスク が含まれている画像&#10;&#10;自動的に生成された説明">
            <a:extLst>
              <a:ext uri="{FF2B5EF4-FFF2-40B4-BE49-F238E27FC236}">
                <a16:creationId xmlns:a16="http://schemas.microsoft.com/office/drawing/2014/main" id="{A024EB5B-50B9-20C6-2444-C19F7DD37593}"/>
              </a:ext>
            </a:extLst>
          </p:cNvPr>
          <p:cNvPicPr>
            <a:picLocks noChangeAspect="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5428" t="3148" r="3607" b="3180"/>
          <a:stretch/>
        </p:blipFill>
        <p:spPr>
          <a:xfrm>
            <a:off x="7479014" y="2140182"/>
            <a:ext cx="1005855" cy="846209"/>
          </a:xfrm>
          <a:prstGeom prst="rect">
            <a:avLst/>
          </a:prstGeom>
        </p:spPr>
      </p:pic>
      <p:sp>
        <p:nvSpPr>
          <p:cNvPr id="36" name="円/楕円 35">
            <a:extLst>
              <a:ext uri="{FF2B5EF4-FFF2-40B4-BE49-F238E27FC236}">
                <a16:creationId xmlns:a16="http://schemas.microsoft.com/office/drawing/2014/main" id="{61E3FCFD-C479-21F3-A97A-579BD93CE9EE}"/>
              </a:ext>
            </a:extLst>
          </p:cNvPr>
          <p:cNvSpPr>
            <a:spLocks noChangeAspect="1"/>
          </p:cNvSpPr>
          <p:nvPr/>
        </p:nvSpPr>
        <p:spPr>
          <a:xfrm>
            <a:off x="7481094" y="2361589"/>
            <a:ext cx="90000" cy="90000"/>
          </a:xfrm>
          <a:prstGeom prst="ellipse">
            <a:avLst/>
          </a:prstGeom>
          <a:solidFill>
            <a:schemeClr val="accent4">
              <a:lumMod val="40000"/>
              <a:lumOff val="6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楕円 36">
            <a:extLst>
              <a:ext uri="{FF2B5EF4-FFF2-40B4-BE49-F238E27FC236}">
                <a16:creationId xmlns:a16="http://schemas.microsoft.com/office/drawing/2014/main" id="{1C1A87FE-F104-3CC9-4AB1-4E1140C38456}"/>
              </a:ext>
            </a:extLst>
          </p:cNvPr>
          <p:cNvSpPr>
            <a:spLocks noChangeAspect="1"/>
          </p:cNvSpPr>
          <p:nvPr/>
        </p:nvSpPr>
        <p:spPr>
          <a:xfrm>
            <a:off x="8059161" y="2102382"/>
            <a:ext cx="75600" cy="756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a:extLst>
              <a:ext uri="{FF2B5EF4-FFF2-40B4-BE49-F238E27FC236}">
                <a16:creationId xmlns:a16="http://schemas.microsoft.com/office/drawing/2014/main" id="{11C8D518-E3FF-46ED-97AF-9F6692C8D597}"/>
              </a:ext>
            </a:extLst>
          </p:cNvPr>
          <p:cNvSpPr>
            <a:spLocks noChangeAspect="1"/>
          </p:cNvSpPr>
          <p:nvPr/>
        </p:nvSpPr>
        <p:spPr>
          <a:xfrm>
            <a:off x="8201865" y="2183301"/>
            <a:ext cx="75600" cy="756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a:extLst>
              <a:ext uri="{FF2B5EF4-FFF2-40B4-BE49-F238E27FC236}">
                <a16:creationId xmlns:a16="http://schemas.microsoft.com/office/drawing/2014/main" id="{6D4FBB8A-46ED-05BB-E9BE-7A08CF44F76D}"/>
              </a:ext>
            </a:extLst>
          </p:cNvPr>
          <p:cNvSpPr>
            <a:spLocks noChangeAspect="1"/>
          </p:cNvSpPr>
          <p:nvPr/>
        </p:nvSpPr>
        <p:spPr>
          <a:xfrm>
            <a:off x="8248631" y="2258901"/>
            <a:ext cx="75600" cy="756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円/楕円 40">
            <a:extLst>
              <a:ext uri="{FF2B5EF4-FFF2-40B4-BE49-F238E27FC236}">
                <a16:creationId xmlns:a16="http://schemas.microsoft.com/office/drawing/2014/main" id="{220B941E-E51A-38DF-8303-5D256FC43D3D}"/>
              </a:ext>
            </a:extLst>
          </p:cNvPr>
          <p:cNvSpPr>
            <a:spLocks noChangeAspect="1"/>
          </p:cNvSpPr>
          <p:nvPr/>
        </p:nvSpPr>
        <p:spPr>
          <a:xfrm>
            <a:off x="8190967" y="2048836"/>
            <a:ext cx="75600" cy="756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円/楕円 41">
            <a:extLst>
              <a:ext uri="{FF2B5EF4-FFF2-40B4-BE49-F238E27FC236}">
                <a16:creationId xmlns:a16="http://schemas.microsoft.com/office/drawing/2014/main" id="{F802BA24-811C-3C6B-9873-550AA8F255A2}"/>
              </a:ext>
            </a:extLst>
          </p:cNvPr>
          <p:cNvSpPr>
            <a:spLocks noChangeAspect="1"/>
          </p:cNvSpPr>
          <p:nvPr/>
        </p:nvSpPr>
        <p:spPr>
          <a:xfrm>
            <a:off x="8343367" y="2155927"/>
            <a:ext cx="75600" cy="756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44">
            <a:extLst>
              <a:ext uri="{FF2B5EF4-FFF2-40B4-BE49-F238E27FC236}">
                <a16:creationId xmlns:a16="http://schemas.microsoft.com/office/drawing/2014/main" id="{7DBDD1F3-B6DA-AFB4-B0D6-112D8D1B2CAC}"/>
              </a:ext>
            </a:extLst>
          </p:cNvPr>
          <p:cNvSpPr>
            <a:spLocks noChangeAspect="1"/>
          </p:cNvSpPr>
          <p:nvPr/>
        </p:nvSpPr>
        <p:spPr>
          <a:xfrm>
            <a:off x="8409269" y="2036479"/>
            <a:ext cx="75600" cy="756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円/楕円 45">
            <a:extLst>
              <a:ext uri="{FF2B5EF4-FFF2-40B4-BE49-F238E27FC236}">
                <a16:creationId xmlns:a16="http://schemas.microsoft.com/office/drawing/2014/main" id="{97AF407D-B756-945A-9270-C55AE094C41D}"/>
              </a:ext>
            </a:extLst>
          </p:cNvPr>
          <p:cNvSpPr>
            <a:spLocks noChangeAspect="1"/>
          </p:cNvSpPr>
          <p:nvPr/>
        </p:nvSpPr>
        <p:spPr>
          <a:xfrm>
            <a:off x="8450458" y="2160047"/>
            <a:ext cx="75600" cy="756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円/楕円 46">
            <a:extLst>
              <a:ext uri="{FF2B5EF4-FFF2-40B4-BE49-F238E27FC236}">
                <a16:creationId xmlns:a16="http://schemas.microsoft.com/office/drawing/2014/main" id="{4E85251D-65AB-A86C-1ADC-2BE907098A81}"/>
              </a:ext>
            </a:extLst>
          </p:cNvPr>
          <p:cNvSpPr>
            <a:spLocks noChangeAspect="1"/>
          </p:cNvSpPr>
          <p:nvPr/>
        </p:nvSpPr>
        <p:spPr>
          <a:xfrm>
            <a:off x="8288219" y="2038719"/>
            <a:ext cx="75600" cy="756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4519F8E3-5F03-029B-15E6-4C2E392D2104}"/>
              </a:ext>
            </a:extLst>
          </p:cNvPr>
          <p:cNvSpPr txBox="1"/>
          <p:nvPr/>
        </p:nvSpPr>
        <p:spPr>
          <a:xfrm>
            <a:off x="4699357" y="2570505"/>
            <a:ext cx="718466" cy="307777"/>
          </a:xfrm>
          <a:prstGeom prst="rect">
            <a:avLst/>
          </a:prstGeom>
          <a:noFill/>
        </p:spPr>
        <p:txBody>
          <a:bodyPr wrap="none" rtlCol="0">
            <a:spAutoFit/>
          </a:bodyPr>
          <a:lstStyle/>
          <a:p>
            <a:r>
              <a:rPr kumimoji="1" lang="en-US" altLang="ja-JP" sz="1400" dirty="0">
                <a:latin typeface="Yu Gothic" panose="020B0400000000000000" pitchFamily="34" charset="-128"/>
                <a:ea typeface="Yu Gothic" panose="020B0400000000000000" pitchFamily="34" charset="-128"/>
              </a:rPr>
              <a:t>GLP-1</a:t>
            </a:r>
            <a:endParaRPr kumimoji="1" lang="ja-JP" altLang="en-US" sz="1400">
              <a:latin typeface="Yu Gothic" panose="020B0400000000000000" pitchFamily="34" charset="-128"/>
              <a:ea typeface="Yu Gothic" panose="020B0400000000000000" pitchFamily="34" charset="-128"/>
            </a:endParaRPr>
          </a:p>
        </p:txBody>
      </p:sp>
      <p:grpSp>
        <p:nvGrpSpPr>
          <p:cNvPr id="29" name="グループ化 28">
            <a:extLst>
              <a:ext uri="{FF2B5EF4-FFF2-40B4-BE49-F238E27FC236}">
                <a16:creationId xmlns:a16="http://schemas.microsoft.com/office/drawing/2014/main" id="{0A404241-032F-8F36-73F2-8249FC43232F}"/>
              </a:ext>
            </a:extLst>
          </p:cNvPr>
          <p:cNvGrpSpPr/>
          <p:nvPr/>
        </p:nvGrpSpPr>
        <p:grpSpPr>
          <a:xfrm rot="5875602" flipH="1">
            <a:off x="5392391" y="1982018"/>
            <a:ext cx="256431" cy="453888"/>
            <a:chOff x="2664127" y="3374455"/>
            <a:chExt cx="1201975" cy="1567649"/>
          </a:xfrm>
          <a:solidFill>
            <a:schemeClr val="bg2"/>
          </a:solidFill>
        </p:grpSpPr>
        <p:sp>
          <p:nvSpPr>
            <p:cNvPr id="30" name="二等辺三角形 4">
              <a:extLst>
                <a:ext uri="{FF2B5EF4-FFF2-40B4-BE49-F238E27FC236}">
                  <a16:creationId xmlns:a16="http://schemas.microsoft.com/office/drawing/2014/main" id="{44EF49CD-CB22-B2A3-1227-7E1EE4457239}"/>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フリーフォーム: 図形 9">
              <a:extLst>
                <a:ext uri="{FF2B5EF4-FFF2-40B4-BE49-F238E27FC236}">
                  <a16:creationId xmlns:a16="http://schemas.microsoft.com/office/drawing/2014/main" id="{E817FFDA-A84B-87A2-CBAE-CEDFFBED6485}"/>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49" name="テキスト ボックス 48">
            <a:extLst>
              <a:ext uri="{FF2B5EF4-FFF2-40B4-BE49-F238E27FC236}">
                <a16:creationId xmlns:a16="http://schemas.microsoft.com/office/drawing/2014/main" id="{2BF097F8-5779-2473-862D-5C07F80D2C97}"/>
              </a:ext>
            </a:extLst>
          </p:cNvPr>
          <p:cNvSpPr txBox="1"/>
          <p:nvPr/>
        </p:nvSpPr>
        <p:spPr>
          <a:xfrm>
            <a:off x="7734435" y="1703259"/>
            <a:ext cx="1082348" cy="307777"/>
          </a:xfrm>
          <a:prstGeom prst="rect">
            <a:avLst/>
          </a:prstGeom>
          <a:noFill/>
        </p:spPr>
        <p:txBody>
          <a:bodyPr wrap="none" rtlCol="0">
            <a:spAutoFit/>
          </a:bodyPr>
          <a:lstStyle/>
          <a:p>
            <a:r>
              <a:rPr lang="ja-JP" altLang="en-US" sz="1400"/>
              <a:t>インスリン</a:t>
            </a:r>
            <a:endParaRPr kumimoji="1" lang="ja-JP" altLang="en-US" sz="1400"/>
          </a:p>
        </p:txBody>
      </p:sp>
      <p:sp>
        <p:nvSpPr>
          <p:cNvPr id="50" name="テキスト ボックス 49">
            <a:extLst>
              <a:ext uri="{FF2B5EF4-FFF2-40B4-BE49-F238E27FC236}">
                <a16:creationId xmlns:a16="http://schemas.microsoft.com/office/drawing/2014/main" id="{E55B9687-96CB-5036-9947-9E49149D4ADC}"/>
              </a:ext>
            </a:extLst>
          </p:cNvPr>
          <p:cNvSpPr txBox="1"/>
          <p:nvPr/>
        </p:nvSpPr>
        <p:spPr>
          <a:xfrm>
            <a:off x="9411201" y="2768932"/>
            <a:ext cx="2236510" cy="400110"/>
          </a:xfrm>
          <a:prstGeom prst="rect">
            <a:avLst/>
          </a:prstGeom>
          <a:noFill/>
        </p:spPr>
        <p:txBody>
          <a:bodyPr wrap="none" rtlCol="0">
            <a:spAutoFit/>
          </a:bodyPr>
          <a:lstStyle/>
          <a:p>
            <a:r>
              <a:rPr kumimoji="1" lang="ja-JP" altLang="en-US" sz="2000" b="1" u="sng">
                <a:latin typeface="Yu Gothic" panose="020B0400000000000000" pitchFamily="34" charset="-128"/>
                <a:ea typeface="Yu Gothic" panose="020B0400000000000000" pitchFamily="34" charset="-128"/>
              </a:rPr>
              <a:t>糖尿病治療に有益</a:t>
            </a:r>
          </a:p>
        </p:txBody>
      </p:sp>
      <p:sp>
        <p:nvSpPr>
          <p:cNvPr id="51" name="テキスト ボックス 50">
            <a:extLst>
              <a:ext uri="{FF2B5EF4-FFF2-40B4-BE49-F238E27FC236}">
                <a16:creationId xmlns:a16="http://schemas.microsoft.com/office/drawing/2014/main" id="{A9B96E7F-113C-6FB5-AD82-16E79E00C05D}"/>
              </a:ext>
            </a:extLst>
          </p:cNvPr>
          <p:cNvSpPr txBox="1"/>
          <p:nvPr/>
        </p:nvSpPr>
        <p:spPr>
          <a:xfrm>
            <a:off x="8927801" y="1451870"/>
            <a:ext cx="2236510" cy="1165832"/>
          </a:xfrm>
          <a:prstGeom prst="rect">
            <a:avLst/>
          </a:prstGeom>
          <a:noFill/>
        </p:spPr>
        <p:txBody>
          <a:bodyPr wrap="none" rtlCol="0">
            <a:spAutoFit/>
          </a:bodyPr>
          <a:lstStyle/>
          <a:p>
            <a:pPr>
              <a:lnSpc>
                <a:spcPct val="150000"/>
              </a:lnSpc>
            </a:pPr>
            <a:r>
              <a:rPr lang="ja-JP" altLang="en-US" sz="1600">
                <a:latin typeface="Yu Gothic" panose="020B0400000000000000" pitchFamily="34" charset="-128"/>
                <a:ea typeface="Yu Gothic" panose="020B0400000000000000" pitchFamily="34" charset="-128"/>
              </a:rPr>
              <a:t>インスリン分泌による</a:t>
            </a:r>
            <a:endParaRPr lang="en-US" altLang="ja-JP" sz="1600" dirty="0">
              <a:latin typeface="Yu Gothic" panose="020B0400000000000000" pitchFamily="34" charset="-128"/>
              <a:ea typeface="Yu Gothic" panose="020B0400000000000000" pitchFamily="34" charset="-128"/>
            </a:endParaRPr>
          </a:p>
          <a:p>
            <a:pPr marL="285750" indent="-285750">
              <a:lnSpc>
                <a:spcPct val="150000"/>
              </a:lnSpc>
              <a:buFont typeface="Arial" panose="020B0604020202020204" pitchFamily="34" charset="0"/>
              <a:buChar char="•"/>
            </a:pPr>
            <a:r>
              <a:rPr lang="ja-JP" altLang="en-US" sz="1600">
                <a:latin typeface="Yu Gothic" panose="020B0400000000000000" pitchFamily="34" charset="-128"/>
                <a:ea typeface="Yu Gothic" panose="020B0400000000000000" pitchFamily="34" charset="-128"/>
              </a:rPr>
              <a:t>抗肥満作用</a:t>
            </a:r>
            <a:endParaRPr lang="en-US" altLang="ja-JP" sz="1600" dirty="0">
              <a:latin typeface="Yu Gothic" panose="020B0400000000000000" pitchFamily="34" charset="-128"/>
              <a:ea typeface="Yu Gothic" panose="020B0400000000000000" pitchFamily="34" charset="-128"/>
            </a:endParaRPr>
          </a:p>
          <a:p>
            <a:pPr marL="285750" indent="-285750">
              <a:lnSpc>
                <a:spcPct val="150000"/>
              </a:lnSpc>
              <a:buFont typeface="Arial" panose="020B0604020202020204" pitchFamily="34" charset="0"/>
              <a:buChar char="•"/>
            </a:pPr>
            <a:r>
              <a:rPr lang="ja-JP" altLang="en-US" sz="1600">
                <a:latin typeface="Yu Gothic" panose="020B0400000000000000" pitchFamily="34" charset="-128"/>
                <a:ea typeface="Yu Gothic" panose="020B0400000000000000" pitchFamily="34" charset="-128"/>
              </a:rPr>
              <a:t>血糖降下作用</a:t>
            </a:r>
            <a:endParaRPr lang="en-US" altLang="ja-JP" sz="1600" dirty="0">
              <a:latin typeface="Yu Gothic" panose="020B0400000000000000" pitchFamily="34" charset="-128"/>
              <a:ea typeface="Yu Gothic" panose="020B0400000000000000" pitchFamily="34" charset="-128"/>
            </a:endParaRPr>
          </a:p>
        </p:txBody>
      </p:sp>
      <p:sp>
        <p:nvSpPr>
          <p:cNvPr id="52" name="矢印: 右 43">
            <a:extLst>
              <a:ext uri="{FF2B5EF4-FFF2-40B4-BE49-F238E27FC236}">
                <a16:creationId xmlns:a16="http://schemas.microsoft.com/office/drawing/2014/main" id="{E277B378-04B4-EAB4-2368-9626AA1B7F1B}"/>
              </a:ext>
            </a:extLst>
          </p:cNvPr>
          <p:cNvSpPr/>
          <p:nvPr/>
        </p:nvSpPr>
        <p:spPr>
          <a:xfrm>
            <a:off x="8990407" y="2723358"/>
            <a:ext cx="392067" cy="445850"/>
          </a:xfrm>
          <a:custGeom>
            <a:avLst/>
            <a:gdLst>
              <a:gd name="connsiteX0" fmla="*/ 0 w 392067"/>
              <a:gd name="connsiteY0" fmla="*/ 111463 h 445850"/>
              <a:gd name="connsiteX1" fmla="*/ 196034 w 392067"/>
              <a:gd name="connsiteY1" fmla="*/ 111463 h 445850"/>
              <a:gd name="connsiteX2" fmla="*/ 196034 w 392067"/>
              <a:gd name="connsiteY2" fmla="*/ 0 h 445850"/>
              <a:gd name="connsiteX3" fmla="*/ 392067 w 392067"/>
              <a:gd name="connsiteY3" fmla="*/ 222925 h 445850"/>
              <a:gd name="connsiteX4" fmla="*/ 196034 w 392067"/>
              <a:gd name="connsiteY4" fmla="*/ 445850 h 445850"/>
              <a:gd name="connsiteX5" fmla="*/ 196034 w 392067"/>
              <a:gd name="connsiteY5" fmla="*/ 334388 h 445850"/>
              <a:gd name="connsiteX6" fmla="*/ 0 w 392067"/>
              <a:gd name="connsiteY6" fmla="*/ 334388 h 445850"/>
              <a:gd name="connsiteX7" fmla="*/ 0 w 392067"/>
              <a:gd name="connsiteY7" fmla="*/ 111463 h 44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2067" h="445850" fill="none" extrusionOk="0">
                <a:moveTo>
                  <a:pt x="0" y="111463"/>
                </a:moveTo>
                <a:cubicBezTo>
                  <a:pt x="34364" y="113823"/>
                  <a:pt x="101331" y="103573"/>
                  <a:pt x="196034" y="111463"/>
                </a:cubicBezTo>
                <a:cubicBezTo>
                  <a:pt x="202059" y="80912"/>
                  <a:pt x="198247" y="36391"/>
                  <a:pt x="196034" y="0"/>
                </a:cubicBezTo>
                <a:cubicBezTo>
                  <a:pt x="250298" y="40659"/>
                  <a:pt x="343309" y="163902"/>
                  <a:pt x="392067" y="222925"/>
                </a:cubicBezTo>
                <a:cubicBezTo>
                  <a:pt x="349583" y="300790"/>
                  <a:pt x="248547" y="348689"/>
                  <a:pt x="196034" y="445850"/>
                </a:cubicBezTo>
                <a:cubicBezTo>
                  <a:pt x="189848" y="411361"/>
                  <a:pt x="187177" y="364934"/>
                  <a:pt x="196034" y="334388"/>
                </a:cubicBezTo>
                <a:cubicBezTo>
                  <a:pt x="139895" y="339300"/>
                  <a:pt x="93322" y="343266"/>
                  <a:pt x="0" y="334388"/>
                </a:cubicBezTo>
                <a:cubicBezTo>
                  <a:pt x="-14725" y="264611"/>
                  <a:pt x="-12581" y="159710"/>
                  <a:pt x="0" y="111463"/>
                </a:cubicBezTo>
                <a:close/>
              </a:path>
              <a:path w="392067" h="445850" stroke="0" extrusionOk="0">
                <a:moveTo>
                  <a:pt x="0" y="111463"/>
                </a:moveTo>
                <a:cubicBezTo>
                  <a:pt x="30131" y="115379"/>
                  <a:pt x="137914" y="94553"/>
                  <a:pt x="196034" y="111463"/>
                </a:cubicBezTo>
                <a:cubicBezTo>
                  <a:pt x="190553" y="68740"/>
                  <a:pt x="203062" y="14563"/>
                  <a:pt x="196034" y="0"/>
                </a:cubicBezTo>
                <a:cubicBezTo>
                  <a:pt x="270848" y="123229"/>
                  <a:pt x="283373" y="130301"/>
                  <a:pt x="392067" y="222925"/>
                </a:cubicBezTo>
                <a:cubicBezTo>
                  <a:pt x="364790" y="250598"/>
                  <a:pt x="233558" y="412009"/>
                  <a:pt x="196034" y="445850"/>
                </a:cubicBezTo>
                <a:cubicBezTo>
                  <a:pt x="195615" y="396527"/>
                  <a:pt x="190115" y="375174"/>
                  <a:pt x="196034" y="334388"/>
                </a:cubicBezTo>
                <a:cubicBezTo>
                  <a:pt x="102357" y="317264"/>
                  <a:pt x="22413" y="333400"/>
                  <a:pt x="0" y="334388"/>
                </a:cubicBezTo>
                <a:cubicBezTo>
                  <a:pt x="-3931" y="292680"/>
                  <a:pt x="4898" y="142476"/>
                  <a:pt x="0" y="111463"/>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11D14D09-11EA-2CE4-7AF9-60EB0D23ADC2}"/>
              </a:ext>
            </a:extLst>
          </p:cNvPr>
          <p:cNvSpPr txBox="1"/>
          <p:nvPr/>
        </p:nvSpPr>
        <p:spPr>
          <a:xfrm>
            <a:off x="1060000" y="5420283"/>
            <a:ext cx="4409412" cy="369332"/>
          </a:xfrm>
          <a:prstGeom prst="rect">
            <a:avLst/>
          </a:prstGeom>
          <a:noFill/>
        </p:spPr>
        <p:txBody>
          <a:bodyPr wrap="none" rtlCol="0">
            <a:spAutoFit/>
          </a:bodyPr>
          <a:lstStyle/>
          <a:p>
            <a:r>
              <a:rPr kumimoji="1" lang="en-US" altLang="ja-JP" dirty="0"/>
              <a:t>TGR5</a:t>
            </a:r>
            <a:r>
              <a:rPr kumimoji="1" lang="ja-JP" altLang="en-US"/>
              <a:t>以外の胆汁酸受容体に影響を与える</a:t>
            </a:r>
          </a:p>
        </p:txBody>
      </p:sp>
      <p:sp>
        <p:nvSpPr>
          <p:cNvPr id="63" name="テキスト ボックス 62">
            <a:extLst>
              <a:ext uri="{FF2B5EF4-FFF2-40B4-BE49-F238E27FC236}">
                <a16:creationId xmlns:a16="http://schemas.microsoft.com/office/drawing/2014/main" id="{F3ED4E19-F039-6F40-EFCC-D12BF391B0B9}"/>
              </a:ext>
            </a:extLst>
          </p:cNvPr>
          <p:cNvSpPr txBox="1"/>
          <p:nvPr/>
        </p:nvSpPr>
        <p:spPr>
          <a:xfrm>
            <a:off x="6730124" y="5492869"/>
            <a:ext cx="4518416" cy="369332"/>
          </a:xfrm>
          <a:prstGeom prst="rect">
            <a:avLst/>
          </a:prstGeom>
          <a:noFill/>
        </p:spPr>
        <p:txBody>
          <a:bodyPr wrap="none" rtlCol="0">
            <a:spAutoFit/>
          </a:bodyPr>
          <a:lstStyle/>
          <a:p>
            <a:r>
              <a:rPr kumimoji="1" lang="ja-JP" altLang="en-US"/>
              <a:t>腸管</a:t>
            </a:r>
            <a:r>
              <a:rPr kumimoji="1" lang="en-US" altLang="ja-JP" dirty="0"/>
              <a:t>L</a:t>
            </a:r>
            <a:r>
              <a:rPr kumimoji="1" lang="ja-JP" altLang="en-US"/>
              <a:t>細胞以外に発現している</a:t>
            </a:r>
            <a:r>
              <a:rPr kumimoji="1" lang="en-US" altLang="ja-JP" dirty="0"/>
              <a:t>TGR5</a:t>
            </a:r>
            <a:r>
              <a:rPr kumimoji="1" lang="ja-JP" altLang="en-US"/>
              <a:t>に影響</a:t>
            </a:r>
          </a:p>
        </p:txBody>
      </p:sp>
      <p:sp>
        <p:nvSpPr>
          <p:cNvPr id="67" name="コンテンツ プレースホルダー 2">
            <a:extLst>
              <a:ext uri="{FF2B5EF4-FFF2-40B4-BE49-F238E27FC236}">
                <a16:creationId xmlns:a16="http://schemas.microsoft.com/office/drawing/2014/main" id="{44208E70-468E-997F-4613-2754EEB2F02D}"/>
              </a:ext>
            </a:extLst>
          </p:cNvPr>
          <p:cNvSpPr txBox="1">
            <a:spLocks/>
          </p:cNvSpPr>
          <p:nvPr/>
        </p:nvSpPr>
        <p:spPr>
          <a:xfrm>
            <a:off x="546100" y="3591090"/>
            <a:ext cx="9173972" cy="469900"/>
          </a:xfrm>
          <a:prstGeom prst="rect">
            <a:avLst/>
          </a:prstGeom>
        </p:spPr>
        <p:txBody>
          <a:bodyPr vert="horz" lIns="91440" tIns="45720" rIns="91440" bIns="45720" rtlCol="0">
            <a:normAutofit/>
          </a:bodyPr>
          <a:lstStyle>
            <a:lvl1pPr marL="457200" indent="-457200" algn="l" defTabSz="914400" rtl="0" eaLnBrk="1" latinLnBrk="0" hangingPunct="1">
              <a:lnSpc>
                <a:spcPct val="100000"/>
              </a:lnSpc>
              <a:spcBef>
                <a:spcPts val="14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胆汁酸の問題点</a:t>
            </a:r>
            <a:endParaRPr lang="en-US" altLang="ja-JP" dirty="0"/>
          </a:p>
        </p:txBody>
      </p:sp>
      <p:grpSp>
        <p:nvGrpSpPr>
          <p:cNvPr id="85" name="グループ化 84">
            <a:extLst>
              <a:ext uri="{FF2B5EF4-FFF2-40B4-BE49-F238E27FC236}">
                <a16:creationId xmlns:a16="http://schemas.microsoft.com/office/drawing/2014/main" id="{5F0D9961-4EFC-B240-70DF-85ACE59B20F0}"/>
              </a:ext>
            </a:extLst>
          </p:cNvPr>
          <p:cNvGrpSpPr/>
          <p:nvPr/>
        </p:nvGrpSpPr>
        <p:grpSpPr>
          <a:xfrm>
            <a:off x="2068258" y="4160048"/>
            <a:ext cx="2406752" cy="1113820"/>
            <a:chOff x="1909451" y="4202546"/>
            <a:chExt cx="2406752" cy="1113820"/>
          </a:xfrm>
        </p:grpSpPr>
        <p:sp>
          <p:nvSpPr>
            <p:cNvPr id="73" name="テキスト ボックス 72">
              <a:extLst>
                <a:ext uri="{FF2B5EF4-FFF2-40B4-BE49-F238E27FC236}">
                  <a16:creationId xmlns:a16="http://schemas.microsoft.com/office/drawing/2014/main" id="{02229881-FBC0-AE62-5457-98CB61BBF5C9}"/>
                </a:ext>
              </a:extLst>
            </p:cNvPr>
            <p:cNvSpPr txBox="1"/>
            <p:nvPr/>
          </p:nvSpPr>
          <p:spPr>
            <a:xfrm>
              <a:off x="1909451" y="5008589"/>
              <a:ext cx="723275" cy="307777"/>
            </a:xfrm>
            <a:prstGeom prst="rect">
              <a:avLst/>
            </a:prstGeom>
            <a:noFill/>
          </p:spPr>
          <p:txBody>
            <a:bodyPr wrap="none" rtlCol="0">
              <a:spAutoFit/>
            </a:bodyPr>
            <a:lstStyle/>
            <a:p>
              <a:r>
                <a:rPr kumimoji="1" lang="ja-JP" altLang="en-US" sz="1400"/>
                <a:t>胆汁酸</a:t>
              </a:r>
            </a:p>
          </p:txBody>
        </p:sp>
        <p:pic>
          <p:nvPicPr>
            <p:cNvPr id="55" name="図 54" descr="巣蜜, 建物, ミラー が含まれている画像&#10;&#10;自動的に生成された説明">
              <a:extLst>
                <a:ext uri="{FF2B5EF4-FFF2-40B4-BE49-F238E27FC236}">
                  <a16:creationId xmlns:a16="http://schemas.microsoft.com/office/drawing/2014/main" id="{B51CC038-BEC4-DE4C-54EB-2250F6D07B5D}"/>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18472" y="4497971"/>
              <a:ext cx="852594" cy="504736"/>
            </a:xfrm>
            <a:prstGeom prst="rect">
              <a:avLst/>
            </a:prstGeom>
          </p:spPr>
        </p:pic>
        <p:pic>
          <p:nvPicPr>
            <p:cNvPr id="72" name="図 71" descr="アイコン&#10;&#10;自動的に生成された説明">
              <a:extLst>
                <a:ext uri="{FF2B5EF4-FFF2-40B4-BE49-F238E27FC236}">
                  <a16:creationId xmlns:a16="http://schemas.microsoft.com/office/drawing/2014/main" id="{447E2156-40B2-0854-450D-64423A492907}"/>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217661" y="4202546"/>
              <a:ext cx="1098542" cy="1037512"/>
            </a:xfrm>
            <a:prstGeom prst="rect">
              <a:avLst/>
            </a:prstGeom>
          </p:spPr>
        </p:pic>
        <p:sp>
          <p:nvSpPr>
            <p:cNvPr id="74" name="テキスト ボックス 73">
              <a:extLst>
                <a:ext uri="{FF2B5EF4-FFF2-40B4-BE49-F238E27FC236}">
                  <a16:creationId xmlns:a16="http://schemas.microsoft.com/office/drawing/2014/main" id="{C3A08CE0-539D-8998-4F61-AF073203C1E1}"/>
                </a:ext>
              </a:extLst>
            </p:cNvPr>
            <p:cNvSpPr txBox="1"/>
            <p:nvPr/>
          </p:nvSpPr>
          <p:spPr>
            <a:xfrm>
              <a:off x="3740995" y="4780005"/>
              <a:ext cx="486030" cy="307777"/>
            </a:xfrm>
            <a:prstGeom prst="rect">
              <a:avLst/>
            </a:prstGeom>
            <a:noFill/>
          </p:spPr>
          <p:txBody>
            <a:bodyPr wrap="none" rtlCol="0">
              <a:spAutoFit/>
            </a:bodyPr>
            <a:lstStyle/>
            <a:p>
              <a:r>
                <a:rPr kumimoji="1" lang="en-US" altLang="ja-JP" sz="1400" dirty="0"/>
                <a:t>FXR</a:t>
              </a:r>
              <a:endParaRPr kumimoji="1" lang="ja-JP" altLang="en-US" sz="1400"/>
            </a:p>
          </p:txBody>
        </p:sp>
        <p:grpSp>
          <p:nvGrpSpPr>
            <p:cNvPr id="77" name="グループ化 76">
              <a:extLst>
                <a:ext uri="{FF2B5EF4-FFF2-40B4-BE49-F238E27FC236}">
                  <a16:creationId xmlns:a16="http://schemas.microsoft.com/office/drawing/2014/main" id="{B2AA0A28-573F-B924-5928-CC747E7AAE35}"/>
                </a:ext>
              </a:extLst>
            </p:cNvPr>
            <p:cNvGrpSpPr/>
            <p:nvPr/>
          </p:nvGrpSpPr>
          <p:grpSpPr>
            <a:xfrm rot="6758240" flipH="1">
              <a:off x="3072148" y="4337863"/>
              <a:ext cx="291026" cy="713392"/>
              <a:chOff x="2664127" y="3374455"/>
              <a:chExt cx="1201975" cy="1567649"/>
            </a:xfrm>
            <a:solidFill>
              <a:schemeClr val="bg2"/>
            </a:solidFill>
          </p:grpSpPr>
          <p:sp>
            <p:nvSpPr>
              <p:cNvPr id="78" name="二等辺三角形 4">
                <a:extLst>
                  <a:ext uri="{FF2B5EF4-FFF2-40B4-BE49-F238E27FC236}">
                    <a16:creationId xmlns:a16="http://schemas.microsoft.com/office/drawing/2014/main" id="{3630A2E9-FB69-A4AD-92F8-D0237350B3C5}"/>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9" name="フリーフォーム: 図形 9">
                <a:extLst>
                  <a:ext uri="{FF2B5EF4-FFF2-40B4-BE49-F238E27FC236}">
                    <a16:creationId xmlns:a16="http://schemas.microsoft.com/office/drawing/2014/main" id="{8DACCE01-46F7-B7B7-304C-8F4C90136A99}"/>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grpSp>
        <p:nvGrpSpPr>
          <p:cNvPr id="84" name="グループ化 83">
            <a:extLst>
              <a:ext uri="{FF2B5EF4-FFF2-40B4-BE49-F238E27FC236}">
                <a16:creationId xmlns:a16="http://schemas.microsoft.com/office/drawing/2014/main" id="{B20D8876-2C03-8AAF-0C24-F77E2CD48167}"/>
              </a:ext>
            </a:extLst>
          </p:cNvPr>
          <p:cNvGrpSpPr/>
          <p:nvPr/>
        </p:nvGrpSpPr>
        <p:grpSpPr>
          <a:xfrm>
            <a:off x="7672292" y="4102761"/>
            <a:ext cx="2634080" cy="1342883"/>
            <a:chOff x="8127254" y="3991549"/>
            <a:chExt cx="2634080" cy="1342883"/>
          </a:xfrm>
        </p:grpSpPr>
        <p:pic>
          <p:nvPicPr>
            <p:cNvPr id="68" name="図 67" descr="巣蜜, 建物, ミラー が含まれている画像&#10;&#10;自動的に生成された説明">
              <a:extLst>
                <a:ext uri="{FF2B5EF4-FFF2-40B4-BE49-F238E27FC236}">
                  <a16:creationId xmlns:a16="http://schemas.microsoft.com/office/drawing/2014/main" id="{83FCCFE9-E081-705B-CAE0-227E90A2688A}"/>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27254" y="4389748"/>
              <a:ext cx="793751" cy="469901"/>
            </a:xfrm>
            <a:prstGeom prst="rect">
              <a:avLst/>
            </a:prstGeom>
          </p:spPr>
        </p:pic>
        <p:pic>
          <p:nvPicPr>
            <p:cNvPr id="70" name="図 69" descr="アイコン が含まれている画像&#10;&#10;自動的に生成された説明">
              <a:extLst>
                <a:ext uri="{FF2B5EF4-FFF2-40B4-BE49-F238E27FC236}">
                  <a16:creationId xmlns:a16="http://schemas.microsoft.com/office/drawing/2014/main" id="{BC2B536D-A0E3-A578-58A0-4A87CB135811}"/>
                </a:ext>
              </a:extLst>
            </p:cNvPr>
            <p:cNvPicPr>
              <a:picLocks noChangeAspect="1"/>
            </p:cNvPicPr>
            <p:nvPr/>
          </p:nvPicPr>
          <p:blipFill rotWithShape="1">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l="4580" t="9796" r="7106" b="5955"/>
            <a:stretch/>
          </p:blipFill>
          <p:spPr>
            <a:xfrm>
              <a:off x="9587379" y="3991549"/>
              <a:ext cx="1173955" cy="1008902"/>
            </a:xfrm>
            <a:prstGeom prst="rect">
              <a:avLst/>
            </a:prstGeom>
          </p:spPr>
        </p:pic>
        <p:sp>
          <p:nvSpPr>
            <p:cNvPr id="75" name="テキスト ボックス 74">
              <a:extLst>
                <a:ext uri="{FF2B5EF4-FFF2-40B4-BE49-F238E27FC236}">
                  <a16:creationId xmlns:a16="http://schemas.microsoft.com/office/drawing/2014/main" id="{610B2372-CCA8-A889-F76B-646641AA6011}"/>
                </a:ext>
              </a:extLst>
            </p:cNvPr>
            <p:cNvSpPr txBox="1"/>
            <p:nvPr/>
          </p:nvSpPr>
          <p:spPr>
            <a:xfrm>
              <a:off x="8162493" y="4873852"/>
              <a:ext cx="723275" cy="307777"/>
            </a:xfrm>
            <a:prstGeom prst="rect">
              <a:avLst/>
            </a:prstGeom>
            <a:noFill/>
          </p:spPr>
          <p:txBody>
            <a:bodyPr wrap="none" rtlCol="0">
              <a:spAutoFit/>
            </a:bodyPr>
            <a:lstStyle/>
            <a:p>
              <a:r>
                <a:rPr kumimoji="1" lang="ja-JP" altLang="en-US" sz="1400"/>
                <a:t>胆汁酸</a:t>
              </a:r>
            </a:p>
          </p:txBody>
        </p:sp>
        <p:sp>
          <p:nvSpPr>
            <p:cNvPr id="76" name="テキスト ボックス 75">
              <a:extLst>
                <a:ext uri="{FF2B5EF4-FFF2-40B4-BE49-F238E27FC236}">
                  <a16:creationId xmlns:a16="http://schemas.microsoft.com/office/drawing/2014/main" id="{00466D1C-91AC-7B27-3DC0-BB13FDB8B146}"/>
                </a:ext>
              </a:extLst>
            </p:cNvPr>
            <p:cNvSpPr txBox="1"/>
            <p:nvPr/>
          </p:nvSpPr>
          <p:spPr>
            <a:xfrm>
              <a:off x="9784886" y="5026655"/>
              <a:ext cx="902811" cy="307777"/>
            </a:xfrm>
            <a:prstGeom prst="rect">
              <a:avLst/>
            </a:prstGeom>
            <a:noFill/>
          </p:spPr>
          <p:txBody>
            <a:bodyPr wrap="none" rtlCol="0">
              <a:spAutoFit/>
            </a:bodyPr>
            <a:lstStyle/>
            <a:p>
              <a:r>
                <a:rPr kumimoji="1" lang="ja-JP" altLang="en-US" sz="1400"/>
                <a:t>胆嚢細胞</a:t>
              </a:r>
            </a:p>
          </p:txBody>
        </p:sp>
        <p:grpSp>
          <p:nvGrpSpPr>
            <p:cNvPr id="80" name="グループ化 79">
              <a:extLst>
                <a:ext uri="{FF2B5EF4-FFF2-40B4-BE49-F238E27FC236}">
                  <a16:creationId xmlns:a16="http://schemas.microsoft.com/office/drawing/2014/main" id="{DBD71081-5C7A-9061-B970-93A333FEA0F7}"/>
                </a:ext>
              </a:extLst>
            </p:cNvPr>
            <p:cNvGrpSpPr/>
            <p:nvPr/>
          </p:nvGrpSpPr>
          <p:grpSpPr>
            <a:xfrm rot="6411735" flipH="1">
              <a:off x="9099061" y="4181158"/>
              <a:ext cx="310262" cy="641682"/>
              <a:chOff x="2664127" y="3374455"/>
              <a:chExt cx="1201975" cy="1567649"/>
            </a:xfrm>
            <a:solidFill>
              <a:schemeClr val="bg2"/>
            </a:solidFill>
          </p:grpSpPr>
          <p:sp>
            <p:nvSpPr>
              <p:cNvPr id="81" name="二等辺三角形 4">
                <a:extLst>
                  <a:ext uri="{FF2B5EF4-FFF2-40B4-BE49-F238E27FC236}">
                    <a16:creationId xmlns:a16="http://schemas.microsoft.com/office/drawing/2014/main" id="{8BB8E17B-F9FB-02D0-7A36-8BEC57EF8173}"/>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2" name="フリーフォーム: 図形 9">
                <a:extLst>
                  <a:ext uri="{FF2B5EF4-FFF2-40B4-BE49-F238E27FC236}">
                    <a16:creationId xmlns:a16="http://schemas.microsoft.com/office/drawing/2014/main" id="{207C06C3-CFF3-6DE0-C982-279E143EFCC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sp>
        <p:nvSpPr>
          <p:cNvPr id="86" name="角丸四角形 85">
            <a:extLst>
              <a:ext uri="{FF2B5EF4-FFF2-40B4-BE49-F238E27FC236}">
                <a16:creationId xmlns:a16="http://schemas.microsoft.com/office/drawing/2014/main" id="{EC2F2B0B-C3D9-F7BC-3709-2AF2678BF771}"/>
              </a:ext>
            </a:extLst>
          </p:cNvPr>
          <p:cNvSpPr/>
          <p:nvPr/>
        </p:nvSpPr>
        <p:spPr>
          <a:xfrm>
            <a:off x="546982" y="4018335"/>
            <a:ext cx="5447278" cy="1885368"/>
          </a:xfrm>
          <a:prstGeom prst="roundRect">
            <a:avLst/>
          </a:prstGeom>
          <a:no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角丸四角形 86">
            <a:extLst>
              <a:ext uri="{FF2B5EF4-FFF2-40B4-BE49-F238E27FC236}">
                <a16:creationId xmlns:a16="http://schemas.microsoft.com/office/drawing/2014/main" id="{6F774B8F-1678-2770-C56A-C3C070AB9788}"/>
              </a:ext>
            </a:extLst>
          </p:cNvPr>
          <p:cNvSpPr/>
          <p:nvPr/>
        </p:nvSpPr>
        <p:spPr>
          <a:xfrm>
            <a:off x="6193105" y="4027315"/>
            <a:ext cx="5451914" cy="1885368"/>
          </a:xfrm>
          <a:prstGeom prst="roundRect">
            <a:avLst/>
          </a:prstGeom>
          <a:no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テキスト ボックス 65">
            <a:extLst>
              <a:ext uri="{FF2B5EF4-FFF2-40B4-BE49-F238E27FC236}">
                <a16:creationId xmlns:a16="http://schemas.microsoft.com/office/drawing/2014/main" id="{D41720D7-B82F-FC4E-F796-926950DE61A0}"/>
              </a:ext>
            </a:extLst>
          </p:cNvPr>
          <p:cNvSpPr txBox="1"/>
          <p:nvPr/>
        </p:nvSpPr>
        <p:spPr>
          <a:xfrm>
            <a:off x="5107270" y="4479208"/>
            <a:ext cx="1980029" cy="400110"/>
          </a:xfrm>
          <a:prstGeom prst="rect">
            <a:avLst/>
          </a:prstGeom>
          <a:solidFill>
            <a:schemeClr val="accent2">
              <a:lumMod val="40000"/>
              <a:lumOff val="60000"/>
            </a:schemeClr>
          </a:solidFill>
        </p:spPr>
        <p:txBody>
          <a:bodyPr wrap="none" rtlCol="0">
            <a:spAutoFit/>
          </a:bodyPr>
          <a:lstStyle/>
          <a:p>
            <a:r>
              <a:rPr kumimoji="1" lang="ja-JP" altLang="en-US" sz="2000" b="1">
                <a:solidFill>
                  <a:schemeClr val="bg1">
                    <a:lumMod val="10000"/>
                  </a:schemeClr>
                </a:solidFill>
                <a:latin typeface="Yu Gothic" panose="020B0400000000000000" pitchFamily="34" charset="-128"/>
                <a:ea typeface="Yu Gothic" panose="020B0400000000000000" pitchFamily="34" charset="-128"/>
              </a:rPr>
              <a:t>潜在的な副作用</a:t>
            </a:r>
          </a:p>
        </p:txBody>
      </p:sp>
      <p:sp>
        <p:nvSpPr>
          <p:cNvPr id="5" name="テキスト ボックス 4">
            <a:extLst>
              <a:ext uri="{FF2B5EF4-FFF2-40B4-BE49-F238E27FC236}">
                <a16:creationId xmlns:a16="http://schemas.microsoft.com/office/drawing/2014/main" id="{69647199-E96F-15CE-3A3B-9562B6A8E3CF}"/>
              </a:ext>
            </a:extLst>
          </p:cNvPr>
          <p:cNvSpPr txBox="1"/>
          <p:nvPr/>
        </p:nvSpPr>
        <p:spPr>
          <a:xfrm>
            <a:off x="6795741" y="3226726"/>
            <a:ext cx="5230920" cy="338554"/>
          </a:xfrm>
          <a:prstGeom prst="rect">
            <a:avLst/>
          </a:prstGeom>
          <a:noFill/>
        </p:spPr>
        <p:txBody>
          <a:bodyPr wrap="none" rtlCol="0">
            <a:spAutoFit/>
          </a:bodyPr>
          <a:lstStyle/>
          <a:p>
            <a:pPr algn="ctr"/>
            <a:r>
              <a:rPr kumimoji="1" lang="en-US" altLang="ja-JP" sz="1600" dirty="0">
                <a:latin typeface="Yu Gothic" panose="020B0400000000000000" pitchFamily="34" charset="-128"/>
                <a:ea typeface="Yu Gothic" panose="020B0400000000000000" pitchFamily="34" charset="-128"/>
              </a:rPr>
              <a:t>[</a:t>
            </a:r>
            <a:r>
              <a:rPr kumimoji="1" lang="en-US" altLang="ja-JP" sz="1600" dirty="0" err="1">
                <a:latin typeface="Yu Gothic" panose="020B0400000000000000" pitchFamily="34" charset="-128"/>
                <a:ea typeface="Yu Gothic" panose="020B0400000000000000" pitchFamily="34" charset="-128"/>
              </a:rPr>
              <a:t>Hyeonhui</a:t>
            </a:r>
            <a:r>
              <a:rPr kumimoji="1" lang="en-US" altLang="ja-JP" sz="1600" dirty="0">
                <a:latin typeface="Yu Gothic" panose="020B0400000000000000" pitchFamily="34" charset="-128"/>
                <a:ea typeface="Yu Gothic" panose="020B0400000000000000" pitchFamily="34" charset="-128"/>
              </a:rPr>
              <a:t> Kim, </a:t>
            </a:r>
            <a:r>
              <a:rPr kumimoji="1" lang="en-US" altLang="ja-JP" sz="1600" dirty="0" err="1">
                <a:latin typeface="Yu Gothic" panose="020B0400000000000000" pitchFamily="34" charset="-128"/>
                <a:ea typeface="Yu Gothic" panose="020B0400000000000000" pitchFamily="34" charset="-128"/>
              </a:rPr>
              <a:t>Sungsoon</a:t>
            </a:r>
            <a:r>
              <a:rPr kumimoji="1" lang="en-US" altLang="ja-JP" sz="1600" dirty="0">
                <a:latin typeface="Yu Gothic" panose="020B0400000000000000" pitchFamily="34" charset="-128"/>
                <a:ea typeface="Yu Gothic" panose="020B0400000000000000" pitchFamily="34" charset="-128"/>
              </a:rPr>
              <a:t> Fang, Lab Anim Res, 2018]</a:t>
            </a:r>
            <a:endParaRPr kumimoji="1" lang="ja-JP" altLang="en-US" sz="1600">
              <a:latin typeface="Yu Gothic" panose="020B0400000000000000" pitchFamily="34" charset="-128"/>
              <a:ea typeface="Yu Gothic" panose="020B0400000000000000" pitchFamily="34" charset="-128"/>
            </a:endParaRPr>
          </a:p>
        </p:txBody>
      </p:sp>
      <p:sp>
        <p:nvSpPr>
          <p:cNvPr id="6" name="テキスト ボックス 5">
            <a:extLst>
              <a:ext uri="{FF2B5EF4-FFF2-40B4-BE49-F238E27FC236}">
                <a16:creationId xmlns:a16="http://schemas.microsoft.com/office/drawing/2014/main" id="{A27F4A75-BBD4-F54C-81AD-190077B1F78B}"/>
              </a:ext>
            </a:extLst>
          </p:cNvPr>
          <p:cNvSpPr txBox="1"/>
          <p:nvPr/>
        </p:nvSpPr>
        <p:spPr>
          <a:xfrm>
            <a:off x="8409269" y="5904853"/>
            <a:ext cx="3514104" cy="338554"/>
          </a:xfrm>
          <a:prstGeom prst="rect">
            <a:avLst/>
          </a:prstGeom>
          <a:noFill/>
        </p:spPr>
        <p:txBody>
          <a:bodyPr wrap="none" rtlCol="0">
            <a:spAutoFit/>
          </a:bodyPr>
          <a:lstStyle/>
          <a:p>
            <a:pPr algn="ctr"/>
            <a:r>
              <a:rPr kumimoji="1" lang="en-US" altLang="ja-JP" sz="1600" dirty="0">
                <a:latin typeface="Yu Gothic" panose="020B0400000000000000" pitchFamily="34" charset="-128"/>
                <a:ea typeface="Yu Gothic" panose="020B0400000000000000" pitchFamily="34" charset="-128"/>
              </a:rPr>
              <a:t>[</a:t>
            </a:r>
            <a:r>
              <a:rPr lang="en-US" altLang="ja-JP" sz="1600" dirty="0" err="1">
                <a:latin typeface="Yu Gothic" panose="020B0400000000000000" pitchFamily="34" charset="-128"/>
                <a:ea typeface="Yu Gothic" panose="020B0400000000000000" pitchFamily="34" charset="-128"/>
              </a:rPr>
              <a:t>Wangrui</a:t>
            </a:r>
            <a:r>
              <a:rPr lang="en-US" altLang="ja-JP" sz="1600" dirty="0">
                <a:latin typeface="Yu Gothic" panose="020B0400000000000000" pitchFamily="34" charset="-128"/>
                <a:ea typeface="Yu Gothic" panose="020B0400000000000000" pitchFamily="34" charset="-128"/>
              </a:rPr>
              <a:t> Jin</a:t>
            </a:r>
            <a:r>
              <a:rPr kumimoji="1" lang="en-US" altLang="ja-JP" sz="1600" dirty="0">
                <a:latin typeface="Yu Gothic" panose="020B0400000000000000" pitchFamily="34" charset="-128"/>
                <a:ea typeface="Yu Gothic" panose="020B0400000000000000" pitchFamily="34" charset="-128"/>
              </a:rPr>
              <a:t>, </a:t>
            </a:r>
            <a:r>
              <a:rPr kumimoji="1" lang="en-US" altLang="ja-JP" sz="1600" i="1" dirty="0">
                <a:latin typeface="Yu Gothic" panose="020B0400000000000000" pitchFamily="34" charset="-128"/>
                <a:ea typeface="Yu Gothic" panose="020B0400000000000000" pitchFamily="34" charset="-128"/>
              </a:rPr>
              <a:t>et al., </a:t>
            </a:r>
            <a:r>
              <a:rPr kumimoji="1" lang="en-US" altLang="ja-JP" sz="1600" dirty="0">
                <a:latin typeface="Yu Gothic" panose="020B0400000000000000" pitchFamily="34" charset="-128"/>
                <a:ea typeface="Yu Gothic" panose="020B0400000000000000" pitchFamily="34" charset="-128"/>
              </a:rPr>
              <a:t>EJMECH, 2024]</a:t>
            </a:r>
            <a:endParaRPr kumimoji="1" lang="ja-JP" altLang="en-US" sz="160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2632143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1456EE24-8297-C88E-9098-11034CA5ECF2}"/>
              </a:ext>
            </a:extLst>
          </p:cNvPr>
          <p:cNvSpPr>
            <a:spLocks noGrp="1"/>
          </p:cNvSpPr>
          <p:nvPr>
            <p:ph idx="1"/>
          </p:nvPr>
        </p:nvSpPr>
        <p:spPr>
          <a:xfrm>
            <a:off x="546100" y="1038484"/>
            <a:ext cx="5624303" cy="2854245"/>
          </a:xfrm>
        </p:spPr>
        <p:txBody>
          <a:bodyPr/>
          <a:lstStyle/>
          <a:p>
            <a:pPr marL="0" indent="0">
              <a:buNone/>
            </a:pPr>
            <a:r>
              <a:rPr lang="ja-JP" altLang="en-US"/>
              <a:t>複数の</a:t>
            </a:r>
            <a:r>
              <a:rPr lang="en-US" altLang="ja-JP" dirty="0"/>
              <a:t>DCA</a:t>
            </a:r>
            <a:r>
              <a:rPr lang="ja-JP" altLang="en-US"/>
              <a:t>結合ペプチドが</a:t>
            </a:r>
            <a:r>
              <a:rPr lang="en-US" altLang="ja-JP" dirty="0"/>
              <a:t>TGR5</a:t>
            </a:r>
            <a:r>
              <a:rPr lang="ja-JP" altLang="en-US"/>
              <a:t>を活性化</a:t>
            </a:r>
            <a:endParaRPr lang="en-US" altLang="ja-JP" dirty="0"/>
          </a:p>
          <a:p>
            <a:pPr>
              <a:lnSpc>
                <a:spcPct val="150000"/>
              </a:lnSpc>
              <a:spcBef>
                <a:spcPts val="800"/>
              </a:spcBef>
            </a:pPr>
            <a:r>
              <a:rPr lang="en-US" altLang="ja-JP" sz="1800" b="0" dirty="0"/>
              <a:t>PRPRQP</a:t>
            </a:r>
            <a:r>
              <a:rPr lang="ja-JP" altLang="en-US" sz="1800" b="0"/>
              <a:t>以外の</a:t>
            </a:r>
            <a:r>
              <a:rPr lang="en-US" altLang="ja-JP" sz="1800" b="0" dirty="0"/>
              <a:t>4</a:t>
            </a:r>
            <a:r>
              <a:rPr lang="ja-JP" altLang="en-US" sz="1800" b="0"/>
              <a:t>種類のペプチドで</a:t>
            </a:r>
            <a:r>
              <a:rPr lang="en-US" altLang="ja-JP" sz="1800" b="0" dirty="0"/>
              <a:t>TGR5</a:t>
            </a:r>
            <a:r>
              <a:rPr lang="ja-JP" altLang="en-US" sz="1800" b="0"/>
              <a:t>活性</a:t>
            </a:r>
            <a:endParaRPr lang="en-US" altLang="ja-JP" sz="1800" b="0" dirty="0"/>
          </a:p>
          <a:p>
            <a:pPr>
              <a:lnSpc>
                <a:spcPct val="150000"/>
              </a:lnSpc>
              <a:spcBef>
                <a:spcPts val="800"/>
              </a:spcBef>
            </a:pPr>
            <a:r>
              <a:rPr lang="en-US" altLang="ja-JP" sz="1800" b="0" dirty="0"/>
              <a:t>QRPRGS, QSKSRR, QLSRRA</a:t>
            </a:r>
            <a:r>
              <a:rPr lang="ja-JP" altLang="en-US" sz="1800" b="0"/>
              <a:t>が</a:t>
            </a:r>
            <a:r>
              <a:rPr lang="en-US" altLang="ja-JP" sz="1800" b="0" dirty="0"/>
              <a:t>DCA</a:t>
            </a:r>
            <a:r>
              <a:rPr lang="ja-JP" altLang="en-US" sz="1800" b="0"/>
              <a:t>と相加効果</a:t>
            </a:r>
            <a:endParaRPr lang="en-US" altLang="ja-JP" sz="1800" b="0" dirty="0"/>
          </a:p>
          <a:p>
            <a:pPr marL="0" indent="0">
              <a:buNone/>
            </a:pPr>
            <a:endParaRPr lang="en-US" altLang="ja-JP" sz="1600" b="0" dirty="0"/>
          </a:p>
          <a:p>
            <a:pPr marL="0" indent="0" algn="r">
              <a:buNone/>
            </a:pPr>
            <a:r>
              <a:rPr lang="en-US" altLang="ja-JP" sz="1800" u="sng" dirty="0"/>
              <a:t>TGR5</a:t>
            </a:r>
            <a:r>
              <a:rPr lang="ja-JP" altLang="en-US" sz="1800" u="sng"/>
              <a:t>アゴニストとして作用するペプチドが存在</a:t>
            </a:r>
            <a:endParaRPr lang="en-US" altLang="ja-JP" sz="1800" u="sng" dirty="0"/>
          </a:p>
          <a:p>
            <a:endParaRPr lang="en-US" altLang="ja-JP" sz="1800" b="0" dirty="0"/>
          </a:p>
          <a:p>
            <a:pPr marL="0" indent="0">
              <a:buNone/>
            </a:pPr>
            <a:endParaRPr kumimoji="1" lang="ja-JP" altLang="en-US"/>
          </a:p>
        </p:txBody>
      </p:sp>
      <p:sp>
        <p:nvSpPr>
          <p:cNvPr id="4" name="テキスト プレースホルダー 3">
            <a:extLst>
              <a:ext uri="{FF2B5EF4-FFF2-40B4-BE49-F238E27FC236}">
                <a16:creationId xmlns:a16="http://schemas.microsoft.com/office/drawing/2014/main" id="{5095277D-7FE2-37D3-029B-3251F043A503}"/>
              </a:ext>
            </a:extLst>
          </p:cNvPr>
          <p:cNvSpPr>
            <a:spLocks noGrp="1"/>
          </p:cNvSpPr>
          <p:nvPr>
            <p:ph type="body" sz="quarter" idx="11"/>
          </p:nvPr>
        </p:nvSpPr>
        <p:spPr/>
        <p:txBody>
          <a:bodyPr/>
          <a:lstStyle/>
          <a:p>
            <a:r>
              <a:rPr kumimoji="1" lang="en-US" altLang="ja-JP" dirty="0"/>
              <a:t>Introduction - TGR5</a:t>
            </a:r>
            <a:r>
              <a:rPr kumimoji="1" lang="ja-JP" altLang="en-US"/>
              <a:t>アゴニストペプチド</a:t>
            </a:r>
          </a:p>
        </p:txBody>
      </p:sp>
      <p:sp>
        <p:nvSpPr>
          <p:cNvPr id="6" name="テキスト ボックス 5">
            <a:extLst>
              <a:ext uri="{FF2B5EF4-FFF2-40B4-BE49-F238E27FC236}">
                <a16:creationId xmlns:a16="http://schemas.microsoft.com/office/drawing/2014/main" id="{EF933DD2-E2A2-B1C9-E61A-B48CC295B841}"/>
              </a:ext>
            </a:extLst>
          </p:cNvPr>
          <p:cNvSpPr txBox="1"/>
          <p:nvPr/>
        </p:nvSpPr>
        <p:spPr>
          <a:xfrm>
            <a:off x="10165551" y="3616753"/>
            <a:ext cx="1774845" cy="338554"/>
          </a:xfrm>
          <a:prstGeom prst="rect">
            <a:avLst/>
          </a:prstGeom>
          <a:noFill/>
        </p:spPr>
        <p:txBody>
          <a:bodyPr wrap="none" rtlCol="0">
            <a:spAutoFit/>
          </a:bodyPr>
          <a:lstStyle/>
          <a:p>
            <a:r>
              <a:rPr kumimoji="1" lang="en-US" altLang="ja-JP" sz="1600" dirty="0"/>
              <a:t>[</a:t>
            </a:r>
            <a:r>
              <a:rPr kumimoji="1" lang="ja-JP" altLang="en-US" sz="1600"/>
              <a:t>清水</a:t>
            </a:r>
            <a:r>
              <a:rPr kumimoji="1" lang="en-US" altLang="ja-JP" sz="1600" dirty="0"/>
              <a:t>, 2024, </a:t>
            </a:r>
            <a:r>
              <a:rPr kumimoji="1" lang="ja-JP" altLang="en-US" sz="1600"/>
              <a:t>修論</a:t>
            </a:r>
            <a:r>
              <a:rPr kumimoji="1" lang="en-US" altLang="ja-JP" sz="1600" dirty="0"/>
              <a:t>]</a:t>
            </a:r>
            <a:endParaRPr kumimoji="1" lang="ja-JP" altLang="en-US" sz="1600"/>
          </a:p>
        </p:txBody>
      </p:sp>
      <p:graphicFrame>
        <p:nvGraphicFramePr>
          <p:cNvPr id="7" name="グラフ 6">
            <a:extLst>
              <a:ext uri="{FF2B5EF4-FFF2-40B4-BE49-F238E27FC236}">
                <a16:creationId xmlns:a16="http://schemas.microsoft.com/office/drawing/2014/main" id="{44DA48DD-3264-C8A1-8F4F-9A9E255A7B85}"/>
              </a:ext>
            </a:extLst>
          </p:cNvPr>
          <p:cNvGraphicFramePr>
            <a:graphicFrameLocks/>
          </p:cNvGraphicFramePr>
          <p:nvPr>
            <p:extLst>
              <p:ext uri="{D42A27DB-BD31-4B8C-83A1-F6EECF244321}">
                <p14:modId xmlns:p14="http://schemas.microsoft.com/office/powerpoint/2010/main" val="2549521022"/>
              </p:ext>
            </p:extLst>
          </p:nvPr>
        </p:nvGraphicFramePr>
        <p:xfrm>
          <a:off x="6088677" y="951981"/>
          <a:ext cx="5557222" cy="2720390"/>
        </p:xfrm>
        <a:graphic>
          <a:graphicData uri="http://schemas.openxmlformats.org/drawingml/2006/chart">
            <c:chart xmlns:c="http://schemas.openxmlformats.org/drawingml/2006/chart" xmlns:r="http://schemas.openxmlformats.org/officeDocument/2006/relationships" r:id="rId3"/>
          </a:graphicData>
        </a:graphic>
      </p:graphicFrame>
      <p:sp>
        <p:nvSpPr>
          <p:cNvPr id="9" name="コンテンツ プレースホルダー 2">
            <a:extLst>
              <a:ext uri="{FF2B5EF4-FFF2-40B4-BE49-F238E27FC236}">
                <a16:creationId xmlns:a16="http://schemas.microsoft.com/office/drawing/2014/main" id="{24EE3295-7A8A-34D4-AA56-C88D06A9760E}"/>
              </a:ext>
            </a:extLst>
          </p:cNvPr>
          <p:cNvSpPr txBox="1">
            <a:spLocks/>
          </p:cNvSpPr>
          <p:nvPr/>
        </p:nvSpPr>
        <p:spPr>
          <a:xfrm>
            <a:off x="457868" y="4003755"/>
            <a:ext cx="5742635" cy="2854245"/>
          </a:xfrm>
          <a:prstGeom prst="rect">
            <a:avLst/>
          </a:prstGeom>
        </p:spPr>
        <p:txBody>
          <a:bodyPr vert="horz" lIns="91440" tIns="45720" rIns="91440" bIns="45720" rtlCol="0">
            <a:normAutofit/>
          </a:bodyPr>
          <a:lstStyle>
            <a:lvl1pPr marL="457200" indent="-457200" algn="l" defTabSz="914400" rtl="0" eaLnBrk="1" latinLnBrk="0" hangingPunct="1">
              <a:lnSpc>
                <a:spcPct val="100000"/>
              </a:lnSpc>
              <a:spcBef>
                <a:spcPts val="14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endParaRPr lang="en-US" altLang="ja-JP" sz="1600" u="sng" dirty="0"/>
          </a:p>
          <a:p>
            <a:endParaRPr lang="en-US" altLang="ja-JP" sz="1800" b="0" dirty="0"/>
          </a:p>
          <a:p>
            <a:pPr marL="0" indent="0">
              <a:buFont typeface="Wingdings" panose="05000000000000000000" pitchFamily="2" charset="2"/>
              <a:buNone/>
            </a:pPr>
            <a:endParaRPr lang="ja-JP" altLang="en-US"/>
          </a:p>
        </p:txBody>
      </p:sp>
      <p:sp>
        <p:nvSpPr>
          <p:cNvPr id="12" name="コンテンツ プレースホルダー 2">
            <a:extLst>
              <a:ext uri="{FF2B5EF4-FFF2-40B4-BE49-F238E27FC236}">
                <a16:creationId xmlns:a16="http://schemas.microsoft.com/office/drawing/2014/main" id="{D1F70705-591A-8766-D39D-E44DCA54E2B8}"/>
              </a:ext>
            </a:extLst>
          </p:cNvPr>
          <p:cNvSpPr txBox="1">
            <a:spLocks/>
          </p:cNvSpPr>
          <p:nvPr/>
        </p:nvSpPr>
        <p:spPr>
          <a:xfrm>
            <a:off x="544954" y="3892729"/>
            <a:ext cx="11100945" cy="2854245"/>
          </a:xfrm>
          <a:prstGeom prst="rect">
            <a:avLst/>
          </a:prstGeom>
        </p:spPr>
        <p:txBody>
          <a:bodyPr vert="horz" lIns="91440" tIns="45720" rIns="91440" bIns="45720" rtlCol="0">
            <a:normAutofit/>
          </a:bodyPr>
          <a:lstStyle>
            <a:lvl1pPr marL="457200" indent="-457200" algn="l" defTabSz="914400" rtl="0" eaLnBrk="1" latinLnBrk="0" hangingPunct="1">
              <a:lnSpc>
                <a:spcPct val="100000"/>
              </a:lnSpc>
              <a:spcBef>
                <a:spcPts val="14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dirty="0"/>
              <a:t>TGR5</a:t>
            </a:r>
            <a:r>
              <a:rPr lang="ja-JP" altLang="en-US"/>
              <a:t>アゴニストペプチドの機能性表示食品への応用</a:t>
            </a:r>
          </a:p>
        </p:txBody>
      </p:sp>
      <p:sp>
        <p:nvSpPr>
          <p:cNvPr id="15" name="テキスト ボックス 14">
            <a:extLst>
              <a:ext uri="{FF2B5EF4-FFF2-40B4-BE49-F238E27FC236}">
                <a16:creationId xmlns:a16="http://schemas.microsoft.com/office/drawing/2014/main" id="{2F8C28A9-7454-8A07-977E-9B7EE4B551BA}"/>
              </a:ext>
            </a:extLst>
          </p:cNvPr>
          <p:cNvSpPr txBox="1"/>
          <p:nvPr/>
        </p:nvSpPr>
        <p:spPr>
          <a:xfrm>
            <a:off x="691217" y="6140442"/>
            <a:ext cx="2031325" cy="369332"/>
          </a:xfrm>
          <a:prstGeom prst="rect">
            <a:avLst/>
          </a:prstGeom>
          <a:noFill/>
        </p:spPr>
        <p:txBody>
          <a:bodyPr wrap="none" rtlCol="0">
            <a:spAutoFit/>
          </a:bodyPr>
          <a:lstStyle/>
          <a:p>
            <a:r>
              <a:rPr lang="ja-JP" altLang="en-US"/>
              <a:t>可食性タンパク質</a:t>
            </a:r>
            <a:endParaRPr kumimoji="1" lang="ja-JP" altLang="en-US"/>
          </a:p>
        </p:txBody>
      </p:sp>
      <p:sp>
        <p:nvSpPr>
          <p:cNvPr id="16" name="山形 15">
            <a:extLst>
              <a:ext uri="{FF2B5EF4-FFF2-40B4-BE49-F238E27FC236}">
                <a16:creationId xmlns:a16="http://schemas.microsoft.com/office/drawing/2014/main" id="{9A1D8EA2-CDC6-E891-7EAA-C523CFA6EFCD}"/>
              </a:ext>
            </a:extLst>
          </p:cNvPr>
          <p:cNvSpPr/>
          <p:nvPr/>
        </p:nvSpPr>
        <p:spPr>
          <a:xfrm>
            <a:off x="3244238" y="5153725"/>
            <a:ext cx="263384" cy="332252"/>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8" name="テキスト ボックス 17">
            <a:extLst>
              <a:ext uri="{FF2B5EF4-FFF2-40B4-BE49-F238E27FC236}">
                <a16:creationId xmlns:a16="http://schemas.microsoft.com/office/drawing/2014/main" id="{95B46959-E0EA-7A5C-5867-5C1FA0900D00}"/>
              </a:ext>
            </a:extLst>
          </p:cNvPr>
          <p:cNvSpPr txBox="1"/>
          <p:nvPr/>
        </p:nvSpPr>
        <p:spPr>
          <a:xfrm>
            <a:off x="4320351" y="6136342"/>
            <a:ext cx="1338828" cy="369332"/>
          </a:xfrm>
          <a:prstGeom prst="rect">
            <a:avLst/>
          </a:prstGeom>
          <a:noFill/>
        </p:spPr>
        <p:txBody>
          <a:bodyPr wrap="none" rtlCol="0">
            <a:spAutoFit/>
          </a:bodyPr>
          <a:lstStyle/>
          <a:p>
            <a:r>
              <a:rPr kumimoji="1" lang="ja-JP" altLang="en-US"/>
              <a:t>加水分解物</a:t>
            </a:r>
          </a:p>
        </p:txBody>
      </p:sp>
      <p:sp>
        <p:nvSpPr>
          <p:cNvPr id="19" name="山形 18">
            <a:extLst>
              <a:ext uri="{FF2B5EF4-FFF2-40B4-BE49-F238E27FC236}">
                <a16:creationId xmlns:a16="http://schemas.microsoft.com/office/drawing/2014/main" id="{C98F0AEE-B491-FFEC-7AA6-DAF6B4D3D625}"/>
              </a:ext>
            </a:extLst>
          </p:cNvPr>
          <p:cNvSpPr/>
          <p:nvPr/>
        </p:nvSpPr>
        <p:spPr>
          <a:xfrm>
            <a:off x="6158006" y="5155335"/>
            <a:ext cx="263384" cy="332252"/>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21" name="テキスト ボックス 20">
            <a:extLst>
              <a:ext uri="{FF2B5EF4-FFF2-40B4-BE49-F238E27FC236}">
                <a16:creationId xmlns:a16="http://schemas.microsoft.com/office/drawing/2014/main" id="{341DF89C-C53A-D991-E868-F0B9B6730539}"/>
              </a:ext>
            </a:extLst>
          </p:cNvPr>
          <p:cNvSpPr txBox="1"/>
          <p:nvPr/>
        </p:nvSpPr>
        <p:spPr>
          <a:xfrm>
            <a:off x="8837470" y="4805148"/>
            <a:ext cx="2381209" cy="1624163"/>
          </a:xfrm>
          <a:prstGeom prst="rect">
            <a:avLst/>
          </a:prstGeom>
          <a:noFill/>
        </p:spPr>
        <p:txBody>
          <a:bodyPr wrap="square" rtlCol="0">
            <a:spAutoFit/>
          </a:bodyPr>
          <a:lstStyle/>
          <a:p>
            <a:pPr>
              <a:lnSpc>
                <a:spcPct val="150000"/>
              </a:lnSpc>
            </a:pPr>
            <a:r>
              <a:rPr lang="ja-JP" altLang="en-US" b="1" u="sng"/>
              <a:t>機能性表示食品への応用が期待</a:t>
            </a:r>
            <a:endParaRPr lang="en-US" altLang="ja-JP" b="1" u="sng" dirty="0"/>
          </a:p>
          <a:p>
            <a:pPr marL="285750" indent="-285750">
              <a:lnSpc>
                <a:spcPct val="150000"/>
              </a:lnSpc>
              <a:buFontTx/>
              <a:buChar char="-"/>
            </a:pPr>
            <a:r>
              <a:rPr kumimoji="1" lang="ja-JP" altLang="en-US" sz="1600"/>
              <a:t>抗肥満</a:t>
            </a:r>
            <a:endParaRPr lang="en-US" altLang="ja-JP" sz="1600" dirty="0"/>
          </a:p>
          <a:p>
            <a:pPr marL="285750" indent="-285750">
              <a:lnSpc>
                <a:spcPct val="150000"/>
              </a:lnSpc>
              <a:buFontTx/>
              <a:buChar char="-"/>
            </a:pPr>
            <a:r>
              <a:rPr lang="ja-JP" altLang="en-US" sz="1600"/>
              <a:t>血糖降下</a:t>
            </a:r>
            <a:endParaRPr kumimoji="1" lang="en-US" altLang="ja-JP" sz="1600" dirty="0"/>
          </a:p>
        </p:txBody>
      </p:sp>
      <p:sp>
        <p:nvSpPr>
          <p:cNvPr id="22" name="テキスト ボックス 21">
            <a:extLst>
              <a:ext uri="{FF2B5EF4-FFF2-40B4-BE49-F238E27FC236}">
                <a16:creationId xmlns:a16="http://schemas.microsoft.com/office/drawing/2014/main" id="{66249C4F-BEFF-84AF-BD8F-1F9D8ACF89D4}"/>
              </a:ext>
            </a:extLst>
          </p:cNvPr>
          <p:cNvSpPr txBox="1"/>
          <p:nvPr/>
        </p:nvSpPr>
        <p:spPr>
          <a:xfrm>
            <a:off x="2821932" y="5572400"/>
            <a:ext cx="1107996" cy="369332"/>
          </a:xfrm>
          <a:prstGeom prst="rect">
            <a:avLst/>
          </a:prstGeom>
          <a:noFill/>
        </p:spPr>
        <p:txBody>
          <a:bodyPr wrap="none" rtlCol="0">
            <a:spAutoFit/>
          </a:bodyPr>
          <a:lstStyle/>
          <a:p>
            <a:r>
              <a:rPr kumimoji="1" lang="ja-JP" altLang="en-US"/>
              <a:t>加水分解</a:t>
            </a:r>
          </a:p>
        </p:txBody>
      </p:sp>
      <p:sp>
        <p:nvSpPr>
          <p:cNvPr id="23" name="テキスト ボックス 22">
            <a:extLst>
              <a:ext uri="{FF2B5EF4-FFF2-40B4-BE49-F238E27FC236}">
                <a16:creationId xmlns:a16="http://schemas.microsoft.com/office/drawing/2014/main" id="{90236926-B47F-EE63-8843-C510055432AA}"/>
              </a:ext>
            </a:extLst>
          </p:cNvPr>
          <p:cNvSpPr txBox="1"/>
          <p:nvPr/>
        </p:nvSpPr>
        <p:spPr>
          <a:xfrm>
            <a:off x="5958047" y="5572400"/>
            <a:ext cx="646331" cy="369332"/>
          </a:xfrm>
          <a:prstGeom prst="rect">
            <a:avLst/>
          </a:prstGeom>
          <a:noFill/>
        </p:spPr>
        <p:txBody>
          <a:bodyPr wrap="none" rtlCol="0">
            <a:spAutoFit/>
          </a:bodyPr>
          <a:lstStyle/>
          <a:p>
            <a:r>
              <a:rPr kumimoji="1" lang="ja-JP" altLang="en-US"/>
              <a:t>分取</a:t>
            </a:r>
          </a:p>
        </p:txBody>
      </p:sp>
      <p:sp>
        <p:nvSpPr>
          <p:cNvPr id="24" name="矢印: 右 43">
            <a:extLst>
              <a:ext uri="{FF2B5EF4-FFF2-40B4-BE49-F238E27FC236}">
                <a16:creationId xmlns:a16="http://schemas.microsoft.com/office/drawing/2014/main" id="{3EC86ACB-29BC-32DD-E64A-6DB20A90DE7D}"/>
              </a:ext>
            </a:extLst>
          </p:cNvPr>
          <p:cNvSpPr/>
          <p:nvPr/>
        </p:nvSpPr>
        <p:spPr>
          <a:xfrm>
            <a:off x="650121" y="2948225"/>
            <a:ext cx="378155" cy="393811"/>
          </a:xfrm>
          <a:custGeom>
            <a:avLst/>
            <a:gdLst>
              <a:gd name="connsiteX0" fmla="*/ 0 w 378155"/>
              <a:gd name="connsiteY0" fmla="*/ 98453 h 393811"/>
              <a:gd name="connsiteX1" fmla="*/ 189078 w 378155"/>
              <a:gd name="connsiteY1" fmla="*/ 98453 h 393811"/>
              <a:gd name="connsiteX2" fmla="*/ 189078 w 378155"/>
              <a:gd name="connsiteY2" fmla="*/ 0 h 393811"/>
              <a:gd name="connsiteX3" fmla="*/ 378155 w 378155"/>
              <a:gd name="connsiteY3" fmla="*/ 196906 h 393811"/>
              <a:gd name="connsiteX4" fmla="*/ 189078 w 378155"/>
              <a:gd name="connsiteY4" fmla="*/ 393811 h 393811"/>
              <a:gd name="connsiteX5" fmla="*/ 189078 w 378155"/>
              <a:gd name="connsiteY5" fmla="*/ 295358 h 393811"/>
              <a:gd name="connsiteX6" fmla="*/ 0 w 378155"/>
              <a:gd name="connsiteY6" fmla="*/ 295358 h 393811"/>
              <a:gd name="connsiteX7" fmla="*/ 0 w 378155"/>
              <a:gd name="connsiteY7" fmla="*/ 98453 h 39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155" h="393811" fill="none" extrusionOk="0">
                <a:moveTo>
                  <a:pt x="0" y="98453"/>
                </a:moveTo>
                <a:cubicBezTo>
                  <a:pt x="80001" y="91054"/>
                  <a:pt x="157000" y="92712"/>
                  <a:pt x="189078" y="98453"/>
                </a:cubicBezTo>
                <a:cubicBezTo>
                  <a:pt x="192502" y="50704"/>
                  <a:pt x="194424" y="48722"/>
                  <a:pt x="189078" y="0"/>
                </a:cubicBezTo>
                <a:cubicBezTo>
                  <a:pt x="250896" y="52611"/>
                  <a:pt x="301858" y="114267"/>
                  <a:pt x="378155" y="196906"/>
                </a:cubicBezTo>
                <a:cubicBezTo>
                  <a:pt x="322697" y="274716"/>
                  <a:pt x="249275" y="330007"/>
                  <a:pt x="189078" y="393811"/>
                </a:cubicBezTo>
                <a:cubicBezTo>
                  <a:pt x="181020" y="361840"/>
                  <a:pt x="193292" y="325107"/>
                  <a:pt x="189078" y="295358"/>
                </a:cubicBezTo>
                <a:cubicBezTo>
                  <a:pt x="169018" y="297385"/>
                  <a:pt x="92904" y="285532"/>
                  <a:pt x="0" y="295358"/>
                </a:cubicBezTo>
                <a:cubicBezTo>
                  <a:pt x="-11461" y="242750"/>
                  <a:pt x="-4029" y="155407"/>
                  <a:pt x="0" y="98453"/>
                </a:cubicBezTo>
                <a:close/>
              </a:path>
              <a:path w="378155" h="393811" stroke="0" extrusionOk="0">
                <a:moveTo>
                  <a:pt x="0" y="98453"/>
                </a:moveTo>
                <a:cubicBezTo>
                  <a:pt x="54491" y="82561"/>
                  <a:pt x="133453" y="92504"/>
                  <a:pt x="189078" y="98453"/>
                </a:cubicBezTo>
                <a:cubicBezTo>
                  <a:pt x="187230" y="69964"/>
                  <a:pt x="189178" y="43377"/>
                  <a:pt x="189078" y="0"/>
                </a:cubicBezTo>
                <a:cubicBezTo>
                  <a:pt x="267983" y="70773"/>
                  <a:pt x="345510" y="138315"/>
                  <a:pt x="378155" y="196906"/>
                </a:cubicBezTo>
                <a:cubicBezTo>
                  <a:pt x="317847" y="272815"/>
                  <a:pt x="274506" y="314207"/>
                  <a:pt x="189078" y="393811"/>
                </a:cubicBezTo>
                <a:cubicBezTo>
                  <a:pt x="187776" y="373737"/>
                  <a:pt x="185639" y="328160"/>
                  <a:pt x="189078" y="295358"/>
                </a:cubicBezTo>
                <a:cubicBezTo>
                  <a:pt x="140128" y="294621"/>
                  <a:pt x="46713" y="311168"/>
                  <a:pt x="0" y="295358"/>
                </a:cubicBezTo>
                <a:cubicBezTo>
                  <a:pt x="5230" y="246238"/>
                  <a:pt x="11903" y="169972"/>
                  <a:pt x="0" y="98453"/>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 name="図 25" descr="アイコン が含まれている画像&#10;&#10;自動的に生成された説明">
            <a:extLst>
              <a:ext uri="{FF2B5EF4-FFF2-40B4-BE49-F238E27FC236}">
                <a16:creationId xmlns:a16="http://schemas.microsoft.com/office/drawing/2014/main" id="{8D931019-D667-D350-9694-958698628D73}"/>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65005" y="4379864"/>
            <a:ext cx="1883918" cy="934732"/>
          </a:xfrm>
          <a:prstGeom prst="rect">
            <a:avLst/>
          </a:prstGeom>
        </p:spPr>
      </p:pic>
      <p:pic>
        <p:nvPicPr>
          <p:cNvPr id="28" name="図 27" descr="アイコン&#10;&#10;自動的に生成された説明">
            <a:extLst>
              <a:ext uri="{FF2B5EF4-FFF2-40B4-BE49-F238E27FC236}">
                <a16:creationId xmlns:a16="http://schemas.microsoft.com/office/drawing/2014/main" id="{FB611BB4-B1CC-2445-6219-7E0FFF5EFAF2}"/>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98673" y="5020447"/>
            <a:ext cx="1166025" cy="1084199"/>
          </a:xfrm>
          <a:prstGeom prst="rect">
            <a:avLst/>
          </a:prstGeom>
        </p:spPr>
      </p:pic>
      <p:pic>
        <p:nvPicPr>
          <p:cNvPr id="30" name="図 29" descr="食品 が含まれている画像&#10;&#10;自動的に生成された説明">
            <a:extLst>
              <a:ext uri="{FF2B5EF4-FFF2-40B4-BE49-F238E27FC236}">
                <a16:creationId xmlns:a16="http://schemas.microsoft.com/office/drawing/2014/main" id="{001A1B0F-0586-29E5-CC94-1EC116C1DE39}"/>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7793" y="5165082"/>
            <a:ext cx="1196840" cy="858719"/>
          </a:xfrm>
          <a:prstGeom prst="rect">
            <a:avLst/>
          </a:prstGeom>
        </p:spPr>
      </p:pic>
      <p:sp>
        <p:nvSpPr>
          <p:cNvPr id="31" name="円/楕円 30">
            <a:extLst>
              <a:ext uri="{FF2B5EF4-FFF2-40B4-BE49-F238E27FC236}">
                <a16:creationId xmlns:a16="http://schemas.microsoft.com/office/drawing/2014/main" id="{6D737C53-9DCE-D3D7-A464-0EC72976646E}"/>
              </a:ext>
            </a:extLst>
          </p:cNvPr>
          <p:cNvSpPr>
            <a:spLocks/>
          </p:cNvSpPr>
          <p:nvPr/>
        </p:nvSpPr>
        <p:spPr>
          <a:xfrm>
            <a:off x="4067602" y="4971929"/>
            <a:ext cx="288000" cy="288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a:extLst>
              <a:ext uri="{FF2B5EF4-FFF2-40B4-BE49-F238E27FC236}">
                <a16:creationId xmlns:a16="http://schemas.microsoft.com/office/drawing/2014/main" id="{B55149CC-BAD5-279F-6715-48FD8431DC49}"/>
              </a:ext>
            </a:extLst>
          </p:cNvPr>
          <p:cNvSpPr>
            <a:spLocks/>
          </p:cNvSpPr>
          <p:nvPr/>
        </p:nvSpPr>
        <p:spPr>
          <a:xfrm>
            <a:off x="4280615" y="4790558"/>
            <a:ext cx="288000" cy="28800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円/楕円 32">
            <a:extLst>
              <a:ext uri="{FF2B5EF4-FFF2-40B4-BE49-F238E27FC236}">
                <a16:creationId xmlns:a16="http://schemas.microsoft.com/office/drawing/2014/main" id="{E5F95122-D123-A109-4C28-864B7F13BFA4}"/>
              </a:ext>
            </a:extLst>
          </p:cNvPr>
          <p:cNvSpPr>
            <a:spLocks/>
          </p:cNvSpPr>
          <p:nvPr/>
        </p:nvSpPr>
        <p:spPr>
          <a:xfrm>
            <a:off x="4564499" y="4762395"/>
            <a:ext cx="288000" cy="288000"/>
          </a:xfrm>
          <a:prstGeom prst="ellipse">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円/楕円 33">
            <a:extLst>
              <a:ext uri="{FF2B5EF4-FFF2-40B4-BE49-F238E27FC236}">
                <a16:creationId xmlns:a16="http://schemas.microsoft.com/office/drawing/2014/main" id="{B9753B9E-264B-1D92-741C-E1F4DBF911F1}"/>
              </a:ext>
            </a:extLst>
          </p:cNvPr>
          <p:cNvSpPr>
            <a:spLocks/>
          </p:cNvSpPr>
          <p:nvPr/>
        </p:nvSpPr>
        <p:spPr>
          <a:xfrm>
            <a:off x="4848383" y="4805148"/>
            <a:ext cx="288000" cy="288000"/>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楕円 34">
            <a:extLst>
              <a:ext uri="{FF2B5EF4-FFF2-40B4-BE49-F238E27FC236}">
                <a16:creationId xmlns:a16="http://schemas.microsoft.com/office/drawing/2014/main" id="{2DA6CF8B-07BF-64B1-2642-7A421C219F03}"/>
              </a:ext>
            </a:extLst>
          </p:cNvPr>
          <p:cNvSpPr>
            <a:spLocks/>
          </p:cNvSpPr>
          <p:nvPr/>
        </p:nvSpPr>
        <p:spPr>
          <a:xfrm>
            <a:off x="4417119" y="5500349"/>
            <a:ext cx="288000" cy="288000"/>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円/楕円 35">
            <a:extLst>
              <a:ext uri="{FF2B5EF4-FFF2-40B4-BE49-F238E27FC236}">
                <a16:creationId xmlns:a16="http://schemas.microsoft.com/office/drawing/2014/main" id="{4BB00D51-F3EF-93E4-AF5C-F79916FCB43D}"/>
              </a:ext>
            </a:extLst>
          </p:cNvPr>
          <p:cNvSpPr>
            <a:spLocks/>
          </p:cNvSpPr>
          <p:nvPr/>
        </p:nvSpPr>
        <p:spPr>
          <a:xfrm>
            <a:off x="4620208" y="5685971"/>
            <a:ext cx="288000" cy="28800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楕円 36">
            <a:extLst>
              <a:ext uri="{FF2B5EF4-FFF2-40B4-BE49-F238E27FC236}">
                <a16:creationId xmlns:a16="http://schemas.microsoft.com/office/drawing/2014/main" id="{2F6AA86A-29A4-CC37-4290-B27055564E68}"/>
              </a:ext>
            </a:extLst>
          </p:cNvPr>
          <p:cNvSpPr>
            <a:spLocks/>
          </p:cNvSpPr>
          <p:nvPr/>
        </p:nvSpPr>
        <p:spPr>
          <a:xfrm>
            <a:off x="4896169" y="5761684"/>
            <a:ext cx="288000" cy="28800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楕円 37">
            <a:extLst>
              <a:ext uri="{FF2B5EF4-FFF2-40B4-BE49-F238E27FC236}">
                <a16:creationId xmlns:a16="http://schemas.microsoft.com/office/drawing/2014/main" id="{AC5EAAD2-F3B2-B4EF-5719-B15491D0B1E3}"/>
              </a:ext>
            </a:extLst>
          </p:cNvPr>
          <p:cNvSpPr>
            <a:spLocks/>
          </p:cNvSpPr>
          <p:nvPr/>
        </p:nvSpPr>
        <p:spPr>
          <a:xfrm>
            <a:off x="5034612" y="5271940"/>
            <a:ext cx="288000" cy="2880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a:extLst>
              <a:ext uri="{FF2B5EF4-FFF2-40B4-BE49-F238E27FC236}">
                <a16:creationId xmlns:a16="http://schemas.microsoft.com/office/drawing/2014/main" id="{6823A462-14F7-E7C9-E89F-FEE35F9E0FF8}"/>
              </a:ext>
            </a:extLst>
          </p:cNvPr>
          <p:cNvSpPr>
            <a:spLocks/>
          </p:cNvSpPr>
          <p:nvPr/>
        </p:nvSpPr>
        <p:spPr>
          <a:xfrm>
            <a:off x="5531662" y="5050395"/>
            <a:ext cx="288000" cy="288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a:extLst>
              <a:ext uri="{FF2B5EF4-FFF2-40B4-BE49-F238E27FC236}">
                <a16:creationId xmlns:a16="http://schemas.microsoft.com/office/drawing/2014/main" id="{C9B3FFFC-2F32-CA2F-B068-2080847EF5D2}"/>
              </a:ext>
            </a:extLst>
          </p:cNvPr>
          <p:cNvSpPr>
            <a:spLocks/>
          </p:cNvSpPr>
          <p:nvPr/>
        </p:nvSpPr>
        <p:spPr>
          <a:xfrm>
            <a:off x="5247533" y="5091671"/>
            <a:ext cx="288000" cy="28800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D270A024-C44D-A165-F5C9-C353B14542A6}"/>
              </a:ext>
            </a:extLst>
          </p:cNvPr>
          <p:cNvGrpSpPr/>
          <p:nvPr/>
        </p:nvGrpSpPr>
        <p:grpSpPr>
          <a:xfrm>
            <a:off x="7155364" y="5124898"/>
            <a:ext cx="785050" cy="509545"/>
            <a:chOff x="6716109" y="5138029"/>
            <a:chExt cx="785050" cy="509545"/>
          </a:xfrm>
        </p:grpSpPr>
        <p:sp>
          <p:nvSpPr>
            <p:cNvPr id="41" name="円/楕円 40">
              <a:extLst>
                <a:ext uri="{FF2B5EF4-FFF2-40B4-BE49-F238E27FC236}">
                  <a16:creationId xmlns:a16="http://schemas.microsoft.com/office/drawing/2014/main" id="{3558D613-F32F-2AFA-32C2-D2C6112A703D}"/>
                </a:ext>
              </a:extLst>
            </p:cNvPr>
            <p:cNvSpPr>
              <a:spLocks/>
            </p:cNvSpPr>
            <p:nvPr/>
          </p:nvSpPr>
          <p:spPr>
            <a:xfrm>
              <a:off x="6716109" y="5359574"/>
              <a:ext cx="288000" cy="2880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円/楕円 41">
              <a:extLst>
                <a:ext uri="{FF2B5EF4-FFF2-40B4-BE49-F238E27FC236}">
                  <a16:creationId xmlns:a16="http://schemas.microsoft.com/office/drawing/2014/main" id="{77E00008-4059-96A5-9C56-F501718499D2}"/>
                </a:ext>
              </a:extLst>
            </p:cNvPr>
            <p:cNvSpPr>
              <a:spLocks/>
            </p:cNvSpPr>
            <p:nvPr/>
          </p:nvSpPr>
          <p:spPr>
            <a:xfrm>
              <a:off x="7213159" y="5138029"/>
              <a:ext cx="288000" cy="288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円/楕円 42">
              <a:extLst>
                <a:ext uri="{FF2B5EF4-FFF2-40B4-BE49-F238E27FC236}">
                  <a16:creationId xmlns:a16="http://schemas.microsoft.com/office/drawing/2014/main" id="{172EDCB1-B019-E51B-D0A2-DABD59877400}"/>
                </a:ext>
              </a:extLst>
            </p:cNvPr>
            <p:cNvSpPr>
              <a:spLocks/>
            </p:cNvSpPr>
            <p:nvPr/>
          </p:nvSpPr>
          <p:spPr>
            <a:xfrm>
              <a:off x="6933415" y="5178333"/>
              <a:ext cx="288000" cy="28800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4" name="矢印: 右 43">
            <a:extLst>
              <a:ext uri="{FF2B5EF4-FFF2-40B4-BE49-F238E27FC236}">
                <a16:creationId xmlns:a16="http://schemas.microsoft.com/office/drawing/2014/main" id="{86808869-661A-0A31-4033-DAD080AE0CB8}"/>
              </a:ext>
            </a:extLst>
          </p:cNvPr>
          <p:cNvSpPr/>
          <p:nvPr/>
        </p:nvSpPr>
        <p:spPr>
          <a:xfrm>
            <a:off x="8344918" y="5101414"/>
            <a:ext cx="378155" cy="393811"/>
          </a:xfrm>
          <a:custGeom>
            <a:avLst/>
            <a:gdLst>
              <a:gd name="connsiteX0" fmla="*/ 0 w 378155"/>
              <a:gd name="connsiteY0" fmla="*/ 98453 h 393811"/>
              <a:gd name="connsiteX1" fmla="*/ 189078 w 378155"/>
              <a:gd name="connsiteY1" fmla="*/ 98453 h 393811"/>
              <a:gd name="connsiteX2" fmla="*/ 189078 w 378155"/>
              <a:gd name="connsiteY2" fmla="*/ 0 h 393811"/>
              <a:gd name="connsiteX3" fmla="*/ 378155 w 378155"/>
              <a:gd name="connsiteY3" fmla="*/ 196906 h 393811"/>
              <a:gd name="connsiteX4" fmla="*/ 189078 w 378155"/>
              <a:gd name="connsiteY4" fmla="*/ 393811 h 393811"/>
              <a:gd name="connsiteX5" fmla="*/ 189078 w 378155"/>
              <a:gd name="connsiteY5" fmla="*/ 295358 h 393811"/>
              <a:gd name="connsiteX6" fmla="*/ 0 w 378155"/>
              <a:gd name="connsiteY6" fmla="*/ 295358 h 393811"/>
              <a:gd name="connsiteX7" fmla="*/ 0 w 378155"/>
              <a:gd name="connsiteY7" fmla="*/ 98453 h 39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155" h="393811" fill="none" extrusionOk="0">
                <a:moveTo>
                  <a:pt x="0" y="98453"/>
                </a:moveTo>
                <a:cubicBezTo>
                  <a:pt x="80001" y="91054"/>
                  <a:pt x="157000" y="92712"/>
                  <a:pt x="189078" y="98453"/>
                </a:cubicBezTo>
                <a:cubicBezTo>
                  <a:pt x="192502" y="50704"/>
                  <a:pt x="194424" y="48722"/>
                  <a:pt x="189078" y="0"/>
                </a:cubicBezTo>
                <a:cubicBezTo>
                  <a:pt x="250896" y="52611"/>
                  <a:pt x="301858" y="114267"/>
                  <a:pt x="378155" y="196906"/>
                </a:cubicBezTo>
                <a:cubicBezTo>
                  <a:pt x="322697" y="274716"/>
                  <a:pt x="249275" y="330007"/>
                  <a:pt x="189078" y="393811"/>
                </a:cubicBezTo>
                <a:cubicBezTo>
                  <a:pt x="181020" y="361840"/>
                  <a:pt x="193292" y="325107"/>
                  <a:pt x="189078" y="295358"/>
                </a:cubicBezTo>
                <a:cubicBezTo>
                  <a:pt x="169018" y="297385"/>
                  <a:pt x="92904" y="285532"/>
                  <a:pt x="0" y="295358"/>
                </a:cubicBezTo>
                <a:cubicBezTo>
                  <a:pt x="-11461" y="242750"/>
                  <a:pt x="-4029" y="155407"/>
                  <a:pt x="0" y="98453"/>
                </a:cubicBezTo>
                <a:close/>
              </a:path>
              <a:path w="378155" h="393811" stroke="0" extrusionOk="0">
                <a:moveTo>
                  <a:pt x="0" y="98453"/>
                </a:moveTo>
                <a:cubicBezTo>
                  <a:pt x="54491" y="82561"/>
                  <a:pt x="133453" y="92504"/>
                  <a:pt x="189078" y="98453"/>
                </a:cubicBezTo>
                <a:cubicBezTo>
                  <a:pt x="187230" y="69964"/>
                  <a:pt x="189178" y="43377"/>
                  <a:pt x="189078" y="0"/>
                </a:cubicBezTo>
                <a:cubicBezTo>
                  <a:pt x="267983" y="70773"/>
                  <a:pt x="345510" y="138315"/>
                  <a:pt x="378155" y="196906"/>
                </a:cubicBezTo>
                <a:cubicBezTo>
                  <a:pt x="317847" y="272815"/>
                  <a:pt x="274506" y="314207"/>
                  <a:pt x="189078" y="393811"/>
                </a:cubicBezTo>
                <a:cubicBezTo>
                  <a:pt x="187776" y="373737"/>
                  <a:pt x="185639" y="328160"/>
                  <a:pt x="189078" y="295358"/>
                </a:cubicBezTo>
                <a:cubicBezTo>
                  <a:pt x="140128" y="294621"/>
                  <a:pt x="46713" y="311168"/>
                  <a:pt x="0" y="295358"/>
                </a:cubicBezTo>
                <a:cubicBezTo>
                  <a:pt x="5230" y="246238"/>
                  <a:pt x="11903" y="169972"/>
                  <a:pt x="0" y="98453"/>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3B0060ED-C82D-AE20-33A6-FBFFF92C75B7}"/>
              </a:ext>
            </a:extLst>
          </p:cNvPr>
          <p:cNvSpPr txBox="1"/>
          <p:nvPr/>
        </p:nvSpPr>
        <p:spPr>
          <a:xfrm>
            <a:off x="7670518" y="3647530"/>
            <a:ext cx="2393540" cy="307777"/>
          </a:xfrm>
          <a:prstGeom prst="rect">
            <a:avLst/>
          </a:prstGeom>
          <a:noFill/>
        </p:spPr>
        <p:txBody>
          <a:bodyPr wrap="none" rtlCol="0">
            <a:spAutoFit/>
          </a:bodyPr>
          <a:lstStyle/>
          <a:p>
            <a:r>
              <a:rPr kumimoji="1" lang="ja-JP" altLang="en-US" sz="1400"/>
              <a:t>ペプチド添加時の</a:t>
            </a:r>
            <a:r>
              <a:rPr kumimoji="1" lang="en-US" altLang="ja-JP" sz="1400" dirty="0"/>
              <a:t>TGR5</a:t>
            </a:r>
            <a:r>
              <a:rPr lang="ja-JP" altLang="en-US" sz="1400"/>
              <a:t>活性</a:t>
            </a:r>
            <a:endParaRPr kumimoji="1" lang="ja-JP" altLang="en-US" sz="1400"/>
          </a:p>
        </p:txBody>
      </p:sp>
      <p:sp>
        <p:nvSpPr>
          <p:cNvPr id="8" name="テキスト ボックス 7">
            <a:extLst>
              <a:ext uri="{FF2B5EF4-FFF2-40B4-BE49-F238E27FC236}">
                <a16:creationId xmlns:a16="http://schemas.microsoft.com/office/drawing/2014/main" id="{4454765F-CED2-9AAD-FB9F-601477B1BBCB}"/>
              </a:ext>
            </a:extLst>
          </p:cNvPr>
          <p:cNvSpPr txBox="1"/>
          <p:nvPr/>
        </p:nvSpPr>
        <p:spPr>
          <a:xfrm>
            <a:off x="6564680" y="5719256"/>
            <a:ext cx="2106311" cy="465320"/>
          </a:xfrm>
          <a:prstGeom prst="rect">
            <a:avLst/>
          </a:prstGeom>
          <a:noFill/>
        </p:spPr>
        <p:txBody>
          <a:bodyPr wrap="square">
            <a:spAutoFit/>
          </a:bodyPr>
          <a:lstStyle/>
          <a:p>
            <a:pPr>
              <a:lnSpc>
                <a:spcPct val="150000"/>
              </a:lnSpc>
            </a:pPr>
            <a:r>
              <a:rPr kumimoji="1" lang="ja-JP" altLang="en-US"/>
              <a:t>生理活性ペプチド</a:t>
            </a:r>
            <a:endParaRPr kumimoji="1" lang="en-US" altLang="ja-JP" dirty="0">
              <a:solidFill>
                <a:schemeClr val="accent4"/>
              </a:solidFill>
            </a:endParaRPr>
          </a:p>
        </p:txBody>
      </p:sp>
    </p:spTree>
    <p:extLst>
      <p:ext uri="{BB962C8B-B14F-4D97-AF65-F5344CB8AC3E}">
        <p14:creationId xmlns:p14="http://schemas.microsoft.com/office/powerpoint/2010/main" val="394796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a:t>目的：</a:t>
            </a:r>
            <a:r>
              <a:rPr lang="en-US" altLang="ja-JP" dirty="0"/>
              <a:t>TGR5</a:t>
            </a:r>
            <a:r>
              <a:rPr lang="ja-JP" altLang="en-US"/>
              <a:t>に結合して活性化する作用をもつ生理活性ペプチドの探索</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kumimoji="1" lang="en-US" altLang="ja-JP" dirty="0"/>
              <a:t>Introduction - </a:t>
            </a:r>
            <a:r>
              <a:rPr lang="ja-JP" altLang="en-US"/>
              <a:t>本研究の目的と流れ</a:t>
            </a:r>
            <a:endParaRPr kumimoji="1" lang="ja-JP" altLang="en-US" dirty="0"/>
          </a:p>
        </p:txBody>
      </p:sp>
      <p:sp>
        <p:nvSpPr>
          <p:cNvPr id="5" name="正方形/長方形 4">
            <a:extLst>
              <a:ext uri="{FF2B5EF4-FFF2-40B4-BE49-F238E27FC236}">
                <a16:creationId xmlns:a16="http://schemas.microsoft.com/office/drawing/2014/main" id="{39C0D132-2F4B-4006-8549-232F72C8420E}"/>
              </a:ext>
            </a:extLst>
          </p:cNvPr>
          <p:cNvSpPr/>
          <p:nvPr/>
        </p:nvSpPr>
        <p:spPr>
          <a:xfrm>
            <a:off x="471270" y="1994510"/>
            <a:ext cx="4333735" cy="3452668"/>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A6B3703F-3442-4C13-A424-26EDC78FA83C}"/>
              </a:ext>
            </a:extLst>
          </p:cNvPr>
          <p:cNvSpPr/>
          <p:nvPr/>
        </p:nvSpPr>
        <p:spPr>
          <a:xfrm>
            <a:off x="3975496" y="2474477"/>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2938DBA-3C61-44F9-B40C-5EE6E7382AD8}"/>
              </a:ext>
            </a:extLst>
          </p:cNvPr>
          <p:cNvSpPr/>
          <p:nvPr/>
        </p:nvSpPr>
        <p:spPr>
          <a:xfrm>
            <a:off x="7479722" y="2962880"/>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 name="グループ化 13">
            <a:extLst>
              <a:ext uri="{FF2B5EF4-FFF2-40B4-BE49-F238E27FC236}">
                <a16:creationId xmlns:a16="http://schemas.microsoft.com/office/drawing/2014/main" id="{17F509DC-624C-49A3-87E6-BBEE33EDEF3D}"/>
              </a:ext>
            </a:extLst>
          </p:cNvPr>
          <p:cNvGrpSpPr/>
          <p:nvPr/>
        </p:nvGrpSpPr>
        <p:grpSpPr>
          <a:xfrm rot="19356426" flipV="1">
            <a:off x="4678821" y="1901851"/>
            <a:ext cx="638334" cy="948153"/>
            <a:chOff x="2664127" y="3374455"/>
            <a:chExt cx="1201975" cy="1567649"/>
          </a:xfrm>
        </p:grpSpPr>
        <p:sp>
          <p:nvSpPr>
            <p:cNvPr id="15" name="二等辺三角形 14">
              <a:extLst>
                <a:ext uri="{FF2B5EF4-FFF2-40B4-BE49-F238E27FC236}">
                  <a16:creationId xmlns:a16="http://schemas.microsoft.com/office/drawing/2014/main" id="{9EEC710F-D694-4533-BCFA-E134D0A97020}"/>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フリーフォーム: 図形 15">
              <a:extLst>
                <a:ext uri="{FF2B5EF4-FFF2-40B4-BE49-F238E27FC236}">
                  <a16:creationId xmlns:a16="http://schemas.microsoft.com/office/drawing/2014/main" id="{15C81248-34D7-4734-9365-7AF9C9D6CE4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7" name="グループ化 16">
            <a:extLst>
              <a:ext uri="{FF2B5EF4-FFF2-40B4-BE49-F238E27FC236}">
                <a16:creationId xmlns:a16="http://schemas.microsoft.com/office/drawing/2014/main" id="{62916356-7E2D-4DCC-AB30-31745E58C8A8}"/>
              </a:ext>
            </a:extLst>
          </p:cNvPr>
          <p:cNvGrpSpPr/>
          <p:nvPr/>
        </p:nvGrpSpPr>
        <p:grpSpPr>
          <a:xfrm rot="19356426" flipV="1">
            <a:off x="8176087" y="2353531"/>
            <a:ext cx="638334" cy="948153"/>
            <a:chOff x="2664127" y="3374455"/>
            <a:chExt cx="1201975" cy="1567649"/>
          </a:xfrm>
        </p:grpSpPr>
        <p:sp>
          <p:nvSpPr>
            <p:cNvPr id="18" name="二等辺三角形 17">
              <a:extLst>
                <a:ext uri="{FF2B5EF4-FFF2-40B4-BE49-F238E27FC236}">
                  <a16:creationId xmlns:a16="http://schemas.microsoft.com/office/drawing/2014/main" id="{C87AD141-B943-4BC4-BD07-C571A6486C2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フリーフォーム: 図形 18">
              <a:extLst>
                <a:ext uri="{FF2B5EF4-FFF2-40B4-BE49-F238E27FC236}">
                  <a16:creationId xmlns:a16="http://schemas.microsoft.com/office/drawing/2014/main" id="{7964E781-5C13-4DB8-8006-A03F3223597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0" name="テキスト ボックス 19">
            <a:extLst>
              <a:ext uri="{FF2B5EF4-FFF2-40B4-BE49-F238E27FC236}">
                <a16:creationId xmlns:a16="http://schemas.microsoft.com/office/drawing/2014/main" id="{1EA3F932-19C1-DC87-EC49-85B622B1235D}"/>
              </a:ext>
            </a:extLst>
          </p:cNvPr>
          <p:cNvSpPr txBox="1"/>
          <p:nvPr/>
        </p:nvSpPr>
        <p:spPr>
          <a:xfrm>
            <a:off x="482780" y="1992857"/>
            <a:ext cx="3516065" cy="883768"/>
          </a:xfrm>
          <a:prstGeom prst="rect">
            <a:avLst/>
          </a:prstGeom>
          <a:noFill/>
        </p:spPr>
        <p:txBody>
          <a:bodyPr wrap="square" rtlCol="0">
            <a:spAutoFit/>
          </a:bodyPr>
          <a:lstStyle/>
          <a:p>
            <a:pPr>
              <a:lnSpc>
                <a:spcPct val="150000"/>
              </a:lnSpc>
            </a:pPr>
            <a:r>
              <a:rPr lang="en-US" altLang="ja-JP" b="1" dirty="0">
                <a:solidFill>
                  <a:schemeClr val="accent4"/>
                </a:solidFill>
                <a:latin typeface="Yu Gothic" panose="020B0400000000000000" pitchFamily="34" charset="-128"/>
                <a:ea typeface="Yu Gothic" panose="020B0400000000000000" pitchFamily="34" charset="-128"/>
              </a:rPr>
              <a:t>1. </a:t>
            </a:r>
            <a:r>
              <a:rPr lang="ja-JP" altLang="en-US" b="1">
                <a:solidFill>
                  <a:schemeClr val="accent4"/>
                </a:solidFill>
                <a:latin typeface="Yu Gothic" panose="020B0400000000000000" pitchFamily="34" charset="-128"/>
                <a:ea typeface="Yu Gothic" panose="020B0400000000000000" pitchFamily="34" charset="-128"/>
              </a:rPr>
              <a:t>構造相関による</a:t>
            </a:r>
            <a:r>
              <a:rPr lang="en-US" altLang="ja-JP" b="1" dirty="0">
                <a:solidFill>
                  <a:schemeClr val="accent4"/>
                </a:solidFill>
                <a:latin typeface="Yu Gothic" panose="020B0400000000000000" pitchFamily="34" charset="-128"/>
                <a:ea typeface="Yu Gothic" panose="020B0400000000000000" pitchFamily="34" charset="-128"/>
              </a:rPr>
              <a:t>TGR5</a:t>
            </a:r>
            <a:r>
              <a:rPr lang="ja-JP" altLang="en-US" b="1">
                <a:solidFill>
                  <a:schemeClr val="accent4"/>
                </a:solidFill>
                <a:latin typeface="Yu Gothic" panose="020B0400000000000000" pitchFamily="34" charset="-128"/>
                <a:ea typeface="Yu Gothic" panose="020B0400000000000000" pitchFamily="34" charset="-128"/>
              </a:rPr>
              <a:t>活性を持つペプチドの予測</a:t>
            </a:r>
            <a:endParaRPr kumimoji="1" lang="ja-JP" altLang="en-US" b="1">
              <a:solidFill>
                <a:schemeClr val="accent4"/>
              </a:solidFill>
              <a:latin typeface="Yu Gothic" panose="020B0400000000000000" pitchFamily="34" charset="-128"/>
              <a:ea typeface="Yu Gothic" panose="020B0400000000000000" pitchFamily="34" charset="-128"/>
            </a:endParaRPr>
          </a:p>
        </p:txBody>
      </p:sp>
      <p:pic>
        <p:nvPicPr>
          <p:cNvPr id="23" name="図 22" descr="ダイアグラム&#10;&#10;自動的に生成された説明">
            <a:extLst>
              <a:ext uri="{FF2B5EF4-FFF2-40B4-BE49-F238E27FC236}">
                <a16:creationId xmlns:a16="http://schemas.microsoft.com/office/drawing/2014/main" id="{6EA714EE-A6BB-E424-2559-BAAB28887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1132" y="2827606"/>
            <a:ext cx="1474857" cy="1348955"/>
          </a:xfrm>
          <a:prstGeom prst="rect">
            <a:avLst/>
          </a:prstGeom>
        </p:spPr>
      </p:pic>
      <p:pic>
        <p:nvPicPr>
          <p:cNvPr id="25" name="図 24" descr="スポーツゲーム, サッカー が含まれている画像&#10;&#10;自動的に生成された説明">
            <a:extLst>
              <a:ext uri="{FF2B5EF4-FFF2-40B4-BE49-F238E27FC236}">
                <a16:creationId xmlns:a16="http://schemas.microsoft.com/office/drawing/2014/main" id="{40E7E145-A049-0D40-D896-958CCB0FAF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877" y="3038065"/>
            <a:ext cx="1629810" cy="984677"/>
          </a:xfrm>
          <a:prstGeom prst="rect">
            <a:avLst/>
          </a:prstGeom>
        </p:spPr>
      </p:pic>
      <p:sp>
        <p:nvSpPr>
          <p:cNvPr id="26" name="テキスト ボックス 25">
            <a:extLst>
              <a:ext uri="{FF2B5EF4-FFF2-40B4-BE49-F238E27FC236}">
                <a16:creationId xmlns:a16="http://schemas.microsoft.com/office/drawing/2014/main" id="{30DA7A96-019E-5B4F-BE18-4A7030026428}"/>
              </a:ext>
            </a:extLst>
          </p:cNvPr>
          <p:cNvSpPr txBox="1"/>
          <p:nvPr/>
        </p:nvSpPr>
        <p:spPr>
          <a:xfrm>
            <a:off x="471270" y="4149377"/>
            <a:ext cx="3492716" cy="1296252"/>
          </a:xfrm>
          <a:prstGeom prst="rect">
            <a:avLst/>
          </a:prstGeom>
          <a:noFill/>
        </p:spPr>
        <p:txBody>
          <a:bodyPr wrap="square" rtlCol="0">
            <a:spAutoFit/>
          </a:bodyPr>
          <a:lstStyle/>
          <a:p>
            <a:pPr>
              <a:lnSpc>
                <a:spcPct val="150000"/>
              </a:lnSpc>
            </a:pPr>
            <a:r>
              <a:rPr kumimoji="1" lang="ja-JP" altLang="en-US"/>
              <a:t>報告されている</a:t>
            </a:r>
            <a:r>
              <a:rPr kumimoji="1" lang="en-US" altLang="ja-JP" dirty="0"/>
              <a:t>TGR5</a:t>
            </a:r>
            <a:r>
              <a:rPr kumimoji="1" lang="ja-JP" altLang="en-US"/>
              <a:t>アゴニストとペプチドの類似度を網羅的に比較</a:t>
            </a:r>
          </a:p>
        </p:txBody>
      </p:sp>
      <p:sp>
        <p:nvSpPr>
          <p:cNvPr id="27" name="テキスト ボックス 26">
            <a:extLst>
              <a:ext uri="{FF2B5EF4-FFF2-40B4-BE49-F238E27FC236}">
                <a16:creationId xmlns:a16="http://schemas.microsoft.com/office/drawing/2014/main" id="{1F90FB12-B876-8EF5-87E7-FECC0D1E2321}"/>
              </a:ext>
            </a:extLst>
          </p:cNvPr>
          <p:cNvSpPr txBox="1"/>
          <p:nvPr/>
        </p:nvSpPr>
        <p:spPr>
          <a:xfrm>
            <a:off x="3980047" y="2632951"/>
            <a:ext cx="3703452" cy="883768"/>
          </a:xfrm>
          <a:prstGeom prst="rect">
            <a:avLst/>
          </a:prstGeom>
          <a:noFill/>
        </p:spPr>
        <p:txBody>
          <a:bodyPr wrap="square" rtlCol="0">
            <a:spAutoFit/>
          </a:bodyPr>
          <a:lstStyle/>
          <a:p>
            <a:pPr>
              <a:lnSpc>
                <a:spcPct val="150000"/>
              </a:lnSpc>
            </a:pPr>
            <a:r>
              <a:rPr kumimoji="1" lang="en-US" altLang="ja-JP" b="1" dirty="0">
                <a:solidFill>
                  <a:schemeClr val="accent4"/>
                </a:solidFill>
                <a:latin typeface="Yu Gothic" panose="020B0400000000000000" pitchFamily="34" charset="-128"/>
                <a:ea typeface="Yu Gothic" panose="020B0400000000000000" pitchFamily="34" charset="-128"/>
              </a:rPr>
              <a:t>2. </a:t>
            </a:r>
            <a:r>
              <a:rPr lang="ja-JP" altLang="en-US" b="1">
                <a:solidFill>
                  <a:schemeClr val="accent4"/>
                </a:solidFill>
                <a:latin typeface="Yu Gothic" panose="020B0400000000000000" pitchFamily="34" charset="-128"/>
                <a:ea typeface="Yu Gothic" panose="020B0400000000000000" pitchFamily="34" charset="-128"/>
              </a:rPr>
              <a:t>合成したペプチドの</a:t>
            </a:r>
            <a:r>
              <a:rPr lang="en-US" altLang="ja-JP" b="1" dirty="0">
                <a:solidFill>
                  <a:schemeClr val="accent4"/>
                </a:solidFill>
                <a:latin typeface="Yu Gothic" panose="020B0400000000000000" pitchFamily="34" charset="-128"/>
                <a:ea typeface="Yu Gothic" panose="020B0400000000000000" pitchFamily="34" charset="-128"/>
              </a:rPr>
              <a:t>TGR5</a:t>
            </a:r>
            <a:r>
              <a:rPr lang="ja-JP" altLang="en-US" b="1">
                <a:solidFill>
                  <a:schemeClr val="accent4"/>
                </a:solidFill>
                <a:latin typeface="Yu Gothic" panose="020B0400000000000000" pitchFamily="34" charset="-128"/>
                <a:ea typeface="Yu Gothic" panose="020B0400000000000000" pitchFamily="34" charset="-128"/>
              </a:rPr>
              <a:t>活性評価</a:t>
            </a:r>
            <a:endParaRPr kumimoji="1" lang="ja-JP" altLang="en-US" b="1">
              <a:solidFill>
                <a:schemeClr val="accent4"/>
              </a:solidFill>
              <a:latin typeface="Yu Gothic" panose="020B0400000000000000" pitchFamily="34" charset="-128"/>
              <a:ea typeface="Yu Gothic" panose="020B0400000000000000" pitchFamily="34" charset="-128"/>
            </a:endParaRPr>
          </a:p>
        </p:txBody>
      </p:sp>
      <p:sp>
        <p:nvSpPr>
          <p:cNvPr id="28" name="テキスト ボックス 27">
            <a:extLst>
              <a:ext uri="{FF2B5EF4-FFF2-40B4-BE49-F238E27FC236}">
                <a16:creationId xmlns:a16="http://schemas.microsoft.com/office/drawing/2014/main" id="{8D037722-FBD3-A347-4468-7C912D950891}"/>
              </a:ext>
            </a:extLst>
          </p:cNvPr>
          <p:cNvSpPr txBox="1"/>
          <p:nvPr/>
        </p:nvSpPr>
        <p:spPr>
          <a:xfrm>
            <a:off x="7485300" y="3124373"/>
            <a:ext cx="4431395" cy="883768"/>
          </a:xfrm>
          <a:prstGeom prst="rect">
            <a:avLst/>
          </a:prstGeom>
          <a:noFill/>
        </p:spPr>
        <p:txBody>
          <a:bodyPr wrap="square" rtlCol="0">
            <a:spAutoFit/>
          </a:bodyPr>
          <a:lstStyle/>
          <a:p>
            <a:pPr>
              <a:lnSpc>
                <a:spcPct val="150000"/>
              </a:lnSpc>
            </a:pPr>
            <a:r>
              <a:rPr kumimoji="1" lang="en-US" altLang="ja-JP" b="1" dirty="0">
                <a:solidFill>
                  <a:schemeClr val="accent4"/>
                </a:solidFill>
                <a:latin typeface="Yu Gothic" panose="020B0400000000000000" pitchFamily="34" charset="-128"/>
                <a:ea typeface="Yu Gothic" panose="020B0400000000000000" pitchFamily="34" charset="-128"/>
              </a:rPr>
              <a:t>3. </a:t>
            </a:r>
            <a:r>
              <a:rPr kumimoji="1" lang="ja-JP" altLang="en-US" b="1">
                <a:solidFill>
                  <a:schemeClr val="accent4"/>
                </a:solidFill>
                <a:latin typeface="Yu Gothic" panose="020B0400000000000000" pitchFamily="34" charset="-128"/>
                <a:ea typeface="Yu Gothic" panose="020B0400000000000000" pitchFamily="34" charset="-128"/>
              </a:rPr>
              <a:t>可食性タンパク質のアミノ酸配列から生理活性ペプチドを切り出す</a:t>
            </a:r>
            <a:r>
              <a:rPr kumimoji="1" lang="en-US" altLang="ja-JP" b="1" dirty="0">
                <a:solidFill>
                  <a:schemeClr val="accent4"/>
                </a:solidFill>
                <a:latin typeface="Yu Gothic" panose="020B0400000000000000" pitchFamily="34" charset="-128"/>
                <a:ea typeface="Yu Gothic" panose="020B0400000000000000" pitchFamily="34" charset="-128"/>
              </a:rPr>
              <a:t> </a:t>
            </a:r>
            <a:endParaRPr kumimoji="1" lang="ja-JP" altLang="en-US" b="1">
              <a:solidFill>
                <a:schemeClr val="accent4"/>
              </a:solidFill>
              <a:latin typeface="Yu Gothic" panose="020B0400000000000000" pitchFamily="34" charset="-128"/>
              <a:ea typeface="Yu Gothic" panose="020B0400000000000000" pitchFamily="34" charset="-128"/>
            </a:endParaRPr>
          </a:p>
        </p:txBody>
      </p:sp>
      <p:pic>
        <p:nvPicPr>
          <p:cNvPr id="29" name="図 28" descr="背景パターン&#10;&#10;自動的に生成された説明">
            <a:extLst>
              <a:ext uri="{FF2B5EF4-FFF2-40B4-BE49-F238E27FC236}">
                <a16:creationId xmlns:a16="http://schemas.microsoft.com/office/drawing/2014/main" id="{18C8AFF5-3C35-6F78-E208-B8CA9A2981A8}"/>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78403" y="3848078"/>
            <a:ext cx="559047" cy="1639452"/>
          </a:xfrm>
          <a:prstGeom prst="rect">
            <a:avLst/>
          </a:prstGeom>
        </p:spPr>
      </p:pic>
      <p:sp>
        <p:nvSpPr>
          <p:cNvPr id="30" name="テキスト ボックス 29">
            <a:extLst>
              <a:ext uri="{FF2B5EF4-FFF2-40B4-BE49-F238E27FC236}">
                <a16:creationId xmlns:a16="http://schemas.microsoft.com/office/drawing/2014/main" id="{4EFDAC78-C365-2BCF-11BE-9D3D453C403B}"/>
              </a:ext>
            </a:extLst>
          </p:cNvPr>
          <p:cNvSpPr txBox="1"/>
          <p:nvPr/>
        </p:nvSpPr>
        <p:spPr>
          <a:xfrm>
            <a:off x="4984512" y="3594674"/>
            <a:ext cx="2497682" cy="2127249"/>
          </a:xfrm>
          <a:prstGeom prst="rect">
            <a:avLst/>
          </a:prstGeom>
          <a:noFill/>
        </p:spPr>
        <p:txBody>
          <a:bodyPr wrap="square" rtlCol="0">
            <a:spAutoFit/>
          </a:bodyPr>
          <a:lstStyle/>
          <a:p>
            <a:pPr>
              <a:lnSpc>
                <a:spcPct val="150000"/>
              </a:lnSpc>
            </a:pPr>
            <a:r>
              <a:rPr kumimoji="1" lang="en-US" altLang="ja-JP" dirty="0"/>
              <a:t>TGR5</a:t>
            </a:r>
            <a:r>
              <a:rPr kumimoji="1" lang="ja-JP" altLang="en-US"/>
              <a:t>の活性化によりルシフェラーゼを発現させ、ルシフェラーゼの発現量から</a:t>
            </a:r>
            <a:br>
              <a:rPr kumimoji="1" lang="en-US" altLang="ja-JP" dirty="0"/>
            </a:br>
            <a:r>
              <a:rPr kumimoji="1" lang="en-US" altLang="ja-JP" dirty="0"/>
              <a:t>TGR5</a:t>
            </a:r>
            <a:r>
              <a:rPr kumimoji="1" lang="ja-JP" altLang="en-US"/>
              <a:t>活性を評価</a:t>
            </a:r>
          </a:p>
        </p:txBody>
      </p:sp>
      <p:pic>
        <p:nvPicPr>
          <p:cNvPr id="33" name="図 32" descr="アイコン&#10;&#10;自動的に生成された説明">
            <a:extLst>
              <a:ext uri="{FF2B5EF4-FFF2-40B4-BE49-F238E27FC236}">
                <a16:creationId xmlns:a16="http://schemas.microsoft.com/office/drawing/2014/main" id="{3857C741-7975-544C-EBA5-7B26C8E1F65B}"/>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75936" y="4354800"/>
            <a:ext cx="863994" cy="803363"/>
          </a:xfrm>
          <a:prstGeom prst="rect">
            <a:avLst/>
          </a:prstGeom>
        </p:spPr>
      </p:pic>
      <p:pic>
        <p:nvPicPr>
          <p:cNvPr id="35" name="図 34" descr="食品 が含まれている画像&#10;&#10;自動的に生成された説明">
            <a:extLst>
              <a:ext uri="{FF2B5EF4-FFF2-40B4-BE49-F238E27FC236}">
                <a16:creationId xmlns:a16="http://schemas.microsoft.com/office/drawing/2014/main" id="{8318EC43-9BED-561D-3B4E-AD16C57143FF}"/>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73025" y="4154338"/>
            <a:ext cx="930383" cy="667539"/>
          </a:xfrm>
          <a:prstGeom prst="rect">
            <a:avLst/>
          </a:prstGeom>
        </p:spPr>
      </p:pic>
      <p:sp>
        <p:nvSpPr>
          <p:cNvPr id="36" name="山形 35">
            <a:extLst>
              <a:ext uri="{FF2B5EF4-FFF2-40B4-BE49-F238E27FC236}">
                <a16:creationId xmlns:a16="http://schemas.microsoft.com/office/drawing/2014/main" id="{0CF61908-0CFD-2C41-77C9-90B2B1382FF0}"/>
              </a:ext>
            </a:extLst>
          </p:cNvPr>
          <p:cNvSpPr/>
          <p:nvPr/>
        </p:nvSpPr>
        <p:spPr>
          <a:xfrm>
            <a:off x="9513843" y="4501678"/>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38" name="円/楕円 37">
            <a:extLst>
              <a:ext uri="{FF2B5EF4-FFF2-40B4-BE49-F238E27FC236}">
                <a16:creationId xmlns:a16="http://schemas.microsoft.com/office/drawing/2014/main" id="{FBF2FA0D-8A63-0890-92FA-0BC15AE3E79D}"/>
              </a:ext>
            </a:extLst>
          </p:cNvPr>
          <p:cNvSpPr>
            <a:spLocks/>
          </p:cNvSpPr>
          <p:nvPr/>
        </p:nvSpPr>
        <p:spPr>
          <a:xfrm>
            <a:off x="10198898" y="4649723"/>
            <a:ext cx="288000" cy="2880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a:extLst>
              <a:ext uri="{FF2B5EF4-FFF2-40B4-BE49-F238E27FC236}">
                <a16:creationId xmlns:a16="http://schemas.microsoft.com/office/drawing/2014/main" id="{657462D1-5E10-9EDF-5DA4-E06FC10F61F1}"/>
              </a:ext>
            </a:extLst>
          </p:cNvPr>
          <p:cNvSpPr>
            <a:spLocks/>
          </p:cNvSpPr>
          <p:nvPr/>
        </p:nvSpPr>
        <p:spPr>
          <a:xfrm>
            <a:off x="10695948" y="4428178"/>
            <a:ext cx="288000" cy="288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a:extLst>
              <a:ext uri="{FF2B5EF4-FFF2-40B4-BE49-F238E27FC236}">
                <a16:creationId xmlns:a16="http://schemas.microsoft.com/office/drawing/2014/main" id="{63620F20-ADB6-A16F-2C9F-D44C1315A205}"/>
              </a:ext>
            </a:extLst>
          </p:cNvPr>
          <p:cNvSpPr>
            <a:spLocks/>
          </p:cNvSpPr>
          <p:nvPr/>
        </p:nvSpPr>
        <p:spPr>
          <a:xfrm>
            <a:off x="10416204" y="4468482"/>
            <a:ext cx="288000" cy="28800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AC3C0794-A6E1-B975-85E4-CC10783D80B3}"/>
              </a:ext>
            </a:extLst>
          </p:cNvPr>
          <p:cNvSpPr txBox="1"/>
          <p:nvPr/>
        </p:nvSpPr>
        <p:spPr>
          <a:xfrm>
            <a:off x="7479722" y="5120023"/>
            <a:ext cx="4333735" cy="1287212"/>
          </a:xfrm>
          <a:prstGeom prst="rect">
            <a:avLst/>
          </a:prstGeom>
          <a:noFill/>
        </p:spPr>
        <p:txBody>
          <a:bodyPr wrap="square" rtlCol="0">
            <a:spAutoFit/>
          </a:bodyPr>
          <a:lstStyle/>
          <a:p>
            <a:pPr>
              <a:lnSpc>
                <a:spcPct val="150000"/>
              </a:lnSpc>
            </a:pPr>
            <a:r>
              <a:rPr lang="ja-JP" altLang="en-US"/>
              <a:t>可食性タンパク質の中から</a:t>
            </a:r>
            <a:r>
              <a:rPr lang="en-US" altLang="ja-JP" dirty="0"/>
              <a:t>TGR5</a:t>
            </a:r>
            <a:br>
              <a:rPr lang="en-US" altLang="ja-JP" dirty="0"/>
            </a:br>
            <a:r>
              <a:rPr lang="ja-JP" altLang="en-US"/>
              <a:t>アゴニストペプチドのアミノ酸配列を</a:t>
            </a:r>
            <a:br>
              <a:rPr lang="en-US" altLang="ja-JP" dirty="0"/>
            </a:br>
            <a:r>
              <a:rPr lang="ja-JP" altLang="en-US"/>
              <a:t>探索して切り出す</a:t>
            </a:r>
            <a:endParaRPr kumimoji="1" lang="ja-JP" altLang="en-US"/>
          </a:p>
        </p:txBody>
      </p:sp>
    </p:spTree>
    <p:extLst>
      <p:ext uri="{BB962C8B-B14F-4D97-AF65-F5344CB8AC3E}">
        <p14:creationId xmlns:p14="http://schemas.microsoft.com/office/powerpoint/2010/main" val="1195880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C8F5410E-37F1-F568-79FE-4157C5EC0F67}"/>
              </a:ext>
            </a:extLst>
          </p:cNvPr>
          <p:cNvSpPr>
            <a:spLocks noGrp="1"/>
          </p:cNvSpPr>
          <p:nvPr>
            <p:ph type="body" sz="quarter" idx="11"/>
          </p:nvPr>
        </p:nvSpPr>
        <p:spPr/>
        <p:txBody>
          <a:bodyPr/>
          <a:lstStyle/>
          <a:p>
            <a:r>
              <a:rPr lang="ja-JP" altLang="en-US"/>
              <a:t>目次</a:t>
            </a:r>
            <a:endParaRPr kumimoji="1" lang="ja-JP" altLang="en-US"/>
          </a:p>
        </p:txBody>
      </p:sp>
      <p:grpSp>
        <p:nvGrpSpPr>
          <p:cNvPr id="9" name="グループ化 8">
            <a:extLst>
              <a:ext uri="{FF2B5EF4-FFF2-40B4-BE49-F238E27FC236}">
                <a16:creationId xmlns:a16="http://schemas.microsoft.com/office/drawing/2014/main" id="{AE78148A-2EC5-B4DA-81A9-5574F953E282}"/>
              </a:ext>
            </a:extLst>
          </p:cNvPr>
          <p:cNvGrpSpPr/>
          <p:nvPr/>
        </p:nvGrpSpPr>
        <p:grpSpPr>
          <a:xfrm>
            <a:off x="2891500" y="2622140"/>
            <a:ext cx="6408999" cy="1613720"/>
            <a:chOff x="3212342" y="2940079"/>
            <a:chExt cx="6408999" cy="1613720"/>
          </a:xfrm>
        </p:grpSpPr>
        <p:sp>
          <p:nvSpPr>
            <p:cNvPr id="7" name="テキスト ボックス 6">
              <a:extLst>
                <a:ext uri="{FF2B5EF4-FFF2-40B4-BE49-F238E27FC236}">
                  <a16:creationId xmlns:a16="http://schemas.microsoft.com/office/drawing/2014/main" id="{AD970EA2-D8D6-C88C-90D5-50A2A75A5331}"/>
                </a:ext>
              </a:extLst>
            </p:cNvPr>
            <p:cNvSpPr txBox="1"/>
            <p:nvPr/>
          </p:nvSpPr>
          <p:spPr>
            <a:xfrm>
              <a:off x="3212342" y="2940079"/>
              <a:ext cx="4254563" cy="523220"/>
            </a:xfrm>
            <a:prstGeom prst="rect">
              <a:avLst/>
            </a:prstGeom>
            <a:noFill/>
          </p:spPr>
          <p:txBody>
            <a:bodyPr wrap="none" rtlCol="0">
              <a:spAutoFit/>
            </a:bodyPr>
            <a:lstStyle/>
            <a:p>
              <a:r>
                <a:rPr kumimoji="1" lang="en-US" altLang="ja-JP" sz="2800" u="sng" dirty="0"/>
                <a:t>1. TGR5</a:t>
              </a:r>
              <a:r>
                <a:rPr kumimoji="1" lang="ja-JP" altLang="en-US" sz="2800" u="sng"/>
                <a:t>活性評価系の改善</a:t>
              </a:r>
            </a:p>
          </p:txBody>
        </p:sp>
        <p:sp>
          <p:nvSpPr>
            <p:cNvPr id="8" name="テキスト ボックス 7">
              <a:extLst>
                <a:ext uri="{FF2B5EF4-FFF2-40B4-BE49-F238E27FC236}">
                  <a16:creationId xmlns:a16="http://schemas.microsoft.com/office/drawing/2014/main" id="{D069B13F-41CF-DC6B-6CEB-AF79023C36A9}"/>
                </a:ext>
              </a:extLst>
            </p:cNvPr>
            <p:cNvSpPr txBox="1"/>
            <p:nvPr/>
          </p:nvSpPr>
          <p:spPr>
            <a:xfrm>
              <a:off x="3212342" y="4030579"/>
              <a:ext cx="6408999" cy="523220"/>
            </a:xfrm>
            <a:prstGeom prst="rect">
              <a:avLst/>
            </a:prstGeom>
            <a:noFill/>
          </p:spPr>
          <p:txBody>
            <a:bodyPr wrap="none" rtlCol="0">
              <a:spAutoFit/>
            </a:bodyPr>
            <a:lstStyle/>
            <a:p>
              <a:r>
                <a:rPr lang="en-US" altLang="ja-JP" sz="2800" dirty="0">
                  <a:solidFill>
                    <a:schemeClr val="tx1">
                      <a:lumMod val="60000"/>
                      <a:lumOff val="40000"/>
                    </a:schemeClr>
                  </a:solidFill>
                </a:rPr>
                <a:t>2. TGR5</a:t>
              </a:r>
              <a:r>
                <a:rPr lang="ja-JP" altLang="en-US" sz="2800">
                  <a:solidFill>
                    <a:schemeClr val="tx1">
                      <a:lumMod val="60000"/>
                      <a:lumOff val="40000"/>
                    </a:schemeClr>
                  </a:solidFill>
                </a:rPr>
                <a:t>アゴニスト類似ペプチドの探索</a:t>
              </a:r>
              <a:endParaRPr kumimoji="1" lang="ja-JP" altLang="en-US" sz="2800">
                <a:solidFill>
                  <a:schemeClr val="tx1">
                    <a:lumMod val="60000"/>
                    <a:lumOff val="40000"/>
                  </a:schemeClr>
                </a:solidFill>
              </a:endParaRPr>
            </a:p>
          </p:txBody>
        </p:sp>
      </p:grpSp>
    </p:spTree>
    <p:extLst>
      <p:ext uri="{BB962C8B-B14F-4D97-AF65-F5344CB8AC3E}">
        <p14:creationId xmlns:p14="http://schemas.microsoft.com/office/powerpoint/2010/main" val="22300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0F2E17F1-21FE-CF94-FFB2-EC7DC83C2142}"/>
              </a:ext>
            </a:extLst>
          </p:cNvPr>
          <p:cNvSpPr/>
          <p:nvPr/>
        </p:nvSpPr>
        <p:spPr>
          <a:xfrm>
            <a:off x="8467" y="834716"/>
            <a:ext cx="12188742" cy="186933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B632800-CFE7-420C-CA81-9899181C53A8}"/>
              </a:ext>
            </a:extLst>
          </p:cNvPr>
          <p:cNvSpPr>
            <a:spLocks noGrp="1"/>
          </p:cNvSpPr>
          <p:nvPr>
            <p:ph type="title"/>
          </p:nvPr>
        </p:nvSpPr>
        <p:spPr/>
        <p:txBody>
          <a:bodyPr/>
          <a:lstStyle/>
          <a:p>
            <a:r>
              <a:rPr lang="ja-JP" altLang="en-US"/>
              <a:t>一部</a:t>
            </a:r>
            <a:r>
              <a:rPr kumimoji="1" lang="ja-JP" altLang="en-US"/>
              <a:t>の再現は取れたが結果のばらつきが大きかった</a:t>
            </a:r>
          </a:p>
        </p:txBody>
      </p:sp>
      <p:sp>
        <p:nvSpPr>
          <p:cNvPr id="3" name="コンテンツ プレースホルダー 2">
            <a:extLst>
              <a:ext uri="{FF2B5EF4-FFF2-40B4-BE49-F238E27FC236}">
                <a16:creationId xmlns:a16="http://schemas.microsoft.com/office/drawing/2014/main" id="{66147BB3-458B-039B-966B-29E0E23FDB50}"/>
              </a:ext>
            </a:extLst>
          </p:cNvPr>
          <p:cNvSpPr>
            <a:spLocks noGrp="1"/>
          </p:cNvSpPr>
          <p:nvPr>
            <p:ph idx="1"/>
          </p:nvPr>
        </p:nvSpPr>
        <p:spPr>
          <a:xfrm>
            <a:off x="546100" y="1038484"/>
            <a:ext cx="2168116" cy="398474"/>
          </a:xfrm>
        </p:spPr>
        <p:txBody>
          <a:bodyPr/>
          <a:lstStyle/>
          <a:p>
            <a:pPr marL="0" indent="0">
              <a:buNone/>
            </a:pPr>
            <a:r>
              <a:rPr kumimoji="1" lang="ja-JP" altLang="en-US"/>
              <a:t>方法</a:t>
            </a:r>
          </a:p>
        </p:txBody>
      </p:sp>
      <p:sp>
        <p:nvSpPr>
          <p:cNvPr id="4" name="テキスト プレースホルダー 3">
            <a:extLst>
              <a:ext uri="{FF2B5EF4-FFF2-40B4-BE49-F238E27FC236}">
                <a16:creationId xmlns:a16="http://schemas.microsoft.com/office/drawing/2014/main" id="{3710EFFA-4AAF-2BAA-B18A-16B105EF2F25}"/>
              </a:ext>
            </a:extLst>
          </p:cNvPr>
          <p:cNvSpPr>
            <a:spLocks noGrp="1"/>
          </p:cNvSpPr>
          <p:nvPr>
            <p:ph type="body" sz="quarter" idx="11"/>
          </p:nvPr>
        </p:nvSpPr>
        <p:spPr/>
        <p:txBody>
          <a:bodyPr/>
          <a:lstStyle/>
          <a:p>
            <a:r>
              <a:rPr kumimoji="1" lang="en-US" altLang="ja-JP" dirty="0"/>
              <a:t>Results - </a:t>
            </a:r>
            <a:r>
              <a:rPr kumimoji="1" lang="ja-JP" altLang="en-US"/>
              <a:t>先行研究の再現実験</a:t>
            </a:r>
          </a:p>
        </p:txBody>
      </p:sp>
      <p:grpSp>
        <p:nvGrpSpPr>
          <p:cNvPr id="37" name="グループ化 36">
            <a:extLst>
              <a:ext uri="{FF2B5EF4-FFF2-40B4-BE49-F238E27FC236}">
                <a16:creationId xmlns:a16="http://schemas.microsoft.com/office/drawing/2014/main" id="{23E5638D-BD51-6ABD-F8C7-F95FEF72C7B0}"/>
              </a:ext>
            </a:extLst>
          </p:cNvPr>
          <p:cNvGrpSpPr/>
          <p:nvPr/>
        </p:nvGrpSpPr>
        <p:grpSpPr>
          <a:xfrm>
            <a:off x="187516" y="1020189"/>
            <a:ext cx="11458202" cy="1627657"/>
            <a:chOff x="187516" y="1267636"/>
            <a:chExt cx="11458202" cy="1627657"/>
          </a:xfrm>
        </p:grpSpPr>
        <p:pic>
          <p:nvPicPr>
            <p:cNvPr id="6" name="図 5" descr="洗面道具 が含まれている画像&#10;&#10;自動的に生成された説明">
              <a:extLst>
                <a:ext uri="{FF2B5EF4-FFF2-40B4-BE49-F238E27FC236}">
                  <a16:creationId xmlns:a16="http://schemas.microsoft.com/office/drawing/2014/main" id="{DFAF4A2A-9E42-B976-3BF9-18CDB3152672}"/>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0232" y="1750238"/>
              <a:ext cx="990918" cy="746629"/>
            </a:xfrm>
            <a:prstGeom prst="rect">
              <a:avLst/>
            </a:prstGeom>
          </p:spPr>
        </p:pic>
        <p:sp>
          <p:nvSpPr>
            <p:cNvPr id="7" name="テキスト ボックス 6">
              <a:extLst>
                <a:ext uri="{FF2B5EF4-FFF2-40B4-BE49-F238E27FC236}">
                  <a16:creationId xmlns:a16="http://schemas.microsoft.com/office/drawing/2014/main" id="{5F150129-1FCD-32D3-C595-17578EDF5685}"/>
                </a:ext>
              </a:extLst>
            </p:cNvPr>
            <p:cNvSpPr txBox="1"/>
            <p:nvPr/>
          </p:nvSpPr>
          <p:spPr>
            <a:xfrm>
              <a:off x="187516" y="2518052"/>
              <a:ext cx="2026499" cy="338554"/>
            </a:xfrm>
            <a:prstGeom prst="rect">
              <a:avLst/>
            </a:prstGeom>
            <a:noFill/>
          </p:spPr>
          <p:txBody>
            <a:bodyPr wrap="square" rtlCol="0">
              <a:spAutoFit/>
            </a:bodyPr>
            <a:lstStyle/>
            <a:p>
              <a:pPr algn="ctr"/>
              <a:r>
                <a:rPr kumimoji="1" lang="en-US" altLang="ja-JP" sz="1600" dirty="0"/>
                <a:t>HEK293T </a:t>
              </a:r>
              <a:r>
                <a:rPr kumimoji="1" lang="ja-JP" altLang="en-US" sz="1600"/>
                <a:t>播種</a:t>
              </a:r>
            </a:p>
          </p:txBody>
        </p:sp>
        <p:sp>
          <p:nvSpPr>
            <p:cNvPr id="8" name="山形 7">
              <a:extLst>
                <a:ext uri="{FF2B5EF4-FFF2-40B4-BE49-F238E27FC236}">
                  <a16:creationId xmlns:a16="http://schemas.microsoft.com/office/drawing/2014/main" id="{4CA245CF-B2D4-7CC0-E198-0622DEFA8829}"/>
                </a:ext>
              </a:extLst>
            </p:cNvPr>
            <p:cNvSpPr/>
            <p:nvPr/>
          </p:nvSpPr>
          <p:spPr>
            <a:xfrm>
              <a:off x="2317554" y="1991648"/>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pic>
          <p:nvPicPr>
            <p:cNvPr id="9" name="図 8" descr="洗面道具 が含まれている画像&#10;&#10;自動的に生成された説明">
              <a:extLst>
                <a:ext uri="{FF2B5EF4-FFF2-40B4-BE49-F238E27FC236}">
                  <a16:creationId xmlns:a16="http://schemas.microsoft.com/office/drawing/2014/main" id="{AFFCFF76-D45D-51FA-32C6-E292B3D76A7D}"/>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20126" y="1750238"/>
              <a:ext cx="990918" cy="746629"/>
            </a:xfrm>
            <a:prstGeom prst="rect">
              <a:avLst/>
            </a:prstGeom>
          </p:spPr>
        </p:pic>
        <p:sp>
          <p:nvSpPr>
            <p:cNvPr id="10" name="テキスト ボックス 9">
              <a:extLst>
                <a:ext uri="{FF2B5EF4-FFF2-40B4-BE49-F238E27FC236}">
                  <a16:creationId xmlns:a16="http://schemas.microsoft.com/office/drawing/2014/main" id="{EF66580F-BC78-4393-1EC1-B82FAC3FFDD1}"/>
                </a:ext>
              </a:extLst>
            </p:cNvPr>
            <p:cNvSpPr txBox="1"/>
            <p:nvPr/>
          </p:nvSpPr>
          <p:spPr>
            <a:xfrm>
              <a:off x="2935552" y="2556739"/>
              <a:ext cx="2320617" cy="338554"/>
            </a:xfrm>
            <a:prstGeom prst="rect">
              <a:avLst/>
            </a:prstGeom>
            <a:noFill/>
          </p:spPr>
          <p:txBody>
            <a:bodyPr wrap="square" rtlCol="0">
              <a:spAutoFit/>
            </a:bodyPr>
            <a:lstStyle/>
            <a:p>
              <a:pPr algn="ctr"/>
              <a:r>
                <a:rPr kumimoji="1" lang="ja-JP" altLang="en-US" sz="1600"/>
                <a:t>トランスフェクション</a:t>
              </a:r>
            </a:p>
          </p:txBody>
        </p:sp>
        <p:sp>
          <p:nvSpPr>
            <p:cNvPr id="11" name="山形 10">
              <a:extLst>
                <a:ext uri="{FF2B5EF4-FFF2-40B4-BE49-F238E27FC236}">
                  <a16:creationId xmlns:a16="http://schemas.microsoft.com/office/drawing/2014/main" id="{35B8608D-3D1D-55AD-7CA7-AF07DA7A6AFE}"/>
                </a:ext>
              </a:extLst>
            </p:cNvPr>
            <p:cNvSpPr/>
            <p:nvPr/>
          </p:nvSpPr>
          <p:spPr>
            <a:xfrm>
              <a:off x="5593695" y="1991648"/>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pic>
          <p:nvPicPr>
            <p:cNvPr id="12" name="図 11" descr="洗面道具 が含まれている画像&#10;&#10;自動的に生成された説明">
              <a:extLst>
                <a:ext uri="{FF2B5EF4-FFF2-40B4-BE49-F238E27FC236}">
                  <a16:creationId xmlns:a16="http://schemas.microsoft.com/office/drawing/2014/main" id="{2F4D67E1-554A-C2E6-57D2-E7C4053249D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259518" y="1750238"/>
              <a:ext cx="990918" cy="746629"/>
            </a:xfrm>
            <a:prstGeom prst="rect">
              <a:avLst/>
            </a:prstGeom>
          </p:spPr>
        </p:pic>
        <p:sp>
          <p:nvSpPr>
            <p:cNvPr id="13" name="テキスト ボックス 12">
              <a:extLst>
                <a:ext uri="{FF2B5EF4-FFF2-40B4-BE49-F238E27FC236}">
                  <a16:creationId xmlns:a16="http://schemas.microsoft.com/office/drawing/2014/main" id="{B650AA89-B381-AF8C-5368-D4A2FEF54E9C}"/>
                </a:ext>
              </a:extLst>
            </p:cNvPr>
            <p:cNvSpPr txBox="1"/>
            <p:nvPr/>
          </p:nvSpPr>
          <p:spPr>
            <a:xfrm>
              <a:off x="5997299" y="2548909"/>
              <a:ext cx="2026499" cy="338554"/>
            </a:xfrm>
            <a:prstGeom prst="rect">
              <a:avLst/>
            </a:prstGeom>
            <a:noFill/>
          </p:spPr>
          <p:txBody>
            <a:bodyPr wrap="square" rtlCol="0">
              <a:spAutoFit/>
            </a:bodyPr>
            <a:lstStyle/>
            <a:p>
              <a:pPr algn="ctr"/>
              <a:r>
                <a:rPr kumimoji="1" lang="en-US" altLang="ja-JP" sz="1600" dirty="0"/>
                <a:t>DCA, </a:t>
              </a:r>
              <a:r>
                <a:rPr kumimoji="1" lang="ja-JP" altLang="en-US" sz="1600"/>
                <a:t>ペプチド添加</a:t>
              </a:r>
            </a:p>
          </p:txBody>
        </p:sp>
        <p:sp>
          <p:nvSpPr>
            <p:cNvPr id="14" name="山形 13">
              <a:extLst>
                <a:ext uri="{FF2B5EF4-FFF2-40B4-BE49-F238E27FC236}">
                  <a16:creationId xmlns:a16="http://schemas.microsoft.com/office/drawing/2014/main" id="{757D9C18-915A-1178-D67A-D4EE5DDC4C44}"/>
                </a:ext>
              </a:extLst>
            </p:cNvPr>
            <p:cNvSpPr/>
            <p:nvPr/>
          </p:nvSpPr>
          <p:spPr>
            <a:xfrm>
              <a:off x="8727650" y="1991648"/>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pic>
          <p:nvPicPr>
            <p:cNvPr id="15" name="図 14">
              <a:extLst>
                <a:ext uri="{FF2B5EF4-FFF2-40B4-BE49-F238E27FC236}">
                  <a16:creationId xmlns:a16="http://schemas.microsoft.com/office/drawing/2014/main" id="{6A470497-9C45-4EF6-45BF-7B9204450A09}"/>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449955" y="1758020"/>
              <a:ext cx="373004" cy="746007"/>
            </a:xfrm>
            <a:prstGeom prst="rect">
              <a:avLst/>
            </a:prstGeom>
          </p:spPr>
        </p:pic>
        <p:sp>
          <p:nvSpPr>
            <p:cNvPr id="16" name="テキスト ボックス 15">
              <a:extLst>
                <a:ext uri="{FF2B5EF4-FFF2-40B4-BE49-F238E27FC236}">
                  <a16:creationId xmlns:a16="http://schemas.microsoft.com/office/drawing/2014/main" id="{A6620100-0A22-9128-0357-580E6403EE1B}"/>
                </a:ext>
              </a:extLst>
            </p:cNvPr>
            <p:cNvSpPr txBox="1"/>
            <p:nvPr/>
          </p:nvSpPr>
          <p:spPr>
            <a:xfrm>
              <a:off x="8620411" y="2553830"/>
              <a:ext cx="2026499" cy="338554"/>
            </a:xfrm>
            <a:prstGeom prst="rect">
              <a:avLst/>
            </a:prstGeom>
            <a:noFill/>
          </p:spPr>
          <p:txBody>
            <a:bodyPr wrap="square" rtlCol="0">
              <a:spAutoFit/>
            </a:bodyPr>
            <a:lstStyle/>
            <a:p>
              <a:pPr algn="ctr"/>
              <a:r>
                <a:rPr lang="ja-JP" altLang="en-US" sz="1600"/>
                <a:t>ライセート</a:t>
              </a:r>
              <a:endParaRPr kumimoji="1" lang="ja-JP" altLang="en-US" sz="1600"/>
            </a:p>
          </p:txBody>
        </p:sp>
        <p:sp>
          <p:nvSpPr>
            <p:cNvPr id="17" name="山形 16">
              <a:extLst>
                <a:ext uri="{FF2B5EF4-FFF2-40B4-BE49-F238E27FC236}">
                  <a16:creationId xmlns:a16="http://schemas.microsoft.com/office/drawing/2014/main" id="{17EA594E-AE94-656B-4511-63D11AB62B51}"/>
                </a:ext>
              </a:extLst>
            </p:cNvPr>
            <p:cNvSpPr/>
            <p:nvPr/>
          </p:nvSpPr>
          <p:spPr>
            <a:xfrm>
              <a:off x="10247049" y="1991648"/>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pic>
          <p:nvPicPr>
            <p:cNvPr id="18" name="図 17" descr="背景パターン&#10;&#10;自動的に生成された説明">
              <a:extLst>
                <a:ext uri="{FF2B5EF4-FFF2-40B4-BE49-F238E27FC236}">
                  <a16:creationId xmlns:a16="http://schemas.microsoft.com/office/drawing/2014/main" id="{E6A48A84-6242-5B08-4DB2-34CA2A1F63D8}"/>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917345" y="1401809"/>
              <a:ext cx="377713" cy="1107676"/>
            </a:xfrm>
            <a:prstGeom prst="rect">
              <a:avLst/>
            </a:prstGeom>
          </p:spPr>
        </p:pic>
        <p:sp>
          <p:nvSpPr>
            <p:cNvPr id="19" name="テキスト ボックス 18">
              <a:extLst>
                <a:ext uri="{FF2B5EF4-FFF2-40B4-BE49-F238E27FC236}">
                  <a16:creationId xmlns:a16="http://schemas.microsoft.com/office/drawing/2014/main" id="{C1D9F9B0-0EAD-3A2A-3724-7F4E4E9F6391}"/>
                </a:ext>
              </a:extLst>
            </p:cNvPr>
            <p:cNvSpPr txBox="1"/>
            <p:nvPr/>
          </p:nvSpPr>
          <p:spPr>
            <a:xfrm>
              <a:off x="10566687" y="2548909"/>
              <a:ext cx="1079031" cy="338554"/>
            </a:xfrm>
            <a:prstGeom prst="rect">
              <a:avLst/>
            </a:prstGeom>
            <a:noFill/>
          </p:spPr>
          <p:txBody>
            <a:bodyPr wrap="square" rtlCol="0">
              <a:spAutoFit/>
            </a:bodyPr>
            <a:lstStyle/>
            <a:p>
              <a:pPr algn="ctr"/>
              <a:r>
                <a:rPr lang="ja-JP" altLang="en-US" sz="1600"/>
                <a:t>発光測定</a:t>
              </a:r>
              <a:endParaRPr kumimoji="1" lang="ja-JP" altLang="en-US" sz="1600"/>
            </a:p>
          </p:txBody>
        </p:sp>
        <p:pic>
          <p:nvPicPr>
            <p:cNvPr id="20" name="図 19" descr="図形, 矢印&#10;&#10;自動的に生成された説明">
              <a:extLst>
                <a:ext uri="{FF2B5EF4-FFF2-40B4-BE49-F238E27FC236}">
                  <a16:creationId xmlns:a16="http://schemas.microsoft.com/office/drawing/2014/main" id="{B7EBCEB1-DE3E-FF4F-FE19-3ED879761A20}"/>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749387" y="1300738"/>
              <a:ext cx="375692" cy="358352"/>
            </a:xfrm>
            <a:prstGeom prst="rect">
              <a:avLst/>
            </a:prstGeom>
          </p:spPr>
        </p:pic>
        <p:sp>
          <p:nvSpPr>
            <p:cNvPr id="21" name="テキスト ボックス 20">
              <a:extLst>
                <a:ext uri="{FF2B5EF4-FFF2-40B4-BE49-F238E27FC236}">
                  <a16:creationId xmlns:a16="http://schemas.microsoft.com/office/drawing/2014/main" id="{E6B7AEB6-CBAA-8D0B-3C35-26148DA56D28}"/>
                </a:ext>
              </a:extLst>
            </p:cNvPr>
            <p:cNvSpPr txBox="1"/>
            <p:nvPr/>
          </p:nvSpPr>
          <p:spPr>
            <a:xfrm>
              <a:off x="4235017" y="1683575"/>
              <a:ext cx="1168910" cy="830997"/>
            </a:xfrm>
            <a:prstGeom prst="rect">
              <a:avLst/>
            </a:prstGeom>
            <a:noFill/>
          </p:spPr>
          <p:txBody>
            <a:bodyPr wrap="none" rtlCol="0">
              <a:spAutoFit/>
            </a:bodyPr>
            <a:lstStyle/>
            <a:p>
              <a:pPr marL="285750" indent="-285750">
                <a:buFont typeface="Arial" panose="020B0604020202020204" pitchFamily="34" charset="0"/>
                <a:buChar char="•"/>
              </a:pPr>
              <a:r>
                <a:rPr kumimoji="1" lang="en-US" altLang="ja-JP" sz="1600" dirty="0"/>
                <a:t>hTGR5</a:t>
              </a:r>
            </a:p>
            <a:p>
              <a:pPr marL="285750" indent="-285750">
                <a:buFont typeface="Arial" panose="020B0604020202020204" pitchFamily="34" charset="0"/>
                <a:buChar char="•"/>
              </a:pPr>
              <a:r>
                <a:rPr lang="en-US" altLang="ja-JP" sz="1600" dirty="0"/>
                <a:t>CRE-</a:t>
              </a:r>
              <a:r>
                <a:rPr lang="en-US" altLang="ja-JP" sz="1600" dirty="0" err="1"/>
                <a:t>luc</a:t>
              </a:r>
              <a:endParaRPr lang="en-US" altLang="ja-JP" sz="1600" dirty="0"/>
            </a:p>
            <a:p>
              <a:pPr marL="285750" indent="-285750">
                <a:buFont typeface="Arial" panose="020B0604020202020204" pitchFamily="34" charset="0"/>
                <a:buChar char="•"/>
              </a:pPr>
              <a:r>
                <a:rPr lang="en-US" altLang="ja-JP" sz="1600" dirty="0"/>
                <a:t>β-gal</a:t>
              </a:r>
            </a:p>
          </p:txBody>
        </p:sp>
        <p:sp>
          <p:nvSpPr>
            <p:cNvPr id="22" name="テキスト ボックス 21">
              <a:extLst>
                <a:ext uri="{FF2B5EF4-FFF2-40B4-BE49-F238E27FC236}">
                  <a16:creationId xmlns:a16="http://schemas.microsoft.com/office/drawing/2014/main" id="{D7E1A510-129C-2A85-FBAB-863EC9C0D9F4}"/>
                </a:ext>
              </a:extLst>
            </p:cNvPr>
            <p:cNvSpPr txBox="1"/>
            <p:nvPr/>
          </p:nvSpPr>
          <p:spPr>
            <a:xfrm>
              <a:off x="4217978" y="1300738"/>
              <a:ext cx="1305165" cy="338554"/>
            </a:xfrm>
            <a:prstGeom prst="rect">
              <a:avLst/>
            </a:prstGeom>
            <a:noFill/>
          </p:spPr>
          <p:txBody>
            <a:bodyPr wrap="none" rtlCol="0">
              <a:spAutoFit/>
            </a:bodyPr>
            <a:lstStyle/>
            <a:p>
              <a:r>
                <a:rPr lang="ja-JP" altLang="en-US" sz="1600"/>
                <a:t>各</a:t>
              </a:r>
              <a:r>
                <a:rPr lang="en-US" altLang="ja-JP" sz="1600" dirty="0"/>
                <a:t>0.5µL/well</a:t>
              </a:r>
              <a:endParaRPr kumimoji="1" lang="en-US" altLang="ja-JP" sz="1600" dirty="0"/>
            </a:p>
          </p:txBody>
        </p:sp>
        <p:pic>
          <p:nvPicPr>
            <p:cNvPr id="23" name="図 22" descr="巣蜜, 建物, ミラー が含まれている画像&#10;&#10;自動的に生成された説明">
              <a:extLst>
                <a:ext uri="{FF2B5EF4-FFF2-40B4-BE49-F238E27FC236}">
                  <a16:creationId xmlns:a16="http://schemas.microsoft.com/office/drawing/2014/main" id="{A3649355-E25E-5FA9-BAB3-7CBBC326F9DC}"/>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71398" y="1622801"/>
              <a:ext cx="727448" cy="430649"/>
            </a:xfrm>
            <a:prstGeom prst="rect">
              <a:avLst/>
            </a:prstGeom>
          </p:spPr>
        </p:pic>
        <p:grpSp>
          <p:nvGrpSpPr>
            <p:cNvPr id="36" name="グループ化 35">
              <a:extLst>
                <a:ext uri="{FF2B5EF4-FFF2-40B4-BE49-F238E27FC236}">
                  <a16:creationId xmlns:a16="http://schemas.microsoft.com/office/drawing/2014/main" id="{B43371E0-5AC1-7BC6-DA04-F6F1EE50F65B}"/>
                </a:ext>
              </a:extLst>
            </p:cNvPr>
            <p:cNvGrpSpPr/>
            <p:nvPr/>
          </p:nvGrpSpPr>
          <p:grpSpPr>
            <a:xfrm>
              <a:off x="7468688" y="1267636"/>
              <a:ext cx="712783" cy="354538"/>
              <a:chOff x="7359491" y="1126003"/>
              <a:chExt cx="712783" cy="354538"/>
            </a:xfrm>
          </p:grpSpPr>
          <p:sp>
            <p:nvSpPr>
              <p:cNvPr id="25" name="円/楕円 24">
                <a:extLst>
                  <a:ext uri="{FF2B5EF4-FFF2-40B4-BE49-F238E27FC236}">
                    <a16:creationId xmlns:a16="http://schemas.microsoft.com/office/drawing/2014/main" id="{422EF62F-7A3B-CA66-8D02-7E92053A8595}"/>
                  </a:ext>
                </a:extLst>
              </p:cNvPr>
              <p:cNvSpPr>
                <a:spLocks noChangeAspect="1"/>
              </p:cNvSpPr>
              <p:nvPr/>
            </p:nvSpPr>
            <p:spPr>
              <a:xfrm>
                <a:off x="7359491" y="1336541"/>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a:extLst>
                  <a:ext uri="{FF2B5EF4-FFF2-40B4-BE49-F238E27FC236}">
                    <a16:creationId xmlns:a16="http://schemas.microsoft.com/office/drawing/2014/main" id="{3C29922A-6EB5-2F52-E8B4-009EEED3229C}"/>
                  </a:ext>
                </a:extLst>
              </p:cNvPr>
              <p:cNvSpPr>
                <a:spLocks noChangeAspect="1"/>
              </p:cNvSpPr>
              <p:nvPr/>
            </p:nvSpPr>
            <p:spPr>
              <a:xfrm>
                <a:off x="7454257" y="1248322"/>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27">
                <a:extLst>
                  <a:ext uri="{FF2B5EF4-FFF2-40B4-BE49-F238E27FC236}">
                    <a16:creationId xmlns:a16="http://schemas.microsoft.com/office/drawing/2014/main" id="{2AA52128-08C0-E80B-0DBD-27BD4A8900D9}"/>
                  </a:ext>
                </a:extLst>
              </p:cNvPr>
              <p:cNvSpPr>
                <a:spLocks noChangeAspect="1"/>
              </p:cNvSpPr>
              <p:nvPr/>
            </p:nvSpPr>
            <p:spPr>
              <a:xfrm>
                <a:off x="7586741" y="1280760"/>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28">
                <a:extLst>
                  <a:ext uri="{FF2B5EF4-FFF2-40B4-BE49-F238E27FC236}">
                    <a16:creationId xmlns:a16="http://schemas.microsoft.com/office/drawing/2014/main" id="{CCC82A4B-C8F3-E346-3CB4-D1785AC06549}"/>
                  </a:ext>
                </a:extLst>
              </p:cNvPr>
              <p:cNvSpPr>
                <a:spLocks noChangeAspect="1"/>
              </p:cNvSpPr>
              <p:nvPr/>
            </p:nvSpPr>
            <p:spPr>
              <a:xfrm>
                <a:off x="7692744" y="1186133"/>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29">
                <a:extLst>
                  <a:ext uri="{FF2B5EF4-FFF2-40B4-BE49-F238E27FC236}">
                    <a16:creationId xmlns:a16="http://schemas.microsoft.com/office/drawing/2014/main" id="{2DDCFFE0-947B-7FF7-A36B-4012D5CB20D5}"/>
                  </a:ext>
                </a:extLst>
              </p:cNvPr>
              <p:cNvSpPr>
                <a:spLocks noChangeAspect="1"/>
              </p:cNvSpPr>
              <p:nvPr/>
            </p:nvSpPr>
            <p:spPr>
              <a:xfrm>
                <a:off x="7822271" y="1215169"/>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a:extLst>
                  <a:ext uri="{FF2B5EF4-FFF2-40B4-BE49-F238E27FC236}">
                    <a16:creationId xmlns:a16="http://schemas.microsoft.com/office/drawing/2014/main" id="{213182B4-D633-0907-36CE-6D4445D2E4A6}"/>
                  </a:ext>
                </a:extLst>
              </p:cNvPr>
              <p:cNvSpPr>
                <a:spLocks noChangeAspect="1"/>
              </p:cNvSpPr>
              <p:nvPr/>
            </p:nvSpPr>
            <p:spPr>
              <a:xfrm>
                <a:off x="7928274" y="1126003"/>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2" name="グループ化 31">
              <a:extLst>
                <a:ext uri="{FF2B5EF4-FFF2-40B4-BE49-F238E27FC236}">
                  <a16:creationId xmlns:a16="http://schemas.microsoft.com/office/drawing/2014/main" id="{6A323E30-4D5D-A4A4-0525-8B8B51ED2B09}"/>
                </a:ext>
              </a:extLst>
            </p:cNvPr>
            <p:cNvGrpSpPr/>
            <p:nvPr/>
          </p:nvGrpSpPr>
          <p:grpSpPr>
            <a:xfrm rot="13565792">
              <a:off x="6859050" y="1270203"/>
              <a:ext cx="404682" cy="527503"/>
              <a:chOff x="2664127" y="3374455"/>
              <a:chExt cx="1201975" cy="1567649"/>
            </a:xfrm>
          </p:grpSpPr>
          <p:sp>
            <p:nvSpPr>
              <p:cNvPr id="33" name="二等辺三角形 4">
                <a:extLst>
                  <a:ext uri="{FF2B5EF4-FFF2-40B4-BE49-F238E27FC236}">
                    <a16:creationId xmlns:a16="http://schemas.microsoft.com/office/drawing/2014/main" id="{1CE32A9F-7F14-1C0A-954F-88422395BCAE}"/>
                  </a:ext>
                </a:extLst>
              </p:cNvPr>
              <p:cNvSpPr/>
              <p:nvPr/>
            </p:nvSpPr>
            <p:spPr>
              <a:xfrm rot="21516842">
                <a:off x="3025444" y="3374455"/>
                <a:ext cx="840658" cy="471949"/>
              </a:xfrm>
              <a:prstGeom prst="triangl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フリーフォーム: 図形 9">
                <a:extLst>
                  <a:ext uri="{FF2B5EF4-FFF2-40B4-BE49-F238E27FC236}">
                    <a16:creationId xmlns:a16="http://schemas.microsoft.com/office/drawing/2014/main" id="{01E26AE1-B051-88D2-5779-508B16B07ED1}"/>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5" name="テキスト ボックス 34">
              <a:extLst>
                <a:ext uri="{FF2B5EF4-FFF2-40B4-BE49-F238E27FC236}">
                  <a16:creationId xmlns:a16="http://schemas.microsoft.com/office/drawing/2014/main" id="{E54A5A48-8F9C-92DA-D905-0CEDF891AA14}"/>
                </a:ext>
              </a:extLst>
            </p:cNvPr>
            <p:cNvSpPr txBox="1"/>
            <p:nvPr/>
          </p:nvSpPr>
          <p:spPr>
            <a:xfrm>
              <a:off x="7341581" y="2086603"/>
              <a:ext cx="1143839" cy="338554"/>
            </a:xfrm>
            <a:prstGeom prst="rect">
              <a:avLst/>
            </a:prstGeom>
            <a:noFill/>
          </p:spPr>
          <p:txBody>
            <a:bodyPr wrap="none" rtlCol="0">
              <a:spAutoFit/>
            </a:bodyPr>
            <a:lstStyle/>
            <a:p>
              <a:r>
                <a:rPr lang="en-US" altLang="ja-JP" sz="1600" dirty="0"/>
                <a:t>20µM/well</a:t>
              </a:r>
              <a:endParaRPr kumimoji="1" lang="en-US" altLang="ja-JP" sz="1600" dirty="0"/>
            </a:p>
          </p:txBody>
        </p:sp>
      </p:grpSp>
      <p:graphicFrame>
        <p:nvGraphicFramePr>
          <p:cNvPr id="38" name="グラフ 37">
            <a:extLst>
              <a:ext uri="{FF2B5EF4-FFF2-40B4-BE49-F238E27FC236}">
                <a16:creationId xmlns:a16="http://schemas.microsoft.com/office/drawing/2014/main" id="{D9F45075-CD1C-8917-EB80-911931D8CA8D}"/>
              </a:ext>
            </a:extLst>
          </p:cNvPr>
          <p:cNvGraphicFramePr>
            <a:graphicFrameLocks/>
          </p:cNvGraphicFramePr>
          <p:nvPr>
            <p:extLst>
              <p:ext uri="{D42A27DB-BD31-4B8C-83A1-F6EECF244321}">
                <p14:modId xmlns:p14="http://schemas.microsoft.com/office/powerpoint/2010/main" val="3457588562"/>
              </p:ext>
            </p:extLst>
          </p:nvPr>
        </p:nvGraphicFramePr>
        <p:xfrm>
          <a:off x="6754977" y="3246977"/>
          <a:ext cx="5079618" cy="2541675"/>
        </p:xfrm>
        <a:graphic>
          <a:graphicData uri="http://schemas.openxmlformats.org/drawingml/2006/chart">
            <c:chart xmlns:c="http://schemas.openxmlformats.org/drawingml/2006/chart" xmlns:r="http://schemas.openxmlformats.org/officeDocument/2006/relationships" r:id="rId8"/>
          </a:graphicData>
        </a:graphic>
      </p:graphicFrame>
      <p:sp>
        <p:nvSpPr>
          <p:cNvPr id="41" name="コンテンツ プレースホルダー 2">
            <a:extLst>
              <a:ext uri="{FF2B5EF4-FFF2-40B4-BE49-F238E27FC236}">
                <a16:creationId xmlns:a16="http://schemas.microsoft.com/office/drawing/2014/main" id="{F2BE2FB2-6124-F8CE-7CD9-24123A6AEBDE}"/>
              </a:ext>
            </a:extLst>
          </p:cNvPr>
          <p:cNvSpPr txBox="1">
            <a:spLocks/>
          </p:cNvSpPr>
          <p:nvPr/>
        </p:nvSpPr>
        <p:spPr>
          <a:xfrm>
            <a:off x="546100" y="2866421"/>
            <a:ext cx="6183854" cy="3421363"/>
          </a:xfrm>
          <a:prstGeom prst="rect">
            <a:avLst/>
          </a:prstGeom>
        </p:spPr>
        <p:txBody>
          <a:bodyPr vert="horz" lIns="91440" tIns="45720" rIns="91440" bIns="45720" rtlCol="0">
            <a:normAutofit/>
          </a:bodyPr>
          <a:lstStyle>
            <a:lvl1pPr marL="457200" indent="-457200" algn="l" defTabSz="914400" rtl="0" eaLnBrk="1" latinLnBrk="0" hangingPunct="1">
              <a:lnSpc>
                <a:spcPct val="100000"/>
              </a:lnSpc>
              <a:spcBef>
                <a:spcPts val="14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結果</a:t>
            </a:r>
            <a:endParaRPr lang="en-US" altLang="ja-JP" dirty="0"/>
          </a:p>
          <a:p>
            <a:r>
              <a:rPr lang="ja-JP" altLang="en-US" sz="1800" b="0"/>
              <a:t>一部の再現は取れた</a:t>
            </a:r>
            <a:endParaRPr lang="en-US" altLang="ja-JP" sz="1800" b="0" dirty="0"/>
          </a:p>
          <a:p>
            <a:pPr lvl="1">
              <a:lnSpc>
                <a:spcPct val="150000"/>
              </a:lnSpc>
            </a:pPr>
            <a:r>
              <a:rPr lang="ja-JP" altLang="en-US" sz="1600"/>
              <a:t>先行研究で活性が一番高かった、</a:t>
            </a:r>
            <a:r>
              <a:rPr lang="en-US" altLang="ja-JP" sz="1600" dirty="0"/>
              <a:t>QLSRRA+DCA</a:t>
            </a:r>
            <a:r>
              <a:rPr lang="ja-JP" altLang="en-US" sz="1600"/>
              <a:t>共添加の系で高い活性</a:t>
            </a:r>
            <a:endParaRPr lang="en-US" altLang="ja-JP" sz="1600" dirty="0"/>
          </a:p>
          <a:p>
            <a:pPr lvl="1">
              <a:lnSpc>
                <a:spcPct val="150000"/>
              </a:lnSpc>
            </a:pPr>
            <a:r>
              <a:rPr lang="en-US" altLang="ja-JP" sz="1600" dirty="0"/>
              <a:t>QLSRRA, VRFPLL, QSKSRR</a:t>
            </a:r>
            <a:r>
              <a:rPr lang="ja-JP" altLang="en-US" sz="1600"/>
              <a:t>で活性が出るはずが、</a:t>
            </a:r>
            <a:r>
              <a:rPr lang="en-US" altLang="ja-JP" sz="1600" dirty="0"/>
              <a:t>QLSRRA</a:t>
            </a:r>
            <a:r>
              <a:rPr lang="ja-JP" altLang="en-US" sz="1600"/>
              <a:t>では活性が出なかった</a:t>
            </a:r>
            <a:endParaRPr lang="en-US" altLang="ja-JP" sz="1600" b="0" dirty="0"/>
          </a:p>
          <a:p>
            <a:r>
              <a:rPr lang="ja-JP" altLang="en-US" sz="1800" b="0"/>
              <a:t>細胞の剥がれに起因する誤差が大きかった</a:t>
            </a:r>
            <a:endParaRPr lang="en-US" altLang="ja-JP" sz="1800" b="0" dirty="0"/>
          </a:p>
          <a:p>
            <a:r>
              <a:rPr lang="ja-JP" altLang="en-US" sz="1800" b="0"/>
              <a:t>実験操作に長い時間がかかってしまった</a:t>
            </a:r>
            <a:endParaRPr lang="en-US" altLang="ja-JP" sz="1800" b="0" dirty="0"/>
          </a:p>
          <a:p>
            <a:endParaRPr lang="en-US" altLang="ja-JP" sz="1800" b="0" dirty="0"/>
          </a:p>
        </p:txBody>
      </p:sp>
      <p:sp>
        <p:nvSpPr>
          <p:cNvPr id="24" name="テキスト ボックス 23">
            <a:extLst>
              <a:ext uri="{FF2B5EF4-FFF2-40B4-BE49-F238E27FC236}">
                <a16:creationId xmlns:a16="http://schemas.microsoft.com/office/drawing/2014/main" id="{405FDED2-950D-36C1-E213-DE4D8734B661}"/>
              </a:ext>
            </a:extLst>
          </p:cNvPr>
          <p:cNvSpPr txBox="1"/>
          <p:nvPr/>
        </p:nvSpPr>
        <p:spPr>
          <a:xfrm>
            <a:off x="7525004" y="5827340"/>
            <a:ext cx="3849902" cy="307777"/>
          </a:xfrm>
          <a:prstGeom prst="rect">
            <a:avLst/>
          </a:prstGeom>
          <a:noFill/>
        </p:spPr>
        <p:txBody>
          <a:bodyPr wrap="square" rtlCol="0">
            <a:spAutoFit/>
          </a:bodyPr>
          <a:lstStyle/>
          <a:p>
            <a:pPr algn="ctr"/>
            <a:r>
              <a:rPr kumimoji="1" lang="ja-JP" altLang="en-US" sz="1400"/>
              <a:t>ペプチド添加による</a:t>
            </a:r>
            <a:r>
              <a:rPr kumimoji="1" lang="en-US" altLang="ja-JP" sz="1400" dirty="0"/>
              <a:t>TGR5</a:t>
            </a:r>
            <a:r>
              <a:rPr kumimoji="1" lang="ja-JP" altLang="en-US" sz="1400"/>
              <a:t>活性</a:t>
            </a:r>
          </a:p>
        </p:txBody>
      </p:sp>
      <mc:AlternateContent xmlns:mc="http://schemas.openxmlformats.org/markup-compatibility/2006">
        <mc:Choice xmlns:a14="http://schemas.microsoft.com/office/drawing/2010/main" Requires="a14">
          <p:sp>
            <p:nvSpPr>
              <p:cNvPr id="39" name="テキスト ボックス 38">
                <a:extLst>
                  <a:ext uri="{FF2B5EF4-FFF2-40B4-BE49-F238E27FC236}">
                    <a16:creationId xmlns:a16="http://schemas.microsoft.com/office/drawing/2014/main" id="{AEE1D7D7-879A-0EB6-F6DF-26E00659C304}"/>
                  </a:ext>
                </a:extLst>
              </p:cNvPr>
              <p:cNvSpPr txBox="1"/>
              <p:nvPr/>
            </p:nvSpPr>
            <p:spPr>
              <a:xfrm>
                <a:off x="7506921" y="2841473"/>
                <a:ext cx="3886067" cy="569708"/>
              </a:xfrm>
              <a:prstGeom prst="rect">
                <a:avLst/>
              </a:prstGeom>
              <a:noFill/>
            </p:spPr>
            <p:txBody>
              <a:bodyPr wrap="square">
                <a:spAutoFit/>
              </a:bodyPr>
              <a:lstStyle/>
              <a:p>
                <a:pPr marL="0" indent="0">
                  <a:spcBef>
                    <a:spcPts val="2400"/>
                  </a:spcBef>
                  <a:buNone/>
                </a:pPr>
                <a14:m>
                  <m:oMathPara xmlns:m="http://schemas.openxmlformats.org/officeDocument/2006/math">
                    <m:oMathParaPr>
                      <m:jc m:val="centerGroup"/>
                    </m:oMathParaPr>
                    <m:oMath xmlns:m="http://schemas.openxmlformats.org/officeDocument/2006/math">
                      <m:r>
                        <a:rPr lang="en-US" altLang="ja-JP" sz="1400" b="0" i="1" smtClean="0">
                          <a:latin typeface="Cambria Math" panose="02040503050406030204" pitchFamily="18" charset="0"/>
                        </a:rPr>
                        <m:t>𝐿𝑢𝑐</m:t>
                      </m:r>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𝑎𝑐𝑡𝑖𝑣𝑖𝑡𝑦</m:t>
                      </m:r>
                      <m:r>
                        <a:rPr lang="en-US" altLang="ja-JP" sz="1400" b="0" i="1" smtClean="0">
                          <a:latin typeface="Cambria Math" panose="02040503050406030204" pitchFamily="18" charset="0"/>
                        </a:rPr>
                        <m:t>= </m:t>
                      </m:r>
                      <m:f>
                        <m:fPr>
                          <m:ctrlPr>
                            <a:rPr lang="en-US" altLang="ja-JP" sz="1400" i="1" smtClean="0">
                              <a:latin typeface="Cambria Math" panose="02040503050406030204" pitchFamily="18" charset="0"/>
                            </a:rPr>
                          </m:ctrlPr>
                        </m:fPr>
                        <m:num>
                          <m:r>
                            <a:rPr lang="ja-JP" altLang="en-US" sz="1400" b="0" i="1">
                              <a:latin typeface="Cambria Math" panose="02040503050406030204" pitchFamily="18" charset="0"/>
                            </a:rPr>
                            <m:t>ホタル</m:t>
                          </m:r>
                          <m:r>
                            <a:rPr lang="ja-JP" altLang="en-US" sz="1400" b="0" i="1" smtClean="0">
                              <a:latin typeface="Cambria Math" panose="02040503050406030204" pitchFamily="18" charset="0"/>
                            </a:rPr>
                            <m:t>ルシフェラーゼ</m:t>
                          </m:r>
                          <m:r>
                            <a:rPr lang="ja-JP" altLang="en-US" sz="1400" b="0" i="1">
                              <a:latin typeface="Cambria Math" panose="02040503050406030204" pitchFamily="18" charset="0"/>
                            </a:rPr>
                            <m:t>活性</m:t>
                          </m:r>
                        </m:num>
                        <m:den>
                          <m:r>
                            <a:rPr lang="en-US" altLang="ja-JP" sz="1400" b="0" i="1">
                              <a:latin typeface="Cambria Math" panose="02040503050406030204" pitchFamily="18" charset="0"/>
                            </a:rPr>
                            <m:t>𝛽</m:t>
                          </m:r>
                          <m:r>
                            <a:rPr lang="en-US" altLang="ja-JP" sz="1400" b="0" i="1" smtClean="0">
                              <a:latin typeface="Cambria Math" panose="02040503050406030204" pitchFamily="18" charset="0"/>
                            </a:rPr>
                            <m:t>𝑔𝑎𝑙</m:t>
                          </m:r>
                          <m:r>
                            <a:rPr lang="ja-JP" altLang="en-US" sz="1400" b="0" i="1">
                              <a:latin typeface="Cambria Math" panose="02040503050406030204" pitchFamily="18" charset="0"/>
                            </a:rPr>
                            <m:t>活性</m:t>
                          </m:r>
                        </m:den>
                      </m:f>
                      <m:r>
                        <a:rPr lang="en-US" altLang="ja-JP" sz="1400" b="0" i="1" smtClean="0">
                          <a:latin typeface="Cambria Math" panose="02040503050406030204" pitchFamily="18" charset="0"/>
                        </a:rPr>
                        <m:t> </m:t>
                      </m:r>
                    </m:oMath>
                  </m:oMathPara>
                </a14:m>
                <a:endParaRPr lang="en-US" altLang="ja-JP" sz="1400" dirty="0"/>
              </a:p>
            </p:txBody>
          </p:sp>
        </mc:Choice>
        <mc:Fallback>
          <p:sp>
            <p:nvSpPr>
              <p:cNvPr id="39" name="テキスト ボックス 38">
                <a:extLst>
                  <a:ext uri="{FF2B5EF4-FFF2-40B4-BE49-F238E27FC236}">
                    <a16:creationId xmlns:a16="http://schemas.microsoft.com/office/drawing/2014/main" id="{AEE1D7D7-879A-0EB6-F6DF-26E00659C304}"/>
                  </a:ext>
                </a:extLst>
              </p:cNvPr>
              <p:cNvSpPr txBox="1">
                <a:spLocks noRot="1" noChangeAspect="1" noMove="1" noResize="1" noEditPoints="1" noAdjustHandles="1" noChangeArrowheads="1" noChangeShapeType="1" noTextEdit="1"/>
              </p:cNvSpPr>
              <p:nvPr/>
            </p:nvSpPr>
            <p:spPr>
              <a:xfrm>
                <a:off x="7506921" y="2841473"/>
                <a:ext cx="3886067" cy="569708"/>
              </a:xfrm>
              <a:prstGeom prst="rect">
                <a:avLst/>
              </a:prstGeom>
              <a:blipFill>
                <a:blip r:embed="rId9"/>
                <a:stretch>
                  <a:fillRect b="-434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793814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3DF8C1-D089-DD0E-7846-15D6C47D8C43}"/>
              </a:ext>
            </a:extLst>
          </p:cNvPr>
          <p:cNvSpPr>
            <a:spLocks noGrp="1"/>
          </p:cNvSpPr>
          <p:nvPr>
            <p:ph type="title"/>
          </p:nvPr>
        </p:nvSpPr>
        <p:spPr/>
        <p:txBody>
          <a:bodyPr/>
          <a:lstStyle/>
          <a:p>
            <a:r>
              <a:rPr kumimoji="1" lang="en-US" altLang="ja-JP" dirty="0"/>
              <a:t>60mmdish</a:t>
            </a:r>
            <a:r>
              <a:rPr kumimoji="1" lang="ja-JP" altLang="en-US"/>
              <a:t>でのトランスフェクションを採用</a:t>
            </a:r>
          </a:p>
        </p:txBody>
      </p:sp>
      <p:sp>
        <p:nvSpPr>
          <p:cNvPr id="3" name="コンテンツ プレースホルダー 2">
            <a:extLst>
              <a:ext uri="{FF2B5EF4-FFF2-40B4-BE49-F238E27FC236}">
                <a16:creationId xmlns:a16="http://schemas.microsoft.com/office/drawing/2014/main" id="{0F40D692-32F8-38BB-277A-3161F3B59814}"/>
              </a:ext>
            </a:extLst>
          </p:cNvPr>
          <p:cNvSpPr>
            <a:spLocks noGrp="1"/>
          </p:cNvSpPr>
          <p:nvPr>
            <p:ph idx="1"/>
          </p:nvPr>
        </p:nvSpPr>
        <p:spPr>
          <a:xfrm>
            <a:off x="546100" y="3542183"/>
            <a:ext cx="5357825" cy="2479688"/>
          </a:xfrm>
        </p:spPr>
        <p:txBody>
          <a:bodyPr>
            <a:normAutofit fontScale="92500"/>
          </a:bodyPr>
          <a:lstStyle/>
          <a:p>
            <a:pPr marL="0" indent="0">
              <a:buNone/>
            </a:pPr>
            <a:r>
              <a:rPr kumimoji="1" lang="ja-JP" altLang="en-US"/>
              <a:t>結果</a:t>
            </a:r>
            <a:endParaRPr kumimoji="1" lang="en-US" altLang="ja-JP" dirty="0"/>
          </a:p>
          <a:p>
            <a:pPr>
              <a:lnSpc>
                <a:spcPct val="150000"/>
              </a:lnSpc>
              <a:spcBef>
                <a:spcPts val="800"/>
              </a:spcBef>
            </a:pPr>
            <a:r>
              <a:rPr lang="en-US" altLang="ja-JP" sz="1800" b="0" dirty="0"/>
              <a:t>24well</a:t>
            </a:r>
            <a:r>
              <a:rPr lang="ja-JP" altLang="en-US" sz="1800" b="0"/>
              <a:t>でも</a:t>
            </a:r>
            <a:r>
              <a:rPr lang="en-US" altLang="ja-JP" sz="1800" b="0" dirty="0"/>
              <a:t>12well</a:t>
            </a:r>
            <a:r>
              <a:rPr lang="ja-JP" altLang="en-US" sz="1800" b="0"/>
              <a:t>と同様に</a:t>
            </a:r>
            <a:r>
              <a:rPr lang="en-US" altLang="ja-JP" sz="1800" b="0" dirty="0"/>
              <a:t>TGR5</a:t>
            </a:r>
            <a:r>
              <a:rPr lang="ja-JP" altLang="en-US" sz="1800" b="0"/>
              <a:t>活性を</a:t>
            </a:r>
            <a:br>
              <a:rPr lang="en-US" altLang="ja-JP" sz="1800" b="0" dirty="0"/>
            </a:br>
            <a:r>
              <a:rPr lang="ja-JP" altLang="en-US" sz="1800" b="0"/>
              <a:t>評価できた</a:t>
            </a:r>
            <a:endParaRPr lang="en-US" altLang="ja-JP" sz="1800" b="0" dirty="0"/>
          </a:p>
          <a:p>
            <a:pPr>
              <a:lnSpc>
                <a:spcPct val="150000"/>
              </a:lnSpc>
              <a:spcBef>
                <a:spcPts val="800"/>
              </a:spcBef>
            </a:pPr>
            <a:r>
              <a:rPr lang="en-US" altLang="ja-JP" sz="1800" b="0" dirty="0"/>
              <a:t>24well</a:t>
            </a:r>
            <a:r>
              <a:rPr lang="ja-JP" altLang="en-US" sz="1800" b="0"/>
              <a:t>でと比べて</a:t>
            </a:r>
            <a:r>
              <a:rPr lang="en-US" altLang="ja-JP" sz="1800" b="0" dirty="0"/>
              <a:t>60mmdish</a:t>
            </a:r>
            <a:r>
              <a:rPr lang="ja-JP" altLang="en-US" sz="1800" b="0"/>
              <a:t>での</a:t>
            </a:r>
            <a:br>
              <a:rPr lang="en-US" altLang="ja-JP" sz="1800" b="0" dirty="0"/>
            </a:br>
            <a:r>
              <a:rPr lang="ja-JP" altLang="en-US" sz="1800" b="0"/>
              <a:t>トランスフェクションはばらつきを抑制できた</a:t>
            </a:r>
            <a:endParaRPr lang="en-US" altLang="ja-JP" sz="1800" b="0" dirty="0"/>
          </a:p>
          <a:p>
            <a:pPr>
              <a:lnSpc>
                <a:spcPct val="150000"/>
              </a:lnSpc>
              <a:spcBef>
                <a:spcPts val="800"/>
              </a:spcBef>
            </a:pPr>
            <a:endParaRPr lang="en-US" altLang="ja-JP" sz="1800" b="0" dirty="0"/>
          </a:p>
        </p:txBody>
      </p:sp>
      <p:sp>
        <p:nvSpPr>
          <p:cNvPr id="4" name="テキスト プレースホルダー 3">
            <a:extLst>
              <a:ext uri="{FF2B5EF4-FFF2-40B4-BE49-F238E27FC236}">
                <a16:creationId xmlns:a16="http://schemas.microsoft.com/office/drawing/2014/main" id="{83D27B9E-43D3-E29E-8402-04654871BA97}"/>
              </a:ext>
            </a:extLst>
          </p:cNvPr>
          <p:cNvSpPr>
            <a:spLocks noGrp="1"/>
          </p:cNvSpPr>
          <p:nvPr>
            <p:ph type="body" sz="quarter" idx="11"/>
          </p:nvPr>
        </p:nvSpPr>
        <p:spPr/>
        <p:txBody>
          <a:bodyPr/>
          <a:lstStyle/>
          <a:p>
            <a:r>
              <a:rPr kumimoji="1" lang="en-US" altLang="ja-JP" dirty="0"/>
              <a:t>Results - 24well</a:t>
            </a:r>
            <a:r>
              <a:rPr kumimoji="1" lang="ja-JP" altLang="en-US"/>
              <a:t>プレート</a:t>
            </a:r>
            <a:r>
              <a:rPr lang="ja-JP" altLang="en-US"/>
              <a:t>、トランスフェクション手法の検討</a:t>
            </a:r>
            <a:endParaRPr kumimoji="1" lang="ja-JP" altLang="en-US"/>
          </a:p>
        </p:txBody>
      </p:sp>
      <p:sp>
        <p:nvSpPr>
          <p:cNvPr id="5" name="正方形/長方形 4">
            <a:extLst>
              <a:ext uri="{FF2B5EF4-FFF2-40B4-BE49-F238E27FC236}">
                <a16:creationId xmlns:a16="http://schemas.microsoft.com/office/drawing/2014/main" id="{F99F59D2-1FE9-5F4C-5403-495D51E3F1F3}"/>
              </a:ext>
            </a:extLst>
          </p:cNvPr>
          <p:cNvSpPr/>
          <p:nvPr/>
        </p:nvSpPr>
        <p:spPr>
          <a:xfrm>
            <a:off x="0" y="834715"/>
            <a:ext cx="12188742" cy="260136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コンテンツ プレースホルダー 2">
            <a:extLst>
              <a:ext uri="{FF2B5EF4-FFF2-40B4-BE49-F238E27FC236}">
                <a16:creationId xmlns:a16="http://schemas.microsoft.com/office/drawing/2014/main" id="{7C21A60F-5F45-DCCB-0E49-7031638DAAEE}"/>
              </a:ext>
            </a:extLst>
          </p:cNvPr>
          <p:cNvSpPr txBox="1">
            <a:spLocks/>
          </p:cNvSpPr>
          <p:nvPr/>
        </p:nvSpPr>
        <p:spPr>
          <a:xfrm>
            <a:off x="546101" y="1038484"/>
            <a:ext cx="5613968" cy="2390516"/>
          </a:xfrm>
          <a:prstGeom prst="rect">
            <a:avLst/>
          </a:prstGeom>
        </p:spPr>
        <p:txBody>
          <a:bodyPr vert="horz" lIns="91440" tIns="45720" rIns="91440" bIns="45720" rtlCol="0">
            <a:normAutofit/>
          </a:bodyPr>
          <a:lstStyle>
            <a:lvl1pPr marL="457200" indent="-457200" algn="l" defTabSz="914400" rtl="0" eaLnBrk="1" latinLnBrk="0" hangingPunct="1">
              <a:lnSpc>
                <a:spcPct val="100000"/>
              </a:lnSpc>
              <a:spcBef>
                <a:spcPts val="14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目的と方法</a:t>
            </a:r>
            <a:endParaRPr lang="en-US" altLang="ja-JP" dirty="0"/>
          </a:p>
          <a:p>
            <a:pPr>
              <a:lnSpc>
                <a:spcPct val="150000"/>
              </a:lnSpc>
              <a:spcBef>
                <a:spcPts val="800"/>
              </a:spcBef>
            </a:pPr>
            <a:r>
              <a:rPr lang="en-US" altLang="ja-JP" sz="1800" b="0" dirty="0"/>
              <a:t>12well</a:t>
            </a:r>
            <a:r>
              <a:rPr lang="ja-JP" altLang="en-US" sz="1800" b="0"/>
              <a:t>から</a:t>
            </a:r>
            <a:r>
              <a:rPr lang="en-US" altLang="ja-JP" sz="1800" b="0" dirty="0"/>
              <a:t>24well</a:t>
            </a:r>
            <a:r>
              <a:rPr lang="ja-JP" altLang="en-US" sz="1800" b="0"/>
              <a:t>にしてプレート</a:t>
            </a:r>
            <a:r>
              <a:rPr lang="en-US" altLang="ja-JP" sz="1800" b="0" dirty="0"/>
              <a:t>1</a:t>
            </a:r>
            <a:r>
              <a:rPr lang="ja-JP" altLang="en-US" sz="1800" b="0"/>
              <a:t>枚あたりで</a:t>
            </a:r>
            <a:br>
              <a:rPr lang="en-US" altLang="ja-JP" sz="1800" b="0" dirty="0"/>
            </a:br>
            <a:r>
              <a:rPr lang="ja-JP" altLang="en-US" sz="1800" b="0"/>
              <a:t>評価できるペプチドの種類を増やす</a:t>
            </a:r>
            <a:endParaRPr lang="en-US" altLang="ja-JP" sz="1800" b="0" dirty="0"/>
          </a:p>
          <a:p>
            <a:pPr>
              <a:lnSpc>
                <a:spcPct val="150000"/>
              </a:lnSpc>
              <a:spcBef>
                <a:spcPts val="800"/>
              </a:spcBef>
            </a:pPr>
            <a:r>
              <a:rPr lang="ja-JP" altLang="en-US" sz="1800" b="0"/>
              <a:t>トランスフェクション時に細胞の剥がれによる結果のばらつきを抑制する</a:t>
            </a:r>
            <a:endParaRPr lang="en-US" altLang="ja-JP" sz="1800" b="0" dirty="0"/>
          </a:p>
          <a:p>
            <a:pPr>
              <a:lnSpc>
                <a:spcPct val="150000"/>
              </a:lnSpc>
              <a:spcBef>
                <a:spcPts val="800"/>
              </a:spcBef>
            </a:pPr>
            <a:endParaRPr lang="en-US" altLang="ja-JP" sz="1800" b="0" dirty="0"/>
          </a:p>
        </p:txBody>
      </p:sp>
      <p:pic>
        <p:nvPicPr>
          <p:cNvPr id="20" name="図 19" descr="図形, 円&#10;&#10;自動的に生成された説明">
            <a:extLst>
              <a:ext uri="{FF2B5EF4-FFF2-40B4-BE49-F238E27FC236}">
                <a16:creationId xmlns:a16="http://schemas.microsoft.com/office/drawing/2014/main" id="{D13D75DD-BE91-5717-3425-F94C009A871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52425" y="2457140"/>
            <a:ext cx="714420" cy="517559"/>
          </a:xfrm>
          <a:prstGeom prst="rect">
            <a:avLst/>
          </a:prstGeom>
        </p:spPr>
      </p:pic>
      <p:sp>
        <p:nvSpPr>
          <p:cNvPr id="21" name="山形 20">
            <a:extLst>
              <a:ext uri="{FF2B5EF4-FFF2-40B4-BE49-F238E27FC236}">
                <a16:creationId xmlns:a16="http://schemas.microsoft.com/office/drawing/2014/main" id="{A36CEF52-93CD-88F3-5329-7C30367C751D}"/>
              </a:ext>
            </a:extLst>
          </p:cNvPr>
          <p:cNvSpPr/>
          <p:nvPr/>
        </p:nvSpPr>
        <p:spPr>
          <a:xfrm>
            <a:off x="9687336" y="2500222"/>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22" name="図 21" descr="図形, 矢印&#10;&#10;自動的に生成された説明">
            <a:extLst>
              <a:ext uri="{FF2B5EF4-FFF2-40B4-BE49-F238E27FC236}">
                <a16:creationId xmlns:a16="http://schemas.microsoft.com/office/drawing/2014/main" id="{8C6CE516-19FF-16B6-4A5D-7A67A5796E9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266920" y="1310618"/>
            <a:ext cx="249353" cy="239876"/>
          </a:xfrm>
          <a:prstGeom prst="rect">
            <a:avLst/>
          </a:prstGeom>
        </p:spPr>
      </p:pic>
      <p:pic>
        <p:nvPicPr>
          <p:cNvPr id="23" name="図 22" descr="洗面道具 が含まれている画像&#10;&#10;自動的に生成された説明">
            <a:extLst>
              <a:ext uri="{FF2B5EF4-FFF2-40B4-BE49-F238E27FC236}">
                <a16:creationId xmlns:a16="http://schemas.microsoft.com/office/drawing/2014/main" id="{5514E087-8EE8-CFB6-56EB-5D02ECDFDE66}"/>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344821" y="1590104"/>
            <a:ext cx="922099" cy="649984"/>
          </a:xfrm>
          <a:prstGeom prst="rect">
            <a:avLst/>
          </a:prstGeom>
        </p:spPr>
      </p:pic>
      <p:sp>
        <p:nvSpPr>
          <p:cNvPr id="24" name="山形 23">
            <a:extLst>
              <a:ext uri="{FF2B5EF4-FFF2-40B4-BE49-F238E27FC236}">
                <a16:creationId xmlns:a16="http://schemas.microsoft.com/office/drawing/2014/main" id="{2AE0AA9B-05F7-7716-6348-8D94B3257871}"/>
              </a:ext>
            </a:extLst>
          </p:cNvPr>
          <p:cNvSpPr/>
          <p:nvPr/>
        </p:nvSpPr>
        <p:spPr>
          <a:xfrm>
            <a:off x="8233432" y="1384830"/>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5" name="山形 24">
            <a:extLst>
              <a:ext uri="{FF2B5EF4-FFF2-40B4-BE49-F238E27FC236}">
                <a16:creationId xmlns:a16="http://schemas.microsoft.com/office/drawing/2014/main" id="{BEA3A480-27FE-CABC-27F2-9F85798A78FD}"/>
              </a:ext>
            </a:extLst>
          </p:cNvPr>
          <p:cNvSpPr/>
          <p:nvPr/>
        </p:nvSpPr>
        <p:spPr>
          <a:xfrm>
            <a:off x="9687336" y="1384830"/>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27" name="図 26" descr="図形, 矢印&#10;&#10;自動的に生成された説明">
            <a:extLst>
              <a:ext uri="{FF2B5EF4-FFF2-40B4-BE49-F238E27FC236}">
                <a16:creationId xmlns:a16="http://schemas.microsoft.com/office/drawing/2014/main" id="{CECFE666-F9AB-C8D0-D720-47743E89F1BA}"/>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166845" y="2261234"/>
            <a:ext cx="249353" cy="239876"/>
          </a:xfrm>
          <a:prstGeom prst="rect">
            <a:avLst/>
          </a:prstGeom>
        </p:spPr>
      </p:pic>
      <p:sp>
        <p:nvSpPr>
          <p:cNvPr id="28" name="山形 27">
            <a:extLst>
              <a:ext uri="{FF2B5EF4-FFF2-40B4-BE49-F238E27FC236}">
                <a16:creationId xmlns:a16="http://schemas.microsoft.com/office/drawing/2014/main" id="{C68A564A-7873-C89D-C88F-3B27E8D8C92B}"/>
              </a:ext>
            </a:extLst>
          </p:cNvPr>
          <p:cNvSpPr/>
          <p:nvPr/>
        </p:nvSpPr>
        <p:spPr>
          <a:xfrm>
            <a:off x="8233432" y="2500222"/>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29" name="図 28" descr="図形, 円&#10;&#10;自動的に生成された説明">
            <a:extLst>
              <a:ext uri="{FF2B5EF4-FFF2-40B4-BE49-F238E27FC236}">
                <a16:creationId xmlns:a16="http://schemas.microsoft.com/office/drawing/2014/main" id="{1973EE29-749F-97EC-A94A-E1E21842888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712728" y="2457140"/>
            <a:ext cx="714420" cy="517559"/>
          </a:xfrm>
          <a:prstGeom prst="rect">
            <a:avLst/>
          </a:prstGeom>
        </p:spPr>
      </p:pic>
      <p:pic>
        <p:nvPicPr>
          <p:cNvPr id="30" name="図 29" descr="洗面道具 が含まれている画像&#10;&#10;自動的に生成された説明">
            <a:extLst>
              <a:ext uri="{FF2B5EF4-FFF2-40B4-BE49-F238E27FC236}">
                <a16:creationId xmlns:a16="http://schemas.microsoft.com/office/drawing/2014/main" id="{66857DE4-4FE1-E182-9A19-1E500D129059}"/>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98513" y="2334917"/>
            <a:ext cx="922099" cy="649983"/>
          </a:xfrm>
          <a:prstGeom prst="rect">
            <a:avLst/>
          </a:prstGeom>
        </p:spPr>
      </p:pic>
      <p:sp>
        <p:nvSpPr>
          <p:cNvPr id="31" name="山形 30">
            <a:extLst>
              <a:ext uri="{FF2B5EF4-FFF2-40B4-BE49-F238E27FC236}">
                <a16:creationId xmlns:a16="http://schemas.microsoft.com/office/drawing/2014/main" id="{E8283676-3FF3-7D42-68DB-9AF33A3C6E8D}"/>
              </a:ext>
            </a:extLst>
          </p:cNvPr>
          <p:cNvSpPr/>
          <p:nvPr/>
        </p:nvSpPr>
        <p:spPr>
          <a:xfrm>
            <a:off x="11239639" y="2500225"/>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2" name="テキスト ボックス 31">
            <a:extLst>
              <a:ext uri="{FF2B5EF4-FFF2-40B4-BE49-F238E27FC236}">
                <a16:creationId xmlns:a16="http://schemas.microsoft.com/office/drawing/2014/main" id="{786E0830-26EC-213F-62E0-873C1E6F2395}"/>
              </a:ext>
            </a:extLst>
          </p:cNvPr>
          <p:cNvSpPr txBox="1"/>
          <p:nvPr/>
        </p:nvSpPr>
        <p:spPr>
          <a:xfrm>
            <a:off x="5943542" y="3018585"/>
            <a:ext cx="2026499" cy="307777"/>
          </a:xfrm>
          <a:prstGeom prst="rect">
            <a:avLst/>
          </a:prstGeom>
          <a:noFill/>
        </p:spPr>
        <p:txBody>
          <a:bodyPr wrap="square" rtlCol="0">
            <a:spAutoFit/>
          </a:bodyPr>
          <a:lstStyle/>
          <a:p>
            <a:pPr algn="ctr"/>
            <a:r>
              <a:rPr kumimoji="1" lang="ja-JP" altLang="en-US" sz="1400"/>
              <a:t>トランスフェクション</a:t>
            </a:r>
          </a:p>
        </p:txBody>
      </p:sp>
      <p:sp>
        <p:nvSpPr>
          <p:cNvPr id="33" name="テキスト ボックス 32">
            <a:extLst>
              <a:ext uri="{FF2B5EF4-FFF2-40B4-BE49-F238E27FC236}">
                <a16:creationId xmlns:a16="http://schemas.microsoft.com/office/drawing/2014/main" id="{C544E260-8C44-60F3-C5C7-1A663B9B9D07}"/>
              </a:ext>
            </a:extLst>
          </p:cNvPr>
          <p:cNvSpPr txBox="1"/>
          <p:nvPr/>
        </p:nvSpPr>
        <p:spPr>
          <a:xfrm>
            <a:off x="8608888" y="3041168"/>
            <a:ext cx="922099" cy="307777"/>
          </a:xfrm>
          <a:prstGeom prst="rect">
            <a:avLst/>
          </a:prstGeom>
          <a:noFill/>
        </p:spPr>
        <p:txBody>
          <a:bodyPr wrap="square" rtlCol="0">
            <a:spAutoFit/>
          </a:bodyPr>
          <a:lstStyle/>
          <a:p>
            <a:pPr algn="ctr"/>
            <a:r>
              <a:rPr kumimoji="1" lang="ja-JP" altLang="en-US" sz="1400"/>
              <a:t>培地交換</a:t>
            </a:r>
          </a:p>
        </p:txBody>
      </p:sp>
      <p:sp>
        <p:nvSpPr>
          <p:cNvPr id="34" name="テキスト ボックス 33">
            <a:extLst>
              <a:ext uri="{FF2B5EF4-FFF2-40B4-BE49-F238E27FC236}">
                <a16:creationId xmlns:a16="http://schemas.microsoft.com/office/drawing/2014/main" id="{668B5997-C3FF-E0D6-BF1F-621554075975}"/>
              </a:ext>
            </a:extLst>
          </p:cNvPr>
          <p:cNvSpPr txBox="1"/>
          <p:nvPr/>
        </p:nvSpPr>
        <p:spPr>
          <a:xfrm>
            <a:off x="10098513" y="3036434"/>
            <a:ext cx="922099" cy="307777"/>
          </a:xfrm>
          <a:prstGeom prst="rect">
            <a:avLst/>
          </a:prstGeom>
          <a:noFill/>
        </p:spPr>
        <p:txBody>
          <a:bodyPr wrap="square" rtlCol="0">
            <a:spAutoFit/>
          </a:bodyPr>
          <a:lstStyle/>
          <a:p>
            <a:pPr algn="ctr"/>
            <a:r>
              <a:rPr kumimoji="1" lang="ja-JP" altLang="en-US" sz="1400"/>
              <a:t>継代</a:t>
            </a:r>
          </a:p>
        </p:txBody>
      </p:sp>
      <p:sp>
        <p:nvSpPr>
          <p:cNvPr id="35" name="テキスト ボックス 34">
            <a:extLst>
              <a:ext uri="{FF2B5EF4-FFF2-40B4-BE49-F238E27FC236}">
                <a16:creationId xmlns:a16="http://schemas.microsoft.com/office/drawing/2014/main" id="{20363238-397D-7B0A-56C0-470B8A8D62DB}"/>
              </a:ext>
            </a:extLst>
          </p:cNvPr>
          <p:cNvSpPr txBox="1"/>
          <p:nvPr/>
        </p:nvSpPr>
        <p:spPr>
          <a:xfrm>
            <a:off x="8140633" y="1397068"/>
            <a:ext cx="438029" cy="307777"/>
          </a:xfrm>
          <a:prstGeom prst="rect">
            <a:avLst/>
          </a:prstGeom>
          <a:noFill/>
        </p:spPr>
        <p:txBody>
          <a:bodyPr wrap="square" rtlCol="0">
            <a:spAutoFit/>
          </a:bodyPr>
          <a:lstStyle/>
          <a:p>
            <a:pPr algn="ctr"/>
            <a:r>
              <a:rPr kumimoji="1" lang="en-US" altLang="ja-JP" sz="1400" dirty="0"/>
              <a:t>4h</a:t>
            </a:r>
            <a:endParaRPr kumimoji="1" lang="ja-JP" altLang="en-US" sz="1400"/>
          </a:p>
        </p:txBody>
      </p:sp>
      <p:sp>
        <p:nvSpPr>
          <p:cNvPr id="36" name="テキスト ボックス 35">
            <a:extLst>
              <a:ext uri="{FF2B5EF4-FFF2-40B4-BE49-F238E27FC236}">
                <a16:creationId xmlns:a16="http://schemas.microsoft.com/office/drawing/2014/main" id="{632AFC54-DB8B-1CFD-E7D2-5B02BBB6A6AB}"/>
              </a:ext>
            </a:extLst>
          </p:cNvPr>
          <p:cNvSpPr txBox="1"/>
          <p:nvPr/>
        </p:nvSpPr>
        <p:spPr>
          <a:xfrm>
            <a:off x="8140633" y="2512458"/>
            <a:ext cx="438029" cy="307777"/>
          </a:xfrm>
          <a:prstGeom prst="rect">
            <a:avLst/>
          </a:prstGeom>
          <a:noFill/>
        </p:spPr>
        <p:txBody>
          <a:bodyPr wrap="square" rtlCol="0">
            <a:spAutoFit/>
          </a:bodyPr>
          <a:lstStyle/>
          <a:p>
            <a:pPr algn="ctr"/>
            <a:r>
              <a:rPr kumimoji="1" lang="en-US" altLang="ja-JP" sz="1400" dirty="0"/>
              <a:t>4h</a:t>
            </a:r>
            <a:endParaRPr kumimoji="1" lang="ja-JP" altLang="en-US" sz="1400"/>
          </a:p>
        </p:txBody>
      </p:sp>
      <p:sp>
        <p:nvSpPr>
          <p:cNvPr id="37" name="テキスト ボックス 36">
            <a:extLst>
              <a:ext uri="{FF2B5EF4-FFF2-40B4-BE49-F238E27FC236}">
                <a16:creationId xmlns:a16="http://schemas.microsoft.com/office/drawing/2014/main" id="{FAFECB70-2AFD-75C0-9E74-D6A2A7983288}"/>
              </a:ext>
            </a:extLst>
          </p:cNvPr>
          <p:cNvSpPr txBox="1"/>
          <p:nvPr/>
        </p:nvSpPr>
        <p:spPr>
          <a:xfrm>
            <a:off x="9522423" y="1409306"/>
            <a:ext cx="593210" cy="307777"/>
          </a:xfrm>
          <a:prstGeom prst="rect">
            <a:avLst/>
          </a:prstGeom>
          <a:noFill/>
        </p:spPr>
        <p:txBody>
          <a:bodyPr wrap="square" rtlCol="0">
            <a:spAutoFit/>
          </a:bodyPr>
          <a:lstStyle/>
          <a:p>
            <a:pPr algn="ctr"/>
            <a:r>
              <a:rPr lang="en-US" altLang="ja-JP" sz="1400" dirty="0"/>
              <a:t>20</a:t>
            </a:r>
            <a:r>
              <a:rPr kumimoji="1" lang="en-US" altLang="ja-JP" sz="1400" dirty="0"/>
              <a:t>h</a:t>
            </a:r>
            <a:endParaRPr kumimoji="1" lang="ja-JP" altLang="en-US" sz="1400"/>
          </a:p>
        </p:txBody>
      </p:sp>
      <p:sp>
        <p:nvSpPr>
          <p:cNvPr id="38" name="テキスト ボックス 37">
            <a:extLst>
              <a:ext uri="{FF2B5EF4-FFF2-40B4-BE49-F238E27FC236}">
                <a16:creationId xmlns:a16="http://schemas.microsoft.com/office/drawing/2014/main" id="{FDDD3857-3831-7C51-2C2B-54ACF20B45CE}"/>
              </a:ext>
            </a:extLst>
          </p:cNvPr>
          <p:cNvSpPr txBox="1"/>
          <p:nvPr/>
        </p:nvSpPr>
        <p:spPr>
          <a:xfrm>
            <a:off x="9522423" y="2516267"/>
            <a:ext cx="593210" cy="307777"/>
          </a:xfrm>
          <a:prstGeom prst="rect">
            <a:avLst/>
          </a:prstGeom>
          <a:noFill/>
        </p:spPr>
        <p:txBody>
          <a:bodyPr wrap="square" rtlCol="0">
            <a:spAutoFit/>
          </a:bodyPr>
          <a:lstStyle/>
          <a:p>
            <a:pPr algn="ctr"/>
            <a:r>
              <a:rPr kumimoji="1" lang="en-US" altLang="ja-JP" sz="1400" dirty="0"/>
              <a:t>4h</a:t>
            </a:r>
            <a:endParaRPr kumimoji="1" lang="ja-JP" altLang="en-US" sz="1400"/>
          </a:p>
        </p:txBody>
      </p:sp>
      <p:sp>
        <p:nvSpPr>
          <p:cNvPr id="39" name="テキスト ボックス 38">
            <a:extLst>
              <a:ext uri="{FF2B5EF4-FFF2-40B4-BE49-F238E27FC236}">
                <a16:creationId xmlns:a16="http://schemas.microsoft.com/office/drawing/2014/main" id="{11AE90CF-DB4D-3D79-7F36-1AB629EA7451}"/>
              </a:ext>
            </a:extLst>
          </p:cNvPr>
          <p:cNvSpPr txBox="1"/>
          <p:nvPr/>
        </p:nvSpPr>
        <p:spPr>
          <a:xfrm>
            <a:off x="11106803" y="2500222"/>
            <a:ext cx="593210" cy="307777"/>
          </a:xfrm>
          <a:prstGeom prst="rect">
            <a:avLst/>
          </a:prstGeom>
          <a:noFill/>
        </p:spPr>
        <p:txBody>
          <a:bodyPr wrap="square" rtlCol="0">
            <a:spAutoFit/>
          </a:bodyPr>
          <a:lstStyle/>
          <a:p>
            <a:pPr algn="ctr"/>
            <a:r>
              <a:rPr lang="en-US" altLang="ja-JP" sz="1400" dirty="0"/>
              <a:t>20</a:t>
            </a:r>
            <a:r>
              <a:rPr kumimoji="1" lang="en-US" altLang="ja-JP" sz="1400" dirty="0"/>
              <a:t>h</a:t>
            </a:r>
            <a:endParaRPr kumimoji="1" lang="ja-JP" altLang="en-US" sz="1400"/>
          </a:p>
        </p:txBody>
      </p:sp>
      <p:pic>
        <p:nvPicPr>
          <p:cNvPr id="40" name="図 39" descr="洗面道具 が含まれている画像&#10;&#10;自動的に生成された説明">
            <a:extLst>
              <a:ext uri="{FF2B5EF4-FFF2-40B4-BE49-F238E27FC236}">
                <a16:creationId xmlns:a16="http://schemas.microsoft.com/office/drawing/2014/main" id="{7DE413F8-2ACE-721F-E9ED-5A8F4254D5FD}"/>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344821" y="1042065"/>
            <a:ext cx="822024" cy="619372"/>
          </a:xfrm>
          <a:prstGeom prst="rect">
            <a:avLst/>
          </a:prstGeom>
        </p:spPr>
      </p:pic>
      <p:pic>
        <p:nvPicPr>
          <p:cNvPr id="41" name="図 40" descr="洗面道具 が含まれている画像&#10;&#10;自動的に生成された説明">
            <a:extLst>
              <a:ext uri="{FF2B5EF4-FFF2-40B4-BE49-F238E27FC236}">
                <a16:creationId xmlns:a16="http://schemas.microsoft.com/office/drawing/2014/main" id="{CE1FD3B5-B011-49F0-A001-D63C4B3D94B2}"/>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612755" y="1503883"/>
            <a:ext cx="922099" cy="649984"/>
          </a:xfrm>
          <a:prstGeom prst="rect">
            <a:avLst/>
          </a:prstGeom>
        </p:spPr>
      </p:pic>
      <p:pic>
        <p:nvPicPr>
          <p:cNvPr id="42" name="図 41" descr="洗面道具 が含まれている画像&#10;&#10;自動的に生成された説明">
            <a:extLst>
              <a:ext uri="{FF2B5EF4-FFF2-40B4-BE49-F238E27FC236}">
                <a16:creationId xmlns:a16="http://schemas.microsoft.com/office/drawing/2014/main" id="{E4F7F013-A966-E2A3-A4E2-B130BBCD892E}"/>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612755" y="981482"/>
            <a:ext cx="822024" cy="619372"/>
          </a:xfrm>
          <a:prstGeom prst="rect">
            <a:avLst/>
          </a:prstGeom>
        </p:spPr>
      </p:pic>
      <p:grpSp>
        <p:nvGrpSpPr>
          <p:cNvPr id="48" name="グループ化 47">
            <a:extLst>
              <a:ext uri="{FF2B5EF4-FFF2-40B4-BE49-F238E27FC236}">
                <a16:creationId xmlns:a16="http://schemas.microsoft.com/office/drawing/2014/main" id="{F6F42004-BD7B-71B1-9128-2E394AA02A67}"/>
              </a:ext>
            </a:extLst>
          </p:cNvPr>
          <p:cNvGrpSpPr/>
          <p:nvPr/>
        </p:nvGrpSpPr>
        <p:grpSpPr>
          <a:xfrm>
            <a:off x="5629037" y="3512708"/>
            <a:ext cx="6036937" cy="2611664"/>
            <a:chOff x="7107620" y="6950839"/>
            <a:chExt cx="6036937" cy="2611664"/>
          </a:xfrm>
        </p:grpSpPr>
        <p:grpSp>
          <p:nvGrpSpPr>
            <p:cNvPr id="46" name="グループ化 45">
              <a:extLst>
                <a:ext uri="{FF2B5EF4-FFF2-40B4-BE49-F238E27FC236}">
                  <a16:creationId xmlns:a16="http://schemas.microsoft.com/office/drawing/2014/main" id="{31948328-1997-E8B8-D343-337D856B634B}"/>
                </a:ext>
              </a:extLst>
            </p:cNvPr>
            <p:cNvGrpSpPr/>
            <p:nvPr/>
          </p:nvGrpSpPr>
          <p:grpSpPr>
            <a:xfrm>
              <a:off x="7107620" y="6950839"/>
              <a:ext cx="3057206" cy="2354837"/>
              <a:chOff x="12436643" y="1765498"/>
              <a:chExt cx="3057206" cy="2354837"/>
            </a:xfrm>
          </p:grpSpPr>
          <p:sp>
            <p:nvSpPr>
              <p:cNvPr id="13" name="テキスト ボックス 12">
                <a:extLst>
                  <a:ext uri="{FF2B5EF4-FFF2-40B4-BE49-F238E27FC236}">
                    <a16:creationId xmlns:a16="http://schemas.microsoft.com/office/drawing/2014/main" id="{C60CA5FF-ED56-602D-F008-91166BBE1A1F}"/>
                  </a:ext>
                </a:extLst>
              </p:cNvPr>
              <p:cNvSpPr txBox="1"/>
              <p:nvPr/>
            </p:nvSpPr>
            <p:spPr>
              <a:xfrm>
                <a:off x="12897687" y="3812558"/>
                <a:ext cx="2135118" cy="307777"/>
              </a:xfrm>
              <a:prstGeom prst="rect">
                <a:avLst/>
              </a:prstGeom>
              <a:noFill/>
            </p:spPr>
            <p:txBody>
              <a:bodyPr wrap="square" rtlCol="0">
                <a:spAutoFit/>
              </a:bodyPr>
              <a:lstStyle/>
              <a:p>
                <a:pPr algn="ctr"/>
                <a:r>
                  <a:rPr lang="en-US" altLang="ja-JP" sz="1400" dirty="0"/>
                  <a:t>12, 24well</a:t>
                </a:r>
                <a:r>
                  <a:rPr lang="ja-JP" altLang="en-US" sz="1400"/>
                  <a:t>での</a:t>
                </a:r>
                <a:r>
                  <a:rPr lang="en-US" altLang="ja-JP" sz="1400" dirty="0"/>
                  <a:t>TGR5</a:t>
                </a:r>
                <a:r>
                  <a:rPr lang="ja-JP" altLang="en-US" sz="1400"/>
                  <a:t>活性</a:t>
                </a:r>
                <a:endParaRPr kumimoji="1" lang="ja-JP" altLang="en-US" sz="1400"/>
              </a:p>
            </p:txBody>
          </p:sp>
          <p:graphicFrame>
            <p:nvGraphicFramePr>
              <p:cNvPr id="16" name="グラフ 15">
                <a:extLst>
                  <a:ext uri="{FF2B5EF4-FFF2-40B4-BE49-F238E27FC236}">
                    <a16:creationId xmlns:a16="http://schemas.microsoft.com/office/drawing/2014/main" id="{B48A5D5A-010A-C7A4-A135-197D8575C406}"/>
                  </a:ext>
                </a:extLst>
              </p:cNvPr>
              <p:cNvGraphicFramePr>
                <a:graphicFrameLocks/>
              </p:cNvGraphicFramePr>
              <p:nvPr>
                <p:extLst>
                  <p:ext uri="{D42A27DB-BD31-4B8C-83A1-F6EECF244321}">
                    <p14:modId xmlns:p14="http://schemas.microsoft.com/office/powerpoint/2010/main" val="557319018"/>
                  </p:ext>
                </p:extLst>
              </p:nvPr>
            </p:nvGraphicFramePr>
            <p:xfrm>
              <a:off x="12436643" y="1765498"/>
              <a:ext cx="3057206" cy="2047059"/>
            </p:xfrm>
            <a:graphic>
              <a:graphicData uri="http://schemas.openxmlformats.org/drawingml/2006/chart">
                <c:chart xmlns:c="http://schemas.openxmlformats.org/drawingml/2006/chart" xmlns:r="http://schemas.openxmlformats.org/officeDocument/2006/relationships" r:id="rId7"/>
              </a:graphicData>
            </a:graphic>
          </p:graphicFrame>
        </p:grpSp>
        <p:grpSp>
          <p:nvGrpSpPr>
            <p:cNvPr id="47" name="グループ化 46">
              <a:extLst>
                <a:ext uri="{FF2B5EF4-FFF2-40B4-BE49-F238E27FC236}">
                  <a16:creationId xmlns:a16="http://schemas.microsoft.com/office/drawing/2014/main" id="{2E40CFF5-7518-0D54-A536-5D19B4CFDD52}"/>
                </a:ext>
              </a:extLst>
            </p:cNvPr>
            <p:cNvGrpSpPr/>
            <p:nvPr/>
          </p:nvGrpSpPr>
          <p:grpSpPr>
            <a:xfrm>
              <a:off x="10087351" y="6950839"/>
              <a:ext cx="3057206" cy="2611664"/>
              <a:chOff x="13009203" y="5111665"/>
              <a:chExt cx="3057206" cy="2611664"/>
            </a:xfrm>
          </p:grpSpPr>
          <p:graphicFrame>
            <p:nvGraphicFramePr>
              <p:cNvPr id="44" name="グラフ 43">
                <a:extLst>
                  <a:ext uri="{FF2B5EF4-FFF2-40B4-BE49-F238E27FC236}">
                    <a16:creationId xmlns:a16="http://schemas.microsoft.com/office/drawing/2014/main" id="{87E2661B-4B0E-47E2-7C95-F01394135582}"/>
                  </a:ext>
                </a:extLst>
              </p:cNvPr>
              <p:cNvGraphicFramePr>
                <a:graphicFrameLocks/>
              </p:cNvGraphicFramePr>
              <p:nvPr>
                <p:extLst>
                  <p:ext uri="{D42A27DB-BD31-4B8C-83A1-F6EECF244321}">
                    <p14:modId xmlns:p14="http://schemas.microsoft.com/office/powerpoint/2010/main" val="1942019777"/>
                  </p:ext>
                </p:extLst>
              </p:nvPr>
            </p:nvGraphicFramePr>
            <p:xfrm>
              <a:off x="13009203" y="5111665"/>
              <a:ext cx="3057206" cy="2047058"/>
            </p:xfrm>
            <a:graphic>
              <a:graphicData uri="http://schemas.openxmlformats.org/drawingml/2006/chart">
                <c:chart xmlns:c="http://schemas.openxmlformats.org/drawingml/2006/chart" xmlns:r="http://schemas.openxmlformats.org/officeDocument/2006/relationships" r:id="rId8"/>
              </a:graphicData>
            </a:graphic>
          </p:graphicFrame>
          <p:sp>
            <p:nvSpPr>
              <p:cNvPr id="45" name="テキスト ボックス 44">
                <a:extLst>
                  <a:ext uri="{FF2B5EF4-FFF2-40B4-BE49-F238E27FC236}">
                    <a16:creationId xmlns:a16="http://schemas.microsoft.com/office/drawing/2014/main" id="{04885B46-E479-F0BB-E4E1-6D87D7470486}"/>
                  </a:ext>
                </a:extLst>
              </p:cNvPr>
              <p:cNvSpPr txBox="1"/>
              <p:nvPr/>
            </p:nvSpPr>
            <p:spPr>
              <a:xfrm>
                <a:off x="13215432" y="7200109"/>
                <a:ext cx="2644747" cy="523220"/>
              </a:xfrm>
              <a:prstGeom prst="rect">
                <a:avLst/>
              </a:prstGeom>
              <a:noFill/>
            </p:spPr>
            <p:txBody>
              <a:bodyPr wrap="square" rtlCol="0">
                <a:spAutoFit/>
              </a:bodyPr>
              <a:lstStyle/>
              <a:p>
                <a:pPr algn="ctr"/>
                <a:r>
                  <a:rPr lang="ja-JP" altLang="en-US" sz="1400"/>
                  <a:t>各トランスフェクション手法での</a:t>
                </a:r>
                <a:r>
                  <a:rPr lang="en-US" altLang="ja-JP" sz="1400" dirty="0"/>
                  <a:t>TGR5</a:t>
                </a:r>
                <a:r>
                  <a:rPr lang="ja-JP" altLang="en-US" sz="1400"/>
                  <a:t>活性</a:t>
                </a:r>
                <a:endParaRPr kumimoji="1" lang="ja-JP" altLang="en-US" sz="1400"/>
              </a:p>
            </p:txBody>
          </p:sp>
        </p:grpSp>
      </p:grpSp>
      <p:sp>
        <p:nvSpPr>
          <p:cNvPr id="49" name="テキスト ボックス 48">
            <a:extLst>
              <a:ext uri="{FF2B5EF4-FFF2-40B4-BE49-F238E27FC236}">
                <a16:creationId xmlns:a16="http://schemas.microsoft.com/office/drawing/2014/main" id="{1CD6A9DE-31D8-5666-BFE8-7D1D88F03489}"/>
              </a:ext>
            </a:extLst>
          </p:cNvPr>
          <p:cNvSpPr txBox="1"/>
          <p:nvPr/>
        </p:nvSpPr>
        <p:spPr>
          <a:xfrm>
            <a:off x="7068552" y="963232"/>
            <a:ext cx="985270" cy="307777"/>
          </a:xfrm>
          <a:prstGeom prst="rect">
            <a:avLst/>
          </a:prstGeom>
          <a:noFill/>
        </p:spPr>
        <p:txBody>
          <a:bodyPr wrap="none" rtlCol="0">
            <a:spAutoFit/>
          </a:bodyPr>
          <a:lstStyle/>
          <a:p>
            <a:r>
              <a:rPr lang="en-US" altLang="ja-JP" sz="1400" dirty="0"/>
              <a:t>0.5µL/well</a:t>
            </a:r>
            <a:endParaRPr kumimoji="1" lang="en-US" altLang="ja-JP" sz="1400" dirty="0"/>
          </a:p>
        </p:txBody>
      </p:sp>
      <p:sp>
        <p:nvSpPr>
          <p:cNvPr id="50" name="テキスト ボックス 49">
            <a:extLst>
              <a:ext uri="{FF2B5EF4-FFF2-40B4-BE49-F238E27FC236}">
                <a16:creationId xmlns:a16="http://schemas.microsoft.com/office/drawing/2014/main" id="{177CB1F9-079D-1209-076B-DD5707985AC7}"/>
              </a:ext>
            </a:extLst>
          </p:cNvPr>
          <p:cNvSpPr txBox="1"/>
          <p:nvPr/>
        </p:nvSpPr>
        <p:spPr>
          <a:xfrm>
            <a:off x="7100983" y="1559737"/>
            <a:ext cx="1081450" cy="307777"/>
          </a:xfrm>
          <a:prstGeom prst="rect">
            <a:avLst/>
          </a:prstGeom>
          <a:noFill/>
        </p:spPr>
        <p:txBody>
          <a:bodyPr wrap="none" rtlCol="0">
            <a:spAutoFit/>
          </a:bodyPr>
          <a:lstStyle/>
          <a:p>
            <a:r>
              <a:rPr lang="en-US" altLang="ja-JP" sz="1400" dirty="0"/>
              <a:t>0.25µL/well</a:t>
            </a:r>
            <a:endParaRPr kumimoji="1" lang="en-US" altLang="ja-JP" sz="1400" dirty="0"/>
          </a:p>
        </p:txBody>
      </p:sp>
      <p:sp>
        <p:nvSpPr>
          <p:cNvPr id="51" name="テキスト ボックス 50">
            <a:extLst>
              <a:ext uri="{FF2B5EF4-FFF2-40B4-BE49-F238E27FC236}">
                <a16:creationId xmlns:a16="http://schemas.microsoft.com/office/drawing/2014/main" id="{4EDD625F-FE29-5D1D-53B0-802254F7A786}"/>
              </a:ext>
            </a:extLst>
          </p:cNvPr>
          <p:cNvSpPr txBox="1"/>
          <p:nvPr/>
        </p:nvSpPr>
        <p:spPr>
          <a:xfrm>
            <a:off x="7170802" y="2566185"/>
            <a:ext cx="1002197" cy="307777"/>
          </a:xfrm>
          <a:prstGeom prst="rect">
            <a:avLst/>
          </a:prstGeom>
          <a:noFill/>
        </p:spPr>
        <p:txBody>
          <a:bodyPr wrap="none" rtlCol="0">
            <a:spAutoFit/>
          </a:bodyPr>
          <a:lstStyle/>
          <a:p>
            <a:r>
              <a:rPr lang="en-US" altLang="ja-JP" sz="1400" dirty="0"/>
              <a:t>2.5µL/dish</a:t>
            </a:r>
            <a:endParaRPr kumimoji="1" lang="en-US" altLang="ja-JP" sz="1400" dirty="0"/>
          </a:p>
        </p:txBody>
      </p:sp>
    </p:spTree>
    <p:extLst>
      <p:ext uri="{BB962C8B-B14F-4D97-AF65-F5344CB8AC3E}">
        <p14:creationId xmlns:p14="http://schemas.microsoft.com/office/powerpoint/2010/main" val="516374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正方形/長方形 48">
            <a:extLst>
              <a:ext uri="{FF2B5EF4-FFF2-40B4-BE49-F238E27FC236}">
                <a16:creationId xmlns:a16="http://schemas.microsoft.com/office/drawing/2014/main" id="{4CA6DF7D-B94D-4BC5-3BB1-6490E7690F20}"/>
              </a:ext>
            </a:extLst>
          </p:cNvPr>
          <p:cNvSpPr/>
          <p:nvPr/>
        </p:nvSpPr>
        <p:spPr>
          <a:xfrm>
            <a:off x="0" y="834716"/>
            <a:ext cx="12188742" cy="202269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B97C6627-A80B-103B-B8DF-13AFFD473547}"/>
              </a:ext>
            </a:extLst>
          </p:cNvPr>
          <p:cNvSpPr>
            <a:spLocks noGrp="1"/>
          </p:cNvSpPr>
          <p:nvPr>
            <p:ph idx="1"/>
          </p:nvPr>
        </p:nvSpPr>
        <p:spPr>
          <a:xfrm>
            <a:off x="546100" y="1038483"/>
            <a:ext cx="6564579" cy="1793319"/>
          </a:xfrm>
        </p:spPr>
        <p:txBody>
          <a:bodyPr>
            <a:normAutofit lnSpcReduction="10000"/>
          </a:bodyPr>
          <a:lstStyle/>
          <a:p>
            <a:pPr marL="0" indent="0">
              <a:buNone/>
            </a:pPr>
            <a:r>
              <a:rPr lang="ja-JP" altLang="en-US"/>
              <a:t>目的と方法</a:t>
            </a:r>
            <a:endParaRPr lang="en-US" altLang="ja-JP" dirty="0"/>
          </a:p>
          <a:p>
            <a:pPr>
              <a:lnSpc>
                <a:spcPct val="160000"/>
              </a:lnSpc>
              <a:spcBef>
                <a:spcPts val="800"/>
              </a:spcBef>
            </a:pPr>
            <a:r>
              <a:rPr lang="ja-JP" altLang="en-US" sz="1800" b="0"/>
              <a:t>トランスフェクションが</a:t>
            </a:r>
            <a:r>
              <a:rPr lang="en-US" altLang="ja-JP" sz="1800" b="0" dirty="0"/>
              <a:t>4</a:t>
            </a:r>
            <a:r>
              <a:rPr lang="ja-JP" altLang="en-US" sz="1800" b="0"/>
              <a:t>時間だと</a:t>
            </a:r>
            <a:r>
              <a:rPr lang="en-US" altLang="ja-JP" sz="1800" b="0" dirty="0"/>
              <a:t>1</a:t>
            </a:r>
            <a:r>
              <a:rPr lang="ja-JP" altLang="en-US" sz="1800" b="0"/>
              <a:t>日にする実験の量が増える</a:t>
            </a:r>
            <a:endParaRPr lang="en-US" altLang="ja-JP" sz="1800" b="0" dirty="0"/>
          </a:p>
          <a:p>
            <a:pPr>
              <a:lnSpc>
                <a:spcPct val="160000"/>
              </a:lnSpc>
              <a:spcBef>
                <a:spcPts val="800"/>
              </a:spcBef>
            </a:pPr>
            <a:r>
              <a:rPr lang="ja-JP" altLang="en-US" sz="1800" b="0"/>
              <a:t>トランスフェクションを</a:t>
            </a:r>
            <a:r>
              <a:rPr lang="en-US" altLang="ja-JP" sz="1800" b="0" dirty="0"/>
              <a:t>24</a:t>
            </a:r>
            <a:r>
              <a:rPr lang="ja-JP" altLang="en-US" sz="1800" b="0"/>
              <a:t>時間にできないか検討</a:t>
            </a:r>
            <a:endParaRPr lang="en-US" altLang="ja-JP" sz="1800" b="0" dirty="0"/>
          </a:p>
        </p:txBody>
      </p:sp>
      <p:sp>
        <p:nvSpPr>
          <p:cNvPr id="4" name="テキスト プレースホルダー 3">
            <a:extLst>
              <a:ext uri="{FF2B5EF4-FFF2-40B4-BE49-F238E27FC236}">
                <a16:creationId xmlns:a16="http://schemas.microsoft.com/office/drawing/2014/main" id="{7B1752D7-312D-512A-9C55-168BF375C2B8}"/>
              </a:ext>
            </a:extLst>
          </p:cNvPr>
          <p:cNvSpPr>
            <a:spLocks noGrp="1"/>
          </p:cNvSpPr>
          <p:nvPr>
            <p:ph type="body" sz="quarter" idx="11"/>
          </p:nvPr>
        </p:nvSpPr>
        <p:spPr/>
        <p:txBody>
          <a:bodyPr/>
          <a:lstStyle/>
          <a:p>
            <a:r>
              <a:rPr kumimoji="1" lang="en-US" altLang="ja-JP" dirty="0"/>
              <a:t>Results -</a:t>
            </a:r>
            <a:r>
              <a:rPr lang="ja-JP" altLang="en-US"/>
              <a:t>トランスフェクション時間の検討</a:t>
            </a:r>
            <a:endParaRPr kumimoji="1" lang="en-US" altLang="ja-JP" dirty="0"/>
          </a:p>
        </p:txBody>
      </p:sp>
      <p:sp>
        <p:nvSpPr>
          <p:cNvPr id="45" name="コンテンツ プレースホルダー 2">
            <a:extLst>
              <a:ext uri="{FF2B5EF4-FFF2-40B4-BE49-F238E27FC236}">
                <a16:creationId xmlns:a16="http://schemas.microsoft.com/office/drawing/2014/main" id="{714FCA20-6166-9ABA-30FF-5D3A8176C2FA}"/>
              </a:ext>
            </a:extLst>
          </p:cNvPr>
          <p:cNvSpPr txBox="1">
            <a:spLocks/>
          </p:cNvSpPr>
          <p:nvPr/>
        </p:nvSpPr>
        <p:spPr>
          <a:xfrm>
            <a:off x="546100" y="2971560"/>
            <a:ext cx="6101836" cy="1554480"/>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結果</a:t>
            </a:r>
            <a:endParaRPr lang="en-US" altLang="ja-JP" dirty="0"/>
          </a:p>
          <a:p>
            <a:pPr>
              <a:lnSpc>
                <a:spcPct val="150000"/>
              </a:lnSpc>
              <a:spcBef>
                <a:spcPts val="800"/>
              </a:spcBef>
            </a:pPr>
            <a:r>
              <a:rPr lang="ja-JP" altLang="en-US" sz="1800" b="0"/>
              <a:t>ルシフェラーゼの発現量はほとんど変わらない</a:t>
            </a:r>
            <a:endParaRPr lang="en-US" altLang="ja-JP" sz="1800" b="0" dirty="0"/>
          </a:p>
          <a:p>
            <a:pPr>
              <a:lnSpc>
                <a:spcPct val="150000"/>
              </a:lnSpc>
              <a:spcBef>
                <a:spcPts val="800"/>
              </a:spcBef>
            </a:pPr>
            <a:r>
              <a:rPr lang="en-US" altLang="ja-JP" sz="1800" b="0" dirty="0"/>
              <a:t>β-gal</a:t>
            </a:r>
            <a:r>
              <a:rPr lang="ja-JP" altLang="en-US" sz="1800" b="0"/>
              <a:t>の発現量は</a:t>
            </a:r>
            <a:r>
              <a:rPr lang="en-US" altLang="ja-JP" sz="1800" b="0" dirty="0"/>
              <a:t>24h</a:t>
            </a:r>
            <a:r>
              <a:rPr lang="ja-JP" altLang="en-US" sz="1800" b="0"/>
              <a:t>で大きくなった</a:t>
            </a:r>
            <a:endParaRPr lang="en-US" altLang="ja-JP" sz="1800" b="0" dirty="0"/>
          </a:p>
        </p:txBody>
      </p:sp>
      <p:grpSp>
        <p:nvGrpSpPr>
          <p:cNvPr id="54" name="グループ化 53">
            <a:extLst>
              <a:ext uri="{FF2B5EF4-FFF2-40B4-BE49-F238E27FC236}">
                <a16:creationId xmlns:a16="http://schemas.microsoft.com/office/drawing/2014/main" id="{1E3B7F09-BE25-EF8A-CB96-8D7D1978E153}"/>
              </a:ext>
            </a:extLst>
          </p:cNvPr>
          <p:cNvGrpSpPr/>
          <p:nvPr/>
        </p:nvGrpSpPr>
        <p:grpSpPr>
          <a:xfrm>
            <a:off x="7221211" y="1038483"/>
            <a:ext cx="4143902" cy="1793319"/>
            <a:chOff x="5540541" y="1110956"/>
            <a:chExt cx="4143902" cy="1793319"/>
          </a:xfrm>
        </p:grpSpPr>
        <p:sp>
          <p:nvSpPr>
            <p:cNvPr id="9" name="山形 8">
              <a:extLst>
                <a:ext uri="{FF2B5EF4-FFF2-40B4-BE49-F238E27FC236}">
                  <a16:creationId xmlns:a16="http://schemas.microsoft.com/office/drawing/2014/main" id="{6D5B1688-AA91-EE3B-30DD-1109799C57CB}"/>
                </a:ext>
              </a:extLst>
            </p:cNvPr>
            <p:cNvSpPr/>
            <p:nvPr/>
          </p:nvSpPr>
          <p:spPr>
            <a:xfrm>
              <a:off x="9256146" y="2055552"/>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10" name="図 9" descr="図形, 矢印&#10;&#10;自動的に生成された説明">
              <a:extLst>
                <a:ext uri="{FF2B5EF4-FFF2-40B4-BE49-F238E27FC236}">
                  <a16:creationId xmlns:a16="http://schemas.microsoft.com/office/drawing/2014/main" id="{A8E0E883-5BE9-483F-736B-3644B5B71C6F}"/>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982949" y="1110956"/>
              <a:ext cx="249353" cy="239876"/>
            </a:xfrm>
            <a:prstGeom prst="rect">
              <a:avLst/>
            </a:prstGeom>
          </p:spPr>
        </p:pic>
        <p:pic>
          <p:nvPicPr>
            <p:cNvPr id="11" name="図 10" descr="洗面道具 が含まれている画像&#10;&#10;自動的に生成された説明">
              <a:extLst>
                <a:ext uri="{FF2B5EF4-FFF2-40B4-BE49-F238E27FC236}">
                  <a16:creationId xmlns:a16="http://schemas.microsoft.com/office/drawing/2014/main" id="{F7055041-6C54-BC22-DCEC-8B12D5FD9FA8}"/>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092742" y="1230894"/>
              <a:ext cx="922099" cy="649984"/>
            </a:xfrm>
            <a:prstGeom prst="rect">
              <a:avLst/>
            </a:prstGeom>
          </p:spPr>
        </p:pic>
        <p:sp>
          <p:nvSpPr>
            <p:cNvPr id="12" name="山形 11">
              <a:extLst>
                <a:ext uri="{FF2B5EF4-FFF2-40B4-BE49-F238E27FC236}">
                  <a16:creationId xmlns:a16="http://schemas.microsoft.com/office/drawing/2014/main" id="{B045FCDE-1DA3-98F5-EFB2-B455540D5CF3}"/>
                </a:ext>
              </a:extLst>
            </p:cNvPr>
            <p:cNvSpPr/>
            <p:nvPr/>
          </p:nvSpPr>
          <p:spPr>
            <a:xfrm>
              <a:off x="7425170" y="1299086"/>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山形 12">
              <a:extLst>
                <a:ext uri="{FF2B5EF4-FFF2-40B4-BE49-F238E27FC236}">
                  <a16:creationId xmlns:a16="http://schemas.microsoft.com/office/drawing/2014/main" id="{23A2558E-6528-6F1F-1339-E934D5ADD9C2}"/>
                </a:ext>
              </a:extLst>
            </p:cNvPr>
            <p:cNvSpPr/>
            <p:nvPr/>
          </p:nvSpPr>
          <p:spPr>
            <a:xfrm>
              <a:off x="9256146" y="1299086"/>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14" name="図 13" descr="洗面道具 が含まれている画像&#10;&#10;自動的に生成された説明">
              <a:extLst>
                <a:ext uri="{FF2B5EF4-FFF2-40B4-BE49-F238E27FC236}">
                  <a16:creationId xmlns:a16="http://schemas.microsoft.com/office/drawing/2014/main" id="{260A6413-9308-62C6-57A2-A6BE7AF91A80}"/>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011300" y="1166580"/>
              <a:ext cx="922099" cy="649984"/>
            </a:xfrm>
            <a:prstGeom prst="rect">
              <a:avLst/>
            </a:prstGeom>
          </p:spPr>
        </p:pic>
        <p:pic>
          <p:nvPicPr>
            <p:cNvPr id="16" name="図 15" descr="図形, 矢印&#10;&#10;自動的に生成された説明">
              <a:extLst>
                <a:ext uri="{FF2B5EF4-FFF2-40B4-BE49-F238E27FC236}">
                  <a16:creationId xmlns:a16="http://schemas.microsoft.com/office/drawing/2014/main" id="{0E1848FE-E7F1-146D-28D9-653FC351D48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914766" y="1816564"/>
              <a:ext cx="249353" cy="239876"/>
            </a:xfrm>
            <a:prstGeom prst="rect">
              <a:avLst/>
            </a:prstGeom>
          </p:spPr>
        </p:pic>
        <p:sp>
          <p:nvSpPr>
            <p:cNvPr id="17" name="山形 16">
              <a:extLst>
                <a:ext uri="{FF2B5EF4-FFF2-40B4-BE49-F238E27FC236}">
                  <a16:creationId xmlns:a16="http://schemas.microsoft.com/office/drawing/2014/main" id="{761F65FA-6E42-48D7-1332-7C2FEAE75DBA}"/>
                </a:ext>
              </a:extLst>
            </p:cNvPr>
            <p:cNvSpPr/>
            <p:nvPr/>
          </p:nvSpPr>
          <p:spPr>
            <a:xfrm>
              <a:off x="7425170" y="2055552"/>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5" name="テキスト ボックス 24">
              <a:extLst>
                <a:ext uri="{FF2B5EF4-FFF2-40B4-BE49-F238E27FC236}">
                  <a16:creationId xmlns:a16="http://schemas.microsoft.com/office/drawing/2014/main" id="{4EBDE97C-5ADD-C040-B2DB-49DB3BFD891C}"/>
                </a:ext>
              </a:extLst>
            </p:cNvPr>
            <p:cNvSpPr txBox="1"/>
            <p:nvPr/>
          </p:nvSpPr>
          <p:spPr>
            <a:xfrm>
              <a:off x="5540541" y="2573915"/>
              <a:ext cx="2026499" cy="307777"/>
            </a:xfrm>
            <a:prstGeom prst="rect">
              <a:avLst/>
            </a:prstGeom>
            <a:noFill/>
          </p:spPr>
          <p:txBody>
            <a:bodyPr wrap="square" rtlCol="0">
              <a:spAutoFit/>
            </a:bodyPr>
            <a:lstStyle/>
            <a:p>
              <a:pPr algn="ctr"/>
              <a:r>
                <a:rPr kumimoji="1" lang="ja-JP" altLang="en-US" sz="1400"/>
                <a:t>トランスフェクション</a:t>
              </a:r>
            </a:p>
          </p:txBody>
        </p:sp>
        <p:sp>
          <p:nvSpPr>
            <p:cNvPr id="29" name="テキスト ボックス 28">
              <a:extLst>
                <a:ext uri="{FF2B5EF4-FFF2-40B4-BE49-F238E27FC236}">
                  <a16:creationId xmlns:a16="http://schemas.microsoft.com/office/drawing/2014/main" id="{DA83BDC2-13F4-3D17-EB1B-6DCFABD28393}"/>
                </a:ext>
              </a:extLst>
            </p:cNvPr>
            <p:cNvSpPr txBox="1"/>
            <p:nvPr/>
          </p:nvSpPr>
          <p:spPr>
            <a:xfrm>
              <a:off x="8017441" y="2596498"/>
              <a:ext cx="922099" cy="307777"/>
            </a:xfrm>
            <a:prstGeom prst="rect">
              <a:avLst/>
            </a:prstGeom>
            <a:noFill/>
          </p:spPr>
          <p:txBody>
            <a:bodyPr wrap="square" rtlCol="0">
              <a:spAutoFit/>
            </a:bodyPr>
            <a:lstStyle/>
            <a:p>
              <a:pPr algn="ctr"/>
              <a:r>
                <a:rPr kumimoji="1" lang="ja-JP" altLang="en-US" sz="1400"/>
                <a:t>培地交換</a:t>
              </a:r>
            </a:p>
          </p:txBody>
        </p:sp>
        <p:sp>
          <p:nvSpPr>
            <p:cNvPr id="35" name="テキスト ボックス 34">
              <a:extLst>
                <a:ext uri="{FF2B5EF4-FFF2-40B4-BE49-F238E27FC236}">
                  <a16:creationId xmlns:a16="http://schemas.microsoft.com/office/drawing/2014/main" id="{844F26BC-BC9F-5512-9B18-59CF1D97DE7B}"/>
                </a:ext>
              </a:extLst>
            </p:cNvPr>
            <p:cNvSpPr txBox="1"/>
            <p:nvPr/>
          </p:nvSpPr>
          <p:spPr>
            <a:xfrm>
              <a:off x="7332371" y="1311323"/>
              <a:ext cx="438029" cy="307777"/>
            </a:xfrm>
            <a:prstGeom prst="rect">
              <a:avLst/>
            </a:prstGeom>
            <a:noFill/>
          </p:spPr>
          <p:txBody>
            <a:bodyPr wrap="square" rtlCol="0">
              <a:spAutoFit/>
            </a:bodyPr>
            <a:lstStyle/>
            <a:p>
              <a:pPr algn="ctr"/>
              <a:r>
                <a:rPr kumimoji="1" lang="en-US" altLang="ja-JP" sz="1400" dirty="0"/>
                <a:t>4h</a:t>
              </a:r>
              <a:endParaRPr kumimoji="1" lang="ja-JP" altLang="en-US" sz="1400"/>
            </a:p>
          </p:txBody>
        </p:sp>
        <p:sp>
          <p:nvSpPr>
            <p:cNvPr id="46" name="テキスト ボックス 45">
              <a:extLst>
                <a:ext uri="{FF2B5EF4-FFF2-40B4-BE49-F238E27FC236}">
                  <a16:creationId xmlns:a16="http://schemas.microsoft.com/office/drawing/2014/main" id="{3F4A00F5-5E7B-7320-ED35-7E1263C147C4}"/>
                </a:ext>
              </a:extLst>
            </p:cNvPr>
            <p:cNvSpPr txBox="1"/>
            <p:nvPr/>
          </p:nvSpPr>
          <p:spPr>
            <a:xfrm>
              <a:off x="7303986" y="2067187"/>
              <a:ext cx="494798" cy="307777"/>
            </a:xfrm>
            <a:prstGeom prst="rect">
              <a:avLst/>
            </a:prstGeom>
            <a:noFill/>
          </p:spPr>
          <p:txBody>
            <a:bodyPr wrap="square" rtlCol="0">
              <a:spAutoFit/>
            </a:bodyPr>
            <a:lstStyle/>
            <a:p>
              <a:pPr algn="ctr"/>
              <a:r>
                <a:rPr kumimoji="1" lang="en-US" altLang="ja-JP" sz="1400" dirty="0"/>
                <a:t>24h</a:t>
              </a:r>
              <a:endParaRPr kumimoji="1" lang="ja-JP" altLang="en-US" sz="1400"/>
            </a:p>
          </p:txBody>
        </p:sp>
        <p:sp>
          <p:nvSpPr>
            <p:cNvPr id="47" name="テキスト ボックス 46">
              <a:extLst>
                <a:ext uri="{FF2B5EF4-FFF2-40B4-BE49-F238E27FC236}">
                  <a16:creationId xmlns:a16="http://schemas.microsoft.com/office/drawing/2014/main" id="{C533534C-5B8C-968E-2153-86659E1CF898}"/>
                </a:ext>
              </a:extLst>
            </p:cNvPr>
            <p:cNvSpPr txBox="1"/>
            <p:nvPr/>
          </p:nvSpPr>
          <p:spPr>
            <a:xfrm>
              <a:off x="9091233" y="1323561"/>
              <a:ext cx="593210" cy="307777"/>
            </a:xfrm>
            <a:prstGeom prst="rect">
              <a:avLst/>
            </a:prstGeom>
            <a:noFill/>
          </p:spPr>
          <p:txBody>
            <a:bodyPr wrap="square" rtlCol="0">
              <a:spAutoFit/>
            </a:bodyPr>
            <a:lstStyle/>
            <a:p>
              <a:pPr algn="ctr"/>
              <a:r>
                <a:rPr lang="en-US" altLang="ja-JP" sz="1400" dirty="0"/>
                <a:t>20</a:t>
              </a:r>
              <a:r>
                <a:rPr kumimoji="1" lang="en-US" altLang="ja-JP" sz="1400" dirty="0"/>
                <a:t>h</a:t>
              </a:r>
              <a:endParaRPr kumimoji="1" lang="ja-JP" altLang="en-US" sz="1400"/>
            </a:p>
          </p:txBody>
        </p:sp>
        <p:sp>
          <p:nvSpPr>
            <p:cNvPr id="50" name="テキスト ボックス 49">
              <a:extLst>
                <a:ext uri="{FF2B5EF4-FFF2-40B4-BE49-F238E27FC236}">
                  <a16:creationId xmlns:a16="http://schemas.microsoft.com/office/drawing/2014/main" id="{509C716F-5BE4-08B2-6181-A433938D029B}"/>
                </a:ext>
              </a:extLst>
            </p:cNvPr>
            <p:cNvSpPr txBox="1"/>
            <p:nvPr/>
          </p:nvSpPr>
          <p:spPr>
            <a:xfrm>
              <a:off x="9091233" y="2071597"/>
              <a:ext cx="593210" cy="307777"/>
            </a:xfrm>
            <a:prstGeom prst="rect">
              <a:avLst/>
            </a:prstGeom>
            <a:noFill/>
          </p:spPr>
          <p:txBody>
            <a:bodyPr wrap="square" rtlCol="0">
              <a:spAutoFit/>
            </a:bodyPr>
            <a:lstStyle/>
            <a:p>
              <a:pPr algn="ctr"/>
              <a:r>
                <a:rPr kumimoji="1" lang="en-US" altLang="ja-JP" sz="1400" dirty="0"/>
                <a:t>24h</a:t>
              </a:r>
              <a:endParaRPr kumimoji="1" lang="ja-JP" altLang="en-US" sz="1400"/>
            </a:p>
          </p:txBody>
        </p:sp>
        <p:pic>
          <p:nvPicPr>
            <p:cNvPr id="52" name="図 51" descr="洗面道具 が含まれている画像&#10;&#10;自動的に生成された説明">
              <a:extLst>
                <a:ext uri="{FF2B5EF4-FFF2-40B4-BE49-F238E27FC236}">
                  <a16:creationId xmlns:a16="http://schemas.microsoft.com/office/drawing/2014/main" id="{4F2C5817-9AAD-C37C-83D8-BD538DC0C4B4}"/>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131489" y="1942193"/>
              <a:ext cx="922099" cy="649984"/>
            </a:xfrm>
            <a:prstGeom prst="rect">
              <a:avLst/>
            </a:prstGeom>
          </p:spPr>
        </p:pic>
        <p:pic>
          <p:nvPicPr>
            <p:cNvPr id="53" name="図 52" descr="洗面道具 が含まれている画像&#10;&#10;自動的に生成された説明">
              <a:extLst>
                <a:ext uri="{FF2B5EF4-FFF2-40B4-BE49-F238E27FC236}">
                  <a16:creationId xmlns:a16="http://schemas.microsoft.com/office/drawing/2014/main" id="{0ADD1995-6B3D-6CC7-3D0F-A06F691B3B55}"/>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039737" y="1936502"/>
              <a:ext cx="922099" cy="649984"/>
            </a:xfrm>
            <a:prstGeom prst="rect">
              <a:avLst/>
            </a:prstGeom>
          </p:spPr>
        </p:pic>
      </p:grpSp>
      <p:graphicFrame>
        <p:nvGraphicFramePr>
          <p:cNvPr id="57" name="コンテンツ プレースホルダー 4">
            <a:extLst>
              <a:ext uri="{FF2B5EF4-FFF2-40B4-BE49-F238E27FC236}">
                <a16:creationId xmlns:a16="http://schemas.microsoft.com/office/drawing/2014/main" id="{34BCE3D5-DBA5-EA7E-4032-96B121023888}"/>
              </a:ext>
            </a:extLst>
          </p:cNvPr>
          <p:cNvGraphicFramePr>
            <a:graphicFrameLocks/>
          </p:cNvGraphicFramePr>
          <p:nvPr>
            <p:extLst>
              <p:ext uri="{D42A27DB-BD31-4B8C-83A1-F6EECF244321}">
                <p14:modId xmlns:p14="http://schemas.microsoft.com/office/powerpoint/2010/main" val="2510216190"/>
              </p:ext>
            </p:extLst>
          </p:nvPr>
        </p:nvGraphicFramePr>
        <p:xfrm>
          <a:off x="6781225" y="3191471"/>
          <a:ext cx="4884749" cy="1554480"/>
        </p:xfrm>
        <a:graphic>
          <a:graphicData uri="http://schemas.openxmlformats.org/drawingml/2006/table">
            <a:tbl>
              <a:tblPr firstRow="1">
                <a:tableStyleId>{5C22544A-7EE6-4342-B048-85BDC9FD1C3A}</a:tableStyleId>
              </a:tblPr>
              <a:tblGrid>
                <a:gridCol w="892841">
                  <a:extLst>
                    <a:ext uri="{9D8B030D-6E8A-4147-A177-3AD203B41FA5}">
                      <a16:colId xmlns:a16="http://schemas.microsoft.com/office/drawing/2014/main" val="3776233085"/>
                    </a:ext>
                  </a:extLst>
                </a:gridCol>
                <a:gridCol w="2278343">
                  <a:extLst>
                    <a:ext uri="{9D8B030D-6E8A-4147-A177-3AD203B41FA5}">
                      <a16:colId xmlns:a16="http://schemas.microsoft.com/office/drawing/2014/main" val="197989292"/>
                    </a:ext>
                  </a:extLst>
                </a:gridCol>
                <a:gridCol w="1713565">
                  <a:extLst>
                    <a:ext uri="{9D8B030D-6E8A-4147-A177-3AD203B41FA5}">
                      <a16:colId xmlns:a16="http://schemas.microsoft.com/office/drawing/2014/main" val="1064099103"/>
                    </a:ext>
                  </a:extLst>
                </a:gridCol>
              </a:tblGrid>
              <a:tr h="292281">
                <a:tc>
                  <a:txBody>
                    <a:bodyPr/>
                    <a:lstStyle/>
                    <a:p>
                      <a:endParaRPr kumimoji="1" lang="ja-JP" altLang="en-US" sz="1600">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ja-JP" altLang="en-US" sz="1600" b="1">
                          <a:latin typeface="+mj-ea"/>
                          <a:ea typeface="+mj-ea"/>
                        </a:rPr>
                        <a:t>ルシフェラーゼ活性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en-US" altLang="ja-JP" sz="1600" b="1" dirty="0">
                          <a:latin typeface="+mj-ea"/>
                          <a:ea typeface="+mj-ea"/>
                        </a:rPr>
                        <a:t>β-gal</a:t>
                      </a:r>
                      <a:r>
                        <a:rPr kumimoji="1" lang="ja-JP" altLang="en-US" sz="1600" b="1">
                          <a:latin typeface="+mj-ea"/>
                          <a:ea typeface="+mj-ea"/>
                        </a:rPr>
                        <a:t>活性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833150340"/>
                  </a:ext>
                </a:extLst>
              </a:tr>
              <a:tr h="263053">
                <a:tc>
                  <a:txBody>
                    <a:bodyPr/>
                    <a:lstStyle/>
                    <a:p>
                      <a:pPr algn="ctr"/>
                      <a:r>
                        <a:rPr kumimoji="1" lang="en-US" altLang="ja-JP" sz="1400" b="0" dirty="0">
                          <a:solidFill>
                            <a:schemeClr val="tx1"/>
                          </a:solidFill>
                          <a:latin typeface="+mj-ea"/>
                          <a:ea typeface="+mj-ea"/>
                        </a:rPr>
                        <a:t>N1</a:t>
                      </a:r>
                      <a:endParaRPr kumimoji="1" lang="ja-JP" altLang="en-US" sz="1400" b="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rgbClr val="000000"/>
                          </a:solidFill>
                          <a:effectLst/>
                          <a:latin typeface="游ゴシック" panose="020B0400000000000000" pitchFamily="34" charset="-128"/>
                          <a:ea typeface="游ゴシック" panose="020B0400000000000000" pitchFamily="34" charset="-128"/>
                        </a:rPr>
                        <a:t>130885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rgbClr val="000000"/>
                          </a:solidFill>
                          <a:effectLst/>
                          <a:latin typeface="游ゴシック" panose="020B0400000000000000" pitchFamily="34" charset="-128"/>
                          <a:ea typeface="游ゴシック" panose="020B0400000000000000" pitchFamily="34" charset="-128"/>
                        </a:rPr>
                        <a:t>0.134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827669"/>
                  </a:ext>
                </a:extLst>
              </a:tr>
              <a:tr h="263053">
                <a:tc>
                  <a:txBody>
                    <a:bodyPr/>
                    <a:lstStyle/>
                    <a:p>
                      <a:pPr algn="ctr"/>
                      <a:r>
                        <a:rPr kumimoji="1" lang="en-US" altLang="ja-JP" sz="1400" b="0" dirty="0">
                          <a:solidFill>
                            <a:schemeClr val="tx1"/>
                          </a:solidFill>
                          <a:latin typeface="+mj-ea"/>
                          <a:ea typeface="+mj-ea"/>
                        </a:rPr>
                        <a:t>N2</a:t>
                      </a:r>
                      <a:endParaRPr kumimoji="1" lang="ja-JP" altLang="en-US" sz="1400" b="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rgbClr val="000000"/>
                          </a:solidFill>
                          <a:effectLst/>
                          <a:latin typeface="游ゴシック" panose="020B0400000000000000" pitchFamily="34" charset="-128"/>
                          <a:ea typeface="游ゴシック" panose="020B0400000000000000" pitchFamily="34" charset="-128"/>
                        </a:rPr>
                        <a:t>192369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rgbClr val="000000"/>
                          </a:solidFill>
                          <a:effectLst/>
                          <a:latin typeface="游ゴシック" panose="020B0400000000000000" pitchFamily="34" charset="-128"/>
                          <a:ea typeface="游ゴシック" panose="020B0400000000000000" pitchFamily="34" charset="-128"/>
                        </a:rPr>
                        <a:t>0.185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5661351"/>
                  </a:ext>
                </a:extLst>
              </a:tr>
              <a:tr h="263053">
                <a:tc>
                  <a:txBody>
                    <a:bodyPr/>
                    <a:lstStyle/>
                    <a:p>
                      <a:pPr algn="ctr"/>
                      <a:r>
                        <a:rPr kumimoji="1" lang="en-US" altLang="ja-JP" sz="1400" b="0" dirty="0">
                          <a:solidFill>
                            <a:schemeClr val="tx1"/>
                          </a:solidFill>
                          <a:latin typeface="+mj-ea"/>
                          <a:ea typeface="+mj-ea"/>
                        </a:rPr>
                        <a:t>N3</a:t>
                      </a:r>
                      <a:endParaRPr kumimoji="1" lang="ja-JP" altLang="en-US" sz="1400" b="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rgbClr val="000000"/>
                          </a:solidFill>
                          <a:effectLst/>
                          <a:latin typeface="游ゴシック" panose="020B0400000000000000" pitchFamily="34" charset="-128"/>
                          <a:ea typeface="游ゴシック" panose="020B0400000000000000" pitchFamily="34" charset="-128"/>
                        </a:rPr>
                        <a:t>53250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rgbClr val="000000"/>
                          </a:solidFill>
                          <a:effectLst/>
                          <a:latin typeface="游ゴシック" panose="020B0400000000000000" pitchFamily="34" charset="-128"/>
                          <a:ea typeface="游ゴシック" panose="020B0400000000000000" pitchFamily="34" charset="-128"/>
                        </a:rPr>
                        <a:t>0.085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1408743"/>
                  </a:ext>
                </a:extLst>
              </a:tr>
              <a:tr h="263053">
                <a:tc>
                  <a:txBody>
                    <a:bodyPr/>
                    <a:lstStyle/>
                    <a:p>
                      <a:pPr algn="ctr"/>
                      <a:r>
                        <a:rPr kumimoji="1" lang="ja-JP" altLang="en-US" sz="1400" b="0">
                          <a:solidFill>
                            <a:schemeClr val="tx1"/>
                          </a:solidFill>
                          <a:latin typeface="+mj-ea"/>
                          <a:ea typeface="+mj-ea"/>
                        </a:rPr>
                        <a:t>平均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rgbClr val="000000"/>
                          </a:solidFill>
                          <a:effectLst/>
                          <a:latin typeface="游ゴシック" panose="020B0400000000000000" pitchFamily="34" charset="-128"/>
                          <a:ea typeface="游ゴシック" panose="020B0400000000000000" pitchFamily="34" charset="-128"/>
                        </a:rPr>
                        <a:t>125501.3333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400" b="1" i="0" u="none" strike="noStrike" dirty="0">
                          <a:solidFill>
                            <a:schemeClr val="accent4"/>
                          </a:solidFill>
                          <a:effectLst/>
                          <a:latin typeface="游ゴシック" panose="020B0400000000000000" pitchFamily="34" charset="-128"/>
                          <a:ea typeface="游ゴシック" panose="020B0400000000000000" pitchFamily="34" charset="-128"/>
                        </a:rPr>
                        <a:t>0.134666667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3525260"/>
                  </a:ext>
                </a:extLst>
              </a:tr>
            </a:tbl>
          </a:graphicData>
        </a:graphic>
      </p:graphicFrame>
      <p:graphicFrame>
        <p:nvGraphicFramePr>
          <p:cNvPr id="58" name="コンテンツ プレースホルダー 4">
            <a:extLst>
              <a:ext uri="{FF2B5EF4-FFF2-40B4-BE49-F238E27FC236}">
                <a16:creationId xmlns:a16="http://schemas.microsoft.com/office/drawing/2014/main" id="{092D1BB1-5B03-CACC-53E7-3630D70F7DE1}"/>
              </a:ext>
            </a:extLst>
          </p:cNvPr>
          <p:cNvGraphicFramePr>
            <a:graphicFrameLocks/>
          </p:cNvGraphicFramePr>
          <p:nvPr>
            <p:extLst>
              <p:ext uri="{D42A27DB-BD31-4B8C-83A1-F6EECF244321}">
                <p14:modId xmlns:p14="http://schemas.microsoft.com/office/powerpoint/2010/main" val="2226657834"/>
              </p:ext>
            </p:extLst>
          </p:nvPr>
        </p:nvGraphicFramePr>
        <p:xfrm>
          <a:off x="6781225" y="5130136"/>
          <a:ext cx="4884749" cy="1554480"/>
        </p:xfrm>
        <a:graphic>
          <a:graphicData uri="http://schemas.openxmlformats.org/drawingml/2006/table">
            <a:tbl>
              <a:tblPr firstRow="1">
                <a:tableStyleId>{5C22544A-7EE6-4342-B048-85BDC9FD1C3A}</a:tableStyleId>
              </a:tblPr>
              <a:tblGrid>
                <a:gridCol w="892841">
                  <a:extLst>
                    <a:ext uri="{9D8B030D-6E8A-4147-A177-3AD203B41FA5}">
                      <a16:colId xmlns:a16="http://schemas.microsoft.com/office/drawing/2014/main" val="3776233085"/>
                    </a:ext>
                  </a:extLst>
                </a:gridCol>
                <a:gridCol w="2278343">
                  <a:extLst>
                    <a:ext uri="{9D8B030D-6E8A-4147-A177-3AD203B41FA5}">
                      <a16:colId xmlns:a16="http://schemas.microsoft.com/office/drawing/2014/main" val="197989292"/>
                    </a:ext>
                  </a:extLst>
                </a:gridCol>
                <a:gridCol w="1713565">
                  <a:extLst>
                    <a:ext uri="{9D8B030D-6E8A-4147-A177-3AD203B41FA5}">
                      <a16:colId xmlns:a16="http://schemas.microsoft.com/office/drawing/2014/main" val="1064099103"/>
                    </a:ext>
                  </a:extLst>
                </a:gridCol>
              </a:tblGrid>
              <a:tr h="292281">
                <a:tc>
                  <a:txBody>
                    <a:bodyPr/>
                    <a:lstStyle/>
                    <a:p>
                      <a:endParaRPr kumimoji="1" lang="ja-JP" altLang="en-US" sz="1600">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ja-JP" altLang="en-US" sz="1600" b="1">
                          <a:latin typeface="+mj-ea"/>
                          <a:ea typeface="+mj-ea"/>
                        </a:rPr>
                        <a:t>ルシフェラーゼ活性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en-US" altLang="ja-JP" sz="1600" b="1" dirty="0">
                          <a:latin typeface="+mj-ea"/>
                          <a:ea typeface="+mj-ea"/>
                        </a:rPr>
                        <a:t>β-gal</a:t>
                      </a:r>
                      <a:r>
                        <a:rPr kumimoji="1" lang="ja-JP" altLang="en-US" sz="1600" b="1">
                          <a:latin typeface="+mj-ea"/>
                          <a:ea typeface="+mj-ea"/>
                        </a:rPr>
                        <a:t>活性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833150340"/>
                  </a:ext>
                </a:extLst>
              </a:tr>
              <a:tr h="263053">
                <a:tc>
                  <a:txBody>
                    <a:bodyPr/>
                    <a:lstStyle/>
                    <a:p>
                      <a:pPr algn="ctr"/>
                      <a:r>
                        <a:rPr kumimoji="1" lang="en-US" altLang="ja-JP" sz="1400" b="0" dirty="0">
                          <a:solidFill>
                            <a:schemeClr val="tx1"/>
                          </a:solidFill>
                          <a:latin typeface="+mj-ea"/>
                          <a:ea typeface="+mj-ea"/>
                        </a:rPr>
                        <a:t>N1</a:t>
                      </a:r>
                      <a:endParaRPr kumimoji="1" lang="ja-JP" altLang="en-US" sz="1400" b="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chemeClr val="tx1"/>
                          </a:solidFill>
                          <a:effectLst/>
                          <a:latin typeface="+mj-ea"/>
                          <a:ea typeface="+mj-ea"/>
                        </a:rPr>
                        <a:t>107097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chemeClr val="tx1"/>
                          </a:solidFill>
                          <a:effectLst/>
                          <a:latin typeface="+mj-ea"/>
                          <a:ea typeface="+mj-ea"/>
                        </a:rPr>
                        <a:t>0.222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827669"/>
                  </a:ext>
                </a:extLst>
              </a:tr>
              <a:tr h="263053">
                <a:tc>
                  <a:txBody>
                    <a:bodyPr/>
                    <a:lstStyle/>
                    <a:p>
                      <a:pPr algn="ctr"/>
                      <a:r>
                        <a:rPr kumimoji="1" lang="en-US" altLang="ja-JP" sz="1400" b="0" dirty="0">
                          <a:solidFill>
                            <a:schemeClr val="tx1"/>
                          </a:solidFill>
                          <a:latin typeface="+mj-ea"/>
                          <a:ea typeface="+mj-ea"/>
                        </a:rPr>
                        <a:t>N2</a:t>
                      </a:r>
                      <a:endParaRPr kumimoji="1" lang="ja-JP" altLang="en-US" sz="1400" b="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chemeClr val="tx1"/>
                          </a:solidFill>
                          <a:effectLst/>
                          <a:latin typeface="+mj-ea"/>
                          <a:ea typeface="+mj-ea"/>
                        </a:rPr>
                        <a:t>120166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chemeClr val="tx1"/>
                          </a:solidFill>
                          <a:effectLst/>
                          <a:latin typeface="+mj-ea"/>
                          <a:ea typeface="+mj-ea"/>
                        </a:rPr>
                        <a:t>0.251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5661351"/>
                  </a:ext>
                </a:extLst>
              </a:tr>
              <a:tr h="263053">
                <a:tc>
                  <a:txBody>
                    <a:bodyPr/>
                    <a:lstStyle/>
                    <a:p>
                      <a:pPr algn="ctr"/>
                      <a:r>
                        <a:rPr kumimoji="1" lang="en-US" altLang="ja-JP" sz="1400" b="0" dirty="0">
                          <a:solidFill>
                            <a:schemeClr val="tx1"/>
                          </a:solidFill>
                          <a:latin typeface="+mj-ea"/>
                          <a:ea typeface="+mj-ea"/>
                        </a:rPr>
                        <a:t>N3</a:t>
                      </a:r>
                      <a:endParaRPr kumimoji="1" lang="ja-JP" altLang="en-US" sz="1400" b="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chemeClr val="tx1"/>
                          </a:solidFill>
                          <a:effectLst/>
                          <a:latin typeface="+mj-ea"/>
                          <a:ea typeface="+mj-ea"/>
                        </a:rPr>
                        <a:t>103814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chemeClr val="tx1"/>
                          </a:solidFill>
                          <a:effectLst/>
                          <a:latin typeface="+mj-ea"/>
                          <a:ea typeface="+mj-ea"/>
                        </a:rPr>
                        <a:t>0.248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1408743"/>
                  </a:ext>
                </a:extLst>
              </a:tr>
              <a:tr h="263053">
                <a:tc>
                  <a:txBody>
                    <a:bodyPr/>
                    <a:lstStyle/>
                    <a:p>
                      <a:pPr algn="ctr"/>
                      <a:r>
                        <a:rPr kumimoji="1" lang="ja-JP" altLang="en-US" sz="1400" b="0">
                          <a:solidFill>
                            <a:schemeClr val="tx1"/>
                          </a:solidFill>
                          <a:latin typeface="+mj-ea"/>
                          <a:ea typeface="+mj-ea"/>
                        </a:rPr>
                        <a:t>平均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400" b="0" i="0" u="none" strike="noStrike" dirty="0">
                          <a:solidFill>
                            <a:schemeClr val="tx1"/>
                          </a:solidFill>
                          <a:effectLst/>
                          <a:latin typeface="+mj-ea"/>
                          <a:ea typeface="+mj-ea"/>
                        </a:rPr>
                        <a:t>110359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ja-JP" sz="1400" b="1" i="0" u="none" strike="noStrike" dirty="0">
                          <a:solidFill>
                            <a:schemeClr val="accent4"/>
                          </a:solidFill>
                          <a:effectLst/>
                          <a:latin typeface="+mj-ea"/>
                          <a:ea typeface="+mj-ea"/>
                        </a:rPr>
                        <a:t>0.240333333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3525260"/>
                  </a:ext>
                </a:extLst>
              </a:tr>
            </a:tbl>
          </a:graphicData>
        </a:graphic>
      </p:graphicFrame>
      <p:sp>
        <p:nvSpPr>
          <p:cNvPr id="59" name="テキスト ボックス 58">
            <a:extLst>
              <a:ext uri="{FF2B5EF4-FFF2-40B4-BE49-F238E27FC236}">
                <a16:creationId xmlns:a16="http://schemas.microsoft.com/office/drawing/2014/main" id="{4A4879B5-2811-BE3D-2676-16FBD4B18FD3}"/>
              </a:ext>
            </a:extLst>
          </p:cNvPr>
          <p:cNvSpPr txBox="1"/>
          <p:nvPr/>
        </p:nvSpPr>
        <p:spPr>
          <a:xfrm>
            <a:off x="7723723" y="2857412"/>
            <a:ext cx="2999752" cy="307777"/>
          </a:xfrm>
          <a:prstGeom prst="rect">
            <a:avLst/>
          </a:prstGeom>
          <a:noFill/>
        </p:spPr>
        <p:txBody>
          <a:bodyPr wrap="square" rtlCol="0">
            <a:spAutoFit/>
          </a:bodyPr>
          <a:lstStyle/>
          <a:p>
            <a:pPr algn="ctr"/>
            <a:r>
              <a:rPr kumimoji="1" lang="en-US" altLang="ja-JP" sz="1400" dirty="0"/>
              <a:t>4h</a:t>
            </a:r>
            <a:r>
              <a:rPr kumimoji="1" lang="ja-JP" altLang="en-US" sz="1400"/>
              <a:t>トランスフェクションでの活性</a:t>
            </a:r>
          </a:p>
        </p:txBody>
      </p:sp>
      <p:sp>
        <p:nvSpPr>
          <p:cNvPr id="60" name="テキスト ボックス 59">
            <a:extLst>
              <a:ext uri="{FF2B5EF4-FFF2-40B4-BE49-F238E27FC236}">
                <a16:creationId xmlns:a16="http://schemas.microsoft.com/office/drawing/2014/main" id="{C9D2E0EE-0457-F490-8250-1DE82546E7D0}"/>
              </a:ext>
            </a:extLst>
          </p:cNvPr>
          <p:cNvSpPr txBox="1"/>
          <p:nvPr/>
        </p:nvSpPr>
        <p:spPr>
          <a:xfrm>
            <a:off x="7723723" y="4812024"/>
            <a:ext cx="2999752" cy="307777"/>
          </a:xfrm>
          <a:prstGeom prst="rect">
            <a:avLst/>
          </a:prstGeom>
          <a:noFill/>
        </p:spPr>
        <p:txBody>
          <a:bodyPr wrap="square" rtlCol="0">
            <a:spAutoFit/>
          </a:bodyPr>
          <a:lstStyle/>
          <a:p>
            <a:pPr algn="ctr"/>
            <a:r>
              <a:rPr kumimoji="1" lang="en-US" altLang="ja-JP" sz="1400" dirty="0"/>
              <a:t>24h</a:t>
            </a:r>
            <a:r>
              <a:rPr kumimoji="1" lang="ja-JP" altLang="en-US" sz="1400"/>
              <a:t>トランスフェクションでの活性</a:t>
            </a:r>
          </a:p>
        </p:txBody>
      </p:sp>
      <p:sp>
        <p:nvSpPr>
          <p:cNvPr id="7" name="テキスト ボックス 6">
            <a:extLst>
              <a:ext uri="{FF2B5EF4-FFF2-40B4-BE49-F238E27FC236}">
                <a16:creationId xmlns:a16="http://schemas.microsoft.com/office/drawing/2014/main" id="{1B48543C-C30E-D702-BB56-7DE050D65D34}"/>
              </a:ext>
            </a:extLst>
          </p:cNvPr>
          <p:cNvSpPr txBox="1"/>
          <p:nvPr/>
        </p:nvSpPr>
        <p:spPr>
          <a:xfrm>
            <a:off x="210574" y="6325108"/>
            <a:ext cx="6103398" cy="400110"/>
          </a:xfrm>
          <a:prstGeom prst="rect">
            <a:avLst/>
          </a:prstGeom>
          <a:noFill/>
        </p:spPr>
        <p:txBody>
          <a:bodyPr wrap="square">
            <a:spAutoFit/>
          </a:bodyPr>
          <a:lstStyle/>
          <a:p>
            <a:pPr marL="0" indent="0" algn="ctr">
              <a:buNone/>
            </a:pPr>
            <a:r>
              <a:rPr lang="ja-JP" altLang="en-US" sz="2000" b="1" u="sng">
                <a:latin typeface="Yu Gothic" panose="020B0400000000000000" pitchFamily="34" charset="-128"/>
                <a:ea typeface="Yu Gothic" panose="020B0400000000000000" pitchFamily="34" charset="-128"/>
              </a:rPr>
              <a:t>トランスフェクションは</a:t>
            </a:r>
            <a:r>
              <a:rPr lang="en-US" altLang="ja-JP" sz="2000" b="1" u="sng" dirty="0">
                <a:latin typeface="Yu Gothic" panose="020B0400000000000000" pitchFamily="34" charset="-128"/>
                <a:ea typeface="Yu Gothic" panose="020B0400000000000000" pitchFamily="34" charset="-128"/>
              </a:rPr>
              <a:t>24h</a:t>
            </a:r>
            <a:r>
              <a:rPr lang="ja-JP" altLang="en-US" sz="2000" b="1" u="sng">
                <a:latin typeface="Yu Gothic" panose="020B0400000000000000" pitchFamily="34" charset="-128"/>
                <a:ea typeface="Yu Gothic" panose="020B0400000000000000" pitchFamily="34" charset="-128"/>
              </a:rPr>
              <a:t>を採用</a:t>
            </a:r>
            <a:endParaRPr lang="en-US" altLang="ja-JP" sz="2000" b="1" u="sng" dirty="0">
              <a:latin typeface="Yu Gothic" panose="020B0400000000000000" pitchFamily="34" charset="-128"/>
              <a:ea typeface="Yu Gothic" panose="020B0400000000000000" pitchFamily="34" charset="-128"/>
            </a:endParaRPr>
          </a:p>
        </p:txBody>
      </p:sp>
      <p:grpSp>
        <p:nvGrpSpPr>
          <p:cNvPr id="18" name="グループ化 17">
            <a:extLst>
              <a:ext uri="{FF2B5EF4-FFF2-40B4-BE49-F238E27FC236}">
                <a16:creationId xmlns:a16="http://schemas.microsoft.com/office/drawing/2014/main" id="{CAB612BB-64C0-8D56-15F3-3B6AAFD948B0}"/>
              </a:ext>
            </a:extLst>
          </p:cNvPr>
          <p:cNvGrpSpPr/>
          <p:nvPr/>
        </p:nvGrpSpPr>
        <p:grpSpPr>
          <a:xfrm>
            <a:off x="546100" y="4556947"/>
            <a:ext cx="5970110" cy="1582931"/>
            <a:chOff x="-5108612" y="4499398"/>
            <a:chExt cx="5970110" cy="1582931"/>
          </a:xfrm>
        </p:grpSpPr>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32B031F7-8CBF-3A51-578C-C6A2E71943EC}"/>
                    </a:ext>
                  </a:extLst>
                </p:cNvPr>
                <p:cNvSpPr txBox="1"/>
                <p:nvPr/>
              </p:nvSpPr>
              <p:spPr>
                <a:xfrm>
                  <a:off x="-4743644" y="5444269"/>
                  <a:ext cx="5240173" cy="638060"/>
                </a:xfrm>
                <a:prstGeom prst="rect">
                  <a:avLst/>
                </a:prstGeom>
                <a:noFill/>
              </p:spPr>
              <p:txBody>
                <a:bodyPr wrap="square">
                  <a:spAutoFit/>
                </a:bodyPr>
                <a:lstStyle/>
                <a:p>
                  <a:pPr marL="0" indent="0">
                    <a:spcBef>
                      <a:spcPts val="2400"/>
                    </a:spcBef>
                    <a:buNone/>
                  </a:pPr>
                  <a14:m>
                    <m:oMathPara xmlns:m="http://schemas.openxmlformats.org/officeDocument/2006/math">
                      <m:oMathParaPr>
                        <m:jc m:val="centerGroup"/>
                      </m:oMathParaPr>
                      <m:oMath xmlns:m="http://schemas.openxmlformats.org/officeDocument/2006/math">
                        <m:r>
                          <a:rPr lang="en-US" altLang="ja-JP" sz="1600" b="0" i="1" smtClean="0">
                            <a:latin typeface="Cambria Math" panose="02040503050406030204" pitchFamily="18" charset="0"/>
                          </a:rPr>
                          <m:t>𝐿𝑢𝑐</m:t>
                        </m:r>
                        <m:r>
                          <a:rPr lang="en-US" altLang="ja-JP" sz="1600" b="0" i="1" smtClean="0">
                            <a:latin typeface="Cambria Math" panose="02040503050406030204" pitchFamily="18" charset="0"/>
                          </a:rPr>
                          <m:t> </m:t>
                        </m:r>
                        <m:r>
                          <a:rPr lang="en-US" altLang="ja-JP" sz="1600" b="0" i="1" smtClean="0">
                            <a:latin typeface="Cambria Math" panose="02040503050406030204" pitchFamily="18" charset="0"/>
                          </a:rPr>
                          <m:t>𝑎𝑐𝑡𝑖𝑣𝑖𝑡𝑦</m:t>
                        </m:r>
                        <m:r>
                          <a:rPr lang="en-US" altLang="ja-JP" sz="1600" b="0" i="1" smtClean="0">
                            <a:latin typeface="Cambria Math" panose="02040503050406030204" pitchFamily="18" charset="0"/>
                          </a:rPr>
                          <m:t>= </m:t>
                        </m:r>
                        <m:f>
                          <m:fPr>
                            <m:ctrlPr>
                              <a:rPr lang="en-US" altLang="ja-JP" sz="1600" i="1" smtClean="0">
                                <a:latin typeface="Cambria Math" panose="02040503050406030204" pitchFamily="18" charset="0"/>
                              </a:rPr>
                            </m:ctrlPr>
                          </m:fPr>
                          <m:num>
                            <m:r>
                              <a:rPr lang="ja-JP" altLang="en-US" sz="1600" b="0" i="1">
                                <a:latin typeface="Cambria Math" panose="02040503050406030204" pitchFamily="18" charset="0"/>
                              </a:rPr>
                              <m:t>ホタル</m:t>
                            </m:r>
                            <m:r>
                              <a:rPr lang="ja-JP" altLang="en-US" sz="1600" b="0" i="1" smtClean="0">
                                <a:latin typeface="Cambria Math" panose="02040503050406030204" pitchFamily="18" charset="0"/>
                              </a:rPr>
                              <m:t>ルシフェラーゼ</m:t>
                            </m:r>
                            <m:r>
                              <a:rPr lang="ja-JP" altLang="en-US" sz="1600" b="0" i="1">
                                <a:latin typeface="Cambria Math" panose="02040503050406030204" pitchFamily="18" charset="0"/>
                              </a:rPr>
                              <m:t>活性</m:t>
                            </m:r>
                          </m:num>
                          <m:den>
                            <m:r>
                              <a:rPr lang="en-US" altLang="ja-JP" sz="1600" b="0" i="1">
                                <a:latin typeface="Cambria Math" panose="02040503050406030204" pitchFamily="18" charset="0"/>
                              </a:rPr>
                              <m:t>𝛽</m:t>
                            </m:r>
                            <m:r>
                              <a:rPr lang="en-US" altLang="ja-JP" sz="1600" b="0" i="1" smtClean="0">
                                <a:latin typeface="Cambria Math" panose="02040503050406030204" pitchFamily="18" charset="0"/>
                              </a:rPr>
                              <m:t>𝑔𝑎𝑙</m:t>
                            </m:r>
                            <m:r>
                              <a:rPr lang="ja-JP" altLang="en-US" sz="1600" b="0" i="1">
                                <a:latin typeface="Cambria Math" panose="02040503050406030204" pitchFamily="18" charset="0"/>
                              </a:rPr>
                              <m:t>活性</m:t>
                            </m:r>
                          </m:den>
                        </m:f>
                        <m:r>
                          <a:rPr lang="en-US" altLang="ja-JP" sz="1600" b="0" i="1" smtClean="0">
                            <a:latin typeface="Cambria Math" panose="02040503050406030204" pitchFamily="18" charset="0"/>
                          </a:rPr>
                          <m:t> </m:t>
                        </m:r>
                      </m:oMath>
                    </m:oMathPara>
                  </a14:m>
                  <a:endParaRPr lang="en-US" altLang="ja-JP" sz="1600" dirty="0"/>
                </a:p>
              </p:txBody>
            </p:sp>
          </mc:Choice>
          <mc:Fallback xmlns="">
            <p:sp>
              <p:nvSpPr>
                <p:cNvPr id="5" name="テキスト ボックス 4">
                  <a:extLst>
                    <a:ext uri="{FF2B5EF4-FFF2-40B4-BE49-F238E27FC236}">
                      <a16:creationId xmlns:a16="http://schemas.microsoft.com/office/drawing/2014/main" id="{32B031F7-8CBF-3A51-578C-C6A2E71943EC}"/>
                    </a:ext>
                  </a:extLst>
                </p:cNvPr>
                <p:cNvSpPr txBox="1">
                  <a:spLocks noRot="1" noChangeAspect="1" noMove="1" noResize="1" noEditPoints="1" noAdjustHandles="1" noChangeArrowheads="1" noChangeShapeType="1" noTextEdit="1"/>
                </p:cNvSpPr>
                <p:nvPr/>
              </p:nvSpPr>
              <p:spPr>
                <a:xfrm>
                  <a:off x="-4743644" y="5444269"/>
                  <a:ext cx="5240173" cy="638060"/>
                </a:xfrm>
                <a:prstGeom prst="rect">
                  <a:avLst/>
                </a:prstGeom>
                <a:blipFill>
                  <a:blip r:embed="rId5"/>
                  <a:stretch>
                    <a:fillRect b="-5882"/>
                  </a:stretch>
                </a:blipFill>
              </p:spPr>
              <p:txBody>
                <a:bodyPr/>
                <a:lstStyle/>
                <a:p>
                  <a:r>
                    <a:rPr lang="ja-JP" altLang="en-US">
                      <a:noFill/>
                    </a:rPr>
                    <a:t> </a:t>
                  </a:r>
                </a:p>
              </p:txBody>
            </p:sp>
          </mc:Fallback>
        </mc:AlternateContent>
        <p:sp>
          <p:nvSpPr>
            <p:cNvPr id="15" name="テキスト ボックス 14">
              <a:extLst>
                <a:ext uri="{FF2B5EF4-FFF2-40B4-BE49-F238E27FC236}">
                  <a16:creationId xmlns:a16="http://schemas.microsoft.com/office/drawing/2014/main" id="{CE031CF3-C47B-5EAC-7863-DECD48DEDAC1}"/>
                </a:ext>
              </a:extLst>
            </p:cNvPr>
            <p:cNvSpPr txBox="1"/>
            <p:nvPr/>
          </p:nvSpPr>
          <p:spPr>
            <a:xfrm>
              <a:off x="-5108612" y="4499398"/>
              <a:ext cx="5970110" cy="880754"/>
            </a:xfrm>
            <a:prstGeom prst="rect">
              <a:avLst/>
            </a:prstGeom>
            <a:noFill/>
          </p:spPr>
          <p:txBody>
            <a:bodyPr wrap="square">
              <a:spAutoFit/>
            </a:bodyPr>
            <a:lstStyle/>
            <a:p>
              <a:pPr marL="0" indent="0">
                <a:lnSpc>
                  <a:spcPct val="150000"/>
                </a:lnSpc>
                <a:buNone/>
              </a:pPr>
              <a:r>
                <a:rPr lang="en-US" altLang="ja-JP" sz="1800" b="0" dirty="0">
                  <a:latin typeface="Yu Gothic" panose="020B0400000000000000" pitchFamily="34" charset="-128"/>
                  <a:ea typeface="Yu Gothic" panose="020B0400000000000000" pitchFamily="34" charset="-128"/>
                </a:rPr>
                <a:t>β-gal</a:t>
              </a:r>
              <a:r>
                <a:rPr lang="ja-JP" altLang="en-US" sz="1800" b="0">
                  <a:latin typeface="Yu Gothic" panose="020B0400000000000000" pitchFamily="34" charset="-128"/>
                  <a:ea typeface="Yu Gothic" panose="020B0400000000000000" pitchFamily="34" charset="-128"/>
                </a:rPr>
                <a:t>は</a:t>
              </a:r>
              <a:r>
                <a:rPr lang="en-US" altLang="ja-JP" sz="1800" b="0" dirty="0">
                  <a:latin typeface="Yu Gothic" panose="020B0400000000000000" pitchFamily="34" charset="-128"/>
                  <a:ea typeface="Yu Gothic" panose="020B0400000000000000" pitchFamily="34" charset="-128"/>
                </a:rPr>
                <a:t>well</a:t>
              </a:r>
              <a:r>
                <a:rPr lang="ja-JP" altLang="en-US" sz="1800" b="0">
                  <a:latin typeface="Yu Gothic" panose="020B0400000000000000" pitchFamily="34" charset="-128"/>
                  <a:ea typeface="Yu Gothic" panose="020B0400000000000000" pitchFamily="34" charset="-128"/>
                </a:rPr>
                <a:t>での遺伝子の発現量を見るためのもので</a:t>
              </a:r>
              <a:r>
                <a:rPr lang="en-US" altLang="ja-JP" sz="1800" b="0" dirty="0">
                  <a:latin typeface="Yu Gothic" panose="020B0400000000000000" pitchFamily="34" charset="-128"/>
                  <a:ea typeface="Yu Gothic" panose="020B0400000000000000" pitchFamily="34" charset="-128"/>
                </a:rPr>
                <a:t>,</a:t>
              </a:r>
            </a:p>
            <a:p>
              <a:pPr marL="0" indent="0">
                <a:lnSpc>
                  <a:spcPct val="150000"/>
                </a:lnSpc>
                <a:buNone/>
              </a:pPr>
              <a:r>
                <a:rPr lang="en-US" altLang="ja-JP" sz="1800" b="0" dirty="0">
                  <a:latin typeface="Yu Gothic" panose="020B0400000000000000" pitchFamily="34" charset="-128"/>
                  <a:ea typeface="Yu Gothic" panose="020B0400000000000000" pitchFamily="34" charset="-128"/>
                </a:rPr>
                <a:t>β-gal</a:t>
              </a:r>
              <a:r>
                <a:rPr lang="ja-JP" altLang="en-US" sz="1800" b="0">
                  <a:latin typeface="Yu Gothic" panose="020B0400000000000000" pitchFamily="34" charset="-128"/>
                  <a:ea typeface="Yu Gothic" panose="020B0400000000000000" pitchFamily="34" charset="-128"/>
                </a:rPr>
                <a:t>活性が時間によって増えることに問題はない</a:t>
              </a:r>
              <a:endParaRPr lang="en-US" altLang="ja-JP" sz="1800" b="0" dirty="0">
                <a:latin typeface="Yu Gothic" panose="020B0400000000000000" pitchFamily="34" charset="-128"/>
                <a:ea typeface="Yu Gothic" panose="020B0400000000000000" pitchFamily="34" charset="-128"/>
              </a:endParaRPr>
            </a:p>
          </p:txBody>
        </p:sp>
      </p:grpSp>
    </p:spTree>
    <p:extLst>
      <p:ext uri="{BB962C8B-B14F-4D97-AF65-F5344CB8AC3E}">
        <p14:creationId xmlns:p14="http://schemas.microsoft.com/office/powerpoint/2010/main" val="2197328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正方形/長方形 48">
            <a:extLst>
              <a:ext uri="{FF2B5EF4-FFF2-40B4-BE49-F238E27FC236}">
                <a16:creationId xmlns:a16="http://schemas.microsoft.com/office/drawing/2014/main" id="{4CA6DF7D-B94D-4BC5-3BB1-6490E7690F20}"/>
              </a:ext>
            </a:extLst>
          </p:cNvPr>
          <p:cNvSpPr>
            <a:spLocks/>
          </p:cNvSpPr>
          <p:nvPr/>
        </p:nvSpPr>
        <p:spPr>
          <a:xfrm>
            <a:off x="0" y="836216"/>
            <a:ext cx="12192000" cy="172684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B97C6627-A80B-103B-B8DF-13AFFD473547}"/>
              </a:ext>
            </a:extLst>
          </p:cNvPr>
          <p:cNvSpPr>
            <a:spLocks noGrp="1"/>
          </p:cNvSpPr>
          <p:nvPr>
            <p:ph idx="1"/>
          </p:nvPr>
        </p:nvSpPr>
        <p:spPr>
          <a:xfrm>
            <a:off x="546100" y="1038484"/>
            <a:ext cx="7230017" cy="1768579"/>
          </a:xfrm>
        </p:spPr>
        <p:txBody>
          <a:bodyPr>
            <a:normAutofit/>
          </a:bodyPr>
          <a:lstStyle/>
          <a:p>
            <a:pPr marL="0" indent="0">
              <a:buNone/>
            </a:pPr>
            <a:r>
              <a:rPr lang="ja-JP" altLang="en-US"/>
              <a:t>目的と方法</a:t>
            </a:r>
            <a:endParaRPr lang="en-US" altLang="ja-JP" dirty="0"/>
          </a:p>
          <a:p>
            <a:pPr>
              <a:lnSpc>
                <a:spcPct val="150000"/>
              </a:lnSpc>
              <a:spcBef>
                <a:spcPts val="800"/>
              </a:spcBef>
            </a:pPr>
            <a:r>
              <a:rPr lang="ja-JP" altLang="en-US" sz="1800" b="0"/>
              <a:t>反応時間を短くして早く実験を終わらせれるようにする</a:t>
            </a:r>
            <a:endParaRPr lang="en-US" altLang="ja-JP" sz="1800" b="0" dirty="0"/>
          </a:p>
          <a:p>
            <a:pPr>
              <a:lnSpc>
                <a:spcPct val="150000"/>
              </a:lnSpc>
              <a:spcBef>
                <a:spcPts val="800"/>
              </a:spcBef>
            </a:pPr>
            <a:r>
              <a:rPr lang="en-US" altLang="ja-JP" sz="1800" b="0" dirty="0"/>
              <a:t>DCA</a:t>
            </a:r>
            <a:r>
              <a:rPr lang="ja-JP" altLang="en-US" sz="1800" b="0"/>
              <a:t>添加後</a:t>
            </a:r>
            <a:r>
              <a:rPr lang="en-US" altLang="ja-JP" sz="1800" b="0" dirty="0"/>
              <a:t>1, 2, 3, 5h</a:t>
            </a:r>
            <a:r>
              <a:rPr lang="ja-JP" altLang="en-US" sz="1800" b="0"/>
              <a:t>反応させ、それぞれについて発光測定</a:t>
            </a:r>
            <a:endParaRPr lang="en-US" altLang="ja-JP" sz="1800" b="0" dirty="0"/>
          </a:p>
          <a:p>
            <a:pPr marL="0" indent="0">
              <a:buNone/>
            </a:pPr>
            <a:endParaRPr lang="en-US" altLang="ja-JP" dirty="0"/>
          </a:p>
        </p:txBody>
      </p:sp>
      <p:sp>
        <p:nvSpPr>
          <p:cNvPr id="4" name="テキスト プレースホルダー 3">
            <a:extLst>
              <a:ext uri="{FF2B5EF4-FFF2-40B4-BE49-F238E27FC236}">
                <a16:creationId xmlns:a16="http://schemas.microsoft.com/office/drawing/2014/main" id="{7B1752D7-312D-512A-9C55-168BF375C2B8}"/>
              </a:ext>
            </a:extLst>
          </p:cNvPr>
          <p:cNvSpPr>
            <a:spLocks noGrp="1"/>
          </p:cNvSpPr>
          <p:nvPr>
            <p:ph type="body" sz="quarter" idx="11"/>
          </p:nvPr>
        </p:nvSpPr>
        <p:spPr/>
        <p:txBody>
          <a:bodyPr/>
          <a:lstStyle/>
          <a:p>
            <a:r>
              <a:rPr kumimoji="1" lang="en-US" altLang="ja-JP" dirty="0"/>
              <a:t>Results – </a:t>
            </a:r>
            <a:r>
              <a:rPr lang="en-US" altLang="ja-JP" dirty="0"/>
              <a:t>DCA</a:t>
            </a:r>
            <a:r>
              <a:rPr lang="ja-JP" altLang="en-US"/>
              <a:t>と</a:t>
            </a:r>
            <a:r>
              <a:rPr lang="en-US" altLang="ja-JP" dirty="0"/>
              <a:t>TGR5</a:t>
            </a:r>
            <a:r>
              <a:rPr lang="ja-JP" altLang="en-US"/>
              <a:t>の反応時間の検討</a:t>
            </a:r>
            <a:endParaRPr kumimoji="1" lang="en-US" altLang="ja-JP" dirty="0"/>
          </a:p>
        </p:txBody>
      </p:sp>
      <p:sp>
        <p:nvSpPr>
          <p:cNvPr id="45" name="コンテンツ プレースホルダー 2">
            <a:extLst>
              <a:ext uri="{FF2B5EF4-FFF2-40B4-BE49-F238E27FC236}">
                <a16:creationId xmlns:a16="http://schemas.microsoft.com/office/drawing/2014/main" id="{714FCA20-6166-9ABA-30FF-5D3A8176C2FA}"/>
              </a:ext>
            </a:extLst>
          </p:cNvPr>
          <p:cNvSpPr txBox="1">
            <a:spLocks/>
          </p:cNvSpPr>
          <p:nvPr/>
        </p:nvSpPr>
        <p:spPr>
          <a:xfrm>
            <a:off x="546101" y="2750933"/>
            <a:ext cx="6175976" cy="3068583"/>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結果と考察</a:t>
            </a:r>
            <a:endParaRPr lang="en-US" altLang="ja-JP" dirty="0"/>
          </a:p>
          <a:p>
            <a:pPr>
              <a:lnSpc>
                <a:spcPct val="150000"/>
              </a:lnSpc>
            </a:pPr>
            <a:r>
              <a:rPr lang="ja-JP" altLang="en-US" sz="1800" b="0"/>
              <a:t>時間に依存してルシフェラーゼの発現量が増加した</a:t>
            </a:r>
            <a:endParaRPr lang="en-US" altLang="ja-JP" sz="1800" b="0" dirty="0"/>
          </a:p>
          <a:p>
            <a:pPr lvl="1">
              <a:lnSpc>
                <a:spcPct val="150000"/>
              </a:lnSpc>
            </a:pPr>
            <a:r>
              <a:rPr lang="ja-JP" altLang="en-US" sz="1600" b="0"/>
              <a:t>ルシフェラーゼの発現量が上限に達している場合、</a:t>
            </a:r>
            <a:br>
              <a:rPr lang="en-US" altLang="ja-JP" sz="1600" b="0" dirty="0"/>
            </a:br>
            <a:r>
              <a:rPr lang="ja-JP" altLang="en-US" sz="1600" b="0"/>
              <a:t>ペプチドを共添加してもさらなる活性が望めない可能性がある</a:t>
            </a:r>
            <a:endParaRPr lang="en-US" altLang="ja-JP" sz="1600" dirty="0"/>
          </a:p>
          <a:p>
            <a:pPr lvl="1">
              <a:lnSpc>
                <a:spcPct val="150000"/>
              </a:lnSpc>
            </a:pPr>
            <a:r>
              <a:rPr lang="en-US" altLang="ja-JP" sz="1600" b="0" dirty="0"/>
              <a:t>2</a:t>
            </a:r>
            <a:r>
              <a:rPr lang="ja-JP" altLang="en-US" sz="1600" b="0"/>
              <a:t>時間で</a:t>
            </a:r>
            <a:r>
              <a:rPr lang="en-US" altLang="ja-JP" sz="1600" dirty="0"/>
              <a:t>DCA</a:t>
            </a:r>
            <a:r>
              <a:rPr lang="ja-JP" altLang="en-US" sz="1600"/>
              <a:t>を添加しない場合と比べて、</a:t>
            </a:r>
            <a:r>
              <a:rPr lang="en-US" altLang="ja-JP" sz="1600" dirty="0"/>
              <a:t>Luc activity</a:t>
            </a:r>
            <a:br>
              <a:rPr lang="en-US" altLang="ja-JP" sz="1600" dirty="0"/>
            </a:br>
            <a:r>
              <a:rPr lang="ja-JP" altLang="en-US" sz="1600"/>
              <a:t>には有意差がでる</a:t>
            </a:r>
          </a:p>
        </p:txBody>
      </p:sp>
      <p:sp>
        <p:nvSpPr>
          <p:cNvPr id="48" name="テキスト ボックス 47">
            <a:extLst>
              <a:ext uri="{FF2B5EF4-FFF2-40B4-BE49-F238E27FC236}">
                <a16:creationId xmlns:a16="http://schemas.microsoft.com/office/drawing/2014/main" id="{B5167E13-B097-8A40-9605-EA416036AE4B}"/>
              </a:ext>
            </a:extLst>
          </p:cNvPr>
          <p:cNvSpPr txBox="1"/>
          <p:nvPr/>
        </p:nvSpPr>
        <p:spPr>
          <a:xfrm>
            <a:off x="7368523" y="5738760"/>
            <a:ext cx="3849902" cy="307777"/>
          </a:xfrm>
          <a:prstGeom prst="rect">
            <a:avLst/>
          </a:prstGeom>
          <a:noFill/>
        </p:spPr>
        <p:txBody>
          <a:bodyPr wrap="square" rtlCol="0">
            <a:spAutoFit/>
          </a:bodyPr>
          <a:lstStyle/>
          <a:p>
            <a:pPr algn="ctr"/>
            <a:r>
              <a:rPr lang="ja-JP" altLang="en-US" sz="1400"/>
              <a:t>各反応時間での</a:t>
            </a:r>
            <a:r>
              <a:rPr lang="en-US" altLang="ja-JP" sz="1400" dirty="0"/>
              <a:t>Luc activity</a:t>
            </a:r>
            <a:endParaRPr kumimoji="1" lang="ja-JP" altLang="en-US" sz="1400"/>
          </a:p>
        </p:txBody>
      </p:sp>
      <p:graphicFrame>
        <p:nvGraphicFramePr>
          <p:cNvPr id="5" name="グラフ 4">
            <a:extLst>
              <a:ext uri="{FF2B5EF4-FFF2-40B4-BE49-F238E27FC236}">
                <a16:creationId xmlns:a16="http://schemas.microsoft.com/office/drawing/2014/main" id="{DF7EA9EE-9364-2342-BC69-84DF61146E15}"/>
              </a:ext>
            </a:extLst>
          </p:cNvPr>
          <p:cNvGraphicFramePr>
            <a:graphicFrameLocks/>
          </p:cNvGraphicFramePr>
          <p:nvPr>
            <p:extLst>
              <p:ext uri="{D42A27DB-BD31-4B8C-83A1-F6EECF244321}">
                <p14:modId xmlns:p14="http://schemas.microsoft.com/office/powerpoint/2010/main" val="1809544714"/>
              </p:ext>
            </p:extLst>
          </p:nvPr>
        </p:nvGraphicFramePr>
        <p:xfrm>
          <a:off x="6722077" y="2825153"/>
          <a:ext cx="5106658" cy="3068582"/>
        </p:xfrm>
        <a:graphic>
          <a:graphicData uri="http://schemas.openxmlformats.org/drawingml/2006/chart">
            <c:chart xmlns:c="http://schemas.openxmlformats.org/drawingml/2006/chart" xmlns:r="http://schemas.openxmlformats.org/officeDocument/2006/relationships" r:id="rId3"/>
          </a:graphicData>
        </a:graphic>
      </p:graphicFrame>
      <p:sp>
        <p:nvSpPr>
          <p:cNvPr id="2" name="タイトル 1">
            <a:extLst>
              <a:ext uri="{FF2B5EF4-FFF2-40B4-BE49-F238E27FC236}">
                <a16:creationId xmlns:a16="http://schemas.microsoft.com/office/drawing/2014/main" id="{1B6564E9-EB06-1F1B-0955-51B273EDA3C3}"/>
              </a:ext>
            </a:extLst>
          </p:cNvPr>
          <p:cNvSpPr>
            <a:spLocks noGrp="1"/>
          </p:cNvSpPr>
          <p:nvPr>
            <p:ph type="title"/>
          </p:nvPr>
        </p:nvSpPr>
        <p:spPr>
          <a:xfrm>
            <a:off x="546100" y="6021647"/>
            <a:ext cx="11099800" cy="725176"/>
          </a:xfrm>
        </p:spPr>
        <p:txBody>
          <a:bodyPr/>
          <a:lstStyle/>
          <a:p>
            <a:r>
              <a:rPr lang="en-US" altLang="ja-JP" dirty="0"/>
              <a:t>DCA</a:t>
            </a:r>
            <a:r>
              <a:rPr lang="ja-JP" altLang="en-US"/>
              <a:t>の反応時間は</a:t>
            </a:r>
            <a:r>
              <a:rPr lang="en-US" altLang="ja-JP" dirty="0"/>
              <a:t>2</a:t>
            </a:r>
            <a:r>
              <a:rPr lang="ja-JP" altLang="en-US"/>
              <a:t>時間に決定</a:t>
            </a:r>
            <a:endParaRPr kumimoji="1" lang="ja-JP" altLang="en-US"/>
          </a:p>
        </p:txBody>
      </p:sp>
      <p:grpSp>
        <p:nvGrpSpPr>
          <p:cNvPr id="55" name="グループ化 54">
            <a:extLst>
              <a:ext uri="{FF2B5EF4-FFF2-40B4-BE49-F238E27FC236}">
                <a16:creationId xmlns:a16="http://schemas.microsoft.com/office/drawing/2014/main" id="{CD031852-C26A-E514-46E9-2D14B6D6051A}"/>
              </a:ext>
            </a:extLst>
          </p:cNvPr>
          <p:cNvGrpSpPr/>
          <p:nvPr/>
        </p:nvGrpSpPr>
        <p:grpSpPr>
          <a:xfrm>
            <a:off x="7627781" y="1038484"/>
            <a:ext cx="3927573" cy="1468305"/>
            <a:chOff x="8083388" y="1038484"/>
            <a:chExt cx="3927573" cy="1468305"/>
          </a:xfrm>
        </p:grpSpPr>
        <p:grpSp>
          <p:nvGrpSpPr>
            <p:cNvPr id="28" name="グループ化 27">
              <a:extLst>
                <a:ext uri="{FF2B5EF4-FFF2-40B4-BE49-F238E27FC236}">
                  <a16:creationId xmlns:a16="http://schemas.microsoft.com/office/drawing/2014/main" id="{D639A230-ED94-6BF3-601E-3F05D6EAAD3E}"/>
                </a:ext>
              </a:extLst>
            </p:cNvPr>
            <p:cNvGrpSpPr/>
            <p:nvPr/>
          </p:nvGrpSpPr>
          <p:grpSpPr>
            <a:xfrm>
              <a:off x="8083388" y="1038484"/>
              <a:ext cx="1393170" cy="1207360"/>
              <a:chOff x="7988572" y="1012918"/>
              <a:chExt cx="1393170" cy="1207360"/>
            </a:xfrm>
          </p:grpSpPr>
          <p:pic>
            <p:nvPicPr>
              <p:cNvPr id="6" name="図 5" descr="洗面道具 が含まれている画像&#10;&#10;自動的に生成された説明">
                <a:extLst>
                  <a:ext uri="{FF2B5EF4-FFF2-40B4-BE49-F238E27FC236}">
                    <a16:creationId xmlns:a16="http://schemas.microsoft.com/office/drawing/2014/main" id="{B8AF4712-440C-3CED-AC8D-4C449129A3BE}"/>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988572" y="1488077"/>
                <a:ext cx="1047611" cy="732201"/>
              </a:xfrm>
              <a:prstGeom prst="rect">
                <a:avLst/>
              </a:prstGeom>
            </p:spPr>
          </p:pic>
          <p:pic>
            <p:nvPicPr>
              <p:cNvPr id="7" name="図 6" descr="巣蜜, 建物, ミラー が含まれている画像&#10;&#10;自動的に生成された説明">
                <a:extLst>
                  <a:ext uri="{FF2B5EF4-FFF2-40B4-BE49-F238E27FC236}">
                    <a16:creationId xmlns:a16="http://schemas.microsoft.com/office/drawing/2014/main" id="{92B24A9F-9786-EC8B-CB41-6C7A28602AD6}"/>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654294" y="1012918"/>
                <a:ext cx="727448" cy="430649"/>
              </a:xfrm>
              <a:prstGeom prst="rect">
                <a:avLst/>
              </a:prstGeom>
            </p:spPr>
          </p:pic>
          <p:grpSp>
            <p:nvGrpSpPr>
              <p:cNvPr id="16" name="グループ化 15">
                <a:extLst>
                  <a:ext uri="{FF2B5EF4-FFF2-40B4-BE49-F238E27FC236}">
                    <a16:creationId xmlns:a16="http://schemas.microsoft.com/office/drawing/2014/main" id="{FAA1CB2A-E65E-20F6-B3EE-02F13356C70F}"/>
                  </a:ext>
                </a:extLst>
              </p:cNvPr>
              <p:cNvGrpSpPr/>
              <p:nvPr/>
            </p:nvGrpSpPr>
            <p:grpSpPr>
              <a:xfrm>
                <a:off x="8319421" y="1166519"/>
                <a:ext cx="288511" cy="338483"/>
                <a:chOff x="8264557" y="1387176"/>
                <a:chExt cx="288511" cy="338483"/>
              </a:xfrm>
            </p:grpSpPr>
            <p:sp>
              <p:nvSpPr>
                <p:cNvPr id="14" name="二等辺三角形 4">
                  <a:extLst>
                    <a:ext uri="{FF2B5EF4-FFF2-40B4-BE49-F238E27FC236}">
                      <a16:creationId xmlns:a16="http://schemas.microsoft.com/office/drawing/2014/main" id="{DC47B916-E986-B652-276E-85515A46A1D7}"/>
                    </a:ext>
                  </a:extLst>
                </p:cNvPr>
                <p:cNvSpPr/>
                <p:nvPr/>
              </p:nvSpPr>
              <p:spPr>
                <a:xfrm rot="11611585">
                  <a:off x="8264557" y="1617166"/>
                  <a:ext cx="171205" cy="108493"/>
                </a:xfrm>
                <a:prstGeom prst="triangl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フリーフォーム: 図形 9">
                  <a:extLst>
                    <a:ext uri="{FF2B5EF4-FFF2-40B4-BE49-F238E27FC236}">
                      <a16:creationId xmlns:a16="http://schemas.microsoft.com/office/drawing/2014/main" id="{90F0D878-4BA1-ABCC-34C5-23388EF24E0C}"/>
                    </a:ext>
                  </a:extLst>
                </p:cNvPr>
                <p:cNvSpPr/>
                <p:nvPr/>
              </p:nvSpPr>
              <p:spPr>
                <a:xfrm rot="11694743">
                  <a:off x="8358250" y="1387176"/>
                  <a:ext cx="194818" cy="256296"/>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sp>
          <p:nvSpPr>
            <p:cNvPr id="41" name="下矢印 40">
              <a:extLst>
                <a:ext uri="{FF2B5EF4-FFF2-40B4-BE49-F238E27FC236}">
                  <a16:creationId xmlns:a16="http://schemas.microsoft.com/office/drawing/2014/main" id="{12EDE1BE-BAE2-0A8F-4845-9D0F9514006E}"/>
                </a:ext>
              </a:extLst>
            </p:cNvPr>
            <p:cNvSpPr/>
            <p:nvPr/>
          </p:nvSpPr>
          <p:spPr>
            <a:xfrm rot="16200000">
              <a:off x="9751672" y="1093225"/>
              <a:ext cx="267629" cy="321165"/>
            </a:xfrm>
            <a:prstGeom prst="down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下矢印 41">
              <a:extLst>
                <a:ext uri="{FF2B5EF4-FFF2-40B4-BE49-F238E27FC236}">
                  <a16:creationId xmlns:a16="http://schemas.microsoft.com/office/drawing/2014/main" id="{E261B193-EEB3-1E05-8F76-65AB8CCB4B13}"/>
                </a:ext>
              </a:extLst>
            </p:cNvPr>
            <p:cNvSpPr/>
            <p:nvPr/>
          </p:nvSpPr>
          <p:spPr>
            <a:xfrm rot="16200000">
              <a:off x="9867946" y="1274316"/>
              <a:ext cx="267629" cy="553714"/>
            </a:xfrm>
            <a:prstGeom prst="down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下矢印 42">
              <a:extLst>
                <a:ext uri="{FF2B5EF4-FFF2-40B4-BE49-F238E27FC236}">
                  <a16:creationId xmlns:a16="http://schemas.microsoft.com/office/drawing/2014/main" id="{519B2088-EAE4-37C9-8EF2-37EAF6949AB2}"/>
                </a:ext>
              </a:extLst>
            </p:cNvPr>
            <p:cNvSpPr/>
            <p:nvPr/>
          </p:nvSpPr>
          <p:spPr>
            <a:xfrm rot="16200000">
              <a:off x="9979152" y="1460476"/>
              <a:ext cx="267629" cy="776125"/>
            </a:xfrm>
            <a:prstGeom prst="down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下矢印 43">
              <a:extLst>
                <a:ext uri="{FF2B5EF4-FFF2-40B4-BE49-F238E27FC236}">
                  <a16:creationId xmlns:a16="http://schemas.microsoft.com/office/drawing/2014/main" id="{A41561C9-FB95-A8BA-5753-6C14210D049D}"/>
                </a:ext>
              </a:extLst>
            </p:cNvPr>
            <p:cNvSpPr/>
            <p:nvPr/>
          </p:nvSpPr>
          <p:spPr>
            <a:xfrm rot="16200000">
              <a:off x="10201323" y="1540757"/>
              <a:ext cx="267629" cy="1220467"/>
            </a:xfrm>
            <a:prstGeom prst="down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CB2B94BD-5779-9078-72A6-74A405F8FA5A}"/>
                </a:ext>
              </a:extLst>
            </p:cNvPr>
            <p:cNvSpPr txBox="1"/>
            <p:nvPr/>
          </p:nvSpPr>
          <p:spPr>
            <a:xfrm>
              <a:off x="8330953" y="2199012"/>
              <a:ext cx="1047611" cy="307777"/>
            </a:xfrm>
            <a:prstGeom prst="rect">
              <a:avLst/>
            </a:prstGeom>
            <a:noFill/>
          </p:spPr>
          <p:txBody>
            <a:bodyPr wrap="square" rtlCol="0">
              <a:spAutoFit/>
            </a:bodyPr>
            <a:lstStyle/>
            <a:p>
              <a:pPr algn="ctr"/>
              <a:r>
                <a:rPr kumimoji="1" lang="en-US" altLang="ja-JP" sz="1400" dirty="0"/>
                <a:t>DCA</a:t>
              </a:r>
              <a:r>
                <a:rPr kumimoji="1" lang="ja-JP" altLang="en-US" sz="1400"/>
                <a:t>添加</a:t>
              </a:r>
            </a:p>
          </p:txBody>
        </p:sp>
        <p:sp>
          <p:nvSpPr>
            <p:cNvPr id="47" name="テキスト ボックス 46">
              <a:extLst>
                <a:ext uri="{FF2B5EF4-FFF2-40B4-BE49-F238E27FC236}">
                  <a16:creationId xmlns:a16="http://schemas.microsoft.com/office/drawing/2014/main" id="{EA5D30E0-9FCA-4E62-8454-96C23879D8B9}"/>
                </a:ext>
              </a:extLst>
            </p:cNvPr>
            <p:cNvSpPr txBox="1"/>
            <p:nvPr/>
          </p:nvSpPr>
          <p:spPr>
            <a:xfrm>
              <a:off x="9626916" y="1078436"/>
              <a:ext cx="553716" cy="338554"/>
            </a:xfrm>
            <a:prstGeom prst="rect">
              <a:avLst/>
            </a:prstGeom>
            <a:noFill/>
          </p:spPr>
          <p:txBody>
            <a:bodyPr wrap="square" rtlCol="0">
              <a:spAutoFit/>
            </a:bodyPr>
            <a:lstStyle/>
            <a:p>
              <a:pPr algn="ctr"/>
              <a:r>
                <a:rPr kumimoji="1" lang="en-US" altLang="ja-JP" sz="1600" dirty="0"/>
                <a:t>1h</a:t>
              </a:r>
              <a:endParaRPr kumimoji="1" lang="ja-JP" altLang="en-US" sz="1600"/>
            </a:p>
          </p:txBody>
        </p:sp>
        <p:sp>
          <p:nvSpPr>
            <p:cNvPr id="50" name="テキスト ボックス 49">
              <a:extLst>
                <a:ext uri="{FF2B5EF4-FFF2-40B4-BE49-F238E27FC236}">
                  <a16:creationId xmlns:a16="http://schemas.microsoft.com/office/drawing/2014/main" id="{F9C4DB8F-C55E-7F69-6CE3-5D62B55009B4}"/>
                </a:ext>
              </a:extLst>
            </p:cNvPr>
            <p:cNvSpPr txBox="1"/>
            <p:nvPr/>
          </p:nvSpPr>
          <p:spPr>
            <a:xfrm>
              <a:off x="9626916" y="1379809"/>
              <a:ext cx="553716" cy="338554"/>
            </a:xfrm>
            <a:prstGeom prst="rect">
              <a:avLst/>
            </a:prstGeom>
            <a:noFill/>
          </p:spPr>
          <p:txBody>
            <a:bodyPr wrap="square" rtlCol="0">
              <a:spAutoFit/>
            </a:bodyPr>
            <a:lstStyle/>
            <a:p>
              <a:pPr algn="ctr"/>
              <a:r>
                <a:rPr lang="en-US" altLang="ja-JP" sz="1600" dirty="0"/>
                <a:t>2</a:t>
              </a:r>
              <a:r>
                <a:rPr kumimoji="1" lang="en-US" altLang="ja-JP" sz="1600" dirty="0"/>
                <a:t>h</a:t>
              </a:r>
              <a:endParaRPr kumimoji="1" lang="ja-JP" altLang="en-US" sz="1600"/>
            </a:p>
          </p:txBody>
        </p:sp>
        <p:sp>
          <p:nvSpPr>
            <p:cNvPr id="51" name="テキスト ボックス 50">
              <a:extLst>
                <a:ext uri="{FF2B5EF4-FFF2-40B4-BE49-F238E27FC236}">
                  <a16:creationId xmlns:a16="http://schemas.microsoft.com/office/drawing/2014/main" id="{4B79008D-0926-8777-4AE4-633C6F7EB229}"/>
                </a:ext>
              </a:extLst>
            </p:cNvPr>
            <p:cNvSpPr txBox="1"/>
            <p:nvPr/>
          </p:nvSpPr>
          <p:spPr>
            <a:xfrm>
              <a:off x="9641592" y="1673422"/>
              <a:ext cx="553716" cy="338554"/>
            </a:xfrm>
            <a:prstGeom prst="rect">
              <a:avLst/>
            </a:prstGeom>
            <a:noFill/>
          </p:spPr>
          <p:txBody>
            <a:bodyPr wrap="square" rtlCol="0">
              <a:spAutoFit/>
            </a:bodyPr>
            <a:lstStyle/>
            <a:p>
              <a:pPr algn="ctr"/>
              <a:r>
                <a:rPr lang="en-US" altLang="ja-JP" sz="1600" dirty="0"/>
                <a:t>3</a:t>
              </a:r>
              <a:r>
                <a:rPr kumimoji="1" lang="en-US" altLang="ja-JP" sz="1600" dirty="0"/>
                <a:t>h</a:t>
              </a:r>
              <a:endParaRPr kumimoji="1" lang="ja-JP" altLang="en-US" sz="1600"/>
            </a:p>
          </p:txBody>
        </p:sp>
        <p:sp>
          <p:nvSpPr>
            <p:cNvPr id="52" name="テキスト ボックス 51">
              <a:extLst>
                <a:ext uri="{FF2B5EF4-FFF2-40B4-BE49-F238E27FC236}">
                  <a16:creationId xmlns:a16="http://schemas.microsoft.com/office/drawing/2014/main" id="{9B597F0E-0B4E-87F3-57D4-107BAF58F8DD}"/>
                </a:ext>
              </a:extLst>
            </p:cNvPr>
            <p:cNvSpPr txBox="1"/>
            <p:nvPr/>
          </p:nvSpPr>
          <p:spPr>
            <a:xfrm>
              <a:off x="9641592" y="1981433"/>
              <a:ext cx="553716" cy="338554"/>
            </a:xfrm>
            <a:prstGeom prst="rect">
              <a:avLst/>
            </a:prstGeom>
            <a:noFill/>
          </p:spPr>
          <p:txBody>
            <a:bodyPr wrap="square" rtlCol="0">
              <a:spAutoFit/>
            </a:bodyPr>
            <a:lstStyle/>
            <a:p>
              <a:pPr algn="ctr"/>
              <a:r>
                <a:rPr kumimoji="1" lang="en-US" altLang="ja-JP" sz="1600" dirty="0"/>
                <a:t>5h</a:t>
              </a:r>
              <a:endParaRPr kumimoji="1" lang="ja-JP" altLang="en-US" sz="1600"/>
            </a:p>
          </p:txBody>
        </p:sp>
        <p:pic>
          <p:nvPicPr>
            <p:cNvPr id="53" name="図 52" descr="背景パターン&#10;&#10;自動的に生成された説明">
              <a:extLst>
                <a:ext uri="{FF2B5EF4-FFF2-40B4-BE49-F238E27FC236}">
                  <a16:creationId xmlns:a16="http://schemas.microsoft.com/office/drawing/2014/main" id="{D9D0D958-6845-D43F-02E6-E5062143BDAB}"/>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308336" y="1095995"/>
              <a:ext cx="357638" cy="1048806"/>
            </a:xfrm>
            <a:prstGeom prst="rect">
              <a:avLst/>
            </a:prstGeom>
          </p:spPr>
        </p:pic>
        <p:sp>
          <p:nvSpPr>
            <p:cNvPr id="54" name="テキスト ボックス 53">
              <a:extLst>
                <a:ext uri="{FF2B5EF4-FFF2-40B4-BE49-F238E27FC236}">
                  <a16:creationId xmlns:a16="http://schemas.microsoft.com/office/drawing/2014/main" id="{F693C75C-6DB0-C692-0355-B0BC3B2DAD39}"/>
                </a:ext>
              </a:extLst>
            </p:cNvPr>
            <p:cNvSpPr txBox="1"/>
            <p:nvPr/>
          </p:nvSpPr>
          <p:spPr>
            <a:xfrm>
              <a:off x="10963349" y="2199012"/>
              <a:ext cx="1047612" cy="307777"/>
            </a:xfrm>
            <a:prstGeom prst="rect">
              <a:avLst/>
            </a:prstGeom>
            <a:noFill/>
          </p:spPr>
          <p:txBody>
            <a:bodyPr wrap="square" rtlCol="0">
              <a:spAutoFit/>
            </a:bodyPr>
            <a:lstStyle/>
            <a:p>
              <a:pPr algn="ctr"/>
              <a:r>
                <a:rPr lang="ja-JP" altLang="en-US" sz="1400"/>
                <a:t>発光測定</a:t>
              </a:r>
              <a:endParaRPr kumimoji="1" lang="ja-JP" altLang="en-US" sz="1400"/>
            </a:p>
          </p:txBody>
        </p:sp>
      </p:grpSp>
    </p:spTree>
    <p:extLst>
      <p:ext uri="{BB962C8B-B14F-4D97-AF65-F5344CB8AC3E}">
        <p14:creationId xmlns:p14="http://schemas.microsoft.com/office/powerpoint/2010/main" val="3587367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正方形/長方形 48">
            <a:extLst>
              <a:ext uri="{FF2B5EF4-FFF2-40B4-BE49-F238E27FC236}">
                <a16:creationId xmlns:a16="http://schemas.microsoft.com/office/drawing/2014/main" id="{4CA6DF7D-B94D-4BC5-3BB1-6490E7690F20}"/>
              </a:ext>
            </a:extLst>
          </p:cNvPr>
          <p:cNvSpPr/>
          <p:nvPr/>
        </p:nvSpPr>
        <p:spPr>
          <a:xfrm>
            <a:off x="0" y="848216"/>
            <a:ext cx="12188742" cy="230225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B97C6627-A80B-103B-B8DF-13AFFD473547}"/>
              </a:ext>
            </a:extLst>
          </p:cNvPr>
          <p:cNvSpPr>
            <a:spLocks noGrp="1"/>
          </p:cNvSpPr>
          <p:nvPr>
            <p:ph idx="1"/>
          </p:nvPr>
        </p:nvSpPr>
        <p:spPr>
          <a:xfrm>
            <a:off x="546101" y="1038484"/>
            <a:ext cx="6418118" cy="2228932"/>
          </a:xfrm>
        </p:spPr>
        <p:txBody>
          <a:bodyPr>
            <a:normAutofit/>
          </a:bodyPr>
          <a:lstStyle/>
          <a:p>
            <a:pPr marL="0" indent="0">
              <a:buNone/>
            </a:pPr>
            <a:r>
              <a:rPr lang="ja-JP" altLang="en-US"/>
              <a:t>目的と方法</a:t>
            </a:r>
            <a:endParaRPr lang="en-US" altLang="ja-JP" dirty="0"/>
          </a:p>
          <a:p>
            <a:pPr>
              <a:lnSpc>
                <a:spcPct val="150000"/>
              </a:lnSpc>
              <a:spcBef>
                <a:spcPts val="800"/>
              </a:spcBef>
            </a:pPr>
            <a:r>
              <a:rPr lang="ja-JP" altLang="en-US" sz="1800" b="0"/>
              <a:t>報告されている</a:t>
            </a:r>
            <a:r>
              <a:rPr lang="en-US" altLang="ja-JP" sz="1800" b="0" dirty="0"/>
              <a:t>EC50</a:t>
            </a:r>
            <a:r>
              <a:rPr lang="ja-JP" altLang="en-US" sz="1800" b="0"/>
              <a:t>は</a:t>
            </a:r>
            <a:r>
              <a:rPr lang="en-US" altLang="ja-JP" sz="1800" u="sng" dirty="0">
                <a:solidFill>
                  <a:schemeClr val="accent4"/>
                </a:solidFill>
              </a:rPr>
              <a:t>1.01µM</a:t>
            </a:r>
            <a:r>
              <a:rPr lang="ja-JP" altLang="en-US" sz="1800" b="0"/>
              <a:t>であるのに対して、</a:t>
            </a:r>
            <a:r>
              <a:rPr lang="en-US" altLang="ja-JP" sz="1800" b="0" dirty="0"/>
              <a:t>20µM</a:t>
            </a:r>
            <a:r>
              <a:rPr lang="ja-JP" altLang="en-US" sz="1800" b="0"/>
              <a:t>と高い濃度で行っていた</a:t>
            </a:r>
            <a:endParaRPr lang="en-US" altLang="ja-JP" sz="1600" b="0" dirty="0"/>
          </a:p>
          <a:p>
            <a:pPr>
              <a:lnSpc>
                <a:spcPct val="250000"/>
              </a:lnSpc>
              <a:spcBef>
                <a:spcPts val="800"/>
              </a:spcBef>
            </a:pPr>
            <a:r>
              <a:rPr lang="en-US" altLang="ja-JP" sz="1800" b="0" dirty="0"/>
              <a:t>0.01, 0.1, 1, 10, 20, 100µM</a:t>
            </a:r>
            <a:r>
              <a:rPr lang="ja-JP" altLang="en-US" sz="1800" b="0"/>
              <a:t>で</a:t>
            </a:r>
            <a:r>
              <a:rPr lang="en-US" altLang="ja-JP" sz="1800" b="0" dirty="0"/>
              <a:t>DCA</a:t>
            </a:r>
            <a:r>
              <a:rPr lang="ja-JP" altLang="en-US" sz="1800" b="0"/>
              <a:t>を添加して比較</a:t>
            </a:r>
            <a:endParaRPr lang="en-US" altLang="ja-JP" sz="1800" b="0" dirty="0"/>
          </a:p>
          <a:p>
            <a:pPr marL="0" indent="0">
              <a:buNone/>
            </a:pPr>
            <a:endParaRPr lang="en-US" altLang="ja-JP" dirty="0"/>
          </a:p>
        </p:txBody>
      </p:sp>
      <p:sp>
        <p:nvSpPr>
          <p:cNvPr id="4" name="テキスト プレースホルダー 3">
            <a:extLst>
              <a:ext uri="{FF2B5EF4-FFF2-40B4-BE49-F238E27FC236}">
                <a16:creationId xmlns:a16="http://schemas.microsoft.com/office/drawing/2014/main" id="{7B1752D7-312D-512A-9C55-168BF375C2B8}"/>
              </a:ext>
            </a:extLst>
          </p:cNvPr>
          <p:cNvSpPr>
            <a:spLocks noGrp="1"/>
          </p:cNvSpPr>
          <p:nvPr>
            <p:ph type="body" sz="quarter" idx="11"/>
          </p:nvPr>
        </p:nvSpPr>
        <p:spPr/>
        <p:txBody>
          <a:bodyPr/>
          <a:lstStyle/>
          <a:p>
            <a:r>
              <a:rPr kumimoji="1" lang="en-US" altLang="ja-JP" dirty="0"/>
              <a:t>Results - DCA</a:t>
            </a:r>
            <a:r>
              <a:rPr kumimoji="1" lang="ja-JP" altLang="en-US"/>
              <a:t>濃度の検討</a:t>
            </a:r>
            <a:endParaRPr kumimoji="1" lang="en-US" altLang="ja-JP" dirty="0"/>
          </a:p>
        </p:txBody>
      </p:sp>
      <p:sp>
        <p:nvSpPr>
          <p:cNvPr id="45" name="コンテンツ プレースホルダー 2">
            <a:extLst>
              <a:ext uri="{FF2B5EF4-FFF2-40B4-BE49-F238E27FC236}">
                <a16:creationId xmlns:a16="http://schemas.microsoft.com/office/drawing/2014/main" id="{714FCA20-6166-9ABA-30FF-5D3A8176C2FA}"/>
              </a:ext>
            </a:extLst>
          </p:cNvPr>
          <p:cNvSpPr txBox="1">
            <a:spLocks/>
          </p:cNvSpPr>
          <p:nvPr/>
        </p:nvSpPr>
        <p:spPr>
          <a:xfrm>
            <a:off x="546100" y="3267417"/>
            <a:ext cx="6284069" cy="2963054"/>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結果</a:t>
            </a:r>
            <a:endParaRPr lang="en-US" altLang="ja-JP" dirty="0"/>
          </a:p>
          <a:p>
            <a:pPr>
              <a:lnSpc>
                <a:spcPct val="150000"/>
              </a:lnSpc>
              <a:spcBef>
                <a:spcPts val="800"/>
              </a:spcBef>
            </a:pPr>
            <a:r>
              <a:rPr lang="ja-JP" altLang="en-US" sz="1800" b="0"/>
              <a:t>図から</a:t>
            </a:r>
            <a:r>
              <a:rPr lang="en-US" altLang="ja-JP" sz="1800" b="0" dirty="0"/>
              <a:t>EC50</a:t>
            </a:r>
            <a:r>
              <a:rPr lang="ja-JP" altLang="en-US" sz="1800" b="0"/>
              <a:t>は</a:t>
            </a:r>
            <a:r>
              <a:rPr lang="en-US" altLang="ja-JP" sz="1800" b="0" dirty="0"/>
              <a:t>2µM</a:t>
            </a:r>
            <a:r>
              <a:rPr lang="ja-JP" altLang="en-US" sz="1800" b="0"/>
              <a:t>程度と読み取れ、文献値と近い結果が得られた</a:t>
            </a:r>
            <a:endParaRPr lang="en-US" altLang="ja-JP" sz="1800" b="0" dirty="0"/>
          </a:p>
          <a:p>
            <a:pPr>
              <a:lnSpc>
                <a:spcPct val="150000"/>
              </a:lnSpc>
              <a:spcBef>
                <a:spcPts val="800"/>
              </a:spcBef>
            </a:pPr>
            <a:r>
              <a:rPr lang="en-US" altLang="ja-JP" sz="1800" b="0" dirty="0"/>
              <a:t>20µM</a:t>
            </a:r>
            <a:r>
              <a:rPr lang="ja-JP" altLang="en-US" sz="1800" b="0"/>
              <a:t>は上限に近い濃度であった</a:t>
            </a:r>
            <a:endParaRPr lang="en-US" altLang="ja-JP" sz="1800" b="0" dirty="0"/>
          </a:p>
          <a:p>
            <a:pPr lvl="1">
              <a:lnSpc>
                <a:spcPct val="150000"/>
              </a:lnSpc>
              <a:spcBef>
                <a:spcPts val="800"/>
              </a:spcBef>
            </a:pPr>
            <a:r>
              <a:rPr lang="en-US" altLang="ja-JP" sz="1600" dirty="0"/>
              <a:t>DCA</a:t>
            </a:r>
            <a:r>
              <a:rPr lang="ja-JP" altLang="en-US" sz="1600"/>
              <a:t>と</a:t>
            </a:r>
            <a:r>
              <a:rPr lang="en-US" altLang="ja-JP" sz="1600" dirty="0"/>
              <a:t>TGR5</a:t>
            </a:r>
            <a:r>
              <a:rPr lang="ja-JP" altLang="en-US" sz="1600"/>
              <a:t>の反応</a:t>
            </a:r>
            <a:r>
              <a:rPr lang="ja-JP" altLang="en-US" sz="1600" b="0"/>
              <a:t>が上限に達している場合、ペプチドを共添加してもさらなる活性が望めない可能性がある</a:t>
            </a:r>
            <a:endParaRPr lang="en-US" altLang="ja-JP" sz="1600" dirty="0"/>
          </a:p>
        </p:txBody>
      </p:sp>
      <p:sp>
        <p:nvSpPr>
          <p:cNvPr id="48" name="テキスト ボックス 47">
            <a:extLst>
              <a:ext uri="{FF2B5EF4-FFF2-40B4-BE49-F238E27FC236}">
                <a16:creationId xmlns:a16="http://schemas.microsoft.com/office/drawing/2014/main" id="{B5167E13-B097-8A40-9605-EA416036AE4B}"/>
              </a:ext>
            </a:extLst>
          </p:cNvPr>
          <p:cNvSpPr txBox="1"/>
          <p:nvPr/>
        </p:nvSpPr>
        <p:spPr>
          <a:xfrm>
            <a:off x="7515211" y="5819521"/>
            <a:ext cx="3849902" cy="307777"/>
          </a:xfrm>
          <a:prstGeom prst="rect">
            <a:avLst/>
          </a:prstGeom>
          <a:noFill/>
        </p:spPr>
        <p:txBody>
          <a:bodyPr wrap="square" rtlCol="0">
            <a:spAutoFit/>
          </a:bodyPr>
          <a:lstStyle/>
          <a:p>
            <a:pPr algn="ctr"/>
            <a:r>
              <a:rPr lang="ja-JP" altLang="en-US" sz="1400"/>
              <a:t>各</a:t>
            </a:r>
            <a:r>
              <a:rPr lang="en-US" altLang="ja-JP" sz="1400" dirty="0"/>
              <a:t>DCA</a:t>
            </a:r>
            <a:r>
              <a:rPr lang="ja-JP" altLang="en-US" sz="1400"/>
              <a:t>濃度での</a:t>
            </a:r>
            <a:r>
              <a:rPr lang="en-US" altLang="ja-JP" sz="1400" dirty="0"/>
              <a:t>Luc activity</a:t>
            </a:r>
            <a:endParaRPr kumimoji="1" lang="ja-JP" altLang="en-US" sz="1400"/>
          </a:p>
        </p:txBody>
      </p:sp>
      <p:graphicFrame>
        <p:nvGraphicFramePr>
          <p:cNvPr id="5" name="グラフ 4">
            <a:extLst>
              <a:ext uri="{FF2B5EF4-FFF2-40B4-BE49-F238E27FC236}">
                <a16:creationId xmlns:a16="http://schemas.microsoft.com/office/drawing/2014/main" id="{4B4E513E-ED5E-80DD-293E-8C81365AE045}"/>
              </a:ext>
            </a:extLst>
          </p:cNvPr>
          <p:cNvGraphicFramePr>
            <a:graphicFrameLocks/>
          </p:cNvGraphicFramePr>
          <p:nvPr>
            <p:extLst>
              <p:ext uri="{D42A27DB-BD31-4B8C-83A1-F6EECF244321}">
                <p14:modId xmlns:p14="http://schemas.microsoft.com/office/powerpoint/2010/main" val="3118465683"/>
              </p:ext>
            </p:extLst>
          </p:nvPr>
        </p:nvGraphicFramePr>
        <p:xfrm>
          <a:off x="6830169" y="3309457"/>
          <a:ext cx="4835805" cy="2637278"/>
        </p:xfrm>
        <a:graphic>
          <a:graphicData uri="http://schemas.openxmlformats.org/drawingml/2006/chart">
            <c:chart xmlns:c="http://schemas.openxmlformats.org/drawingml/2006/chart" xmlns:r="http://schemas.openxmlformats.org/officeDocument/2006/relationships" r:id="rId3"/>
          </a:graphicData>
        </a:graphic>
      </p:graphicFrame>
      <p:sp>
        <p:nvSpPr>
          <p:cNvPr id="9" name="タイトル 1">
            <a:extLst>
              <a:ext uri="{FF2B5EF4-FFF2-40B4-BE49-F238E27FC236}">
                <a16:creationId xmlns:a16="http://schemas.microsoft.com/office/drawing/2014/main" id="{A59995C0-2FBC-F1DE-F84C-33E9A9DD26D6}"/>
              </a:ext>
            </a:extLst>
          </p:cNvPr>
          <p:cNvSpPr>
            <a:spLocks noGrp="1"/>
          </p:cNvSpPr>
          <p:nvPr>
            <p:ph type="title"/>
          </p:nvPr>
        </p:nvSpPr>
        <p:spPr>
          <a:xfrm>
            <a:off x="546100" y="6021647"/>
            <a:ext cx="11099800" cy="725176"/>
          </a:xfrm>
        </p:spPr>
        <p:txBody>
          <a:bodyPr/>
          <a:lstStyle/>
          <a:p>
            <a:r>
              <a:rPr kumimoji="1" lang="en-US" altLang="ja-JP" dirty="0"/>
              <a:t>DCA</a:t>
            </a:r>
            <a:r>
              <a:rPr kumimoji="1" lang="ja-JP" altLang="en-US"/>
              <a:t>の濃度は</a:t>
            </a:r>
            <a:r>
              <a:rPr kumimoji="1" lang="en-US" altLang="ja-JP" dirty="0"/>
              <a:t>2µM</a:t>
            </a:r>
            <a:r>
              <a:rPr lang="ja-JP" altLang="en-US"/>
              <a:t>に決定</a:t>
            </a:r>
            <a:endParaRPr kumimoji="1" lang="ja-JP" altLang="en-US"/>
          </a:p>
        </p:txBody>
      </p:sp>
      <p:grpSp>
        <p:nvGrpSpPr>
          <p:cNvPr id="11" name="グループ化 10">
            <a:extLst>
              <a:ext uri="{FF2B5EF4-FFF2-40B4-BE49-F238E27FC236}">
                <a16:creationId xmlns:a16="http://schemas.microsoft.com/office/drawing/2014/main" id="{89FFF1CB-CF2F-0D42-4F03-F9158F76EDB8}"/>
              </a:ext>
            </a:extLst>
          </p:cNvPr>
          <p:cNvGrpSpPr/>
          <p:nvPr/>
        </p:nvGrpSpPr>
        <p:grpSpPr>
          <a:xfrm>
            <a:off x="7104079" y="1346054"/>
            <a:ext cx="1393170" cy="1468305"/>
            <a:chOff x="7627781" y="1038484"/>
            <a:chExt cx="1393170" cy="1468305"/>
          </a:xfrm>
        </p:grpSpPr>
        <p:pic>
          <p:nvPicPr>
            <p:cNvPr id="2" name="図 1" descr="洗面道具 が含まれている画像&#10;&#10;自動的に生成された説明">
              <a:extLst>
                <a:ext uri="{FF2B5EF4-FFF2-40B4-BE49-F238E27FC236}">
                  <a16:creationId xmlns:a16="http://schemas.microsoft.com/office/drawing/2014/main" id="{B0A310F9-60D6-A167-2D15-C4ED4D76A1A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27781" y="1513643"/>
              <a:ext cx="1047611" cy="732201"/>
            </a:xfrm>
            <a:prstGeom prst="rect">
              <a:avLst/>
            </a:prstGeom>
          </p:spPr>
        </p:pic>
        <p:pic>
          <p:nvPicPr>
            <p:cNvPr id="6" name="図 5" descr="巣蜜, 建物, ミラー が含まれている画像&#10;&#10;自動的に生成された説明">
              <a:extLst>
                <a:ext uri="{FF2B5EF4-FFF2-40B4-BE49-F238E27FC236}">
                  <a16:creationId xmlns:a16="http://schemas.microsoft.com/office/drawing/2014/main" id="{813B4653-DD89-7B77-8488-1118AF106FB8}"/>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293503" y="1038484"/>
              <a:ext cx="727448" cy="430649"/>
            </a:xfrm>
            <a:prstGeom prst="rect">
              <a:avLst/>
            </a:prstGeom>
          </p:spPr>
        </p:pic>
        <p:sp>
          <p:nvSpPr>
            <p:cNvPr id="7" name="二等辺三角形 4">
              <a:extLst>
                <a:ext uri="{FF2B5EF4-FFF2-40B4-BE49-F238E27FC236}">
                  <a16:creationId xmlns:a16="http://schemas.microsoft.com/office/drawing/2014/main" id="{0256A8C5-27A2-D404-DD92-1E51EC76CE85}"/>
                </a:ext>
              </a:extLst>
            </p:cNvPr>
            <p:cNvSpPr/>
            <p:nvPr/>
          </p:nvSpPr>
          <p:spPr>
            <a:xfrm rot="11611585">
              <a:off x="7958630" y="1422075"/>
              <a:ext cx="171205" cy="108493"/>
            </a:xfrm>
            <a:prstGeom prst="triangl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フリーフォーム: 図形 9">
              <a:extLst>
                <a:ext uri="{FF2B5EF4-FFF2-40B4-BE49-F238E27FC236}">
                  <a16:creationId xmlns:a16="http://schemas.microsoft.com/office/drawing/2014/main" id="{177FE1DA-8BBE-64FD-A717-BD1ABAC4A58F}"/>
                </a:ext>
              </a:extLst>
            </p:cNvPr>
            <p:cNvSpPr/>
            <p:nvPr/>
          </p:nvSpPr>
          <p:spPr>
            <a:xfrm rot="11694743">
              <a:off x="8052323" y="1192085"/>
              <a:ext cx="194818" cy="256296"/>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915D42BB-90DF-8D40-F4C8-B2CDBF9087AF}"/>
                </a:ext>
              </a:extLst>
            </p:cNvPr>
            <p:cNvSpPr txBox="1"/>
            <p:nvPr/>
          </p:nvSpPr>
          <p:spPr>
            <a:xfrm>
              <a:off x="7875346" y="2199012"/>
              <a:ext cx="1047611" cy="307777"/>
            </a:xfrm>
            <a:prstGeom prst="rect">
              <a:avLst/>
            </a:prstGeom>
            <a:noFill/>
          </p:spPr>
          <p:txBody>
            <a:bodyPr wrap="square" rtlCol="0">
              <a:spAutoFit/>
            </a:bodyPr>
            <a:lstStyle/>
            <a:p>
              <a:pPr algn="ctr"/>
              <a:r>
                <a:rPr kumimoji="1" lang="en-US" altLang="ja-JP" sz="1400" dirty="0"/>
                <a:t>DCA</a:t>
              </a:r>
              <a:r>
                <a:rPr kumimoji="1" lang="ja-JP" altLang="en-US" sz="1400"/>
                <a:t>添加</a:t>
              </a:r>
            </a:p>
          </p:txBody>
        </p:sp>
      </p:grpSp>
      <p:grpSp>
        <p:nvGrpSpPr>
          <p:cNvPr id="17" name="グループ化 16">
            <a:extLst>
              <a:ext uri="{FF2B5EF4-FFF2-40B4-BE49-F238E27FC236}">
                <a16:creationId xmlns:a16="http://schemas.microsoft.com/office/drawing/2014/main" id="{8E20A579-DB01-DBD2-6F9C-50A9395C65A8}"/>
              </a:ext>
            </a:extLst>
          </p:cNvPr>
          <p:cNvGrpSpPr/>
          <p:nvPr/>
        </p:nvGrpSpPr>
        <p:grpSpPr>
          <a:xfrm>
            <a:off x="8632120" y="1091077"/>
            <a:ext cx="1145433" cy="1460272"/>
            <a:chOff x="8640675" y="1245766"/>
            <a:chExt cx="1145433" cy="1460272"/>
          </a:xfrm>
        </p:grpSpPr>
        <p:sp>
          <p:nvSpPr>
            <p:cNvPr id="15" name="テキスト ボックス 14">
              <a:extLst>
                <a:ext uri="{FF2B5EF4-FFF2-40B4-BE49-F238E27FC236}">
                  <a16:creationId xmlns:a16="http://schemas.microsoft.com/office/drawing/2014/main" id="{2877D61C-B205-26BB-9012-10723591C67E}"/>
                </a:ext>
              </a:extLst>
            </p:cNvPr>
            <p:cNvSpPr txBox="1"/>
            <p:nvPr/>
          </p:nvSpPr>
          <p:spPr>
            <a:xfrm>
              <a:off x="8719790" y="1245766"/>
              <a:ext cx="1066318" cy="1460272"/>
            </a:xfrm>
            <a:prstGeom prst="rect">
              <a:avLst/>
            </a:prstGeom>
            <a:noFill/>
          </p:spPr>
          <p:txBody>
            <a:bodyPr wrap="none" rtlCol="0">
              <a:spAutoFit/>
            </a:bodyPr>
            <a:lstStyle/>
            <a:p>
              <a:pPr marL="285750" indent="-285750">
                <a:lnSpc>
                  <a:spcPts val="1800"/>
                </a:lnSpc>
                <a:buFont typeface="Arial" panose="020B0604020202020204" pitchFamily="34" charset="0"/>
                <a:buChar char="•"/>
              </a:pPr>
              <a:r>
                <a:rPr kumimoji="1" lang="en-US" altLang="ja-JP" sz="1400" dirty="0"/>
                <a:t>0.01µM</a:t>
              </a:r>
            </a:p>
            <a:p>
              <a:pPr marL="285750" indent="-285750">
                <a:lnSpc>
                  <a:spcPts val="1800"/>
                </a:lnSpc>
                <a:buFont typeface="Arial" panose="020B0604020202020204" pitchFamily="34" charset="0"/>
                <a:buChar char="•"/>
              </a:pPr>
              <a:r>
                <a:rPr lang="en-US" altLang="ja-JP" sz="1400" dirty="0"/>
                <a:t>0.1µM</a:t>
              </a:r>
            </a:p>
            <a:p>
              <a:pPr marL="285750" indent="-285750">
                <a:lnSpc>
                  <a:spcPts val="1800"/>
                </a:lnSpc>
                <a:buFont typeface="Arial" panose="020B0604020202020204" pitchFamily="34" charset="0"/>
                <a:buChar char="•"/>
              </a:pPr>
              <a:r>
                <a:rPr kumimoji="1" lang="en-US" altLang="ja-JP" sz="1400" dirty="0"/>
                <a:t>1µM</a:t>
              </a:r>
            </a:p>
            <a:p>
              <a:pPr marL="285750" indent="-285750">
                <a:lnSpc>
                  <a:spcPts val="1800"/>
                </a:lnSpc>
                <a:buFont typeface="Arial" panose="020B0604020202020204" pitchFamily="34" charset="0"/>
                <a:buChar char="•"/>
              </a:pPr>
              <a:r>
                <a:rPr lang="en-US" altLang="ja-JP" sz="1400" dirty="0"/>
                <a:t>10µM</a:t>
              </a:r>
            </a:p>
            <a:p>
              <a:pPr marL="285750" indent="-285750">
                <a:lnSpc>
                  <a:spcPts val="1800"/>
                </a:lnSpc>
                <a:buFont typeface="Arial" panose="020B0604020202020204" pitchFamily="34" charset="0"/>
                <a:buChar char="•"/>
              </a:pPr>
              <a:r>
                <a:rPr kumimoji="1" lang="en-US" altLang="ja-JP" sz="1400" dirty="0"/>
                <a:t>20µM</a:t>
              </a:r>
            </a:p>
            <a:p>
              <a:pPr marL="285750" indent="-285750">
                <a:lnSpc>
                  <a:spcPts val="1800"/>
                </a:lnSpc>
                <a:buFont typeface="Arial" panose="020B0604020202020204" pitchFamily="34" charset="0"/>
                <a:buChar char="•"/>
              </a:pPr>
              <a:r>
                <a:rPr lang="en-US" altLang="ja-JP" sz="1400" dirty="0"/>
                <a:t>100µM</a:t>
              </a:r>
              <a:endParaRPr kumimoji="1" lang="ja-JP" altLang="en-US" sz="1400"/>
            </a:p>
          </p:txBody>
        </p:sp>
        <p:sp>
          <p:nvSpPr>
            <p:cNvPr id="16" name="右大かっこ 15">
              <a:extLst>
                <a:ext uri="{FF2B5EF4-FFF2-40B4-BE49-F238E27FC236}">
                  <a16:creationId xmlns:a16="http://schemas.microsoft.com/office/drawing/2014/main" id="{7EAA82AA-E23E-9B32-9C2A-BEE265CCD133}"/>
                </a:ext>
              </a:extLst>
            </p:cNvPr>
            <p:cNvSpPr/>
            <p:nvPr/>
          </p:nvSpPr>
          <p:spPr>
            <a:xfrm flipH="1">
              <a:off x="8640675" y="1291154"/>
              <a:ext cx="45719" cy="1369496"/>
            </a:xfrm>
            <a:custGeom>
              <a:avLst/>
              <a:gdLst>
                <a:gd name="connsiteX0" fmla="*/ 0 w 45719"/>
                <a:gd name="connsiteY0" fmla="*/ 0 h 1369496"/>
                <a:gd name="connsiteX1" fmla="*/ 45719 w 45719"/>
                <a:gd name="connsiteY1" fmla="*/ 3810 h 1369496"/>
                <a:gd name="connsiteX2" fmla="*/ 45719 w 45719"/>
                <a:gd name="connsiteY2" fmla="*/ 1365686 h 1369496"/>
                <a:gd name="connsiteX3" fmla="*/ 0 w 45719"/>
                <a:gd name="connsiteY3" fmla="*/ 1369496 h 1369496"/>
                <a:gd name="connsiteX4" fmla="*/ 0 w 45719"/>
                <a:gd name="connsiteY4" fmla="*/ 0 h 1369496"/>
                <a:gd name="connsiteX0" fmla="*/ 0 w 45719"/>
                <a:gd name="connsiteY0" fmla="*/ 0 h 1369496"/>
                <a:gd name="connsiteX1" fmla="*/ 45719 w 45719"/>
                <a:gd name="connsiteY1" fmla="*/ 3810 h 1369496"/>
                <a:gd name="connsiteX2" fmla="*/ 45719 w 45719"/>
                <a:gd name="connsiteY2" fmla="*/ 1365686 h 1369496"/>
                <a:gd name="connsiteX3" fmla="*/ 0 w 45719"/>
                <a:gd name="connsiteY3" fmla="*/ 1369496 h 1369496"/>
              </a:gdLst>
              <a:ahLst/>
              <a:cxnLst>
                <a:cxn ang="0">
                  <a:pos x="connsiteX0" y="connsiteY0"/>
                </a:cxn>
                <a:cxn ang="0">
                  <a:pos x="connsiteX1" y="connsiteY1"/>
                </a:cxn>
                <a:cxn ang="0">
                  <a:pos x="connsiteX2" y="connsiteY2"/>
                </a:cxn>
                <a:cxn ang="0">
                  <a:pos x="connsiteX3" y="connsiteY3"/>
                </a:cxn>
              </a:cxnLst>
              <a:rect l="l" t="t" r="r" b="b"/>
              <a:pathLst>
                <a:path w="45719" h="1369496" stroke="0" extrusionOk="0">
                  <a:moveTo>
                    <a:pt x="0" y="0"/>
                  </a:moveTo>
                  <a:cubicBezTo>
                    <a:pt x="25314" y="51"/>
                    <a:pt x="45684" y="1831"/>
                    <a:pt x="45719" y="3810"/>
                  </a:cubicBezTo>
                  <a:cubicBezTo>
                    <a:pt x="136169" y="574287"/>
                    <a:pt x="-27312" y="741500"/>
                    <a:pt x="45719" y="1365686"/>
                  </a:cubicBezTo>
                  <a:cubicBezTo>
                    <a:pt x="45415" y="1367599"/>
                    <a:pt x="24299" y="1368756"/>
                    <a:pt x="0" y="1369496"/>
                  </a:cubicBezTo>
                  <a:cubicBezTo>
                    <a:pt x="-59824" y="869225"/>
                    <a:pt x="63358" y="631414"/>
                    <a:pt x="0" y="0"/>
                  </a:cubicBezTo>
                  <a:close/>
                </a:path>
                <a:path w="45719" h="1369496" fill="none" extrusionOk="0">
                  <a:moveTo>
                    <a:pt x="0" y="0"/>
                  </a:moveTo>
                  <a:cubicBezTo>
                    <a:pt x="25485" y="40"/>
                    <a:pt x="45738" y="1726"/>
                    <a:pt x="45719" y="3810"/>
                  </a:cubicBezTo>
                  <a:cubicBezTo>
                    <a:pt x="-68546" y="482148"/>
                    <a:pt x="16424" y="893716"/>
                    <a:pt x="45719" y="1365686"/>
                  </a:cubicBezTo>
                  <a:cubicBezTo>
                    <a:pt x="42254" y="1368941"/>
                    <a:pt x="28158" y="1369782"/>
                    <a:pt x="0" y="1369496"/>
                  </a:cubicBezTo>
                </a:path>
                <a:path w="45719" h="1369496" fill="none" stroke="0" extrusionOk="0">
                  <a:moveTo>
                    <a:pt x="0" y="0"/>
                  </a:moveTo>
                  <a:cubicBezTo>
                    <a:pt x="25443" y="-179"/>
                    <a:pt x="45930" y="1890"/>
                    <a:pt x="45719" y="3810"/>
                  </a:cubicBezTo>
                  <a:cubicBezTo>
                    <a:pt x="-11228" y="577433"/>
                    <a:pt x="66212" y="755982"/>
                    <a:pt x="45719" y="1365686"/>
                  </a:cubicBezTo>
                  <a:cubicBezTo>
                    <a:pt x="48822" y="1367351"/>
                    <a:pt x="27355" y="1366352"/>
                    <a:pt x="0" y="1369496"/>
                  </a:cubicBezTo>
                </a:path>
              </a:pathLst>
            </a:custGeom>
            <a:ln w="19050">
              <a:solidFill>
                <a:schemeClr val="accent4"/>
              </a:solidFill>
              <a:extLst>
                <a:ext uri="{C807C97D-BFC1-408E-A445-0C87EB9F89A2}">
                  <ask:lineSketchStyleProps xmlns:ask="http://schemas.microsoft.com/office/drawing/2018/sketchyshapes" sd="43512134">
                    <a:prstGeom prst="rightBracket">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pic>
        <p:nvPicPr>
          <p:cNvPr id="18" name="図 17" descr="背景パターン&#10;&#10;自動的に生成された説明">
            <a:extLst>
              <a:ext uri="{FF2B5EF4-FFF2-40B4-BE49-F238E27FC236}">
                <a16:creationId xmlns:a16="http://schemas.microsoft.com/office/drawing/2014/main" id="{714EAC34-FA30-33AC-E4D3-346C5677E313}"/>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943274" y="1400527"/>
            <a:ext cx="357638" cy="1048806"/>
          </a:xfrm>
          <a:prstGeom prst="rect">
            <a:avLst/>
          </a:prstGeom>
        </p:spPr>
      </p:pic>
      <p:sp>
        <p:nvSpPr>
          <p:cNvPr id="19" name="テキスト ボックス 18">
            <a:extLst>
              <a:ext uri="{FF2B5EF4-FFF2-40B4-BE49-F238E27FC236}">
                <a16:creationId xmlns:a16="http://schemas.microsoft.com/office/drawing/2014/main" id="{A983212E-A1ED-0F9C-87BD-A7623897EA9F}"/>
              </a:ext>
            </a:extLst>
          </p:cNvPr>
          <p:cNvSpPr txBox="1"/>
          <p:nvPr/>
        </p:nvSpPr>
        <p:spPr>
          <a:xfrm>
            <a:off x="10598287" y="2503544"/>
            <a:ext cx="1047612" cy="307777"/>
          </a:xfrm>
          <a:prstGeom prst="rect">
            <a:avLst/>
          </a:prstGeom>
          <a:noFill/>
        </p:spPr>
        <p:txBody>
          <a:bodyPr wrap="square" rtlCol="0">
            <a:spAutoFit/>
          </a:bodyPr>
          <a:lstStyle/>
          <a:p>
            <a:pPr algn="ctr"/>
            <a:r>
              <a:rPr lang="ja-JP" altLang="en-US" sz="1400"/>
              <a:t>発光測定</a:t>
            </a:r>
            <a:endParaRPr kumimoji="1" lang="ja-JP" altLang="en-US" sz="1400"/>
          </a:p>
        </p:txBody>
      </p:sp>
      <p:sp>
        <p:nvSpPr>
          <p:cNvPr id="20" name="山形 19">
            <a:extLst>
              <a:ext uri="{FF2B5EF4-FFF2-40B4-BE49-F238E27FC236}">
                <a16:creationId xmlns:a16="http://schemas.microsoft.com/office/drawing/2014/main" id="{D35AB625-9112-8EDE-611C-8ACB78D947FE}"/>
              </a:ext>
            </a:extLst>
          </p:cNvPr>
          <p:cNvSpPr/>
          <p:nvPr/>
        </p:nvSpPr>
        <p:spPr>
          <a:xfrm>
            <a:off x="10106643" y="1856656"/>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2" name="テキスト ボックス 11">
            <a:extLst>
              <a:ext uri="{FF2B5EF4-FFF2-40B4-BE49-F238E27FC236}">
                <a16:creationId xmlns:a16="http://schemas.microsoft.com/office/drawing/2014/main" id="{89C6848F-45D4-32D1-BB14-B341AB2A0038}"/>
              </a:ext>
            </a:extLst>
          </p:cNvPr>
          <p:cNvSpPr txBox="1"/>
          <p:nvPr/>
        </p:nvSpPr>
        <p:spPr>
          <a:xfrm>
            <a:off x="3120749" y="2280056"/>
            <a:ext cx="3514104" cy="338554"/>
          </a:xfrm>
          <a:prstGeom prst="rect">
            <a:avLst/>
          </a:prstGeom>
          <a:noFill/>
        </p:spPr>
        <p:txBody>
          <a:bodyPr wrap="none" rtlCol="0">
            <a:spAutoFit/>
          </a:bodyPr>
          <a:lstStyle/>
          <a:p>
            <a:pPr algn="ctr"/>
            <a:r>
              <a:rPr kumimoji="1" lang="en-US" altLang="ja-JP" sz="1600" dirty="0">
                <a:latin typeface="Yu Gothic" panose="020B0400000000000000" pitchFamily="34" charset="-128"/>
                <a:ea typeface="Yu Gothic" panose="020B0400000000000000" pitchFamily="34" charset="-128"/>
              </a:rPr>
              <a:t>[</a:t>
            </a:r>
            <a:r>
              <a:rPr lang="en-US" altLang="ja-JP" sz="1600" dirty="0" err="1">
                <a:latin typeface="Yu Gothic" panose="020B0400000000000000" pitchFamily="34" charset="-128"/>
                <a:ea typeface="Yu Gothic" panose="020B0400000000000000" pitchFamily="34" charset="-128"/>
              </a:rPr>
              <a:t>Wangrui</a:t>
            </a:r>
            <a:r>
              <a:rPr lang="en-US" altLang="ja-JP" sz="1600" dirty="0">
                <a:latin typeface="Yu Gothic" panose="020B0400000000000000" pitchFamily="34" charset="-128"/>
                <a:ea typeface="Yu Gothic" panose="020B0400000000000000" pitchFamily="34" charset="-128"/>
              </a:rPr>
              <a:t> Jin</a:t>
            </a:r>
            <a:r>
              <a:rPr kumimoji="1" lang="en-US" altLang="ja-JP" sz="1600" dirty="0">
                <a:latin typeface="Yu Gothic" panose="020B0400000000000000" pitchFamily="34" charset="-128"/>
                <a:ea typeface="Yu Gothic" panose="020B0400000000000000" pitchFamily="34" charset="-128"/>
              </a:rPr>
              <a:t>, </a:t>
            </a:r>
            <a:r>
              <a:rPr kumimoji="1" lang="en-US" altLang="ja-JP" sz="1600" i="1" dirty="0">
                <a:latin typeface="Yu Gothic" panose="020B0400000000000000" pitchFamily="34" charset="-128"/>
                <a:ea typeface="Yu Gothic" panose="020B0400000000000000" pitchFamily="34" charset="-128"/>
              </a:rPr>
              <a:t>et al., </a:t>
            </a:r>
            <a:r>
              <a:rPr kumimoji="1" lang="en-US" altLang="ja-JP" sz="1600" dirty="0">
                <a:latin typeface="Yu Gothic" panose="020B0400000000000000" pitchFamily="34" charset="-128"/>
                <a:ea typeface="Yu Gothic" panose="020B0400000000000000" pitchFamily="34" charset="-128"/>
              </a:rPr>
              <a:t>EJMECH, 2024]</a:t>
            </a:r>
            <a:endParaRPr kumimoji="1" lang="ja-JP" altLang="en-US" sz="1600">
              <a:latin typeface="Yu Gothic" panose="020B0400000000000000" pitchFamily="34" charset="-128"/>
              <a:ea typeface="Yu Gothic" panose="020B0400000000000000" pitchFamily="34" charset="-128"/>
            </a:endParaRPr>
          </a:p>
        </p:txBody>
      </p:sp>
      <p:sp>
        <p:nvSpPr>
          <p:cNvPr id="13" name="テキスト ボックス 12">
            <a:extLst>
              <a:ext uri="{FF2B5EF4-FFF2-40B4-BE49-F238E27FC236}">
                <a16:creationId xmlns:a16="http://schemas.microsoft.com/office/drawing/2014/main" id="{047BD671-30F2-E75D-D07A-5E7109C51EB0}"/>
              </a:ext>
            </a:extLst>
          </p:cNvPr>
          <p:cNvSpPr txBox="1"/>
          <p:nvPr/>
        </p:nvSpPr>
        <p:spPr>
          <a:xfrm>
            <a:off x="9961477" y="1848759"/>
            <a:ext cx="553716" cy="338554"/>
          </a:xfrm>
          <a:prstGeom prst="rect">
            <a:avLst/>
          </a:prstGeom>
          <a:noFill/>
        </p:spPr>
        <p:txBody>
          <a:bodyPr wrap="square" rtlCol="0">
            <a:spAutoFit/>
          </a:bodyPr>
          <a:lstStyle/>
          <a:p>
            <a:pPr algn="ctr"/>
            <a:r>
              <a:rPr lang="en-US" altLang="ja-JP" sz="1600" dirty="0"/>
              <a:t>2</a:t>
            </a:r>
            <a:r>
              <a:rPr kumimoji="1" lang="en-US" altLang="ja-JP" sz="1600" dirty="0"/>
              <a:t>h</a:t>
            </a:r>
            <a:endParaRPr kumimoji="1" lang="ja-JP" altLang="en-US" sz="1600"/>
          </a:p>
        </p:txBody>
      </p:sp>
    </p:spTree>
    <p:extLst>
      <p:ext uri="{BB962C8B-B14F-4D97-AF65-F5344CB8AC3E}">
        <p14:creationId xmlns:p14="http://schemas.microsoft.com/office/powerpoint/2010/main" val="2842888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テキスト ボックス 49">
            <a:extLst>
              <a:ext uri="{FF2B5EF4-FFF2-40B4-BE49-F238E27FC236}">
                <a16:creationId xmlns:a16="http://schemas.microsoft.com/office/drawing/2014/main" id="{A2D9B0D0-12BD-0799-FA05-38B4258A954B}"/>
              </a:ext>
            </a:extLst>
          </p:cNvPr>
          <p:cNvSpPr txBox="1"/>
          <p:nvPr/>
        </p:nvSpPr>
        <p:spPr>
          <a:xfrm>
            <a:off x="1766939" y="1375901"/>
            <a:ext cx="4583306" cy="879343"/>
          </a:xfrm>
          <a:prstGeom prst="rect">
            <a:avLst/>
          </a:prstGeom>
          <a:noFill/>
        </p:spPr>
        <p:txBody>
          <a:bodyPr wrap="none" rtlCol="0">
            <a:spAutoFit/>
          </a:bodyPr>
          <a:lstStyle/>
          <a:p>
            <a:pPr>
              <a:lnSpc>
                <a:spcPct val="150000"/>
              </a:lnSpc>
            </a:pPr>
            <a:r>
              <a:rPr kumimoji="1" lang="en-US" altLang="ja-JP" sz="1600" dirty="0"/>
              <a:t>12well plate</a:t>
            </a:r>
            <a:r>
              <a:rPr lang="ja-JP" altLang="en-US" sz="1600"/>
              <a:t>で</a:t>
            </a:r>
            <a:r>
              <a:rPr kumimoji="1" lang="ja-JP" altLang="en-US" sz="1600"/>
              <a:t>トランスフェクション</a:t>
            </a:r>
            <a:endParaRPr kumimoji="1" lang="en-US" altLang="ja-JP" sz="1600" dirty="0"/>
          </a:p>
          <a:p>
            <a:pPr marL="285750" indent="-285750">
              <a:lnSpc>
                <a:spcPct val="150000"/>
              </a:lnSpc>
              <a:buFont typeface="Wingdings" pitchFamily="2" charset="2"/>
              <a:buChar char="è"/>
            </a:pPr>
            <a:r>
              <a:rPr kumimoji="1" lang="en-US" altLang="ja-JP" sz="2000" b="1" u="sng" dirty="0">
                <a:solidFill>
                  <a:schemeClr val="accent4"/>
                </a:solidFill>
                <a:latin typeface="Yu Gothic" panose="020B0400000000000000" pitchFamily="34" charset="-128"/>
                <a:ea typeface="Yu Gothic" panose="020B0400000000000000" pitchFamily="34" charset="-128"/>
                <a:cs typeface="Arial" panose="020B0604020202020204" pitchFamily="34" charset="0"/>
              </a:rPr>
              <a:t>60mmdish</a:t>
            </a:r>
            <a:r>
              <a:rPr kumimoji="1" lang="ja-JP" altLang="en-US" sz="2000" b="1" u="sng">
                <a:solidFill>
                  <a:schemeClr val="accent4"/>
                </a:solidFill>
                <a:latin typeface="Yu Gothic" panose="020B0400000000000000" pitchFamily="34" charset="-128"/>
                <a:ea typeface="Yu Gothic" panose="020B0400000000000000" pitchFamily="34" charset="-128"/>
                <a:cs typeface="Arial" panose="020B0604020202020204" pitchFamily="34" charset="0"/>
              </a:rPr>
              <a:t>でトランスフェクション</a:t>
            </a:r>
            <a:endParaRPr kumimoji="1" lang="en-US" altLang="ja-JP" sz="2000" b="1" u="sng" dirty="0">
              <a:solidFill>
                <a:schemeClr val="accent4"/>
              </a:solidFill>
              <a:latin typeface="Yu Gothic" panose="020B0400000000000000" pitchFamily="34" charset="-128"/>
              <a:ea typeface="Yu Gothic" panose="020B0400000000000000" pitchFamily="34" charset="-128"/>
              <a:cs typeface="Arial" panose="020B0604020202020204" pitchFamily="34" charset="0"/>
            </a:endParaRPr>
          </a:p>
        </p:txBody>
      </p:sp>
      <p:sp>
        <p:nvSpPr>
          <p:cNvPr id="4" name="テキスト プレースホルダー 3">
            <a:extLst>
              <a:ext uri="{FF2B5EF4-FFF2-40B4-BE49-F238E27FC236}">
                <a16:creationId xmlns:a16="http://schemas.microsoft.com/office/drawing/2014/main" id="{DE9CDBBB-AFE1-012B-F339-82D0ED46BF74}"/>
              </a:ext>
            </a:extLst>
          </p:cNvPr>
          <p:cNvSpPr>
            <a:spLocks noGrp="1"/>
          </p:cNvSpPr>
          <p:nvPr>
            <p:ph type="body" sz="quarter" idx="11"/>
          </p:nvPr>
        </p:nvSpPr>
        <p:spPr/>
        <p:txBody>
          <a:bodyPr/>
          <a:lstStyle/>
          <a:p>
            <a:r>
              <a:rPr kumimoji="1" lang="en-US" altLang="ja-JP" dirty="0"/>
              <a:t>Results - </a:t>
            </a:r>
            <a:r>
              <a:rPr kumimoji="1" lang="ja-JP" altLang="en-US"/>
              <a:t>改善した</a:t>
            </a:r>
            <a:r>
              <a:rPr kumimoji="1" lang="en-US" altLang="ja-JP" dirty="0"/>
              <a:t>TGR5</a:t>
            </a:r>
            <a:r>
              <a:rPr kumimoji="1" lang="ja-JP" altLang="en-US"/>
              <a:t>活性評価系</a:t>
            </a:r>
          </a:p>
        </p:txBody>
      </p:sp>
      <p:grpSp>
        <p:nvGrpSpPr>
          <p:cNvPr id="47" name="グループ化 46">
            <a:extLst>
              <a:ext uri="{FF2B5EF4-FFF2-40B4-BE49-F238E27FC236}">
                <a16:creationId xmlns:a16="http://schemas.microsoft.com/office/drawing/2014/main" id="{4E03E6A4-A97D-93B3-07A7-3997EAAB62FA}"/>
              </a:ext>
            </a:extLst>
          </p:cNvPr>
          <p:cNvGrpSpPr/>
          <p:nvPr/>
        </p:nvGrpSpPr>
        <p:grpSpPr>
          <a:xfrm>
            <a:off x="-1" y="2348818"/>
            <a:ext cx="12192001" cy="2163659"/>
            <a:chOff x="7480" y="2177935"/>
            <a:chExt cx="12192001" cy="2163659"/>
          </a:xfrm>
        </p:grpSpPr>
        <p:sp>
          <p:nvSpPr>
            <p:cNvPr id="46" name="正方形/長方形 45">
              <a:extLst>
                <a:ext uri="{FF2B5EF4-FFF2-40B4-BE49-F238E27FC236}">
                  <a16:creationId xmlns:a16="http://schemas.microsoft.com/office/drawing/2014/main" id="{81063ADB-88D9-603C-9DFA-5E13A5D11AC5}"/>
                </a:ext>
              </a:extLst>
            </p:cNvPr>
            <p:cNvSpPr/>
            <p:nvPr/>
          </p:nvSpPr>
          <p:spPr>
            <a:xfrm>
              <a:off x="7480" y="2177935"/>
              <a:ext cx="12192001" cy="216365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 name="図 4" descr="図形, 円&#10;&#10;自動的に生成された説明">
              <a:extLst>
                <a:ext uri="{FF2B5EF4-FFF2-40B4-BE49-F238E27FC236}">
                  <a16:creationId xmlns:a16="http://schemas.microsoft.com/office/drawing/2014/main" id="{6EC174FD-F556-F43C-AA44-1B76F46E1FE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46100" y="2980457"/>
              <a:ext cx="1248882" cy="897084"/>
            </a:xfrm>
            <a:prstGeom prst="rect">
              <a:avLst/>
            </a:prstGeom>
          </p:spPr>
        </p:pic>
        <p:pic>
          <p:nvPicPr>
            <p:cNvPr id="6" name="図 5" descr="図形, 円&#10;&#10;自動的に生成された説明">
              <a:extLst>
                <a:ext uri="{FF2B5EF4-FFF2-40B4-BE49-F238E27FC236}">
                  <a16:creationId xmlns:a16="http://schemas.microsoft.com/office/drawing/2014/main" id="{FDF4DFE6-3BE7-7FAD-5F91-23DC8EF974B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44709" y="2980457"/>
              <a:ext cx="1248882" cy="897084"/>
            </a:xfrm>
            <a:prstGeom prst="rect">
              <a:avLst/>
            </a:prstGeom>
          </p:spPr>
        </p:pic>
        <p:pic>
          <p:nvPicPr>
            <p:cNvPr id="7" name="図 6" descr="図形, 円&#10;&#10;自動的に生成された説明">
              <a:extLst>
                <a:ext uri="{FF2B5EF4-FFF2-40B4-BE49-F238E27FC236}">
                  <a16:creationId xmlns:a16="http://schemas.microsoft.com/office/drawing/2014/main" id="{F22C9D0C-F5CF-7700-26D6-2336A594AF9F}"/>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43436" y="2980457"/>
              <a:ext cx="1248882" cy="897084"/>
            </a:xfrm>
            <a:prstGeom prst="rect">
              <a:avLst/>
            </a:prstGeom>
          </p:spPr>
        </p:pic>
        <p:pic>
          <p:nvPicPr>
            <p:cNvPr id="8" name="図 7" descr="洗面道具 が含まれている画像&#10;&#10;自動的に生成された説明">
              <a:extLst>
                <a:ext uri="{FF2B5EF4-FFF2-40B4-BE49-F238E27FC236}">
                  <a16:creationId xmlns:a16="http://schemas.microsoft.com/office/drawing/2014/main" id="{9C67C985-8090-5535-AB55-3EF31CA1811B}"/>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242104" y="2987284"/>
              <a:ext cx="1283520" cy="897084"/>
            </a:xfrm>
            <a:prstGeom prst="rect">
              <a:avLst/>
            </a:prstGeom>
          </p:spPr>
        </p:pic>
        <p:pic>
          <p:nvPicPr>
            <p:cNvPr id="9" name="図 8" descr="洗面道具 が含まれている画像&#10;&#10;自動的に生成された説明">
              <a:extLst>
                <a:ext uri="{FF2B5EF4-FFF2-40B4-BE49-F238E27FC236}">
                  <a16:creationId xmlns:a16="http://schemas.microsoft.com/office/drawing/2014/main" id="{D297A8D7-51DE-8E28-FA22-1FAF00D8695B}"/>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75410" y="2980457"/>
              <a:ext cx="1283520" cy="897084"/>
            </a:xfrm>
            <a:prstGeom prst="rect">
              <a:avLst/>
            </a:prstGeom>
          </p:spPr>
        </p:pic>
        <p:pic>
          <p:nvPicPr>
            <p:cNvPr id="10" name="図 9">
              <a:extLst>
                <a:ext uri="{FF2B5EF4-FFF2-40B4-BE49-F238E27FC236}">
                  <a16:creationId xmlns:a16="http://schemas.microsoft.com/office/drawing/2014/main" id="{366AA2CF-6FC5-31C6-3F8E-36309E64D304}"/>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108716" y="3055995"/>
              <a:ext cx="373004" cy="746007"/>
            </a:xfrm>
            <a:prstGeom prst="rect">
              <a:avLst/>
            </a:prstGeom>
          </p:spPr>
        </p:pic>
        <p:pic>
          <p:nvPicPr>
            <p:cNvPr id="11" name="図 10" descr="背景パターン&#10;&#10;自動的に生成された説明">
              <a:extLst>
                <a:ext uri="{FF2B5EF4-FFF2-40B4-BE49-F238E27FC236}">
                  <a16:creationId xmlns:a16="http://schemas.microsoft.com/office/drawing/2014/main" id="{5D76C856-F59C-A316-DC91-604C4BEE9168}"/>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131506" y="2875160"/>
              <a:ext cx="377713" cy="1107676"/>
            </a:xfrm>
            <a:prstGeom prst="rect">
              <a:avLst/>
            </a:prstGeom>
          </p:spPr>
        </p:pic>
        <p:sp>
          <p:nvSpPr>
            <p:cNvPr id="12" name="山形 11">
              <a:extLst>
                <a:ext uri="{FF2B5EF4-FFF2-40B4-BE49-F238E27FC236}">
                  <a16:creationId xmlns:a16="http://schemas.microsoft.com/office/drawing/2014/main" id="{BE7FDB47-44A7-DE29-D319-E1195AEB26ED}"/>
                </a:ext>
              </a:extLst>
            </p:cNvPr>
            <p:cNvSpPr/>
            <p:nvPr/>
          </p:nvSpPr>
          <p:spPr>
            <a:xfrm>
              <a:off x="1988095" y="3262872"/>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山形 12">
              <a:extLst>
                <a:ext uri="{FF2B5EF4-FFF2-40B4-BE49-F238E27FC236}">
                  <a16:creationId xmlns:a16="http://schemas.microsoft.com/office/drawing/2014/main" id="{E96443F9-1296-ADED-83AE-71651B43F71B}"/>
                </a:ext>
              </a:extLst>
            </p:cNvPr>
            <p:cNvSpPr/>
            <p:nvPr/>
          </p:nvSpPr>
          <p:spPr>
            <a:xfrm>
              <a:off x="3886792" y="3265425"/>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山形 13">
              <a:extLst>
                <a:ext uri="{FF2B5EF4-FFF2-40B4-BE49-F238E27FC236}">
                  <a16:creationId xmlns:a16="http://schemas.microsoft.com/office/drawing/2014/main" id="{C78449B4-4936-A20A-15E0-F964881A7A62}"/>
                </a:ext>
              </a:extLst>
            </p:cNvPr>
            <p:cNvSpPr/>
            <p:nvPr/>
          </p:nvSpPr>
          <p:spPr>
            <a:xfrm>
              <a:off x="5785519" y="3261998"/>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山形 14">
              <a:extLst>
                <a:ext uri="{FF2B5EF4-FFF2-40B4-BE49-F238E27FC236}">
                  <a16:creationId xmlns:a16="http://schemas.microsoft.com/office/drawing/2014/main" id="{FF6E9099-19BD-41E1-D9BA-EB1EBF20DE91}"/>
                </a:ext>
              </a:extLst>
            </p:cNvPr>
            <p:cNvSpPr/>
            <p:nvPr/>
          </p:nvSpPr>
          <p:spPr>
            <a:xfrm>
              <a:off x="7718825" y="3261998"/>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山形 15">
              <a:extLst>
                <a:ext uri="{FF2B5EF4-FFF2-40B4-BE49-F238E27FC236}">
                  <a16:creationId xmlns:a16="http://schemas.microsoft.com/office/drawing/2014/main" id="{9B606A75-9168-2F9C-BC04-FEB28AEE6CB1}"/>
                </a:ext>
              </a:extLst>
            </p:cNvPr>
            <p:cNvSpPr/>
            <p:nvPr/>
          </p:nvSpPr>
          <p:spPr>
            <a:xfrm>
              <a:off x="9652131" y="3269362"/>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山形 16">
              <a:extLst>
                <a:ext uri="{FF2B5EF4-FFF2-40B4-BE49-F238E27FC236}">
                  <a16:creationId xmlns:a16="http://schemas.microsoft.com/office/drawing/2014/main" id="{1A38C5B0-1E94-26BC-5E4B-E3356ADBC9C8}"/>
                </a:ext>
              </a:extLst>
            </p:cNvPr>
            <p:cNvSpPr/>
            <p:nvPr/>
          </p:nvSpPr>
          <p:spPr>
            <a:xfrm>
              <a:off x="10674921" y="3261998"/>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19" name="図 18" descr="図形, 矢印&#10;&#10;自動的に生成された説明">
              <a:extLst>
                <a:ext uri="{FF2B5EF4-FFF2-40B4-BE49-F238E27FC236}">
                  <a16:creationId xmlns:a16="http://schemas.microsoft.com/office/drawing/2014/main" id="{3C8A4AFF-BF86-01E7-B39D-9AF3A4DF13A4}"/>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412862" y="2581482"/>
              <a:ext cx="377713" cy="360280"/>
            </a:xfrm>
            <a:prstGeom prst="rect">
              <a:avLst/>
            </a:prstGeom>
          </p:spPr>
        </p:pic>
        <p:sp>
          <p:nvSpPr>
            <p:cNvPr id="20" name="テキスト ボックス 19">
              <a:extLst>
                <a:ext uri="{FF2B5EF4-FFF2-40B4-BE49-F238E27FC236}">
                  <a16:creationId xmlns:a16="http://schemas.microsoft.com/office/drawing/2014/main" id="{9E462E61-3C64-9576-3F9D-CDE5A516A15C}"/>
                </a:ext>
              </a:extLst>
            </p:cNvPr>
            <p:cNvSpPr txBox="1"/>
            <p:nvPr/>
          </p:nvSpPr>
          <p:spPr>
            <a:xfrm>
              <a:off x="157291" y="3978842"/>
              <a:ext cx="2026499" cy="307777"/>
            </a:xfrm>
            <a:prstGeom prst="rect">
              <a:avLst/>
            </a:prstGeom>
            <a:noFill/>
          </p:spPr>
          <p:txBody>
            <a:bodyPr wrap="square" rtlCol="0">
              <a:spAutoFit/>
            </a:bodyPr>
            <a:lstStyle/>
            <a:p>
              <a:pPr algn="ctr"/>
              <a:r>
                <a:rPr kumimoji="1" lang="en-US" altLang="ja-JP" sz="1400" dirty="0"/>
                <a:t>HEK293T </a:t>
              </a:r>
              <a:r>
                <a:rPr kumimoji="1" lang="ja-JP" altLang="en-US" sz="1400"/>
                <a:t>播種</a:t>
              </a:r>
            </a:p>
          </p:txBody>
        </p:sp>
        <p:sp>
          <p:nvSpPr>
            <p:cNvPr id="21" name="テキスト ボックス 20">
              <a:extLst>
                <a:ext uri="{FF2B5EF4-FFF2-40B4-BE49-F238E27FC236}">
                  <a16:creationId xmlns:a16="http://schemas.microsoft.com/office/drawing/2014/main" id="{80DBFE43-2303-C443-86C6-033CC60456CE}"/>
                </a:ext>
              </a:extLst>
            </p:cNvPr>
            <p:cNvSpPr txBox="1"/>
            <p:nvPr/>
          </p:nvSpPr>
          <p:spPr>
            <a:xfrm>
              <a:off x="1925397" y="3978841"/>
              <a:ext cx="2287506" cy="307777"/>
            </a:xfrm>
            <a:prstGeom prst="rect">
              <a:avLst/>
            </a:prstGeom>
            <a:noFill/>
          </p:spPr>
          <p:txBody>
            <a:bodyPr wrap="square" rtlCol="0">
              <a:spAutoFit/>
            </a:bodyPr>
            <a:lstStyle/>
            <a:p>
              <a:pPr algn="ctr"/>
              <a:r>
                <a:rPr kumimoji="1" lang="ja-JP" altLang="en-US" sz="1400"/>
                <a:t>トランスフェクション</a:t>
              </a:r>
            </a:p>
          </p:txBody>
        </p:sp>
        <p:sp>
          <p:nvSpPr>
            <p:cNvPr id="22" name="テキスト ボックス 21">
              <a:extLst>
                <a:ext uri="{FF2B5EF4-FFF2-40B4-BE49-F238E27FC236}">
                  <a16:creationId xmlns:a16="http://schemas.microsoft.com/office/drawing/2014/main" id="{484E2BA4-2483-8D5D-804E-EB5C3FEA2691}"/>
                </a:ext>
              </a:extLst>
            </p:cNvPr>
            <p:cNvSpPr txBox="1"/>
            <p:nvPr/>
          </p:nvSpPr>
          <p:spPr>
            <a:xfrm>
              <a:off x="4157673" y="3978840"/>
              <a:ext cx="1611028" cy="307777"/>
            </a:xfrm>
            <a:prstGeom prst="rect">
              <a:avLst/>
            </a:prstGeom>
            <a:noFill/>
          </p:spPr>
          <p:txBody>
            <a:bodyPr wrap="square" rtlCol="0">
              <a:spAutoFit/>
            </a:bodyPr>
            <a:lstStyle/>
            <a:p>
              <a:pPr algn="ctr"/>
              <a:r>
                <a:rPr kumimoji="1" lang="ja-JP" altLang="en-US" sz="1400"/>
                <a:t>培地交換</a:t>
              </a:r>
            </a:p>
          </p:txBody>
        </p:sp>
        <p:sp>
          <p:nvSpPr>
            <p:cNvPr id="23" name="テキスト ボックス 22">
              <a:extLst>
                <a:ext uri="{FF2B5EF4-FFF2-40B4-BE49-F238E27FC236}">
                  <a16:creationId xmlns:a16="http://schemas.microsoft.com/office/drawing/2014/main" id="{E63720F8-54FC-6205-3FA3-B5609D9636EE}"/>
                </a:ext>
              </a:extLst>
            </p:cNvPr>
            <p:cNvSpPr txBox="1"/>
            <p:nvPr/>
          </p:nvSpPr>
          <p:spPr>
            <a:xfrm>
              <a:off x="6442481" y="3978839"/>
              <a:ext cx="882765" cy="307777"/>
            </a:xfrm>
            <a:prstGeom prst="rect">
              <a:avLst/>
            </a:prstGeom>
            <a:noFill/>
          </p:spPr>
          <p:txBody>
            <a:bodyPr wrap="square" rtlCol="0">
              <a:spAutoFit/>
            </a:bodyPr>
            <a:lstStyle/>
            <a:p>
              <a:pPr algn="ctr"/>
              <a:r>
                <a:rPr kumimoji="1" lang="ja-JP" altLang="en-US" sz="1400"/>
                <a:t>継代</a:t>
              </a:r>
            </a:p>
          </p:txBody>
        </p:sp>
        <p:sp>
          <p:nvSpPr>
            <p:cNvPr id="24" name="テキスト ボックス 23">
              <a:extLst>
                <a:ext uri="{FF2B5EF4-FFF2-40B4-BE49-F238E27FC236}">
                  <a16:creationId xmlns:a16="http://schemas.microsoft.com/office/drawing/2014/main" id="{EAE6F63D-7A44-BB6A-E756-4991494F9916}"/>
                </a:ext>
              </a:extLst>
            </p:cNvPr>
            <p:cNvSpPr txBox="1"/>
            <p:nvPr/>
          </p:nvSpPr>
          <p:spPr>
            <a:xfrm>
              <a:off x="7762769" y="3981815"/>
              <a:ext cx="2105933" cy="307777"/>
            </a:xfrm>
            <a:prstGeom prst="rect">
              <a:avLst/>
            </a:prstGeom>
            <a:noFill/>
          </p:spPr>
          <p:txBody>
            <a:bodyPr wrap="square" rtlCol="0">
              <a:spAutoFit/>
            </a:bodyPr>
            <a:lstStyle/>
            <a:p>
              <a:pPr algn="ctr"/>
              <a:r>
                <a:rPr kumimoji="1" lang="en-US" altLang="ja-JP" sz="1400" dirty="0"/>
                <a:t>DCA, </a:t>
              </a:r>
              <a:r>
                <a:rPr kumimoji="1" lang="ja-JP" altLang="en-US" sz="1400"/>
                <a:t>ペプチド添加</a:t>
              </a:r>
            </a:p>
          </p:txBody>
        </p:sp>
        <p:sp>
          <p:nvSpPr>
            <p:cNvPr id="25" name="テキスト ボックス 24">
              <a:extLst>
                <a:ext uri="{FF2B5EF4-FFF2-40B4-BE49-F238E27FC236}">
                  <a16:creationId xmlns:a16="http://schemas.microsoft.com/office/drawing/2014/main" id="{CF6BB6FA-C6D5-45C0-6AE4-EBD59AD528FE}"/>
                </a:ext>
              </a:extLst>
            </p:cNvPr>
            <p:cNvSpPr txBox="1"/>
            <p:nvPr/>
          </p:nvSpPr>
          <p:spPr>
            <a:xfrm>
              <a:off x="9555114" y="3978838"/>
              <a:ext cx="1479792" cy="307777"/>
            </a:xfrm>
            <a:prstGeom prst="rect">
              <a:avLst/>
            </a:prstGeom>
            <a:noFill/>
          </p:spPr>
          <p:txBody>
            <a:bodyPr wrap="square" rtlCol="0">
              <a:spAutoFit/>
            </a:bodyPr>
            <a:lstStyle/>
            <a:p>
              <a:pPr algn="ctr"/>
              <a:r>
                <a:rPr lang="ja-JP" altLang="en-US" sz="1400"/>
                <a:t>ライセート</a:t>
              </a:r>
              <a:endParaRPr kumimoji="1" lang="ja-JP" altLang="en-US" sz="1400"/>
            </a:p>
          </p:txBody>
        </p:sp>
        <p:sp>
          <p:nvSpPr>
            <p:cNvPr id="26" name="テキスト ボックス 25">
              <a:extLst>
                <a:ext uri="{FF2B5EF4-FFF2-40B4-BE49-F238E27FC236}">
                  <a16:creationId xmlns:a16="http://schemas.microsoft.com/office/drawing/2014/main" id="{7F7FB1B5-02E5-F42D-D72A-D45B533540FC}"/>
                </a:ext>
              </a:extLst>
            </p:cNvPr>
            <p:cNvSpPr txBox="1"/>
            <p:nvPr/>
          </p:nvSpPr>
          <p:spPr>
            <a:xfrm>
              <a:off x="10580466" y="3978837"/>
              <a:ext cx="1479792" cy="307777"/>
            </a:xfrm>
            <a:prstGeom prst="rect">
              <a:avLst/>
            </a:prstGeom>
            <a:noFill/>
          </p:spPr>
          <p:txBody>
            <a:bodyPr wrap="square" rtlCol="0">
              <a:spAutoFit/>
            </a:bodyPr>
            <a:lstStyle/>
            <a:p>
              <a:pPr algn="ctr"/>
              <a:r>
                <a:rPr lang="ja-JP" altLang="en-US" sz="1400"/>
                <a:t>発光測定</a:t>
              </a:r>
              <a:endParaRPr kumimoji="1" lang="ja-JP" altLang="en-US" sz="1400"/>
            </a:p>
          </p:txBody>
        </p:sp>
        <p:pic>
          <p:nvPicPr>
            <p:cNvPr id="29" name="図 28" descr="巣蜜, 建物, ミラー が含まれている画像&#10;&#10;自動的に生成された説明">
              <a:extLst>
                <a:ext uri="{FF2B5EF4-FFF2-40B4-BE49-F238E27FC236}">
                  <a16:creationId xmlns:a16="http://schemas.microsoft.com/office/drawing/2014/main" id="{47D10CFE-8380-C07B-4660-80BE364528CC}"/>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72867" y="2511113"/>
              <a:ext cx="727448" cy="430649"/>
            </a:xfrm>
            <a:prstGeom prst="rect">
              <a:avLst/>
            </a:prstGeom>
          </p:spPr>
        </p:pic>
        <p:sp>
          <p:nvSpPr>
            <p:cNvPr id="30" name="円/楕円 29">
              <a:extLst>
                <a:ext uri="{FF2B5EF4-FFF2-40B4-BE49-F238E27FC236}">
                  <a16:creationId xmlns:a16="http://schemas.microsoft.com/office/drawing/2014/main" id="{D9BFCFAE-8AE3-1CAB-D152-EF5AC6AA6905}"/>
                </a:ext>
              </a:extLst>
            </p:cNvPr>
            <p:cNvSpPr>
              <a:spLocks noChangeAspect="1"/>
            </p:cNvSpPr>
            <p:nvPr/>
          </p:nvSpPr>
          <p:spPr>
            <a:xfrm>
              <a:off x="8746147" y="2463660"/>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a:extLst>
                <a:ext uri="{FF2B5EF4-FFF2-40B4-BE49-F238E27FC236}">
                  <a16:creationId xmlns:a16="http://schemas.microsoft.com/office/drawing/2014/main" id="{F5EE8A86-2435-074D-A721-EF24A84C13EA}"/>
                </a:ext>
              </a:extLst>
            </p:cNvPr>
            <p:cNvSpPr>
              <a:spLocks noChangeAspect="1"/>
            </p:cNvSpPr>
            <p:nvPr/>
          </p:nvSpPr>
          <p:spPr>
            <a:xfrm>
              <a:off x="8840913" y="2375441"/>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a:extLst>
                <a:ext uri="{FF2B5EF4-FFF2-40B4-BE49-F238E27FC236}">
                  <a16:creationId xmlns:a16="http://schemas.microsoft.com/office/drawing/2014/main" id="{FAB5D391-7294-4ED5-F55B-D765485A8766}"/>
                </a:ext>
              </a:extLst>
            </p:cNvPr>
            <p:cNvSpPr>
              <a:spLocks noChangeAspect="1"/>
            </p:cNvSpPr>
            <p:nvPr/>
          </p:nvSpPr>
          <p:spPr>
            <a:xfrm>
              <a:off x="8973397" y="2407879"/>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円/楕円 32">
              <a:extLst>
                <a:ext uri="{FF2B5EF4-FFF2-40B4-BE49-F238E27FC236}">
                  <a16:creationId xmlns:a16="http://schemas.microsoft.com/office/drawing/2014/main" id="{0902FE22-5ABC-F6D2-9AA7-FE5D7E27023E}"/>
                </a:ext>
              </a:extLst>
            </p:cNvPr>
            <p:cNvSpPr>
              <a:spLocks noChangeAspect="1"/>
            </p:cNvSpPr>
            <p:nvPr/>
          </p:nvSpPr>
          <p:spPr>
            <a:xfrm>
              <a:off x="9079400" y="2313252"/>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円/楕円 33">
              <a:extLst>
                <a:ext uri="{FF2B5EF4-FFF2-40B4-BE49-F238E27FC236}">
                  <a16:creationId xmlns:a16="http://schemas.microsoft.com/office/drawing/2014/main" id="{5E25C13A-617C-B0BF-EF40-CFC9A55C2B46}"/>
                </a:ext>
              </a:extLst>
            </p:cNvPr>
            <p:cNvSpPr>
              <a:spLocks noChangeAspect="1"/>
            </p:cNvSpPr>
            <p:nvPr/>
          </p:nvSpPr>
          <p:spPr>
            <a:xfrm>
              <a:off x="9208927" y="2342288"/>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楕円 34">
              <a:extLst>
                <a:ext uri="{FF2B5EF4-FFF2-40B4-BE49-F238E27FC236}">
                  <a16:creationId xmlns:a16="http://schemas.microsoft.com/office/drawing/2014/main" id="{2CBECD83-ECA5-A671-D3D5-3A75F5D8ABE0}"/>
                </a:ext>
              </a:extLst>
            </p:cNvPr>
            <p:cNvSpPr>
              <a:spLocks noChangeAspect="1"/>
            </p:cNvSpPr>
            <p:nvPr/>
          </p:nvSpPr>
          <p:spPr>
            <a:xfrm>
              <a:off x="9314930" y="2253122"/>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8" name="グループ化 37">
              <a:extLst>
                <a:ext uri="{FF2B5EF4-FFF2-40B4-BE49-F238E27FC236}">
                  <a16:creationId xmlns:a16="http://schemas.microsoft.com/office/drawing/2014/main" id="{01D9505F-4D9F-02A6-2DEC-8781D8257888}"/>
                </a:ext>
              </a:extLst>
            </p:cNvPr>
            <p:cNvGrpSpPr/>
            <p:nvPr/>
          </p:nvGrpSpPr>
          <p:grpSpPr>
            <a:xfrm rot="11694743">
              <a:off x="8475333" y="2694972"/>
              <a:ext cx="244790" cy="360376"/>
              <a:chOff x="2664127" y="3374455"/>
              <a:chExt cx="1201975" cy="1567649"/>
            </a:xfrm>
            <a:solidFill>
              <a:schemeClr val="bg2">
                <a:lumMod val="60000"/>
                <a:lumOff val="40000"/>
              </a:schemeClr>
            </a:solidFill>
          </p:grpSpPr>
          <p:sp>
            <p:nvSpPr>
              <p:cNvPr id="39" name="二等辺三角形 4">
                <a:extLst>
                  <a:ext uri="{FF2B5EF4-FFF2-40B4-BE49-F238E27FC236}">
                    <a16:creationId xmlns:a16="http://schemas.microsoft.com/office/drawing/2014/main" id="{7F30D0D4-30DF-891D-42BC-AAA10BCD59B9}"/>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0" name="フリーフォーム: 図形 9">
                <a:extLst>
                  <a:ext uri="{FF2B5EF4-FFF2-40B4-BE49-F238E27FC236}">
                    <a16:creationId xmlns:a16="http://schemas.microsoft.com/office/drawing/2014/main" id="{1E41686C-55C1-1CD0-4510-D4494CC70D59}"/>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41" name="テキスト ボックス 40">
              <a:extLst>
                <a:ext uri="{FF2B5EF4-FFF2-40B4-BE49-F238E27FC236}">
                  <a16:creationId xmlns:a16="http://schemas.microsoft.com/office/drawing/2014/main" id="{4A6216CC-E243-ECF6-2C9D-805337771C31}"/>
                </a:ext>
              </a:extLst>
            </p:cNvPr>
            <p:cNvSpPr txBox="1"/>
            <p:nvPr/>
          </p:nvSpPr>
          <p:spPr>
            <a:xfrm>
              <a:off x="1817915" y="3269362"/>
              <a:ext cx="603743" cy="307777"/>
            </a:xfrm>
            <a:prstGeom prst="rect">
              <a:avLst/>
            </a:prstGeom>
            <a:noFill/>
          </p:spPr>
          <p:txBody>
            <a:bodyPr wrap="square" rtlCol="0">
              <a:spAutoFit/>
            </a:bodyPr>
            <a:lstStyle/>
            <a:p>
              <a:pPr algn="ctr"/>
              <a:r>
                <a:rPr kumimoji="1" lang="en-US" altLang="ja-JP" sz="1400" dirty="0"/>
                <a:t>24h</a:t>
              </a:r>
              <a:endParaRPr kumimoji="1" lang="ja-JP" altLang="en-US" sz="1400"/>
            </a:p>
          </p:txBody>
        </p:sp>
        <p:sp>
          <p:nvSpPr>
            <p:cNvPr id="42" name="テキスト ボックス 41">
              <a:extLst>
                <a:ext uri="{FF2B5EF4-FFF2-40B4-BE49-F238E27FC236}">
                  <a16:creationId xmlns:a16="http://schemas.microsoft.com/office/drawing/2014/main" id="{C9BF9953-B1A6-CF2E-7A7A-63414B2717D1}"/>
                </a:ext>
              </a:extLst>
            </p:cNvPr>
            <p:cNvSpPr txBox="1"/>
            <p:nvPr/>
          </p:nvSpPr>
          <p:spPr>
            <a:xfrm>
              <a:off x="3719763" y="3277662"/>
              <a:ext cx="603743" cy="307777"/>
            </a:xfrm>
            <a:prstGeom prst="rect">
              <a:avLst/>
            </a:prstGeom>
            <a:noFill/>
          </p:spPr>
          <p:txBody>
            <a:bodyPr wrap="square" rtlCol="0">
              <a:spAutoFit/>
            </a:bodyPr>
            <a:lstStyle/>
            <a:p>
              <a:pPr algn="ctr"/>
              <a:r>
                <a:rPr kumimoji="1" lang="en-US" altLang="ja-JP" sz="1400" dirty="0"/>
                <a:t>24h</a:t>
              </a:r>
              <a:endParaRPr kumimoji="1" lang="ja-JP" altLang="en-US" sz="1400"/>
            </a:p>
          </p:txBody>
        </p:sp>
        <p:sp>
          <p:nvSpPr>
            <p:cNvPr id="43" name="テキスト ボックス 42">
              <a:extLst>
                <a:ext uri="{FF2B5EF4-FFF2-40B4-BE49-F238E27FC236}">
                  <a16:creationId xmlns:a16="http://schemas.microsoft.com/office/drawing/2014/main" id="{B7173BE6-24DF-40F5-1D7A-98387D5C5777}"/>
                </a:ext>
              </a:extLst>
            </p:cNvPr>
            <p:cNvSpPr txBox="1"/>
            <p:nvPr/>
          </p:nvSpPr>
          <p:spPr>
            <a:xfrm>
              <a:off x="5615339" y="3277711"/>
              <a:ext cx="603743" cy="307777"/>
            </a:xfrm>
            <a:prstGeom prst="rect">
              <a:avLst/>
            </a:prstGeom>
            <a:noFill/>
          </p:spPr>
          <p:txBody>
            <a:bodyPr wrap="square" rtlCol="0">
              <a:spAutoFit/>
            </a:bodyPr>
            <a:lstStyle/>
            <a:p>
              <a:pPr algn="ctr"/>
              <a:r>
                <a:rPr kumimoji="1" lang="en-US" altLang="ja-JP" sz="1400" dirty="0"/>
                <a:t>4h</a:t>
              </a:r>
              <a:endParaRPr kumimoji="1" lang="ja-JP" altLang="en-US" sz="1400"/>
            </a:p>
          </p:txBody>
        </p:sp>
        <p:sp>
          <p:nvSpPr>
            <p:cNvPr id="44" name="テキスト ボックス 43">
              <a:extLst>
                <a:ext uri="{FF2B5EF4-FFF2-40B4-BE49-F238E27FC236}">
                  <a16:creationId xmlns:a16="http://schemas.microsoft.com/office/drawing/2014/main" id="{AC6459C6-C9BF-5468-70EF-18FDB6EE0462}"/>
                </a:ext>
              </a:extLst>
            </p:cNvPr>
            <p:cNvSpPr txBox="1"/>
            <p:nvPr/>
          </p:nvSpPr>
          <p:spPr>
            <a:xfrm>
              <a:off x="7546174" y="3269362"/>
              <a:ext cx="603743" cy="307777"/>
            </a:xfrm>
            <a:prstGeom prst="rect">
              <a:avLst/>
            </a:prstGeom>
            <a:noFill/>
          </p:spPr>
          <p:txBody>
            <a:bodyPr wrap="square" rtlCol="0">
              <a:spAutoFit/>
            </a:bodyPr>
            <a:lstStyle/>
            <a:p>
              <a:pPr algn="ctr"/>
              <a:r>
                <a:rPr lang="en-US" altLang="ja-JP" sz="1400" dirty="0"/>
                <a:t>20h</a:t>
              </a:r>
              <a:endParaRPr kumimoji="1" lang="ja-JP" altLang="en-US" sz="1400"/>
            </a:p>
          </p:txBody>
        </p:sp>
        <p:sp>
          <p:nvSpPr>
            <p:cNvPr id="45" name="テキスト ボックス 44">
              <a:extLst>
                <a:ext uri="{FF2B5EF4-FFF2-40B4-BE49-F238E27FC236}">
                  <a16:creationId xmlns:a16="http://schemas.microsoft.com/office/drawing/2014/main" id="{8709EE28-4781-C31B-A593-8158039EC60B}"/>
                </a:ext>
              </a:extLst>
            </p:cNvPr>
            <p:cNvSpPr txBox="1"/>
            <p:nvPr/>
          </p:nvSpPr>
          <p:spPr>
            <a:xfrm>
              <a:off x="9487001" y="3277662"/>
              <a:ext cx="603743" cy="307777"/>
            </a:xfrm>
            <a:prstGeom prst="rect">
              <a:avLst/>
            </a:prstGeom>
            <a:noFill/>
          </p:spPr>
          <p:txBody>
            <a:bodyPr wrap="square" rtlCol="0">
              <a:spAutoFit/>
            </a:bodyPr>
            <a:lstStyle/>
            <a:p>
              <a:pPr algn="ctr"/>
              <a:r>
                <a:rPr lang="en-US" altLang="ja-JP" sz="1400" dirty="0"/>
                <a:t>2h</a:t>
              </a:r>
              <a:endParaRPr kumimoji="1" lang="ja-JP" altLang="en-US" sz="1400"/>
            </a:p>
          </p:txBody>
        </p:sp>
      </p:grpSp>
      <p:cxnSp>
        <p:nvCxnSpPr>
          <p:cNvPr id="48" name="直線コネクタ 47">
            <a:extLst>
              <a:ext uri="{FF2B5EF4-FFF2-40B4-BE49-F238E27FC236}">
                <a16:creationId xmlns:a16="http://schemas.microsoft.com/office/drawing/2014/main" id="{D739E3B3-9940-E855-4EB1-0A3EEABD4F75}"/>
              </a:ext>
            </a:extLst>
          </p:cNvPr>
          <p:cNvCxnSpPr>
            <a:cxnSpLocks/>
          </p:cNvCxnSpPr>
          <p:nvPr/>
        </p:nvCxnSpPr>
        <p:spPr>
          <a:xfrm flipV="1">
            <a:off x="1445783" y="1812431"/>
            <a:ext cx="297118" cy="1097398"/>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52" name="テキスト ボックス 51">
            <a:extLst>
              <a:ext uri="{FF2B5EF4-FFF2-40B4-BE49-F238E27FC236}">
                <a16:creationId xmlns:a16="http://schemas.microsoft.com/office/drawing/2014/main" id="{154F78C9-A93E-2324-4AB8-068F9FD0AD87}"/>
              </a:ext>
            </a:extLst>
          </p:cNvPr>
          <p:cNvSpPr txBox="1"/>
          <p:nvPr/>
        </p:nvSpPr>
        <p:spPr>
          <a:xfrm>
            <a:off x="298914" y="4885048"/>
            <a:ext cx="3491661" cy="879343"/>
          </a:xfrm>
          <a:prstGeom prst="rect">
            <a:avLst/>
          </a:prstGeom>
          <a:noFill/>
        </p:spPr>
        <p:txBody>
          <a:bodyPr wrap="none" rtlCol="0">
            <a:spAutoFit/>
          </a:bodyPr>
          <a:lstStyle/>
          <a:p>
            <a:pPr algn="r">
              <a:lnSpc>
                <a:spcPct val="150000"/>
              </a:lnSpc>
            </a:pPr>
            <a:r>
              <a:rPr lang="en-US" altLang="ja-JP" sz="1600" dirty="0"/>
              <a:t>4h</a:t>
            </a:r>
            <a:r>
              <a:rPr kumimoji="1" lang="ja-JP" altLang="en-US" sz="1600"/>
              <a:t>トランスフェクション</a:t>
            </a:r>
            <a:endParaRPr kumimoji="1" lang="en-US" altLang="ja-JP" sz="1600" dirty="0"/>
          </a:p>
          <a:p>
            <a:pPr marL="285750" indent="-285750" algn="r">
              <a:lnSpc>
                <a:spcPct val="150000"/>
              </a:lnSpc>
              <a:buFont typeface="Wingdings" pitchFamily="2" charset="2"/>
              <a:buChar char="è"/>
            </a:pPr>
            <a:r>
              <a:rPr lang="en-US" altLang="ja-JP" sz="2000" b="1" u="sng" dirty="0">
                <a:solidFill>
                  <a:schemeClr val="accent4"/>
                </a:solidFill>
                <a:latin typeface="Yu Gothic" panose="020B0400000000000000" pitchFamily="34" charset="-128"/>
                <a:ea typeface="Yu Gothic" panose="020B0400000000000000" pitchFamily="34" charset="-128"/>
                <a:cs typeface="Arial" panose="020B0604020202020204" pitchFamily="34" charset="0"/>
              </a:rPr>
              <a:t>24h</a:t>
            </a:r>
            <a:r>
              <a:rPr kumimoji="1" lang="ja-JP" altLang="en-US" sz="2000" b="1" u="sng">
                <a:solidFill>
                  <a:schemeClr val="accent4"/>
                </a:solidFill>
                <a:latin typeface="Yu Gothic" panose="020B0400000000000000" pitchFamily="34" charset="-128"/>
                <a:ea typeface="Yu Gothic" panose="020B0400000000000000" pitchFamily="34" charset="-128"/>
                <a:cs typeface="Arial" panose="020B0604020202020204" pitchFamily="34" charset="0"/>
              </a:rPr>
              <a:t>トランスフェクション</a:t>
            </a:r>
            <a:endParaRPr kumimoji="1" lang="en-US" altLang="ja-JP" sz="2000" b="1" u="sng" dirty="0">
              <a:solidFill>
                <a:schemeClr val="accent4"/>
              </a:solidFill>
              <a:latin typeface="Yu Gothic" panose="020B0400000000000000" pitchFamily="34" charset="-128"/>
              <a:ea typeface="Yu Gothic" panose="020B0400000000000000" pitchFamily="34" charset="-128"/>
              <a:cs typeface="Arial" panose="020B0604020202020204" pitchFamily="34" charset="0"/>
            </a:endParaRPr>
          </a:p>
        </p:txBody>
      </p:sp>
      <p:sp>
        <p:nvSpPr>
          <p:cNvPr id="53" name="テキスト ボックス 52">
            <a:extLst>
              <a:ext uri="{FF2B5EF4-FFF2-40B4-BE49-F238E27FC236}">
                <a16:creationId xmlns:a16="http://schemas.microsoft.com/office/drawing/2014/main" id="{D416B968-DEDE-4F48-6477-C07C49885BFD}"/>
              </a:ext>
            </a:extLst>
          </p:cNvPr>
          <p:cNvSpPr txBox="1"/>
          <p:nvPr/>
        </p:nvSpPr>
        <p:spPr>
          <a:xfrm>
            <a:off x="7125510" y="1375901"/>
            <a:ext cx="1983235" cy="879343"/>
          </a:xfrm>
          <a:prstGeom prst="rect">
            <a:avLst/>
          </a:prstGeom>
          <a:noFill/>
        </p:spPr>
        <p:txBody>
          <a:bodyPr wrap="none" rtlCol="0">
            <a:spAutoFit/>
          </a:bodyPr>
          <a:lstStyle/>
          <a:p>
            <a:pPr>
              <a:lnSpc>
                <a:spcPct val="150000"/>
              </a:lnSpc>
            </a:pPr>
            <a:r>
              <a:rPr lang="en-US" altLang="ja-JP" sz="1600" dirty="0"/>
              <a:t>12well plate</a:t>
            </a:r>
            <a:endParaRPr kumimoji="1" lang="en-US" altLang="ja-JP" sz="1600" dirty="0"/>
          </a:p>
          <a:p>
            <a:pPr marL="285750" indent="-285750">
              <a:lnSpc>
                <a:spcPct val="150000"/>
              </a:lnSpc>
              <a:buFont typeface="Wingdings" pitchFamily="2" charset="2"/>
              <a:buChar char="è"/>
            </a:pPr>
            <a:r>
              <a:rPr lang="en-US" altLang="ja-JP" sz="2000" b="1" u="sng" dirty="0">
                <a:solidFill>
                  <a:schemeClr val="accent4"/>
                </a:solidFill>
                <a:latin typeface="Yu Gothic" panose="020B0400000000000000" pitchFamily="34" charset="-128"/>
                <a:ea typeface="Yu Gothic" panose="020B0400000000000000" pitchFamily="34" charset="-128"/>
                <a:cs typeface="Arial" panose="020B0604020202020204" pitchFamily="34" charset="0"/>
              </a:rPr>
              <a:t>24well plate</a:t>
            </a:r>
            <a:endParaRPr kumimoji="1" lang="en-US" altLang="ja-JP" sz="2000" b="1" u="sng" dirty="0">
              <a:solidFill>
                <a:schemeClr val="accent4"/>
              </a:solidFill>
              <a:latin typeface="Yu Gothic" panose="020B0400000000000000" pitchFamily="34" charset="-128"/>
              <a:ea typeface="Yu Gothic" panose="020B0400000000000000" pitchFamily="34" charset="-128"/>
              <a:cs typeface="Arial" panose="020B0604020202020204" pitchFamily="34" charset="0"/>
            </a:endParaRPr>
          </a:p>
        </p:txBody>
      </p:sp>
      <p:sp>
        <p:nvSpPr>
          <p:cNvPr id="54" name="テキスト ボックス 53">
            <a:extLst>
              <a:ext uri="{FF2B5EF4-FFF2-40B4-BE49-F238E27FC236}">
                <a16:creationId xmlns:a16="http://schemas.microsoft.com/office/drawing/2014/main" id="{06A7594F-7086-A71C-16AC-D0D79BE8D22A}"/>
              </a:ext>
            </a:extLst>
          </p:cNvPr>
          <p:cNvSpPr txBox="1"/>
          <p:nvPr/>
        </p:nvSpPr>
        <p:spPr>
          <a:xfrm>
            <a:off x="6833203" y="4904583"/>
            <a:ext cx="1792478" cy="879343"/>
          </a:xfrm>
          <a:prstGeom prst="rect">
            <a:avLst/>
          </a:prstGeom>
          <a:noFill/>
        </p:spPr>
        <p:txBody>
          <a:bodyPr wrap="none" rtlCol="0">
            <a:spAutoFit/>
          </a:bodyPr>
          <a:lstStyle/>
          <a:p>
            <a:pPr algn="r">
              <a:lnSpc>
                <a:spcPct val="150000"/>
              </a:lnSpc>
            </a:pPr>
            <a:r>
              <a:rPr kumimoji="1" lang="en-US" altLang="ja-JP" sz="1600" dirty="0"/>
              <a:t>20µM</a:t>
            </a:r>
            <a:r>
              <a:rPr kumimoji="1" lang="ja-JP" altLang="en-US" sz="1600"/>
              <a:t>で添加</a:t>
            </a:r>
            <a:endParaRPr kumimoji="1" lang="en-US" altLang="ja-JP" sz="1600" dirty="0"/>
          </a:p>
          <a:p>
            <a:pPr marL="285750" indent="-285750" algn="r">
              <a:lnSpc>
                <a:spcPct val="150000"/>
              </a:lnSpc>
              <a:buFont typeface="Wingdings" pitchFamily="2" charset="2"/>
              <a:buChar char="è"/>
            </a:pPr>
            <a:r>
              <a:rPr lang="en-US" altLang="ja-JP" sz="2000" b="1" u="sng" dirty="0">
                <a:solidFill>
                  <a:schemeClr val="accent4"/>
                </a:solidFill>
                <a:latin typeface="Yu Gothic" panose="020B0400000000000000" pitchFamily="34" charset="-128"/>
                <a:ea typeface="Yu Gothic" panose="020B0400000000000000" pitchFamily="34" charset="-128"/>
                <a:cs typeface="Arial" panose="020B0604020202020204" pitchFamily="34" charset="0"/>
              </a:rPr>
              <a:t>2µM</a:t>
            </a:r>
            <a:r>
              <a:rPr lang="ja-JP" altLang="en-US" sz="2000" b="1" u="sng">
                <a:solidFill>
                  <a:schemeClr val="accent4"/>
                </a:solidFill>
                <a:latin typeface="Yu Gothic" panose="020B0400000000000000" pitchFamily="34" charset="-128"/>
                <a:ea typeface="Yu Gothic" panose="020B0400000000000000" pitchFamily="34" charset="-128"/>
                <a:cs typeface="Arial" panose="020B0604020202020204" pitchFamily="34" charset="0"/>
              </a:rPr>
              <a:t>で添加</a:t>
            </a:r>
            <a:endParaRPr kumimoji="1" lang="en-US" altLang="ja-JP" sz="2000" b="1" u="sng" dirty="0">
              <a:solidFill>
                <a:schemeClr val="accent4"/>
              </a:solidFill>
              <a:latin typeface="Yu Gothic" panose="020B0400000000000000" pitchFamily="34" charset="-128"/>
              <a:ea typeface="Yu Gothic" panose="020B0400000000000000" pitchFamily="34" charset="-128"/>
              <a:cs typeface="Arial" panose="020B0604020202020204" pitchFamily="34" charset="0"/>
            </a:endParaRPr>
          </a:p>
        </p:txBody>
      </p:sp>
      <p:cxnSp>
        <p:nvCxnSpPr>
          <p:cNvPr id="56" name="直線コネクタ 55">
            <a:extLst>
              <a:ext uri="{FF2B5EF4-FFF2-40B4-BE49-F238E27FC236}">
                <a16:creationId xmlns:a16="http://schemas.microsoft.com/office/drawing/2014/main" id="{7AFCDE59-8894-B579-BDB8-9FF28CB7288F}"/>
              </a:ext>
            </a:extLst>
          </p:cNvPr>
          <p:cNvCxnSpPr>
            <a:cxnSpLocks/>
            <a:endCxn id="52" idx="3"/>
          </p:cNvCxnSpPr>
          <p:nvPr/>
        </p:nvCxnSpPr>
        <p:spPr>
          <a:xfrm flipH="1">
            <a:off x="3790575" y="4111794"/>
            <a:ext cx="290974" cy="1212926"/>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68" name="テキスト ボックス 67">
            <a:extLst>
              <a:ext uri="{FF2B5EF4-FFF2-40B4-BE49-F238E27FC236}">
                <a16:creationId xmlns:a16="http://schemas.microsoft.com/office/drawing/2014/main" id="{F8936E69-32F3-8271-89E2-C38EAD64D616}"/>
              </a:ext>
            </a:extLst>
          </p:cNvPr>
          <p:cNvSpPr txBox="1"/>
          <p:nvPr/>
        </p:nvSpPr>
        <p:spPr>
          <a:xfrm>
            <a:off x="10298631" y="1371060"/>
            <a:ext cx="1292341" cy="879343"/>
          </a:xfrm>
          <a:prstGeom prst="rect">
            <a:avLst/>
          </a:prstGeom>
          <a:noFill/>
        </p:spPr>
        <p:txBody>
          <a:bodyPr wrap="none" rtlCol="0">
            <a:spAutoFit/>
          </a:bodyPr>
          <a:lstStyle/>
          <a:p>
            <a:pPr>
              <a:lnSpc>
                <a:spcPct val="150000"/>
              </a:lnSpc>
            </a:pPr>
            <a:r>
              <a:rPr lang="en-US" altLang="ja-JP" sz="1600" dirty="0"/>
              <a:t>5h</a:t>
            </a:r>
            <a:r>
              <a:rPr lang="ja-JP" altLang="en-US" sz="1600"/>
              <a:t>反応</a:t>
            </a:r>
            <a:endParaRPr kumimoji="1" lang="en-US" altLang="ja-JP" sz="1600" dirty="0"/>
          </a:p>
          <a:p>
            <a:pPr marL="285750" indent="-285750">
              <a:lnSpc>
                <a:spcPct val="150000"/>
              </a:lnSpc>
              <a:buFont typeface="Wingdings" pitchFamily="2" charset="2"/>
              <a:buChar char="è"/>
            </a:pPr>
            <a:r>
              <a:rPr lang="en-US" altLang="ja-JP" sz="2000" b="1" u="sng" dirty="0">
                <a:solidFill>
                  <a:schemeClr val="accent4"/>
                </a:solidFill>
                <a:latin typeface="Yu Gothic" panose="020B0400000000000000" pitchFamily="34" charset="-128"/>
                <a:ea typeface="Yu Gothic" panose="020B0400000000000000" pitchFamily="34" charset="-128"/>
                <a:cs typeface="Arial" panose="020B0604020202020204" pitchFamily="34" charset="0"/>
              </a:rPr>
              <a:t>2h</a:t>
            </a:r>
            <a:r>
              <a:rPr lang="ja-JP" altLang="en-US" sz="2000" b="1" u="sng">
                <a:solidFill>
                  <a:schemeClr val="accent4"/>
                </a:solidFill>
                <a:latin typeface="Yu Gothic" panose="020B0400000000000000" pitchFamily="34" charset="-128"/>
                <a:ea typeface="Yu Gothic" panose="020B0400000000000000" pitchFamily="34" charset="-128"/>
                <a:cs typeface="Arial" panose="020B0604020202020204" pitchFamily="34" charset="0"/>
              </a:rPr>
              <a:t>反応</a:t>
            </a:r>
            <a:endParaRPr kumimoji="1" lang="en-US" altLang="ja-JP" sz="2000" b="1" u="sng" dirty="0">
              <a:solidFill>
                <a:schemeClr val="accent4"/>
              </a:solidFill>
              <a:latin typeface="Yu Gothic" panose="020B0400000000000000" pitchFamily="34" charset="-128"/>
              <a:ea typeface="Yu Gothic" panose="020B0400000000000000" pitchFamily="34" charset="-128"/>
              <a:cs typeface="Arial" panose="020B0604020202020204" pitchFamily="34" charset="0"/>
            </a:endParaRPr>
          </a:p>
        </p:txBody>
      </p:sp>
      <p:cxnSp>
        <p:nvCxnSpPr>
          <p:cNvPr id="76" name="直線コネクタ 75">
            <a:extLst>
              <a:ext uri="{FF2B5EF4-FFF2-40B4-BE49-F238E27FC236}">
                <a16:creationId xmlns:a16="http://schemas.microsoft.com/office/drawing/2014/main" id="{6C64D46A-A0A3-0BEC-3006-D76D3F5A8C49}"/>
              </a:ext>
            </a:extLst>
          </p:cNvPr>
          <p:cNvCxnSpPr>
            <a:cxnSpLocks/>
          </p:cNvCxnSpPr>
          <p:nvPr/>
        </p:nvCxnSpPr>
        <p:spPr>
          <a:xfrm flipV="1">
            <a:off x="6777388" y="1807215"/>
            <a:ext cx="297118" cy="1097398"/>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cxnSp>
        <p:nvCxnSpPr>
          <p:cNvPr id="77" name="直線コネクタ 76">
            <a:extLst>
              <a:ext uri="{FF2B5EF4-FFF2-40B4-BE49-F238E27FC236}">
                <a16:creationId xmlns:a16="http://schemas.microsoft.com/office/drawing/2014/main" id="{3EAB90FC-4BBE-FD75-F1FB-BBF3CA8A42C7}"/>
              </a:ext>
            </a:extLst>
          </p:cNvPr>
          <p:cNvCxnSpPr>
            <a:cxnSpLocks/>
          </p:cNvCxnSpPr>
          <p:nvPr/>
        </p:nvCxnSpPr>
        <p:spPr>
          <a:xfrm flipV="1">
            <a:off x="9955184" y="1807632"/>
            <a:ext cx="297118" cy="1097398"/>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85" name="タイトル 1">
            <a:extLst>
              <a:ext uri="{FF2B5EF4-FFF2-40B4-BE49-F238E27FC236}">
                <a16:creationId xmlns:a16="http://schemas.microsoft.com/office/drawing/2014/main" id="{42FCA1DE-8661-5F55-1BAA-5D0BA9D87D43}"/>
              </a:ext>
            </a:extLst>
          </p:cNvPr>
          <p:cNvSpPr>
            <a:spLocks noGrp="1"/>
          </p:cNvSpPr>
          <p:nvPr>
            <p:ph type="title"/>
          </p:nvPr>
        </p:nvSpPr>
        <p:spPr>
          <a:xfrm>
            <a:off x="546100" y="6021647"/>
            <a:ext cx="11099800" cy="725176"/>
          </a:xfrm>
        </p:spPr>
        <p:txBody>
          <a:bodyPr/>
          <a:lstStyle/>
          <a:p>
            <a:r>
              <a:rPr kumimoji="1" lang="ja-JP" altLang="en-US"/>
              <a:t>評価系の改善が完了</a:t>
            </a:r>
          </a:p>
        </p:txBody>
      </p:sp>
      <p:cxnSp>
        <p:nvCxnSpPr>
          <p:cNvPr id="55" name="直線コネクタ 54">
            <a:extLst>
              <a:ext uri="{FF2B5EF4-FFF2-40B4-BE49-F238E27FC236}">
                <a16:creationId xmlns:a16="http://schemas.microsoft.com/office/drawing/2014/main" id="{DA884DF0-F627-3EDC-7C91-66138F94A62D}"/>
              </a:ext>
            </a:extLst>
          </p:cNvPr>
          <p:cNvCxnSpPr>
            <a:cxnSpLocks/>
          </p:cNvCxnSpPr>
          <p:nvPr/>
        </p:nvCxnSpPr>
        <p:spPr>
          <a:xfrm flipH="1">
            <a:off x="8740159" y="4520576"/>
            <a:ext cx="149988" cy="791546"/>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16497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8486BE0C-AA4D-FEF5-ABA7-110ECBBC8F59}"/>
              </a:ext>
            </a:extLst>
          </p:cNvPr>
          <p:cNvSpPr/>
          <p:nvPr/>
        </p:nvSpPr>
        <p:spPr>
          <a:xfrm>
            <a:off x="0" y="846407"/>
            <a:ext cx="12192001" cy="294021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103B3181-21B4-FEF8-1435-2767B0EDC42D}"/>
              </a:ext>
            </a:extLst>
          </p:cNvPr>
          <p:cNvSpPr/>
          <p:nvPr/>
        </p:nvSpPr>
        <p:spPr>
          <a:xfrm>
            <a:off x="1396099" y="875382"/>
            <a:ext cx="2502724" cy="4699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solidFill>
                <a:latin typeface="Yu Gothic" panose="020B0400000000000000" pitchFamily="34" charset="-128"/>
                <a:ea typeface="Yu Gothic" panose="020B0400000000000000" pitchFamily="34" charset="-128"/>
              </a:rPr>
              <a:t>ペプチドは新しく合成</a:t>
            </a:r>
            <a:br>
              <a:rPr kumimoji="1" lang="en-US" altLang="ja-JP" sz="1400" dirty="0">
                <a:solidFill>
                  <a:schemeClr val="tx1"/>
                </a:solidFill>
                <a:latin typeface="Yu Gothic" panose="020B0400000000000000" pitchFamily="34" charset="-128"/>
                <a:ea typeface="Yu Gothic" panose="020B0400000000000000" pitchFamily="34" charset="-128"/>
              </a:rPr>
            </a:br>
            <a:r>
              <a:rPr kumimoji="1" lang="en-US" altLang="ja-JP" sz="1400" dirty="0">
                <a:solidFill>
                  <a:schemeClr val="tx1"/>
                </a:solidFill>
                <a:latin typeface="Yu Gothic" panose="020B0400000000000000" pitchFamily="34" charset="-128"/>
                <a:ea typeface="Yu Gothic" panose="020B0400000000000000" pitchFamily="34" charset="-128"/>
              </a:rPr>
              <a:t>DCA, </a:t>
            </a:r>
            <a:r>
              <a:rPr kumimoji="1" lang="ja-JP" altLang="en-US" sz="1400">
                <a:solidFill>
                  <a:schemeClr val="tx1"/>
                </a:solidFill>
                <a:latin typeface="Yu Gothic" panose="020B0400000000000000" pitchFamily="34" charset="-128"/>
                <a:ea typeface="Yu Gothic" panose="020B0400000000000000" pitchFamily="34" charset="-128"/>
              </a:rPr>
              <a:t>ペプチドは</a:t>
            </a:r>
            <a:r>
              <a:rPr kumimoji="1" lang="en-US" altLang="ja-JP" sz="1400" dirty="0">
                <a:solidFill>
                  <a:schemeClr val="tx1"/>
                </a:solidFill>
                <a:latin typeface="Yu Gothic" panose="020B0400000000000000" pitchFamily="34" charset="-128"/>
                <a:ea typeface="Yu Gothic" panose="020B0400000000000000" pitchFamily="34" charset="-128"/>
              </a:rPr>
              <a:t>2µM</a:t>
            </a:r>
            <a:r>
              <a:rPr kumimoji="1" lang="ja-JP" altLang="en-US" sz="1400">
                <a:solidFill>
                  <a:schemeClr val="tx1"/>
                </a:solidFill>
                <a:latin typeface="Yu Gothic" panose="020B0400000000000000" pitchFamily="34" charset="-128"/>
                <a:ea typeface="Yu Gothic" panose="020B0400000000000000" pitchFamily="34" charset="-128"/>
              </a:rPr>
              <a:t>で添加</a:t>
            </a:r>
          </a:p>
        </p:txBody>
      </p:sp>
      <p:sp>
        <p:nvSpPr>
          <p:cNvPr id="2" name="タイトル 1">
            <a:extLst>
              <a:ext uri="{FF2B5EF4-FFF2-40B4-BE49-F238E27FC236}">
                <a16:creationId xmlns:a16="http://schemas.microsoft.com/office/drawing/2014/main" id="{C5EFF8D8-F15D-2F28-96DE-3F5D7A9A671A}"/>
              </a:ext>
            </a:extLst>
          </p:cNvPr>
          <p:cNvSpPr>
            <a:spLocks noGrp="1"/>
          </p:cNvSpPr>
          <p:nvPr>
            <p:ph type="title"/>
          </p:nvPr>
        </p:nvSpPr>
        <p:spPr/>
        <p:txBody>
          <a:bodyPr/>
          <a:lstStyle/>
          <a:p>
            <a:r>
              <a:rPr kumimoji="1" lang="ja-JP" altLang="en-US"/>
              <a:t>新しい評価系でペプチドの</a:t>
            </a:r>
            <a:r>
              <a:rPr kumimoji="1" lang="en-US" altLang="ja-JP" dirty="0"/>
              <a:t>TGR5</a:t>
            </a:r>
            <a:r>
              <a:rPr lang="ja-JP" altLang="en-US"/>
              <a:t>活性を有位に評価できることを確認</a:t>
            </a:r>
            <a:endParaRPr kumimoji="1" lang="ja-JP" altLang="en-US"/>
          </a:p>
        </p:txBody>
      </p:sp>
      <p:sp>
        <p:nvSpPr>
          <p:cNvPr id="4" name="テキスト プレースホルダー 3">
            <a:extLst>
              <a:ext uri="{FF2B5EF4-FFF2-40B4-BE49-F238E27FC236}">
                <a16:creationId xmlns:a16="http://schemas.microsoft.com/office/drawing/2014/main" id="{B6B81029-8E23-92A9-075A-50A81FCC8F3B}"/>
              </a:ext>
            </a:extLst>
          </p:cNvPr>
          <p:cNvSpPr>
            <a:spLocks noGrp="1"/>
          </p:cNvSpPr>
          <p:nvPr>
            <p:ph type="body" sz="quarter" idx="11"/>
          </p:nvPr>
        </p:nvSpPr>
        <p:spPr/>
        <p:txBody>
          <a:bodyPr/>
          <a:lstStyle/>
          <a:p>
            <a:r>
              <a:rPr kumimoji="1" lang="en-US" altLang="ja-JP" dirty="0"/>
              <a:t>Results - </a:t>
            </a:r>
            <a:r>
              <a:rPr kumimoji="1" lang="ja-JP" altLang="en-US"/>
              <a:t>新しい評価系での先行研究再現</a:t>
            </a:r>
          </a:p>
        </p:txBody>
      </p:sp>
      <p:graphicFrame>
        <p:nvGraphicFramePr>
          <p:cNvPr id="5" name="グラフ 4">
            <a:extLst>
              <a:ext uri="{FF2B5EF4-FFF2-40B4-BE49-F238E27FC236}">
                <a16:creationId xmlns:a16="http://schemas.microsoft.com/office/drawing/2014/main" id="{89D0900F-5063-23B0-1004-CFC29B1103E3}"/>
              </a:ext>
            </a:extLst>
          </p:cNvPr>
          <p:cNvGraphicFramePr>
            <a:graphicFrameLocks/>
          </p:cNvGraphicFramePr>
          <p:nvPr>
            <p:extLst>
              <p:ext uri="{D42A27DB-BD31-4B8C-83A1-F6EECF244321}">
                <p14:modId xmlns:p14="http://schemas.microsoft.com/office/powerpoint/2010/main" val="3213848474"/>
              </p:ext>
            </p:extLst>
          </p:nvPr>
        </p:nvGraphicFramePr>
        <p:xfrm>
          <a:off x="546100" y="1033184"/>
          <a:ext cx="5549900" cy="243352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グラフ 5">
            <a:extLst>
              <a:ext uri="{FF2B5EF4-FFF2-40B4-BE49-F238E27FC236}">
                <a16:creationId xmlns:a16="http://schemas.microsoft.com/office/drawing/2014/main" id="{96B090EE-C26D-B0DF-1908-93A27E794327}"/>
              </a:ext>
            </a:extLst>
          </p:cNvPr>
          <p:cNvGraphicFramePr>
            <a:graphicFrameLocks/>
          </p:cNvGraphicFramePr>
          <p:nvPr>
            <p:extLst>
              <p:ext uri="{D42A27DB-BD31-4B8C-83A1-F6EECF244321}">
                <p14:modId xmlns:p14="http://schemas.microsoft.com/office/powerpoint/2010/main" val="2059009824"/>
              </p:ext>
            </p:extLst>
          </p:nvPr>
        </p:nvGraphicFramePr>
        <p:xfrm>
          <a:off x="5938274" y="1033184"/>
          <a:ext cx="5707626" cy="2433524"/>
        </p:xfrm>
        <a:graphic>
          <a:graphicData uri="http://schemas.openxmlformats.org/drawingml/2006/chart">
            <c:chart xmlns:c="http://schemas.openxmlformats.org/drawingml/2006/chart" xmlns:r="http://schemas.openxmlformats.org/officeDocument/2006/relationships" r:id="rId4"/>
          </a:graphicData>
        </a:graphic>
      </p:graphicFrame>
      <p:sp>
        <p:nvSpPr>
          <p:cNvPr id="8" name="テキスト ボックス 7">
            <a:extLst>
              <a:ext uri="{FF2B5EF4-FFF2-40B4-BE49-F238E27FC236}">
                <a16:creationId xmlns:a16="http://schemas.microsoft.com/office/drawing/2014/main" id="{7C89E2F7-83D1-07AA-D521-F0510AEEE130}"/>
              </a:ext>
            </a:extLst>
          </p:cNvPr>
          <p:cNvSpPr txBox="1"/>
          <p:nvPr/>
        </p:nvSpPr>
        <p:spPr>
          <a:xfrm>
            <a:off x="1396099" y="3420803"/>
            <a:ext cx="3849902" cy="307777"/>
          </a:xfrm>
          <a:prstGeom prst="rect">
            <a:avLst/>
          </a:prstGeom>
          <a:noFill/>
        </p:spPr>
        <p:txBody>
          <a:bodyPr wrap="square" rtlCol="0">
            <a:spAutoFit/>
          </a:bodyPr>
          <a:lstStyle/>
          <a:p>
            <a:pPr algn="ctr"/>
            <a:r>
              <a:rPr lang="ja-JP" altLang="en-US" sz="1400"/>
              <a:t>新しい評価系での</a:t>
            </a:r>
            <a:r>
              <a:rPr lang="en-US" altLang="ja-JP" sz="1400" dirty="0"/>
              <a:t>TGR5</a:t>
            </a:r>
            <a:r>
              <a:rPr lang="ja-JP" altLang="en-US" sz="1400"/>
              <a:t>活性</a:t>
            </a:r>
            <a:endParaRPr kumimoji="1" lang="ja-JP" altLang="en-US" sz="1400"/>
          </a:p>
        </p:txBody>
      </p:sp>
      <p:sp>
        <p:nvSpPr>
          <p:cNvPr id="9" name="テキスト ボックス 8">
            <a:extLst>
              <a:ext uri="{FF2B5EF4-FFF2-40B4-BE49-F238E27FC236}">
                <a16:creationId xmlns:a16="http://schemas.microsoft.com/office/drawing/2014/main" id="{5F17D672-4D65-2136-FDA5-866457178465}"/>
              </a:ext>
            </a:extLst>
          </p:cNvPr>
          <p:cNvSpPr txBox="1"/>
          <p:nvPr/>
        </p:nvSpPr>
        <p:spPr>
          <a:xfrm>
            <a:off x="6867136" y="3420803"/>
            <a:ext cx="3849902" cy="307777"/>
          </a:xfrm>
          <a:prstGeom prst="rect">
            <a:avLst/>
          </a:prstGeom>
          <a:noFill/>
        </p:spPr>
        <p:txBody>
          <a:bodyPr wrap="square" rtlCol="0">
            <a:spAutoFit/>
          </a:bodyPr>
          <a:lstStyle/>
          <a:p>
            <a:pPr algn="ctr"/>
            <a:r>
              <a:rPr kumimoji="1" lang="ja-JP" altLang="en-US" sz="1400"/>
              <a:t>先行研究での</a:t>
            </a:r>
            <a:r>
              <a:rPr kumimoji="1" lang="en-US" altLang="ja-JP" sz="1400" dirty="0"/>
              <a:t>TGR5</a:t>
            </a:r>
            <a:r>
              <a:rPr kumimoji="1" lang="ja-JP" altLang="en-US" sz="1400"/>
              <a:t>活性</a:t>
            </a:r>
            <a:r>
              <a:rPr kumimoji="1" lang="en-US" altLang="ja-JP" sz="1400" dirty="0"/>
              <a:t> [</a:t>
            </a:r>
            <a:r>
              <a:rPr kumimoji="1" lang="ja-JP" altLang="en-US" sz="1400"/>
              <a:t>清水</a:t>
            </a:r>
            <a:r>
              <a:rPr kumimoji="1" lang="en-US" altLang="ja-JP" sz="1400" dirty="0"/>
              <a:t>, 2024, </a:t>
            </a:r>
            <a:r>
              <a:rPr kumimoji="1" lang="ja-JP" altLang="en-US" sz="1400"/>
              <a:t>修論</a:t>
            </a:r>
            <a:r>
              <a:rPr kumimoji="1" lang="en-US" altLang="ja-JP" sz="1400" dirty="0"/>
              <a:t>]</a:t>
            </a:r>
            <a:endParaRPr kumimoji="1" lang="ja-JP" altLang="en-US" sz="1400"/>
          </a:p>
        </p:txBody>
      </p:sp>
      <p:sp>
        <p:nvSpPr>
          <p:cNvPr id="11" name="コンテンツ プレースホルダー 2">
            <a:extLst>
              <a:ext uri="{FF2B5EF4-FFF2-40B4-BE49-F238E27FC236}">
                <a16:creationId xmlns:a16="http://schemas.microsoft.com/office/drawing/2014/main" id="{02D1FF3F-15BD-AA7A-FF29-D660CB079133}"/>
              </a:ext>
            </a:extLst>
          </p:cNvPr>
          <p:cNvSpPr txBox="1">
            <a:spLocks/>
          </p:cNvSpPr>
          <p:nvPr/>
        </p:nvSpPr>
        <p:spPr>
          <a:xfrm>
            <a:off x="546100" y="3758344"/>
            <a:ext cx="11099800" cy="2339052"/>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60000"/>
              </a:lnSpc>
              <a:spcBef>
                <a:spcPts val="200"/>
              </a:spcBef>
            </a:pPr>
            <a:r>
              <a:rPr lang="ja-JP" altLang="en-US" sz="1800" b="0"/>
              <a:t>共添加した系で、先行研究よりも高い活性が得られた</a:t>
            </a:r>
            <a:endParaRPr lang="en-US" altLang="ja-JP" sz="1800" b="0" dirty="0"/>
          </a:p>
          <a:p>
            <a:pPr lvl="1">
              <a:lnSpc>
                <a:spcPct val="150000"/>
              </a:lnSpc>
            </a:pPr>
            <a:r>
              <a:rPr lang="en-US" altLang="ja-JP" sz="1600" dirty="0"/>
              <a:t>DCA</a:t>
            </a:r>
            <a:r>
              <a:rPr lang="ja-JP" altLang="en-US" sz="1600"/>
              <a:t>の濃度を減らしたことにより、ペプチドの反応の余地が生まれた</a:t>
            </a:r>
            <a:endParaRPr lang="en-US" altLang="ja-JP" sz="1800" dirty="0"/>
          </a:p>
          <a:p>
            <a:pPr>
              <a:lnSpc>
                <a:spcPct val="160000"/>
              </a:lnSpc>
              <a:spcBef>
                <a:spcPts val="200"/>
              </a:spcBef>
            </a:pPr>
            <a:r>
              <a:rPr lang="ja-JP" altLang="en-US" sz="1800" b="0"/>
              <a:t>どのペプチドでも活性が見られた</a:t>
            </a:r>
            <a:endParaRPr lang="en-US" altLang="ja-JP" sz="1800" b="0" dirty="0"/>
          </a:p>
          <a:p>
            <a:pPr lvl="1">
              <a:lnSpc>
                <a:spcPct val="150000"/>
              </a:lnSpc>
            </a:pPr>
            <a:r>
              <a:rPr lang="en-US" altLang="ja-JP" sz="1600" b="0" dirty="0"/>
              <a:t>DCA</a:t>
            </a:r>
            <a:r>
              <a:rPr lang="ja-JP" altLang="en-US" sz="1600"/>
              <a:t>結合ペプチド以外の、適当なペプチド配列で活性が出ないことを確認する必要がある</a:t>
            </a:r>
            <a:endParaRPr lang="en-US" altLang="ja-JP" sz="1600" b="0" dirty="0"/>
          </a:p>
          <a:p>
            <a:pPr>
              <a:lnSpc>
                <a:spcPct val="160000"/>
              </a:lnSpc>
              <a:spcBef>
                <a:spcPts val="200"/>
              </a:spcBef>
            </a:pPr>
            <a:r>
              <a:rPr lang="ja-JP" altLang="en-US" sz="1800" b="0"/>
              <a:t>今回の実験では全体的に細胞の数が少なかったため、誤差が大きく出てしまった</a:t>
            </a:r>
            <a:endParaRPr lang="en-US" altLang="ja-JP" sz="1800" b="0" dirty="0"/>
          </a:p>
        </p:txBody>
      </p:sp>
      <p:sp>
        <p:nvSpPr>
          <p:cNvPr id="14" name="正方形/長方形 13">
            <a:extLst>
              <a:ext uri="{FF2B5EF4-FFF2-40B4-BE49-F238E27FC236}">
                <a16:creationId xmlns:a16="http://schemas.microsoft.com/office/drawing/2014/main" id="{0F745F7A-B945-0CD3-5062-5B0D8003656F}"/>
              </a:ext>
            </a:extLst>
          </p:cNvPr>
          <p:cNvSpPr/>
          <p:nvPr/>
        </p:nvSpPr>
        <p:spPr>
          <a:xfrm>
            <a:off x="6788272" y="967196"/>
            <a:ext cx="2581971" cy="366796"/>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solidFill>
                <a:latin typeface="Yu Gothic" panose="020B0400000000000000" pitchFamily="34" charset="-128"/>
                <a:ea typeface="Yu Gothic" panose="020B0400000000000000" pitchFamily="34" charset="-128"/>
              </a:rPr>
              <a:t>DCA, </a:t>
            </a:r>
            <a:r>
              <a:rPr kumimoji="1" lang="ja-JP" altLang="en-US" sz="1400">
                <a:solidFill>
                  <a:schemeClr val="tx1"/>
                </a:solidFill>
                <a:latin typeface="Yu Gothic" panose="020B0400000000000000" pitchFamily="34" charset="-128"/>
                <a:ea typeface="Yu Gothic" panose="020B0400000000000000" pitchFamily="34" charset="-128"/>
              </a:rPr>
              <a:t>ペプチドは</a:t>
            </a:r>
            <a:r>
              <a:rPr kumimoji="1" lang="en-US" altLang="ja-JP" sz="1400" dirty="0">
                <a:solidFill>
                  <a:schemeClr val="tx1"/>
                </a:solidFill>
                <a:latin typeface="Yu Gothic" panose="020B0400000000000000" pitchFamily="34" charset="-128"/>
                <a:ea typeface="Yu Gothic" panose="020B0400000000000000" pitchFamily="34" charset="-128"/>
              </a:rPr>
              <a:t>20µM</a:t>
            </a:r>
            <a:r>
              <a:rPr kumimoji="1" lang="ja-JP" altLang="en-US" sz="1400">
                <a:solidFill>
                  <a:schemeClr val="tx1"/>
                </a:solidFill>
                <a:latin typeface="Yu Gothic" panose="020B0400000000000000" pitchFamily="34" charset="-128"/>
                <a:ea typeface="Yu Gothic" panose="020B0400000000000000" pitchFamily="34" charset="-128"/>
              </a:rPr>
              <a:t>で添加</a:t>
            </a:r>
          </a:p>
        </p:txBody>
      </p:sp>
    </p:spTree>
    <p:extLst>
      <p:ext uri="{BB962C8B-B14F-4D97-AF65-F5344CB8AC3E}">
        <p14:creationId xmlns:p14="http://schemas.microsoft.com/office/powerpoint/2010/main" val="998222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C8F5410E-37F1-F568-79FE-4157C5EC0F67}"/>
              </a:ext>
            </a:extLst>
          </p:cNvPr>
          <p:cNvSpPr>
            <a:spLocks noGrp="1"/>
          </p:cNvSpPr>
          <p:nvPr>
            <p:ph type="body" sz="quarter" idx="11"/>
          </p:nvPr>
        </p:nvSpPr>
        <p:spPr/>
        <p:txBody>
          <a:bodyPr/>
          <a:lstStyle/>
          <a:p>
            <a:r>
              <a:rPr lang="ja-JP" altLang="en-US"/>
              <a:t>目次</a:t>
            </a:r>
            <a:endParaRPr kumimoji="1" lang="ja-JP" altLang="en-US"/>
          </a:p>
        </p:txBody>
      </p:sp>
      <p:grpSp>
        <p:nvGrpSpPr>
          <p:cNvPr id="9" name="グループ化 8">
            <a:extLst>
              <a:ext uri="{FF2B5EF4-FFF2-40B4-BE49-F238E27FC236}">
                <a16:creationId xmlns:a16="http://schemas.microsoft.com/office/drawing/2014/main" id="{AE78148A-2EC5-B4DA-81A9-5574F953E282}"/>
              </a:ext>
            </a:extLst>
          </p:cNvPr>
          <p:cNvGrpSpPr/>
          <p:nvPr/>
        </p:nvGrpSpPr>
        <p:grpSpPr>
          <a:xfrm>
            <a:off x="2891500" y="2622140"/>
            <a:ext cx="6408999" cy="1613720"/>
            <a:chOff x="3212342" y="2940079"/>
            <a:chExt cx="6408999" cy="1613720"/>
          </a:xfrm>
        </p:grpSpPr>
        <p:sp>
          <p:nvSpPr>
            <p:cNvPr id="7" name="テキスト ボックス 6">
              <a:extLst>
                <a:ext uri="{FF2B5EF4-FFF2-40B4-BE49-F238E27FC236}">
                  <a16:creationId xmlns:a16="http://schemas.microsoft.com/office/drawing/2014/main" id="{AD970EA2-D8D6-C88C-90D5-50A2A75A5331}"/>
                </a:ext>
              </a:extLst>
            </p:cNvPr>
            <p:cNvSpPr txBox="1"/>
            <p:nvPr/>
          </p:nvSpPr>
          <p:spPr>
            <a:xfrm>
              <a:off x="3212342" y="2940079"/>
              <a:ext cx="4254563" cy="523220"/>
            </a:xfrm>
            <a:prstGeom prst="rect">
              <a:avLst/>
            </a:prstGeom>
            <a:noFill/>
          </p:spPr>
          <p:txBody>
            <a:bodyPr wrap="none" rtlCol="0">
              <a:spAutoFit/>
            </a:bodyPr>
            <a:lstStyle/>
            <a:p>
              <a:r>
                <a:rPr kumimoji="1" lang="en-US" altLang="ja-JP" sz="2800" dirty="0">
                  <a:solidFill>
                    <a:schemeClr val="tx1">
                      <a:lumMod val="60000"/>
                      <a:lumOff val="40000"/>
                    </a:schemeClr>
                  </a:solidFill>
                </a:rPr>
                <a:t>1. TGR5</a:t>
              </a:r>
              <a:r>
                <a:rPr kumimoji="1" lang="ja-JP" altLang="en-US" sz="2800">
                  <a:solidFill>
                    <a:schemeClr val="tx1">
                      <a:lumMod val="60000"/>
                      <a:lumOff val="40000"/>
                    </a:schemeClr>
                  </a:solidFill>
                </a:rPr>
                <a:t>活性評価系の改善</a:t>
              </a:r>
            </a:p>
          </p:txBody>
        </p:sp>
        <p:sp>
          <p:nvSpPr>
            <p:cNvPr id="8" name="テキスト ボックス 7">
              <a:extLst>
                <a:ext uri="{FF2B5EF4-FFF2-40B4-BE49-F238E27FC236}">
                  <a16:creationId xmlns:a16="http://schemas.microsoft.com/office/drawing/2014/main" id="{D069B13F-41CF-DC6B-6CEB-AF79023C36A9}"/>
                </a:ext>
              </a:extLst>
            </p:cNvPr>
            <p:cNvSpPr txBox="1"/>
            <p:nvPr/>
          </p:nvSpPr>
          <p:spPr>
            <a:xfrm>
              <a:off x="3212342" y="4030579"/>
              <a:ext cx="6408999" cy="523220"/>
            </a:xfrm>
            <a:prstGeom prst="rect">
              <a:avLst/>
            </a:prstGeom>
            <a:noFill/>
          </p:spPr>
          <p:txBody>
            <a:bodyPr wrap="none" rtlCol="0">
              <a:spAutoFit/>
            </a:bodyPr>
            <a:lstStyle/>
            <a:p>
              <a:r>
                <a:rPr lang="en-US" altLang="ja-JP" sz="2800" u="sng" dirty="0"/>
                <a:t>2. TGR5</a:t>
              </a:r>
              <a:r>
                <a:rPr lang="ja-JP" altLang="en-US" sz="2800" u="sng"/>
                <a:t>アゴニスト類似ペプチドの探索</a:t>
              </a:r>
              <a:endParaRPr kumimoji="1" lang="ja-JP" altLang="en-US" sz="2800" u="sng"/>
            </a:p>
          </p:txBody>
        </p:sp>
      </p:grpSp>
    </p:spTree>
    <p:extLst>
      <p:ext uri="{BB962C8B-B14F-4D97-AF65-F5344CB8AC3E}">
        <p14:creationId xmlns:p14="http://schemas.microsoft.com/office/powerpoint/2010/main" val="2648574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3E4D6B5-0CE4-ECA8-70C8-6B74CB2EDB2F}"/>
              </a:ext>
            </a:extLst>
          </p:cNvPr>
          <p:cNvSpPr>
            <a:spLocks noGrp="1"/>
          </p:cNvSpPr>
          <p:nvPr>
            <p:ph idx="1"/>
          </p:nvPr>
        </p:nvSpPr>
        <p:spPr>
          <a:xfrm>
            <a:off x="546100" y="1038484"/>
            <a:ext cx="11099800" cy="969220"/>
          </a:xfrm>
        </p:spPr>
        <p:txBody>
          <a:bodyPr/>
          <a:lstStyle/>
          <a:p>
            <a:pPr marL="0" indent="0">
              <a:buNone/>
            </a:pPr>
            <a:r>
              <a:rPr kumimoji="1" lang="ja-JP" altLang="en-US"/>
              <a:t>化学構造が類似の化合物は同じ作用を持つ傾向がある</a:t>
            </a:r>
            <a:endParaRPr kumimoji="1" lang="en-US" altLang="ja-JP" dirty="0"/>
          </a:p>
          <a:p>
            <a:pPr marL="0" indent="0">
              <a:buNone/>
            </a:pPr>
            <a:r>
              <a:rPr lang="ja-JP" altLang="en-US" sz="1800" b="0"/>
              <a:t>フィンガープリントを用いて化合物同士の類似度を算出することができる</a:t>
            </a:r>
            <a:endParaRPr kumimoji="1" lang="ja-JP" altLang="en-US" sz="1800" b="0"/>
          </a:p>
        </p:txBody>
      </p:sp>
      <p:sp>
        <p:nvSpPr>
          <p:cNvPr id="4" name="テキスト プレースホルダー 3">
            <a:extLst>
              <a:ext uri="{FF2B5EF4-FFF2-40B4-BE49-F238E27FC236}">
                <a16:creationId xmlns:a16="http://schemas.microsoft.com/office/drawing/2014/main" id="{A95988CC-78B5-7B3C-28BD-31896FDA9CC5}"/>
              </a:ext>
            </a:extLst>
          </p:cNvPr>
          <p:cNvSpPr>
            <a:spLocks noGrp="1"/>
          </p:cNvSpPr>
          <p:nvPr>
            <p:ph type="body" sz="quarter" idx="11"/>
          </p:nvPr>
        </p:nvSpPr>
        <p:spPr/>
        <p:txBody>
          <a:bodyPr/>
          <a:lstStyle/>
          <a:p>
            <a:r>
              <a:rPr lang="en-US" altLang="ja-JP" dirty="0"/>
              <a:t>Methods</a:t>
            </a:r>
            <a:r>
              <a:rPr kumimoji="1" lang="en-US" altLang="ja-JP" dirty="0"/>
              <a:t> - </a:t>
            </a:r>
            <a:r>
              <a:rPr kumimoji="1" lang="ja-JP" altLang="en-US"/>
              <a:t>構造相関</a:t>
            </a:r>
          </a:p>
        </p:txBody>
      </p:sp>
      <p:sp>
        <p:nvSpPr>
          <p:cNvPr id="5" name="正方形/長方形 4">
            <a:extLst>
              <a:ext uri="{FF2B5EF4-FFF2-40B4-BE49-F238E27FC236}">
                <a16:creationId xmlns:a16="http://schemas.microsoft.com/office/drawing/2014/main" id="{01F1F773-A0F6-644F-A953-85E2EE861A9E}"/>
              </a:ext>
            </a:extLst>
          </p:cNvPr>
          <p:cNvSpPr/>
          <p:nvPr/>
        </p:nvSpPr>
        <p:spPr>
          <a:xfrm>
            <a:off x="546100" y="2007704"/>
            <a:ext cx="5429262" cy="4758081"/>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A378C214-0CD4-6D0E-7EBC-6F804222141E}"/>
              </a:ext>
            </a:extLst>
          </p:cNvPr>
          <p:cNvSpPr/>
          <p:nvPr/>
        </p:nvSpPr>
        <p:spPr>
          <a:xfrm>
            <a:off x="6216638" y="2007703"/>
            <a:ext cx="5429261" cy="4758081"/>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8A636997-ABDC-B3C8-D9E6-49FA56772D21}"/>
              </a:ext>
            </a:extLst>
          </p:cNvPr>
          <p:cNvSpPr txBox="1"/>
          <p:nvPr/>
        </p:nvSpPr>
        <p:spPr>
          <a:xfrm>
            <a:off x="546100" y="2014123"/>
            <a:ext cx="5429261" cy="926920"/>
          </a:xfrm>
          <a:prstGeom prst="rect">
            <a:avLst/>
          </a:prstGeom>
          <a:noFill/>
        </p:spPr>
        <p:txBody>
          <a:bodyPr wrap="square" rtlCol="0">
            <a:spAutoFit/>
          </a:bodyPr>
          <a:lstStyle/>
          <a:p>
            <a:pPr>
              <a:lnSpc>
                <a:spcPct val="150000"/>
              </a:lnSpc>
            </a:pPr>
            <a:r>
              <a:rPr kumimoji="1" lang="ja-JP" altLang="en-US" sz="2000" b="1">
                <a:solidFill>
                  <a:schemeClr val="accent4"/>
                </a:solidFill>
                <a:latin typeface="Yu Gothic" panose="020B0400000000000000" pitchFamily="34" charset="-128"/>
                <a:ea typeface="Yu Gothic" panose="020B0400000000000000" pitchFamily="34" charset="-128"/>
              </a:rPr>
              <a:t>フィンガープリント</a:t>
            </a:r>
            <a:endParaRPr kumimoji="1" lang="en-US" altLang="ja-JP" sz="2000" b="1" dirty="0">
              <a:solidFill>
                <a:schemeClr val="accent4"/>
              </a:solidFill>
              <a:latin typeface="Yu Gothic" panose="020B0400000000000000" pitchFamily="34" charset="-128"/>
              <a:ea typeface="Yu Gothic" panose="020B0400000000000000" pitchFamily="34" charset="-128"/>
            </a:endParaRPr>
          </a:p>
          <a:p>
            <a:pPr>
              <a:lnSpc>
                <a:spcPct val="150000"/>
              </a:lnSpc>
            </a:pPr>
            <a:r>
              <a:rPr kumimoji="1" lang="ja-JP" altLang="en-US"/>
              <a:t>化学構造の特徴ベクトル表現</a:t>
            </a:r>
            <a:endParaRPr kumimoji="1" lang="en-US" altLang="ja-JP" dirty="0"/>
          </a:p>
        </p:txBody>
      </p:sp>
      <p:sp>
        <p:nvSpPr>
          <p:cNvPr id="9" name="テキスト ボックス 8">
            <a:extLst>
              <a:ext uri="{FF2B5EF4-FFF2-40B4-BE49-F238E27FC236}">
                <a16:creationId xmlns:a16="http://schemas.microsoft.com/office/drawing/2014/main" id="{CFC01485-EF6D-138E-91B4-590A2D0C33AC}"/>
              </a:ext>
            </a:extLst>
          </p:cNvPr>
          <p:cNvSpPr txBox="1"/>
          <p:nvPr/>
        </p:nvSpPr>
        <p:spPr>
          <a:xfrm>
            <a:off x="6216638" y="2014123"/>
            <a:ext cx="5429261" cy="926920"/>
          </a:xfrm>
          <a:prstGeom prst="rect">
            <a:avLst/>
          </a:prstGeom>
          <a:noFill/>
        </p:spPr>
        <p:txBody>
          <a:bodyPr wrap="square" rtlCol="0">
            <a:spAutoFit/>
          </a:bodyPr>
          <a:lstStyle/>
          <a:p>
            <a:pPr>
              <a:lnSpc>
                <a:spcPct val="150000"/>
              </a:lnSpc>
            </a:pPr>
            <a:r>
              <a:rPr kumimoji="1" lang="en-US" altLang="ja-JP" sz="2000" b="1" dirty="0" err="1">
                <a:solidFill>
                  <a:schemeClr val="accent4"/>
                </a:solidFill>
                <a:latin typeface="Yu Gothic" panose="020B0400000000000000" pitchFamily="34" charset="-128"/>
                <a:ea typeface="Yu Gothic" panose="020B0400000000000000" pitchFamily="34" charset="-128"/>
              </a:rPr>
              <a:t>Tanimoto</a:t>
            </a:r>
            <a:r>
              <a:rPr kumimoji="1" lang="ja-JP" altLang="en-US" sz="2000" b="1">
                <a:solidFill>
                  <a:schemeClr val="accent4"/>
                </a:solidFill>
                <a:latin typeface="Yu Gothic" panose="020B0400000000000000" pitchFamily="34" charset="-128"/>
                <a:ea typeface="Yu Gothic" panose="020B0400000000000000" pitchFamily="34" charset="-128"/>
              </a:rPr>
              <a:t>係数</a:t>
            </a:r>
            <a:endParaRPr kumimoji="1" lang="en-US" altLang="ja-JP" sz="2000" b="1" dirty="0">
              <a:solidFill>
                <a:schemeClr val="accent4"/>
              </a:solidFill>
              <a:latin typeface="Yu Gothic" panose="020B0400000000000000" pitchFamily="34" charset="-128"/>
              <a:ea typeface="Yu Gothic" panose="020B0400000000000000" pitchFamily="34" charset="-128"/>
            </a:endParaRPr>
          </a:p>
          <a:p>
            <a:pPr>
              <a:lnSpc>
                <a:spcPct val="150000"/>
              </a:lnSpc>
            </a:pPr>
            <a:r>
              <a:rPr kumimoji="1" lang="ja-JP" altLang="en-US"/>
              <a:t>フィンガープリントに基づく類似度評価法</a:t>
            </a:r>
            <a:endParaRPr kumimoji="1" lang="en-US" altLang="ja-JP" dirty="0"/>
          </a:p>
        </p:txBody>
      </p:sp>
      <p:pic>
        <p:nvPicPr>
          <p:cNvPr id="27" name="図 26" descr="ダイアグラム&#10;&#10;自動的に生成された説明">
            <a:extLst>
              <a:ext uri="{FF2B5EF4-FFF2-40B4-BE49-F238E27FC236}">
                <a16:creationId xmlns:a16="http://schemas.microsoft.com/office/drawing/2014/main" id="{E86641B4-FB17-697A-E15A-BC8A2A6CCA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0156" y="3008243"/>
            <a:ext cx="4381148" cy="2156003"/>
          </a:xfrm>
          <a:prstGeom prst="rect">
            <a:avLst/>
          </a:prstGeom>
        </p:spPr>
      </p:pic>
      <p:sp>
        <p:nvSpPr>
          <p:cNvPr id="28" name="テキスト ボックス 27">
            <a:extLst>
              <a:ext uri="{FF2B5EF4-FFF2-40B4-BE49-F238E27FC236}">
                <a16:creationId xmlns:a16="http://schemas.microsoft.com/office/drawing/2014/main" id="{F58B9919-2D5E-8DC6-962A-5C7CAB353281}"/>
              </a:ext>
            </a:extLst>
          </p:cNvPr>
          <p:cNvSpPr txBox="1"/>
          <p:nvPr/>
        </p:nvSpPr>
        <p:spPr>
          <a:xfrm>
            <a:off x="546100" y="5230621"/>
            <a:ext cx="5429261" cy="15351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ja-JP" altLang="en-US" sz="1600">
                <a:latin typeface="Yu Gothic" panose="020B0400000000000000" pitchFamily="34" charset="-128"/>
                <a:ea typeface="Yu Gothic" panose="020B0400000000000000" pitchFamily="34" charset="-128"/>
              </a:rPr>
              <a:t>化合物の構造の中で特徴的な部分構造を構造フラグメントとしてあらかじめ定義</a:t>
            </a:r>
            <a:endParaRPr lang="en-US" altLang="ja-JP" sz="1600" dirty="0">
              <a:latin typeface="Yu Gothic" panose="020B0400000000000000" pitchFamily="34" charset="-128"/>
              <a:ea typeface="Yu Gothic"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Yu Gothic" panose="020B0400000000000000" pitchFamily="34" charset="-128"/>
                <a:ea typeface="Yu Gothic" panose="020B0400000000000000" pitchFamily="34" charset="-128"/>
              </a:rPr>
              <a:t>注目している化合物が各フラグメントを持つか持たないかの情報をビットとして羅列</a:t>
            </a:r>
            <a:endParaRPr kumimoji="1" lang="en-US" altLang="ja-JP" sz="1600" dirty="0">
              <a:latin typeface="Yu Gothic" panose="020B0400000000000000" pitchFamily="34" charset="-128"/>
              <a:ea typeface="Yu Gothic" panose="020B0400000000000000" pitchFamily="34" charset="-128"/>
            </a:endParaRPr>
          </a:p>
        </p:txBody>
      </p:sp>
      <mc:AlternateContent xmlns:mc="http://schemas.openxmlformats.org/markup-compatibility/2006" xmlns:a14="http://schemas.microsoft.com/office/drawing/2010/main">
        <mc:Choice Requires="a14">
          <p:sp>
            <p:nvSpPr>
              <p:cNvPr id="29" name="コンテンツ プレースホルダー 2">
                <a:extLst>
                  <a:ext uri="{FF2B5EF4-FFF2-40B4-BE49-F238E27FC236}">
                    <a16:creationId xmlns:a16="http://schemas.microsoft.com/office/drawing/2014/main" id="{D46B8360-1E10-64A4-EA74-6B07B1821AD5}"/>
                  </a:ext>
                </a:extLst>
              </p:cNvPr>
              <p:cNvSpPr txBox="1">
                <a:spLocks/>
              </p:cNvSpPr>
              <p:nvPr/>
            </p:nvSpPr>
            <p:spPr>
              <a:xfrm>
                <a:off x="6216636" y="3088849"/>
                <a:ext cx="5429262" cy="837266"/>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ja-JP" b="1" i="1" smtClean="0">
                          <a:latin typeface="Cambria Math" panose="02040503050406030204" pitchFamily="18" charset="0"/>
                        </a:rPr>
                        <m:t>𝑻</m:t>
                      </m:r>
                      <m:d>
                        <m:dPr>
                          <m:ctrlPr>
                            <a:rPr lang="en-US" altLang="ja-JP" i="1" smtClean="0">
                              <a:latin typeface="Cambria Math" panose="02040503050406030204" pitchFamily="18" charset="0"/>
                            </a:rPr>
                          </m:ctrlPr>
                        </m:dPr>
                        <m:e>
                          <m:r>
                            <a:rPr lang="en-US" altLang="ja-JP" b="1" i="1" smtClean="0">
                              <a:latin typeface="Cambria Math" panose="02040503050406030204" pitchFamily="18" charset="0"/>
                            </a:rPr>
                            <m:t>𝑨</m:t>
                          </m:r>
                          <m:r>
                            <a:rPr lang="en-US" altLang="ja-JP" b="1" i="1" smtClean="0">
                              <a:latin typeface="Cambria Math" panose="02040503050406030204" pitchFamily="18" charset="0"/>
                            </a:rPr>
                            <m:t>, </m:t>
                          </m:r>
                          <m:r>
                            <a:rPr lang="en-US" altLang="ja-JP" b="1" i="1" smtClean="0">
                              <a:latin typeface="Cambria Math" panose="02040503050406030204" pitchFamily="18" charset="0"/>
                            </a:rPr>
                            <m:t>𝑩</m:t>
                          </m:r>
                        </m:e>
                      </m:d>
                      <m:r>
                        <a:rPr lang="en-US" altLang="ja-JP" b="1" i="1" smtClean="0">
                          <a:latin typeface="Cambria Math" panose="02040503050406030204" pitchFamily="18" charset="0"/>
                        </a:rPr>
                        <m:t>= </m:t>
                      </m:r>
                      <m:f>
                        <m:fPr>
                          <m:ctrlPr>
                            <a:rPr lang="en-US" altLang="ja-JP" i="1" smtClean="0">
                              <a:latin typeface="Cambria Math" panose="02040503050406030204" pitchFamily="18" charset="0"/>
                            </a:rPr>
                          </m:ctrlPr>
                        </m:fPr>
                        <m:num>
                          <m:r>
                            <a:rPr lang="en-US" altLang="ja-JP" b="1" i="1" smtClean="0">
                              <a:latin typeface="Cambria Math" panose="02040503050406030204" pitchFamily="18" charset="0"/>
                            </a:rPr>
                            <m:t>|</m:t>
                          </m:r>
                          <m:r>
                            <a:rPr lang="en-US" altLang="ja-JP" b="1" i="1" smtClean="0">
                              <a:latin typeface="Cambria Math" panose="02040503050406030204" pitchFamily="18" charset="0"/>
                            </a:rPr>
                            <m:t>𝑨</m:t>
                          </m:r>
                          <m:r>
                            <a:rPr lang="en-US" altLang="ja-JP" b="1" i="1" smtClean="0">
                              <a:latin typeface="Cambria Math" panose="02040503050406030204" pitchFamily="18" charset="0"/>
                              <a:ea typeface="Cambria Math" panose="02040503050406030204" pitchFamily="18" charset="0"/>
                            </a:rPr>
                            <m:t>∩</m:t>
                          </m:r>
                          <m:r>
                            <a:rPr lang="en-US" altLang="ja-JP" b="1" i="1" smtClean="0">
                              <a:latin typeface="Cambria Math" panose="02040503050406030204" pitchFamily="18" charset="0"/>
                              <a:ea typeface="Cambria Math" panose="02040503050406030204" pitchFamily="18" charset="0"/>
                            </a:rPr>
                            <m:t>𝑩</m:t>
                          </m:r>
                          <m:r>
                            <a:rPr lang="en-US" altLang="ja-JP" b="1" i="1" smtClean="0">
                              <a:latin typeface="Cambria Math" panose="02040503050406030204" pitchFamily="18" charset="0"/>
                            </a:rPr>
                            <m:t>|</m:t>
                          </m:r>
                        </m:num>
                        <m:den>
                          <m:r>
                            <a:rPr lang="en-US" altLang="ja-JP" b="1" i="1" smtClean="0">
                              <a:latin typeface="Cambria Math" panose="02040503050406030204" pitchFamily="18" charset="0"/>
                            </a:rPr>
                            <m:t>|</m:t>
                          </m:r>
                          <m:r>
                            <a:rPr lang="en-US" altLang="ja-JP" b="1" i="1" smtClean="0">
                              <a:latin typeface="Cambria Math" panose="02040503050406030204" pitchFamily="18" charset="0"/>
                            </a:rPr>
                            <m:t>𝑨</m:t>
                          </m:r>
                          <m:r>
                            <a:rPr lang="en-US" altLang="ja-JP" b="1" i="1" smtClean="0">
                              <a:latin typeface="Cambria Math" panose="02040503050406030204" pitchFamily="18" charset="0"/>
                              <a:ea typeface="Cambria Math" panose="02040503050406030204" pitchFamily="18" charset="0"/>
                            </a:rPr>
                            <m:t>∪</m:t>
                          </m:r>
                          <m:r>
                            <a:rPr lang="en-US" altLang="ja-JP" b="1" i="1" smtClean="0">
                              <a:latin typeface="Cambria Math" panose="02040503050406030204" pitchFamily="18" charset="0"/>
                              <a:ea typeface="Cambria Math" panose="02040503050406030204" pitchFamily="18" charset="0"/>
                            </a:rPr>
                            <m:t>𝑩</m:t>
                          </m:r>
                          <m:r>
                            <a:rPr lang="en-US" altLang="ja-JP" b="1" i="1" smtClean="0">
                              <a:latin typeface="Cambria Math" panose="02040503050406030204" pitchFamily="18" charset="0"/>
                            </a:rPr>
                            <m:t>|</m:t>
                          </m:r>
                        </m:den>
                      </m:f>
                    </m:oMath>
                  </m:oMathPara>
                </a14:m>
                <a:endParaRPr lang="ja-JP" altLang="en-US" sz="1800"/>
              </a:p>
              <a:p>
                <a:pPr marL="0" indent="0">
                  <a:buNone/>
                </a:pPr>
                <a:endParaRPr lang="ja-JP" altLang="en-US" b="0"/>
              </a:p>
            </p:txBody>
          </p:sp>
        </mc:Choice>
        <mc:Fallback xmlns="">
          <p:sp>
            <p:nvSpPr>
              <p:cNvPr id="29" name="コンテンツ プレースホルダー 2">
                <a:extLst>
                  <a:ext uri="{FF2B5EF4-FFF2-40B4-BE49-F238E27FC236}">
                    <a16:creationId xmlns:a16="http://schemas.microsoft.com/office/drawing/2014/main" id="{D46B8360-1E10-64A4-EA74-6B07B1821AD5}"/>
                  </a:ext>
                </a:extLst>
              </p:cNvPr>
              <p:cNvSpPr txBox="1">
                <a:spLocks noRot="1" noChangeAspect="1" noMove="1" noResize="1" noEditPoints="1" noAdjustHandles="1" noChangeArrowheads="1" noChangeShapeType="1" noTextEdit="1"/>
              </p:cNvSpPr>
              <p:nvPr/>
            </p:nvSpPr>
            <p:spPr>
              <a:xfrm>
                <a:off x="6216636" y="3088849"/>
                <a:ext cx="5429262" cy="837266"/>
              </a:xfrm>
              <a:prstGeom prst="rect">
                <a:avLst/>
              </a:prstGeom>
              <a:blipFill>
                <a:blip r:embed="rId4"/>
                <a:stretch>
                  <a:fillRect b="-1493"/>
                </a:stretch>
              </a:blipFill>
            </p:spPr>
            <p:txBody>
              <a:bodyPr/>
              <a:lstStyle/>
              <a:p>
                <a:r>
                  <a:rPr lang="ja-JP" altLang="en-US">
                    <a:noFill/>
                  </a:rPr>
                  <a:t> </a:t>
                </a:r>
              </a:p>
            </p:txBody>
          </p:sp>
        </mc:Fallback>
      </mc:AlternateContent>
      <p:pic>
        <p:nvPicPr>
          <p:cNvPr id="31" name="図 30" descr="テーブル, カレンダー&#10;&#10;自動的に生成された説明">
            <a:extLst>
              <a:ext uri="{FF2B5EF4-FFF2-40B4-BE49-F238E27FC236}">
                <a16:creationId xmlns:a16="http://schemas.microsoft.com/office/drawing/2014/main" id="{8D9D1B19-82B4-92F4-787A-275DEE87D0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47787" y="4991090"/>
            <a:ext cx="4723008" cy="1007112"/>
          </a:xfrm>
          <a:prstGeom prst="rect">
            <a:avLst/>
          </a:prstGeom>
        </p:spPr>
      </p:pic>
      <mc:AlternateContent xmlns:mc="http://schemas.openxmlformats.org/markup-compatibility/2006" xmlns:a14="http://schemas.microsoft.com/office/drawing/2010/main">
        <mc:Choice Requires="a14">
          <p:sp>
            <p:nvSpPr>
              <p:cNvPr id="32" name="コンテンツ プレースホルダー 2">
                <a:extLst>
                  <a:ext uri="{FF2B5EF4-FFF2-40B4-BE49-F238E27FC236}">
                    <a16:creationId xmlns:a16="http://schemas.microsoft.com/office/drawing/2014/main" id="{844908F2-FB8F-39A8-B9CC-A3D63E8995D9}"/>
                  </a:ext>
                </a:extLst>
              </p:cNvPr>
              <p:cNvSpPr txBox="1">
                <a:spLocks/>
              </p:cNvSpPr>
              <p:nvPr/>
            </p:nvSpPr>
            <p:spPr>
              <a:xfrm>
                <a:off x="6969545" y="5998203"/>
                <a:ext cx="3923444" cy="837266"/>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ja-JP" sz="1800" b="0" i="1" smtClean="0">
                          <a:latin typeface="Cambria Math" panose="02040503050406030204" pitchFamily="18" charset="0"/>
                        </a:rPr>
                        <m:t>𝑇</m:t>
                      </m:r>
                      <m:d>
                        <m:dPr>
                          <m:ctrlPr>
                            <a:rPr lang="en-US" altLang="ja-JP" sz="1800" b="0" i="1" smtClean="0">
                              <a:latin typeface="Cambria Math" panose="02040503050406030204" pitchFamily="18" charset="0"/>
                            </a:rPr>
                          </m:ctrlPr>
                        </m:dPr>
                        <m:e>
                          <m:r>
                            <a:rPr lang="en-US" altLang="ja-JP" sz="1800" b="0" i="1" smtClean="0">
                              <a:latin typeface="Cambria Math" panose="02040503050406030204" pitchFamily="18" charset="0"/>
                            </a:rPr>
                            <m:t>𝐴</m:t>
                          </m:r>
                          <m:r>
                            <a:rPr lang="en-US" altLang="ja-JP" sz="1800" b="0" i="1" smtClean="0">
                              <a:latin typeface="Cambria Math" panose="02040503050406030204" pitchFamily="18" charset="0"/>
                            </a:rPr>
                            <m:t>, </m:t>
                          </m:r>
                          <m:r>
                            <a:rPr lang="en-US" altLang="ja-JP" sz="1800" b="0" i="1" smtClean="0">
                              <a:latin typeface="Cambria Math" panose="02040503050406030204" pitchFamily="18" charset="0"/>
                            </a:rPr>
                            <m:t>𝐵</m:t>
                          </m:r>
                        </m:e>
                      </m:d>
                      <m:r>
                        <a:rPr lang="en-US" altLang="ja-JP" sz="1800" b="0" i="1" smtClean="0">
                          <a:latin typeface="Cambria Math" panose="02040503050406030204" pitchFamily="18" charset="0"/>
                        </a:rPr>
                        <m:t>= </m:t>
                      </m:r>
                      <m:f>
                        <m:fPr>
                          <m:ctrlPr>
                            <a:rPr lang="en-US" altLang="ja-JP" sz="1800" b="0" i="1" smtClean="0">
                              <a:latin typeface="Cambria Math" panose="02040503050406030204" pitchFamily="18" charset="0"/>
                            </a:rPr>
                          </m:ctrlPr>
                        </m:fPr>
                        <m:num>
                          <m:r>
                            <a:rPr lang="en-US" altLang="ja-JP" sz="1800" b="0" i="1" smtClean="0">
                              <a:latin typeface="Cambria Math" panose="02040503050406030204" pitchFamily="18" charset="0"/>
                            </a:rPr>
                            <m:t>5</m:t>
                          </m:r>
                        </m:num>
                        <m:den>
                          <m:r>
                            <a:rPr lang="en-US" altLang="ja-JP" sz="1800" b="0" i="1" smtClean="0">
                              <a:latin typeface="Cambria Math" panose="02040503050406030204" pitchFamily="18" charset="0"/>
                            </a:rPr>
                            <m:t>8+6−5</m:t>
                          </m:r>
                        </m:den>
                      </m:f>
                      <m:r>
                        <a:rPr lang="en-US" altLang="ja-JP" sz="1800" b="0" i="1" smtClean="0">
                          <a:latin typeface="Cambria Math" panose="02040503050406030204" pitchFamily="18" charset="0"/>
                        </a:rPr>
                        <m:t>=0.56</m:t>
                      </m:r>
                    </m:oMath>
                  </m:oMathPara>
                </a14:m>
                <a:endParaRPr lang="en-US" altLang="ja-JP" sz="1800" b="0" dirty="0"/>
              </a:p>
              <a:p>
                <a:pPr marL="0" indent="0">
                  <a:buNone/>
                </a:pPr>
                <a:endParaRPr lang="ja-JP" altLang="en-US" sz="1800" b="0"/>
              </a:p>
              <a:p>
                <a:pPr marL="0" indent="0">
                  <a:buNone/>
                </a:pPr>
                <a:endParaRPr lang="ja-JP" altLang="en-US" sz="1800" b="0"/>
              </a:p>
            </p:txBody>
          </p:sp>
        </mc:Choice>
        <mc:Fallback xmlns="">
          <p:sp>
            <p:nvSpPr>
              <p:cNvPr id="32" name="コンテンツ プレースホルダー 2">
                <a:extLst>
                  <a:ext uri="{FF2B5EF4-FFF2-40B4-BE49-F238E27FC236}">
                    <a16:creationId xmlns:a16="http://schemas.microsoft.com/office/drawing/2014/main" id="{844908F2-FB8F-39A8-B9CC-A3D63E8995D9}"/>
                  </a:ext>
                </a:extLst>
              </p:cNvPr>
              <p:cNvSpPr txBox="1">
                <a:spLocks noRot="1" noChangeAspect="1" noMove="1" noResize="1" noEditPoints="1" noAdjustHandles="1" noChangeArrowheads="1" noChangeShapeType="1" noTextEdit="1"/>
              </p:cNvSpPr>
              <p:nvPr/>
            </p:nvSpPr>
            <p:spPr>
              <a:xfrm>
                <a:off x="6969545" y="5998203"/>
                <a:ext cx="3923444" cy="837266"/>
              </a:xfrm>
              <a:prstGeom prst="rect">
                <a:avLst/>
              </a:prstGeom>
              <a:blipFill>
                <a:blip r:embed="rId6"/>
                <a:stretch>
                  <a:fillRect/>
                </a:stretch>
              </a:blipFill>
            </p:spPr>
            <p:txBody>
              <a:bodyPr/>
              <a:lstStyle/>
              <a:p>
                <a:r>
                  <a:rPr lang="ja-JP" altLang="en-US">
                    <a:noFill/>
                  </a:rPr>
                  <a:t> </a:t>
                </a:r>
              </a:p>
            </p:txBody>
          </p:sp>
        </mc:Fallback>
      </mc:AlternateContent>
      <p:sp>
        <p:nvSpPr>
          <p:cNvPr id="34" name="テキスト ボックス 33">
            <a:extLst>
              <a:ext uri="{FF2B5EF4-FFF2-40B4-BE49-F238E27FC236}">
                <a16:creationId xmlns:a16="http://schemas.microsoft.com/office/drawing/2014/main" id="{0A9BE676-4423-5961-EE76-96EABDFF5493}"/>
              </a:ext>
            </a:extLst>
          </p:cNvPr>
          <p:cNvSpPr txBox="1"/>
          <p:nvPr/>
        </p:nvSpPr>
        <p:spPr>
          <a:xfrm>
            <a:off x="6216636" y="5281062"/>
            <a:ext cx="5429261" cy="427168"/>
          </a:xfrm>
          <a:prstGeom prst="rect">
            <a:avLst/>
          </a:prstGeom>
          <a:noFill/>
        </p:spPr>
        <p:txBody>
          <a:bodyPr wrap="square" rtlCol="0">
            <a:spAutoFit/>
          </a:bodyPr>
          <a:lstStyle/>
          <a:p>
            <a:pPr>
              <a:lnSpc>
                <a:spcPct val="150000"/>
              </a:lnSpc>
            </a:pPr>
            <a:r>
              <a:rPr lang="ja-JP" altLang="en-US" sz="1600" b="1">
                <a:latin typeface="Yu Gothic" panose="020B0400000000000000" pitchFamily="34" charset="-128"/>
                <a:ea typeface="Yu Gothic" panose="020B0400000000000000" pitchFamily="34" charset="-128"/>
              </a:rPr>
              <a:t>例：</a:t>
            </a:r>
            <a:endParaRPr lang="en-US" altLang="ja-JP" sz="1600" b="1" dirty="0">
              <a:latin typeface="Yu Gothic" panose="020B0400000000000000" pitchFamily="34" charset="-128"/>
              <a:ea typeface="Yu Gothic" panose="020B0400000000000000" pitchFamily="34" charset="-128"/>
            </a:endParaRPr>
          </a:p>
        </p:txBody>
      </p:sp>
      <mc:AlternateContent xmlns:mc="http://schemas.openxmlformats.org/markup-compatibility/2006" xmlns:a14="http://schemas.microsoft.com/office/drawing/2010/main">
        <mc:Choice Requires="a14">
          <p:sp>
            <p:nvSpPr>
              <p:cNvPr id="35" name="コンテンツ プレースホルダー 2">
                <a:extLst>
                  <a:ext uri="{FF2B5EF4-FFF2-40B4-BE49-F238E27FC236}">
                    <a16:creationId xmlns:a16="http://schemas.microsoft.com/office/drawing/2014/main" id="{7BA631DE-73BF-21C0-C4E3-05C8A340AF44}"/>
                  </a:ext>
                </a:extLst>
              </p:cNvPr>
              <p:cNvSpPr txBox="1">
                <a:spLocks/>
              </p:cNvSpPr>
              <p:nvPr/>
            </p:nvSpPr>
            <p:spPr>
              <a:xfrm>
                <a:off x="6761871" y="3933536"/>
                <a:ext cx="4338788" cy="837266"/>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spcBef>
                    <a:spcPts val="1200"/>
                  </a:spcBef>
                  <a:buNone/>
                </a:pPr>
                <a14:m>
                  <m:oMath xmlns:m="http://schemas.openxmlformats.org/officeDocument/2006/math">
                    <m:d>
                      <m:dPr>
                        <m:begChr m:val="|"/>
                        <m:endChr m:val="|"/>
                        <m:ctrlPr>
                          <a:rPr lang="en-US" altLang="ja-JP" sz="1600" b="0" i="1">
                            <a:latin typeface="Cambria Math" panose="02040503050406030204" pitchFamily="18" charset="0"/>
                          </a:rPr>
                        </m:ctrlPr>
                      </m:dPr>
                      <m:e>
                        <m:r>
                          <a:rPr lang="en-US" altLang="ja-JP" sz="1600" b="0" i="1">
                            <a:latin typeface="Cambria Math" panose="02040503050406030204" pitchFamily="18" charset="0"/>
                          </a:rPr>
                          <m:t>𝐴</m:t>
                        </m:r>
                        <m:r>
                          <a:rPr lang="en-US" altLang="ja-JP" sz="1600" b="0" i="1">
                            <a:latin typeface="Cambria Math" panose="02040503050406030204" pitchFamily="18" charset="0"/>
                            <a:ea typeface="Cambria Math" panose="02040503050406030204" pitchFamily="18" charset="0"/>
                          </a:rPr>
                          <m:t>∩</m:t>
                        </m:r>
                        <m:r>
                          <a:rPr lang="en-US" altLang="ja-JP" sz="1600" b="0" i="1">
                            <a:latin typeface="Cambria Math" panose="02040503050406030204" pitchFamily="18" charset="0"/>
                            <a:ea typeface="Cambria Math" panose="02040503050406030204" pitchFamily="18" charset="0"/>
                          </a:rPr>
                          <m:t>𝐵</m:t>
                        </m:r>
                      </m:e>
                    </m:d>
                  </m:oMath>
                </a14:m>
                <a:r>
                  <a:rPr lang="ja-JP" altLang="en-US" sz="1600" b="0"/>
                  <a:t>：</a:t>
                </a:r>
                <a:r>
                  <a:rPr lang="en-US" altLang="ja-JP" sz="1600" b="0" dirty="0"/>
                  <a:t>A</a:t>
                </a:r>
                <a:r>
                  <a:rPr lang="ja-JP" altLang="en-US" sz="1600" b="0"/>
                  <a:t>と</a:t>
                </a:r>
                <a:r>
                  <a:rPr lang="en-US" altLang="ja-JP" sz="1600" b="0" dirty="0"/>
                  <a:t>B</a:t>
                </a:r>
                <a:r>
                  <a:rPr lang="ja-JP" altLang="en-US" sz="1600" b="0"/>
                  <a:t>で共通する特徴の数</a:t>
                </a:r>
                <a:endParaRPr lang="en-US" altLang="ja-JP" sz="1600" b="0" dirty="0"/>
              </a:p>
              <a:p>
                <a:pPr marL="0" indent="0">
                  <a:lnSpc>
                    <a:spcPct val="100000"/>
                  </a:lnSpc>
                  <a:spcBef>
                    <a:spcPts val="1200"/>
                  </a:spcBef>
                  <a:buNone/>
                </a:pPr>
                <a14:m>
                  <m:oMath xmlns:m="http://schemas.openxmlformats.org/officeDocument/2006/math">
                    <m:d>
                      <m:dPr>
                        <m:begChr m:val="|"/>
                        <m:endChr m:val="|"/>
                        <m:ctrlPr>
                          <a:rPr lang="en-US" altLang="ja-JP" sz="1600" b="0" i="1" smtClean="0">
                            <a:latin typeface="Cambria Math" panose="02040503050406030204" pitchFamily="18" charset="0"/>
                          </a:rPr>
                        </m:ctrlPr>
                      </m:dPr>
                      <m:e>
                        <m:r>
                          <a:rPr lang="en-US" altLang="ja-JP" sz="1600" b="0" i="1">
                            <a:latin typeface="Cambria Math" panose="02040503050406030204" pitchFamily="18" charset="0"/>
                          </a:rPr>
                          <m:t>𝐴</m:t>
                        </m:r>
                        <m:r>
                          <a:rPr lang="en-US" altLang="ja-JP" sz="1600" b="0" i="1">
                            <a:latin typeface="Cambria Math" panose="02040503050406030204" pitchFamily="18" charset="0"/>
                            <a:ea typeface="Cambria Math" panose="02040503050406030204" pitchFamily="18" charset="0"/>
                          </a:rPr>
                          <m:t>∪</m:t>
                        </m:r>
                        <m:r>
                          <a:rPr lang="en-US" altLang="ja-JP" sz="1600" b="0" i="1">
                            <a:latin typeface="Cambria Math" panose="02040503050406030204" pitchFamily="18" charset="0"/>
                            <a:ea typeface="Cambria Math" panose="02040503050406030204" pitchFamily="18" charset="0"/>
                          </a:rPr>
                          <m:t>𝐵</m:t>
                        </m:r>
                      </m:e>
                    </m:d>
                  </m:oMath>
                </a14:m>
                <a:r>
                  <a:rPr lang="ja-JP" altLang="en-US" sz="1600" b="0"/>
                  <a:t>：</a:t>
                </a:r>
                <a:r>
                  <a:rPr lang="en-US" altLang="ja-JP" sz="1600" b="0" dirty="0"/>
                  <a:t>A</a:t>
                </a:r>
                <a:r>
                  <a:rPr lang="ja-JP" altLang="en-US" sz="1600" b="0"/>
                  <a:t>と</a:t>
                </a:r>
                <a:r>
                  <a:rPr lang="en-US" altLang="ja-JP" sz="1600" b="0" dirty="0"/>
                  <a:t>B</a:t>
                </a:r>
                <a:r>
                  <a:rPr lang="ja-JP" altLang="en-US" sz="1600" b="0"/>
                  <a:t>のいずれかに含まれる特徴の数</a:t>
                </a:r>
              </a:p>
              <a:p>
                <a:pPr marL="0" indent="0">
                  <a:lnSpc>
                    <a:spcPct val="100000"/>
                  </a:lnSpc>
                  <a:buNone/>
                </a:pPr>
                <a:endParaRPr lang="ja-JP" altLang="en-US" sz="1600" b="0"/>
              </a:p>
            </p:txBody>
          </p:sp>
        </mc:Choice>
        <mc:Fallback xmlns="">
          <p:sp>
            <p:nvSpPr>
              <p:cNvPr id="35" name="コンテンツ プレースホルダー 2">
                <a:extLst>
                  <a:ext uri="{FF2B5EF4-FFF2-40B4-BE49-F238E27FC236}">
                    <a16:creationId xmlns:a16="http://schemas.microsoft.com/office/drawing/2014/main" id="{7BA631DE-73BF-21C0-C4E3-05C8A340AF44}"/>
                  </a:ext>
                </a:extLst>
              </p:cNvPr>
              <p:cNvSpPr txBox="1">
                <a:spLocks noRot="1" noChangeAspect="1" noMove="1" noResize="1" noEditPoints="1" noAdjustHandles="1" noChangeArrowheads="1" noChangeShapeType="1" noTextEdit="1"/>
              </p:cNvSpPr>
              <p:nvPr/>
            </p:nvSpPr>
            <p:spPr>
              <a:xfrm>
                <a:off x="6761871" y="3933536"/>
                <a:ext cx="4338788" cy="837266"/>
              </a:xfrm>
              <a:prstGeom prst="rect">
                <a:avLst/>
              </a:prstGeom>
              <a:blipFill>
                <a:blip r:embed="rId7"/>
                <a:stretch>
                  <a:fillRect t="-1493" r="-58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12462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正方形/長方形 98">
            <a:extLst>
              <a:ext uri="{FF2B5EF4-FFF2-40B4-BE49-F238E27FC236}">
                <a16:creationId xmlns:a16="http://schemas.microsoft.com/office/drawing/2014/main" id="{FDCF2546-4A65-3DF8-7B39-1742AECEA51E}"/>
              </a:ext>
            </a:extLst>
          </p:cNvPr>
          <p:cNvSpPr/>
          <p:nvPr/>
        </p:nvSpPr>
        <p:spPr>
          <a:xfrm>
            <a:off x="17062" y="1779104"/>
            <a:ext cx="12188742" cy="507889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プレースホルダー 3">
            <a:extLst>
              <a:ext uri="{FF2B5EF4-FFF2-40B4-BE49-F238E27FC236}">
                <a16:creationId xmlns:a16="http://schemas.microsoft.com/office/drawing/2014/main" id="{51A5A1B5-9159-34BE-D736-E263FEE0C9CB}"/>
              </a:ext>
            </a:extLst>
          </p:cNvPr>
          <p:cNvSpPr>
            <a:spLocks noGrp="1"/>
          </p:cNvSpPr>
          <p:nvPr>
            <p:ph type="body" sz="quarter" idx="11"/>
          </p:nvPr>
        </p:nvSpPr>
        <p:spPr/>
        <p:txBody>
          <a:bodyPr/>
          <a:lstStyle/>
          <a:p>
            <a:r>
              <a:rPr lang="en-US" altLang="ja-JP" dirty="0"/>
              <a:t>Methods</a:t>
            </a:r>
            <a:r>
              <a:rPr kumimoji="1" lang="en-US" altLang="ja-JP" dirty="0"/>
              <a:t> - </a:t>
            </a:r>
            <a:r>
              <a:rPr kumimoji="1" lang="ja-JP" altLang="en-US"/>
              <a:t>構造相関による</a:t>
            </a:r>
            <a:r>
              <a:rPr kumimoji="1" lang="en-US" altLang="ja-JP" dirty="0"/>
              <a:t>TGR5</a:t>
            </a:r>
            <a:r>
              <a:rPr kumimoji="1" lang="ja-JP" altLang="en-US"/>
              <a:t>アゴニストペプチドの予測</a:t>
            </a:r>
          </a:p>
        </p:txBody>
      </p:sp>
      <p:grpSp>
        <p:nvGrpSpPr>
          <p:cNvPr id="28" name="グループ化 27">
            <a:extLst>
              <a:ext uri="{FF2B5EF4-FFF2-40B4-BE49-F238E27FC236}">
                <a16:creationId xmlns:a16="http://schemas.microsoft.com/office/drawing/2014/main" id="{D3C69E07-7A0B-44A4-BD14-A433C74BEF45}"/>
              </a:ext>
            </a:extLst>
          </p:cNvPr>
          <p:cNvGrpSpPr/>
          <p:nvPr/>
        </p:nvGrpSpPr>
        <p:grpSpPr>
          <a:xfrm>
            <a:off x="616851" y="2521054"/>
            <a:ext cx="1947851" cy="1386350"/>
            <a:chOff x="1183579" y="2539737"/>
            <a:chExt cx="1947851" cy="1386350"/>
          </a:xfrm>
        </p:grpSpPr>
        <p:pic>
          <p:nvPicPr>
            <p:cNvPr id="5" name="図 4" descr="スポーツゲーム, サッカー が含まれている画像&#10;&#10;自動的に生成された説明">
              <a:extLst>
                <a:ext uri="{FF2B5EF4-FFF2-40B4-BE49-F238E27FC236}">
                  <a16:creationId xmlns:a16="http://schemas.microsoft.com/office/drawing/2014/main" id="{08AFDC72-A4A3-3BA6-EFFE-253F64B161FD}"/>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20720" b="19760"/>
            <a:stretch/>
          </p:blipFill>
          <p:spPr>
            <a:xfrm>
              <a:off x="1197140" y="2539737"/>
              <a:ext cx="1757421" cy="1046017"/>
            </a:xfrm>
            <a:prstGeom prst="rect">
              <a:avLst/>
            </a:prstGeom>
          </p:spPr>
        </p:pic>
        <p:sp>
          <p:nvSpPr>
            <p:cNvPr id="12" name="テキスト ボックス 11">
              <a:extLst>
                <a:ext uri="{FF2B5EF4-FFF2-40B4-BE49-F238E27FC236}">
                  <a16:creationId xmlns:a16="http://schemas.microsoft.com/office/drawing/2014/main" id="{039E193C-893D-676A-DB33-9267F3AC8067}"/>
                </a:ext>
              </a:extLst>
            </p:cNvPr>
            <p:cNvSpPr txBox="1"/>
            <p:nvPr/>
          </p:nvSpPr>
          <p:spPr>
            <a:xfrm>
              <a:off x="1183579" y="3587533"/>
              <a:ext cx="1947851" cy="338554"/>
            </a:xfrm>
            <a:prstGeom prst="rect">
              <a:avLst/>
            </a:prstGeom>
            <a:noFill/>
          </p:spPr>
          <p:txBody>
            <a:bodyPr wrap="square">
              <a:spAutoFit/>
            </a:bodyPr>
            <a:lstStyle/>
            <a:p>
              <a:pPr algn="ctr"/>
              <a:r>
                <a:rPr lang="en-US" altLang="ja-JP" sz="1600" dirty="0">
                  <a:latin typeface="+mn-ea"/>
                </a:rPr>
                <a:t>TGR5</a:t>
              </a:r>
              <a:r>
                <a:rPr lang="ja-JP" altLang="en-US" sz="1600">
                  <a:latin typeface="+mn-ea"/>
                </a:rPr>
                <a:t>アゴニスト</a:t>
              </a:r>
              <a:endParaRPr lang="en-US" altLang="ja-JP" sz="1600" b="0" dirty="0">
                <a:latin typeface="+mn-ea"/>
              </a:endParaRPr>
            </a:p>
          </p:txBody>
        </p:sp>
      </p:grpSp>
      <p:grpSp>
        <p:nvGrpSpPr>
          <p:cNvPr id="27" name="グループ化 26">
            <a:extLst>
              <a:ext uri="{FF2B5EF4-FFF2-40B4-BE49-F238E27FC236}">
                <a16:creationId xmlns:a16="http://schemas.microsoft.com/office/drawing/2014/main" id="{1C134DC0-154A-50B7-8084-5B299DF87699}"/>
              </a:ext>
            </a:extLst>
          </p:cNvPr>
          <p:cNvGrpSpPr/>
          <p:nvPr/>
        </p:nvGrpSpPr>
        <p:grpSpPr>
          <a:xfrm>
            <a:off x="546100" y="4135198"/>
            <a:ext cx="2002107" cy="1407709"/>
            <a:chOff x="1303915" y="4739882"/>
            <a:chExt cx="2002107" cy="1407709"/>
          </a:xfrm>
        </p:grpSpPr>
        <p:sp>
          <p:nvSpPr>
            <p:cNvPr id="6" name="円/楕円 5">
              <a:extLst>
                <a:ext uri="{FF2B5EF4-FFF2-40B4-BE49-F238E27FC236}">
                  <a16:creationId xmlns:a16="http://schemas.microsoft.com/office/drawing/2014/main" id="{0A66C9F4-82F3-EF2A-64EE-7084B75FE582}"/>
                </a:ext>
              </a:extLst>
            </p:cNvPr>
            <p:cNvSpPr>
              <a:spLocks/>
            </p:cNvSpPr>
            <p:nvPr/>
          </p:nvSpPr>
          <p:spPr>
            <a:xfrm rot="20259329">
              <a:off x="1303915" y="5276535"/>
              <a:ext cx="288000" cy="288000"/>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a:extLst>
                <a:ext uri="{FF2B5EF4-FFF2-40B4-BE49-F238E27FC236}">
                  <a16:creationId xmlns:a16="http://schemas.microsoft.com/office/drawing/2014/main" id="{F0C2BD3E-C073-4A86-989C-E66790001491}"/>
                </a:ext>
              </a:extLst>
            </p:cNvPr>
            <p:cNvSpPr>
              <a:spLocks/>
            </p:cNvSpPr>
            <p:nvPr/>
          </p:nvSpPr>
          <p:spPr>
            <a:xfrm rot="20259329">
              <a:off x="1513199" y="5400296"/>
              <a:ext cx="288000" cy="28800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円/楕円 7">
              <a:extLst>
                <a:ext uri="{FF2B5EF4-FFF2-40B4-BE49-F238E27FC236}">
                  <a16:creationId xmlns:a16="http://schemas.microsoft.com/office/drawing/2014/main" id="{BBA5FB89-2CE1-EC2E-A17C-F77DF5CBE30F}"/>
                </a:ext>
              </a:extLst>
            </p:cNvPr>
            <p:cNvSpPr>
              <a:spLocks/>
            </p:cNvSpPr>
            <p:nvPr/>
          </p:nvSpPr>
          <p:spPr>
            <a:xfrm rot="20259329">
              <a:off x="1787160" y="5400295"/>
              <a:ext cx="288000" cy="28800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8">
              <a:extLst>
                <a:ext uri="{FF2B5EF4-FFF2-40B4-BE49-F238E27FC236}">
                  <a16:creationId xmlns:a16="http://schemas.microsoft.com/office/drawing/2014/main" id="{065ED7BF-32B3-6A14-F3FB-6C043967E3CC}"/>
                </a:ext>
              </a:extLst>
            </p:cNvPr>
            <p:cNvSpPr>
              <a:spLocks/>
            </p:cNvSpPr>
            <p:nvPr/>
          </p:nvSpPr>
          <p:spPr>
            <a:xfrm>
              <a:off x="1572877" y="4960471"/>
              <a:ext cx="288000" cy="2880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a:extLst>
                <a:ext uri="{FF2B5EF4-FFF2-40B4-BE49-F238E27FC236}">
                  <a16:creationId xmlns:a16="http://schemas.microsoft.com/office/drawing/2014/main" id="{F7132733-1006-56F5-BC7B-BF120B22B1EA}"/>
                </a:ext>
              </a:extLst>
            </p:cNvPr>
            <p:cNvSpPr>
              <a:spLocks/>
            </p:cNvSpPr>
            <p:nvPr/>
          </p:nvSpPr>
          <p:spPr>
            <a:xfrm>
              <a:off x="2060135" y="4739882"/>
              <a:ext cx="288000" cy="288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a:extLst>
                <a:ext uri="{FF2B5EF4-FFF2-40B4-BE49-F238E27FC236}">
                  <a16:creationId xmlns:a16="http://schemas.microsoft.com/office/drawing/2014/main" id="{B8E61C21-1EAD-E2C5-1007-F1713FF28CDB}"/>
                </a:ext>
              </a:extLst>
            </p:cNvPr>
            <p:cNvSpPr>
              <a:spLocks/>
            </p:cNvSpPr>
            <p:nvPr/>
          </p:nvSpPr>
          <p:spPr>
            <a:xfrm>
              <a:off x="1777609" y="4762662"/>
              <a:ext cx="288000" cy="28800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457C733F-7ECB-7C6B-B010-0ABE41E501A1}"/>
                </a:ext>
              </a:extLst>
            </p:cNvPr>
            <p:cNvSpPr txBox="1"/>
            <p:nvPr/>
          </p:nvSpPr>
          <p:spPr>
            <a:xfrm>
              <a:off x="1423156" y="5809037"/>
              <a:ext cx="1770879" cy="338554"/>
            </a:xfrm>
            <a:prstGeom prst="rect">
              <a:avLst/>
            </a:prstGeom>
            <a:noFill/>
          </p:spPr>
          <p:txBody>
            <a:bodyPr wrap="square">
              <a:spAutoFit/>
            </a:bodyPr>
            <a:lstStyle/>
            <a:p>
              <a:pPr algn="ctr"/>
              <a:r>
                <a:rPr lang="en-US" altLang="ja-JP" sz="1600" dirty="0">
                  <a:latin typeface="+mn-ea"/>
                </a:rPr>
                <a:t>3</a:t>
              </a:r>
              <a:r>
                <a:rPr lang="ja-JP" altLang="en-US" sz="1600">
                  <a:latin typeface="+mn-ea"/>
                </a:rPr>
                <a:t>残基ペプチド</a:t>
              </a:r>
              <a:endParaRPr lang="en-US" altLang="ja-JP" sz="1600" b="0" dirty="0">
                <a:latin typeface="+mn-ea"/>
              </a:endParaRPr>
            </a:p>
          </p:txBody>
        </p:sp>
        <p:sp>
          <p:nvSpPr>
            <p:cNvPr id="14" name="テキスト ボックス 13">
              <a:extLst>
                <a:ext uri="{FF2B5EF4-FFF2-40B4-BE49-F238E27FC236}">
                  <a16:creationId xmlns:a16="http://schemas.microsoft.com/office/drawing/2014/main" id="{3FAF4E29-0AC9-7998-F95A-B8619CDD6884}"/>
                </a:ext>
              </a:extLst>
            </p:cNvPr>
            <p:cNvSpPr txBox="1"/>
            <p:nvPr/>
          </p:nvSpPr>
          <p:spPr>
            <a:xfrm>
              <a:off x="2024125" y="5123549"/>
              <a:ext cx="1281897" cy="369332"/>
            </a:xfrm>
            <a:prstGeom prst="rect">
              <a:avLst/>
            </a:prstGeom>
            <a:noFill/>
          </p:spPr>
          <p:txBody>
            <a:bodyPr wrap="square">
              <a:spAutoFit/>
            </a:bodyPr>
            <a:lstStyle/>
            <a:p>
              <a:pPr algn="ctr"/>
              <a:r>
                <a:rPr lang="en-US" altLang="ja-JP" b="1" dirty="0">
                  <a:solidFill>
                    <a:schemeClr val="accent4"/>
                  </a:solidFill>
                  <a:latin typeface="+mn-ea"/>
                </a:rPr>
                <a:t>×8000</a:t>
              </a:r>
            </a:p>
          </p:txBody>
        </p:sp>
      </p:grpSp>
      <p:sp>
        <p:nvSpPr>
          <p:cNvPr id="15" name="テキスト ボックス 14">
            <a:extLst>
              <a:ext uri="{FF2B5EF4-FFF2-40B4-BE49-F238E27FC236}">
                <a16:creationId xmlns:a16="http://schemas.microsoft.com/office/drawing/2014/main" id="{E193C0E4-E96C-34A6-069D-E3B46DB6FAFE}"/>
              </a:ext>
            </a:extLst>
          </p:cNvPr>
          <p:cNvSpPr txBox="1"/>
          <p:nvPr/>
        </p:nvSpPr>
        <p:spPr>
          <a:xfrm>
            <a:off x="4705578" y="2702224"/>
            <a:ext cx="1574470" cy="338554"/>
          </a:xfrm>
          <a:prstGeom prst="rect">
            <a:avLst/>
          </a:prstGeom>
          <a:noFill/>
        </p:spPr>
        <p:txBody>
          <a:bodyPr wrap="none" rtlCol="0">
            <a:spAutoFit/>
          </a:bodyPr>
          <a:lstStyle/>
          <a:p>
            <a:r>
              <a:rPr kumimoji="1" lang="en-US" altLang="ja-JP" sz="1600" dirty="0"/>
              <a:t>[1, 0, 0, 1, … , 0]</a:t>
            </a:r>
            <a:endParaRPr kumimoji="1" lang="ja-JP" altLang="en-US" sz="1600"/>
          </a:p>
        </p:txBody>
      </p:sp>
      <p:grpSp>
        <p:nvGrpSpPr>
          <p:cNvPr id="24" name="グループ化 23">
            <a:extLst>
              <a:ext uri="{FF2B5EF4-FFF2-40B4-BE49-F238E27FC236}">
                <a16:creationId xmlns:a16="http://schemas.microsoft.com/office/drawing/2014/main" id="{0EF04EBB-573B-6564-6FF2-4AEB79B4BC8B}"/>
              </a:ext>
            </a:extLst>
          </p:cNvPr>
          <p:cNvGrpSpPr/>
          <p:nvPr/>
        </p:nvGrpSpPr>
        <p:grpSpPr>
          <a:xfrm>
            <a:off x="4374139" y="3936292"/>
            <a:ext cx="2199641" cy="1692578"/>
            <a:chOff x="4955760" y="4015078"/>
            <a:chExt cx="2199641" cy="1692578"/>
          </a:xfrm>
        </p:grpSpPr>
        <p:sp>
          <p:nvSpPr>
            <p:cNvPr id="16" name="テキスト ボックス 15">
              <a:extLst>
                <a:ext uri="{FF2B5EF4-FFF2-40B4-BE49-F238E27FC236}">
                  <a16:creationId xmlns:a16="http://schemas.microsoft.com/office/drawing/2014/main" id="{688EA336-A416-2757-80BC-26357DADD6C7}"/>
                </a:ext>
              </a:extLst>
            </p:cNvPr>
            <p:cNvSpPr txBox="1"/>
            <p:nvPr/>
          </p:nvSpPr>
          <p:spPr>
            <a:xfrm>
              <a:off x="4955760" y="4015078"/>
              <a:ext cx="2199641" cy="1162498"/>
            </a:xfrm>
            <a:prstGeom prst="rect">
              <a:avLst/>
            </a:prstGeom>
            <a:noFill/>
          </p:spPr>
          <p:txBody>
            <a:bodyPr wrap="none" rtlCol="0">
              <a:spAutoFit/>
            </a:bodyPr>
            <a:lstStyle/>
            <a:p>
              <a:pPr algn="r">
                <a:lnSpc>
                  <a:spcPct val="150000"/>
                </a:lnSpc>
              </a:pPr>
              <a:r>
                <a:rPr kumimoji="1" lang="en-US" altLang="ja-JP" sz="1600" dirty="0"/>
                <a:t>AAA</a:t>
              </a:r>
              <a:r>
                <a:rPr kumimoji="1" lang="ja-JP" altLang="en-US" sz="1600"/>
                <a:t>：</a:t>
              </a:r>
              <a:r>
                <a:rPr kumimoji="1" lang="en-US" altLang="ja-JP" sz="1600" dirty="0"/>
                <a:t>[</a:t>
              </a:r>
              <a:r>
                <a:rPr lang="en-US" altLang="ja-JP" sz="1600" dirty="0"/>
                <a:t>0</a:t>
              </a:r>
              <a:r>
                <a:rPr kumimoji="1" lang="en-US" altLang="ja-JP" sz="1600" dirty="0"/>
                <a:t>, 0, 0, 1, … , 0]</a:t>
              </a:r>
            </a:p>
            <a:p>
              <a:pPr algn="r">
                <a:lnSpc>
                  <a:spcPct val="150000"/>
                </a:lnSpc>
              </a:pPr>
              <a:r>
                <a:rPr lang="en-US" altLang="ja-JP" sz="1600" dirty="0"/>
                <a:t>AAR</a:t>
              </a:r>
              <a:r>
                <a:rPr lang="ja-JP" altLang="en-US" sz="1600"/>
                <a:t>：</a:t>
              </a:r>
              <a:r>
                <a:rPr lang="en-US" altLang="ja-JP" sz="1600" dirty="0"/>
                <a:t>[1, 0, 1, 0, … , 1]</a:t>
              </a:r>
            </a:p>
            <a:p>
              <a:pPr algn="r">
                <a:lnSpc>
                  <a:spcPct val="150000"/>
                </a:lnSpc>
              </a:pPr>
              <a:r>
                <a:rPr lang="en-US" altLang="ja-JP" sz="1600" dirty="0"/>
                <a:t>AAN</a:t>
              </a:r>
              <a:r>
                <a:rPr lang="ja-JP" altLang="en-US" sz="1600"/>
                <a:t>：</a:t>
              </a:r>
              <a:r>
                <a:rPr lang="en-US" altLang="ja-JP" sz="1600" dirty="0"/>
                <a:t>[1, 1, 0, 0, … , 0]</a:t>
              </a:r>
            </a:p>
          </p:txBody>
        </p:sp>
        <p:sp>
          <p:nvSpPr>
            <p:cNvPr id="17" name="テキスト ボックス 16">
              <a:extLst>
                <a:ext uri="{FF2B5EF4-FFF2-40B4-BE49-F238E27FC236}">
                  <a16:creationId xmlns:a16="http://schemas.microsoft.com/office/drawing/2014/main" id="{9E99B755-6772-20A1-6E64-1706C00902DA}"/>
                </a:ext>
              </a:extLst>
            </p:cNvPr>
            <p:cNvSpPr txBox="1"/>
            <p:nvPr/>
          </p:nvSpPr>
          <p:spPr>
            <a:xfrm rot="5400000">
              <a:off x="5927573" y="5222267"/>
              <a:ext cx="447558" cy="523220"/>
            </a:xfrm>
            <a:prstGeom prst="rect">
              <a:avLst/>
            </a:prstGeom>
            <a:noFill/>
          </p:spPr>
          <p:txBody>
            <a:bodyPr wrap="none" rtlCol="0">
              <a:spAutoFit/>
            </a:bodyPr>
            <a:lstStyle/>
            <a:p>
              <a:r>
                <a:rPr kumimoji="1" lang="en-US" altLang="ja-JP" sz="2800" dirty="0"/>
                <a:t>…</a:t>
              </a:r>
              <a:endParaRPr kumimoji="1" lang="ja-JP" altLang="en-US" sz="2800"/>
            </a:p>
          </p:txBody>
        </p:sp>
        <p:sp>
          <p:nvSpPr>
            <p:cNvPr id="18" name="テキスト ボックス 17">
              <a:extLst>
                <a:ext uri="{FF2B5EF4-FFF2-40B4-BE49-F238E27FC236}">
                  <a16:creationId xmlns:a16="http://schemas.microsoft.com/office/drawing/2014/main" id="{B2392110-2FCA-3E4A-C384-3BC4A88EA803}"/>
                </a:ext>
              </a:extLst>
            </p:cNvPr>
            <p:cNvSpPr txBox="1"/>
            <p:nvPr/>
          </p:nvSpPr>
          <p:spPr>
            <a:xfrm>
              <a:off x="6111739" y="5338324"/>
              <a:ext cx="1020698" cy="369332"/>
            </a:xfrm>
            <a:prstGeom prst="rect">
              <a:avLst/>
            </a:prstGeom>
            <a:noFill/>
          </p:spPr>
          <p:txBody>
            <a:bodyPr wrap="square">
              <a:spAutoFit/>
            </a:bodyPr>
            <a:lstStyle/>
            <a:p>
              <a:pPr algn="ctr"/>
              <a:r>
                <a:rPr lang="en-US" altLang="ja-JP" b="1" dirty="0">
                  <a:solidFill>
                    <a:schemeClr val="accent4"/>
                  </a:solidFill>
                  <a:latin typeface="+mn-ea"/>
                </a:rPr>
                <a:t>×8000</a:t>
              </a:r>
            </a:p>
          </p:txBody>
        </p:sp>
      </p:grpSp>
      <p:sp>
        <p:nvSpPr>
          <p:cNvPr id="26" name="コンテンツ プレースホルダー 2">
            <a:extLst>
              <a:ext uri="{FF2B5EF4-FFF2-40B4-BE49-F238E27FC236}">
                <a16:creationId xmlns:a16="http://schemas.microsoft.com/office/drawing/2014/main" id="{3BF5DC35-8FEC-8063-40C3-E9BF322319FC}"/>
              </a:ext>
            </a:extLst>
          </p:cNvPr>
          <p:cNvSpPr>
            <a:spLocks noGrp="1"/>
          </p:cNvSpPr>
          <p:nvPr>
            <p:ph idx="1"/>
          </p:nvPr>
        </p:nvSpPr>
        <p:spPr>
          <a:xfrm>
            <a:off x="546100" y="1127935"/>
            <a:ext cx="11099800" cy="969220"/>
          </a:xfrm>
        </p:spPr>
        <p:txBody>
          <a:bodyPr>
            <a:normAutofit/>
          </a:bodyPr>
          <a:lstStyle/>
          <a:p>
            <a:pPr marL="0" indent="0" algn="ctr">
              <a:buNone/>
            </a:pPr>
            <a:r>
              <a:rPr lang="ja-JP" altLang="en-US" sz="2400" u="sng"/>
              <a:t>仮説：</a:t>
            </a:r>
            <a:r>
              <a:rPr lang="en-US" altLang="ja-JP" sz="2400" u="sng" dirty="0"/>
              <a:t>TGR5</a:t>
            </a:r>
            <a:r>
              <a:rPr lang="ja-JP" altLang="en-US" sz="2400" u="sng"/>
              <a:t>アゴニストと構造類似しているペプチドは</a:t>
            </a:r>
            <a:r>
              <a:rPr lang="en-US" altLang="ja-JP" sz="2400" u="sng" dirty="0"/>
              <a:t>TGR5</a:t>
            </a:r>
            <a:r>
              <a:rPr lang="ja-JP" altLang="en-US" sz="2400" u="sng"/>
              <a:t>活性を持つ</a:t>
            </a:r>
            <a:endParaRPr kumimoji="1" lang="ja-JP" altLang="en-US" sz="2400" u="sng"/>
          </a:p>
        </p:txBody>
      </p:sp>
      <p:grpSp>
        <p:nvGrpSpPr>
          <p:cNvPr id="32" name="グループ化 31">
            <a:extLst>
              <a:ext uri="{FF2B5EF4-FFF2-40B4-BE49-F238E27FC236}">
                <a16:creationId xmlns:a16="http://schemas.microsoft.com/office/drawing/2014/main" id="{677A8177-1D6A-2686-9D50-C52A16C22DA9}"/>
              </a:ext>
            </a:extLst>
          </p:cNvPr>
          <p:cNvGrpSpPr/>
          <p:nvPr/>
        </p:nvGrpSpPr>
        <p:grpSpPr>
          <a:xfrm>
            <a:off x="8260799" y="2973705"/>
            <a:ext cx="3613765" cy="1893147"/>
            <a:chOff x="8388311" y="3261548"/>
            <a:chExt cx="3613765" cy="1893147"/>
          </a:xfrm>
        </p:grpSpPr>
        <p:grpSp>
          <p:nvGrpSpPr>
            <p:cNvPr id="25" name="グループ化 24">
              <a:extLst>
                <a:ext uri="{FF2B5EF4-FFF2-40B4-BE49-F238E27FC236}">
                  <a16:creationId xmlns:a16="http://schemas.microsoft.com/office/drawing/2014/main" id="{BAE2BAB4-19FD-AC35-7F60-D17A92276B3F}"/>
                </a:ext>
              </a:extLst>
            </p:cNvPr>
            <p:cNvGrpSpPr/>
            <p:nvPr/>
          </p:nvGrpSpPr>
          <p:grpSpPr>
            <a:xfrm>
              <a:off x="8388311" y="3261548"/>
              <a:ext cx="1910279" cy="1893147"/>
              <a:chOff x="8887037" y="3186231"/>
              <a:chExt cx="1910279" cy="1893147"/>
            </a:xfrm>
          </p:grpSpPr>
          <p:sp>
            <p:nvSpPr>
              <p:cNvPr id="19" name="テキスト ボックス 18">
                <a:extLst>
                  <a:ext uri="{FF2B5EF4-FFF2-40B4-BE49-F238E27FC236}">
                    <a16:creationId xmlns:a16="http://schemas.microsoft.com/office/drawing/2014/main" id="{3D4A99CD-8606-7E4F-B055-4E6211AC4C63}"/>
                  </a:ext>
                </a:extLst>
              </p:cNvPr>
              <p:cNvSpPr txBox="1"/>
              <p:nvPr/>
            </p:nvSpPr>
            <p:spPr>
              <a:xfrm>
                <a:off x="8887037" y="3186231"/>
                <a:ext cx="1889427" cy="1893147"/>
              </a:xfrm>
              <a:prstGeom prst="rect">
                <a:avLst/>
              </a:prstGeom>
              <a:noFill/>
            </p:spPr>
            <p:txBody>
              <a:bodyPr wrap="none" rtlCol="0">
                <a:spAutoFit/>
              </a:bodyPr>
              <a:lstStyle/>
              <a:p>
                <a:pPr algn="r">
                  <a:lnSpc>
                    <a:spcPct val="150000"/>
                  </a:lnSpc>
                </a:pPr>
                <a:r>
                  <a:rPr lang="en-US" altLang="ja-JP" sz="1600" dirty="0"/>
                  <a:t>TPW</a:t>
                </a:r>
                <a:r>
                  <a:rPr kumimoji="1" lang="ja-JP" altLang="en-US" sz="1600"/>
                  <a:t>：</a:t>
                </a:r>
                <a:r>
                  <a:rPr lang="en-US" altLang="ja-JP" sz="1600" dirty="0"/>
                  <a:t>0.4428572…</a:t>
                </a:r>
                <a:endParaRPr kumimoji="1" lang="en-US" altLang="ja-JP" sz="1600" dirty="0"/>
              </a:p>
              <a:p>
                <a:pPr algn="r">
                  <a:lnSpc>
                    <a:spcPct val="150000"/>
                  </a:lnSpc>
                </a:pPr>
                <a:r>
                  <a:rPr lang="en-US" altLang="ja-JP" sz="1600" dirty="0"/>
                  <a:t>WTP</a:t>
                </a:r>
                <a:r>
                  <a:rPr lang="ja-JP" altLang="en-US" sz="1600"/>
                  <a:t>：</a:t>
                </a:r>
                <a:r>
                  <a:rPr lang="en-US" altLang="ja-JP" sz="1600" dirty="0"/>
                  <a:t>0.4428571…</a:t>
                </a:r>
              </a:p>
              <a:p>
                <a:pPr algn="r">
                  <a:lnSpc>
                    <a:spcPct val="150000"/>
                  </a:lnSpc>
                </a:pPr>
                <a:r>
                  <a:rPr lang="en-US" altLang="ja-JP" sz="1600" dirty="0"/>
                  <a:t>HTP</a:t>
                </a:r>
                <a:r>
                  <a:rPr lang="ja-JP" altLang="en-US" sz="1600"/>
                  <a:t>：</a:t>
                </a:r>
                <a:r>
                  <a:rPr lang="en-US" altLang="ja-JP" sz="1600" dirty="0"/>
                  <a:t>0.4347826…</a:t>
                </a:r>
              </a:p>
              <a:p>
                <a:pPr algn="r">
                  <a:lnSpc>
                    <a:spcPct val="150000"/>
                  </a:lnSpc>
                </a:pPr>
                <a:endParaRPr lang="en-US" altLang="ja-JP" sz="1600" dirty="0"/>
              </a:p>
              <a:p>
                <a:pPr algn="r">
                  <a:lnSpc>
                    <a:spcPct val="150000"/>
                  </a:lnSpc>
                </a:pPr>
                <a:endParaRPr lang="en-US" altLang="ja-JP" sz="1600" dirty="0"/>
              </a:p>
            </p:txBody>
          </p:sp>
          <p:sp>
            <p:nvSpPr>
              <p:cNvPr id="22" name="テキスト ボックス 21">
                <a:extLst>
                  <a:ext uri="{FF2B5EF4-FFF2-40B4-BE49-F238E27FC236}">
                    <a16:creationId xmlns:a16="http://schemas.microsoft.com/office/drawing/2014/main" id="{FAE64A99-A060-AA54-4929-CE484D10478E}"/>
                  </a:ext>
                </a:extLst>
              </p:cNvPr>
              <p:cNvSpPr txBox="1"/>
              <p:nvPr/>
            </p:nvSpPr>
            <p:spPr>
              <a:xfrm rot="5400000">
                <a:off x="9592452" y="4419031"/>
                <a:ext cx="447558" cy="523220"/>
              </a:xfrm>
              <a:prstGeom prst="rect">
                <a:avLst/>
              </a:prstGeom>
              <a:noFill/>
            </p:spPr>
            <p:txBody>
              <a:bodyPr wrap="none" rtlCol="0">
                <a:spAutoFit/>
              </a:bodyPr>
              <a:lstStyle/>
              <a:p>
                <a:r>
                  <a:rPr kumimoji="1" lang="en-US" altLang="ja-JP" sz="2800" dirty="0"/>
                  <a:t>…</a:t>
                </a:r>
                <a:endParaRPr kumimoji="1" lang="ja-JP" altLang="en-US" sz="2800"/>
              </a:p>
            </p:txBody>
          </p:sp>
          <p:sp>
            <p:nvSpPr>
              <p:cNvPr id="23" name="テキスト ボックス 22">
                <a:extLst>
                  <a:ext uri="{FF2B5EF4-FFF2-40B4-BE49-F238E27FC236}">
                    <a16:creationId xmlns:a16="http://schemas.microsoft.com/office/drawing/2014/main" id="{73855077-1B4D-65F0-7BFB-0DDA3367274F}"/>
                  </a:ext>
                </a:extLst>
              </p:cNvPr>
              <p:cNvSpPr txBox="1"/>
              <p:nvPr/>
            </p:nvSpPr>
            <p:spPr>
              <a:xfrm>
                <a:off x="9776618" y="4535088"/>
                <a:ext cx="1020698" cy="369332"/>
              </a:xfrm>
              <a:prstGeom prst="rect">
                <a:avLst/>
              </a:prstGeom>
              <a:noFill/>
            </p:spPr>
            <p:txBody>
              <a:bodyPr wrap="square">
                <a:spAutoFit/>
              </a:bodyPr>
              <a:lstStyle/>
              <a:p>
                <a:pPr algn="ctr"/>
                <a:r>
                  <a:rPr lang="en-US" altLang="ja-JP" b="1" dirty="0">
                    <a:solidFill>
                      <a:schemeClr val="accent4"/>
                    </a:solidFill>
                    <a:latin typeface="+mn-ea"/>
                  </a:rPr>
                  <a:t>×8000</a:t>
                </a:r>
              </a:p>
            </p:txBody>
          </p:sp>
        </p:grpSp>
        <p:sp>
          <p:nvSpPr>
            <p:cNvPr id="30" name="右大かっこ 29">
              <a:extLst>
                <a:ext uri="{FF2B5EF4-FFF2-40B4-BE49-F238E27FC236}">
                  <a16:creationId xmlns:a16="http://schemas.microsoft.com/office/drawing/2014/main" id="{84799045-3B05-4D99-4D77-E599A1AE05B0}"/>
                </a:ext>
              </a:extLst>
            </p:cNvPr>
            <p:cNvSpPr/>
            <p:nvPr/>
          </p:nvSpPr>
          <p:spPr>
            <a:xfrm>
              <a:off x="10331451" y="3367306"/>
              <a:ext cx="85724" cy="1112015"/>
            </a:xfrm>
            <a:custGeom>
              <a:avLst/>
              <a:gdLst>
                <a:gd name="connsiteX0" fmla="*/ 0 w 85724"/>
                <a:gd name="connsiteY0" fmla="*/ 0 h 1112015"/>
                <a:gd name="connsiteX1" fmla="*/ 85724 w 85724"/>
                <a:gd name="connsiteY1" fmla="*/ 7143 h 1112015"/>
                <a:gd name="connsiteX2" fmla="*/ 85724 w 85724"/>
                <a:gd name="connsiteY2" fmla="*/ 1104872 h 1112015"/>
                <a:gd name="connsiteX3" fmla="*/ 0 w 85724"/>
                <a:gd name="connsiteY3" fmla="*/ 1112015 h 1112015"/>
                <a:gd name="connsiteX4" fmla="*/ 0 w 85724"/>
                <a:gd name="connsiteY4" fmla="*/ 0 h 1112015"/>
                <a:gd name="connsiteX0" fmla="*/ 0 w 85724"/>
                <a:gd name="connsiteY0" fmla="*/ 0 h 1112015"/>
                <a:gd name="connsiteX1" fmla="*/ 85724 w 85724"/>
                <a:gd name="connsiteY1" fmla="*/ 7143 h 1112015"/>
                <a:gd name="connsiteX2" fmla="*/ 85724 w 85724"/>
                <a:gd name="connsiteY2" fmla="*/ 1104872 h 1112015"/>
                <a:gd name="connsiteX3" fmla="*/ 0 w 85724"/>
                <a:gd name="connsiteY3" fmla="*/ 1112015 h 1112015"/>
              </a:gdLst>
              <a:ahLst/>
              <a:cxnLst>
                <a:cxn ang="0">
                  <a:pos x="connsiteX0" y="connsiteY0"/>
                </a:cxn>
                <a:cxn ang="0">
                  <a:pos x="connsiteX1" y="connsiteY1"/>
                </a:cxn>
                <a:cxn ang="0">
                  <a:pos x="connsiteX2" y="connsiteY2"/>
                </a:cxn>
                <a:cxn ang="0">
                  <a:pos x="connsiteX3" y="connsiteY3"/>
                </a:cxn>
              </a:cxnLst>
              <a:rect l="l" t="t" r="r" b="b"/>
              <a:pathLst>
                <a:path w="85724" h="1112015" stroke="0" extrusionOk="0">
                  <a:moveTo>
                    <a:pt x="0" y="0"/>
                  </a:moveTo>
                  <a:cubicBezTo>
                    <a:pt x="47768" y="337"/>
                    <a:pt x="85613" y="3593"/>
                    <a:pt x="85724" y="7143"/>
                  </a:cubicBezTo>
                  <a:cubicBezTo>
                    <a:pt x="151861" y="218401"/>
                    <a:pt x="82248" y="898993"/>
                    <a:pt x="85724" y="1104872"/>
                  </a:cubicBezTo>
                  <a:cubicBezTo>
                    <a:pt x="84046" y="1107761"/>
                    <a:pt x="41468" y="1107446"/>
                    <a:pt x="0" y="1112015"/>
                  </a:cubicBezTo>
                  <a:cubicBezTo>
                    <a:pt x="87122" y="927296"/>
                    <a:pt x="-2944" y="151481"/>
                    <a:pt x="0" y="0"/>
                  </a:cubicBezTo>
                  <a:close/>
                </a:path>
                <a:path w="85724" h="1112015" fill="none" extrusionOk="0">
                  <a:moveTo>
                    <a:pt x="0" y="0"/>
                  </a:moveTo>
                  <a:cubicBezTo>
                    <a:pt x="47765" y="71"/>
                    <a:pt x="86122" y="3614"/>
                    <a:pt x="85724" y="7143"/>
                  </a:cubicBezTo>
                  <a:cubicBezTo>
                    <a:pt x="71519" y="538154"/>
                    <a:pt x="57029" y="905606"/>
                    <a:pt x="85724" y="1104872"/>
                  </a:cubicBezTo>
                  <a:cubicBezTo>
                    <a:pt x="80971" y="1110395"/>
                    <a:pt x="53936" y="1112664"/>
                    <a:pt x="0" y="1112015"/>
                  </a:cubicBezTo>
                </a:path>
                <a:path w="85724" h="1112015" fill="none" stroke="0" extrusionOk="0">
                  <a:moveTo>
                    <a:pt x="0" y="0"/>
                  </a:moveTo>
                  <a:cubicBezTo>
                    <a:pt x="47879" y="-498"/>
                    <a:pt x="86303" y="3704"/>
                    <a:pt x="85724" y="7143"/>
                  </a:cubicBezTo>
                  <a:cubicBezTo>
                    <a:pt x="86365" y="134118"/>
                    <a:pt x="63195" y="575756"/>
                    <a:pt x="85724" y="1104872"/>
                  </a:cubicBezTo>
                  <a:cubicBezTo>
                    <a:pt x="87865" y="1108514"/>
                    <a:pt x="49350" y="1109020"/>
                    <a:pt x="0" y="1112015"/>
                  </a:cubicBezTo>
                </a:path>
              </a:pathLst>
            </a:custGeom>
            <a:ln w="19050">
              <a:solidFill>
                <a:schemeClr val="accent4"/>
              </a:solidFill>
              <a:extLst>
                <a:ext uri="{C807C97D-BFC1-408E-A445-0C87EB9F89A2}">
                  <ask:lineSketchStyleProps xmlns:ask="http://schemas.microsoft.com/office/drawing/2018/sketchyshapes" sd="43512134">
                    <a:prstGeom prst="rightBracket">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3770B8F2-CCB2-8871-3282-69E3425B6903}"/>
                </a:ext>
              </a:extLst>
            </p:cNvPr>
            <p:cNvSpPr txBox="1"/>
            <p:nvPr/>
          </p:nvSpPr>
          <p:spPr>
            <a:xfrm>
              <a:off x="10470888" y="3772193"/>
              <a:ext cx="1531188" cy="400110"/>
            </a:xfrm>
            <a:prstGeom prst="rect">
              <a:avLst/>
            </a:prstGeom>
            <a:noFill/>
          </p:spPr>
          <p:txBody>
            <a:bodyPr wrap="none" rtlCol="0">
              <a:spAutoFit/>
            </a:bodyPr>
            <a:lstStyle/>
            <a:p>
              <a:r>
                <a:rPr kumimoji="1" lang="en-US" altLang="ja-JP" sz="2000" b="1" u="sng" dirty="0">
                  <a:solidFill>
                    <a:schemeClr val="accent4"/>
                  </a:solidFill>
                  <a:latin typeface="+mj-ea"/>
                  <a:ea typeface="+mj-ea"/>
                </a:rPr>
                <a:t>TGR5</a:t>
              </a:r>
              <a:r>
                <a:rPr kumimoji="1" lang="ja-JP" altLang="en-US" sz="2000" b="1" u="sng">
                  <a:solidFill>
                    <a:schemeClr val="accent4"/>
                  </a:solidFill>
                  <a:latin typeface="+mj-ea"/>
                  <a:ea typeface="+mj-ea"/>
                </a:rPr>
                <a:t>活性</a:t>
              </a:r>
              <a:r>
                <a:rPr lang="en-US" altLang="ja-JP" sz="2000" b="1" u="sng" dirty="0">
                  <a:solidFill>
                    <a:schemeClr val="accent4"/>
                  </a:solidFill>
                  <a:latin typeface="+mj-ea"/>
                  <a:ea typeface="+mj-ea"/>
                </a:rPr>
                <a:t>?</a:t>
              </a:r>
            </a:p>
          </p:txBody>
        </p:sp>
      </p:grpSp>
      <p:grpSp>
        <p:nvGrpSpPr>
          <p:cNvPr id="61" name="グループ化 60">
            <a:extLst>
              <a:ext uri="{FF2B5EF4-FFF2-40B4-BE49-F238E27FC236}">
                <a16:creationId xmlns:a16="http://schemas.microsoft.com/office/drawing/2014/main" id="{55485BE5-0C51-3626-EA6E-A95E5785FA6B}"/>
              </a:ext>
            </a:extLst>
          </p:cNvPr>
          <p:cNvGrpSpPr/>
          <p:nvPr/>
        </p:nvGrpSpPr>
        <p:grpSpPr>
          <a:xfrm rot="5400000">
            <a:off x="3296755" y="4122151"/>
            <a:ext cx="323347" cy="1227901"/>
            <a:chOff x="7800489" y="2818451"/>
            <a:chExt cx="840658" cy="2492477"/>
          </a:xfrm>
        </p:grpSpPr>
        <p:sp>
          <p:nvSpPr>
            <p:cNvPr id="62" name="二等辺三角形 23">
              <a:extLst>
                <a:ext uri="{FF2B5EF4-FFF2-40B4-BE49-F238E27FC236}">
                  <a16:creationId xmlns:a16="http://schemas.microsoft.com/office/drawing/2014/main" id="{B1865A22-F232-2EAB-E527-0C43F5C9FB99}"/>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二等辺三角形 24">
              <a:extLst>
                <a:ext uri="{FF2B5EF4-FFF2-40B4-BE49-F238E27FC236}">
                  <a16:creationId xmlns:a16="http://schemas.microsoft.com/office/drawing/2014/main" id="{BEF857A0-8CF0-0C2E-6AA6-9D8D307210EE}"/>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7" name="グループ化 76">
            <a:extLst>
              <a:ext uri="{FF2B5EF4-FFF2-40B4-BE49-F238E27FC236}">
                <a16:creationId xmlns:a16="http://schemas.microsoft.com/office/drawing/2014/main" id="{4401DE41-35BC-27B1-2F5C-86D97B7DC055}"/>
              </a:ext>
            </a:extLst>
          </p:cNvPr>
          <p:cNvGrpSpPr/>
          <p:nvPr/>
        </p:nvGrpSpPr>
        <p:grpSpPr>
          <a:xfrm rot="6651167">
            <a:off x="7155633" y="2576877"/>
            <a:ext cx="323347" cy="1227901"/>
            <a:chOff x="7800489" y="2818451"/>
            <a:chExt cx="840658" cy="2492477"/>
          </a:xfrm>
        </p:grpSpPr>
        <p:sp>
          <p:nvSpPr>
            <p:cNvPr id="78" name="二等辺三角形 23">
              <a:extLst>
                <a:ext uri="{FF2B5EF4-FFF2-40B4-BE49-F238E27FC236}">
                  <a16:creationId xmlns:a16="http://schemas.microsoft.com/office/drawing/2014/main" id="{804437E2-C93E-662E-C0D6-7937212C7E4E}"/>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二等辺三角形 24">
              <a:extLst>
                <a:ext uri="{FF2B5EF4-FFF2-40B4-BE49-F238E27FC236}">
                  <a16:creationId xmlns:a16="http://schemas.microsoft.com/office/drawing/2014/main" id="{38F42B9B-2E73-F0BD-51E1-CAF572436219}"/>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0" name="グループ化 79">
            <a:extLst>
              <a:ext uri="{FF2B5EF4-FFF2-40B4-BE49-F238E27FC236}">
                <a16:creationId xmlns:a16="http://schemas.microsoft.com/office/drawing/2014/main" id="{7582D939-9B2E-7DAA-14DF-19DC46962E28}"/>
              </a:ext>
            </a:extLst>
          </p:cNvPr>
          <p:cNvGrpSpPr/>
          <p:nvPr/>
        </p:nvGrpSpPr>
        <p:grpSpPr>
          <a:xfrm rot="4363583">
            <a:off x="7217103" y="3825053"/>
            <a:ext cx="323347" cy="1227901"/>
            <a:chOff x="7800489" y="2818451"/>
            <a:chExt cx="840658" cy="2492477"/>
          </a:xfrm>
        </p:grpSpPr>
        <p:sp>
          <p:nvSpPr>
            <p:cNvPr id="81" name="二等辺三角形 23">
              <a:extLst>
                <a:ext uri="{FF2B5EF4-FFF2-40B4-BE49-F238E27FC236}">
                  <a16:creationId xmlns:a16="http://schemas.microsoft.com/office/drawing/2014/main" id="{B310E47E-E7F8-4761-36F4-B1249B60F836}"/>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二等辺三角形 24">
              <a:extLst>
                <a:ext uri="{FF2B5EF4-FFF2-40B4-BE49-F238E27FC236}">
                  <a16:creationId xmlns:a16="http://schemas.microsoft.com/office/drawing/2014/main" id="{353B5E78-ADD5-084C-8587-976C4ACC8351}"/>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5" name="グループ化 84">
            <a:extLst>
              <a:ext uri="{FF2B5EF4-FFF2-40B4-BE49-F238E27FC236}">
                <a16:creationId xmlns:a16="http://schemas.microsoft.com/office/drawing/2014/main" id="{1F71CA80-EC3F-62F7-7407-FB17A1E663D2}"/>
              </a:ext>
            </a:extLst>
          </p:cNvPr>
          <p:cNvGrpSpPr/>
          <p:nvPr/>
        </p:nvGrpSpPr>
        <p:grpSpPr>
          <a:xfrm>
            <a:off x="2844477" y="2717431"/>
            <a:ext cx="1227901" cy="720764"/>
            <a:chOff x="2844477" y="2906945"/>
            <a:chExt cx="1227901" cy="720764"/>
          </a:xfrm>
        </p:grpSpPr>
        <p:grpSp>
          <p:nvGrpSpPr>
            <p:cNvPr id="55" name="グループ化 54">
              <a:extLst>
                <a:ext uri="{FF2B5EF4-FFF2-40B4-BE49-F238E27FC236}">
                  <a16:creationId xmlns:a16="http://schemas.microsoft.com/office/drawing/2014/main" id="{E3538814-6354-F02D-3092-EEAC033E8092}"/>
                </a:ext>
              </a:extLst>
            </p:cNvPr>
            <p:cNvGrpSpPr/>
            <p:nvPr/>
          </p:nvGrpSpPr>
          <p:grpSpPr>
            <a:xfrm rot="5400000">
              <a:off x="3296754" y="2454668"/>
              <a:ext cx="323347" cy="1227901"/>
              <a:chOff x="7800489" y="2818451"/>
              <a:chExt cx="840658" cy="2492477"/>
            </a:xfrm>
          </p:grpSpPr>
          <p:sp>
            <p:nvSpPr>
              <p:cNvPr id="56" name="二等辺三角形 23">
                <a:extLst>
                  <a:ext uri="{FF2B5EF4-FFF2-40B4-BE49-F238E27FC236}">
                    <a16:creationId xmlns:a16="http://schemas.microsoft.com/office/drawing/2014/main" id="{D13BF329-76A8-843E-3BD8-E5C038B9830E}"/>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二等辺三角形 24">
                <a:extLst>
                  <a:ext uri="{FF2B5EF4-FFF2-40B4-BE49-F238E27FC236}">
                    <a16:creationId xmlns:a16="http://schemas.microsoft.com/office/drawing/2014/main" id="{5D9CF78D-AC00-1D05-D85D-2CE98A8D4027}"/>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4" name="テキスト ボックス 83">
              <a:extLst>
                <a:ext uri="{FF2B5EF4-FFF2-40B4-BE49-F238E27FC236}">
                  <a16:creationId xmlns:a16="http://schemas.microsoft.com/office/drawing/2014/main" id="{B8A2DF28-663B-2545-6B15-B36A7490B4E7}"/>
                </a:ext>
              </a:extLst>
            </p:cNvPr>
            <p:cNvSpPr txBox="1"/>
            <p:nvPr/>
          </p:nvSpPr>
          <p:spPr>
            <a:xfrm>
              <a:off x="2910069" y="3258377"/>
              <a:ext cx="1107996" cy="369332"/>
            </a:xfrm>
            <a:prstGeom prst="rect">
              <a:avLst/>
            </a:prstGeom>
            <a:noFill/>
          </p:spPr>
          <p:txBody>
            <a:bodyPr wrap="none" rtlCol="0">
              <a:spAutoFit/>
            </a:bodyPr>
            <a:lstStyle/>
            <a:p>
              <a:r>
                <a:rPr kumimoji="1" lang="ja-JP" altLang="en-US"/>
                <a:t>特徴抽出</a:t>
              </a:r>
            </a:p>
          </p:txBody>
        </p:sp>
      </p:grpSp>
      <p:grpSp>
        <p:nvGrpSpPr>
          <p:cNvPr id="86" name="グループ化 85">
            <a:extLst>
              <a:ext uri="{FF2B5EF4-FFF2-40B4-BE49-F238E27FC236}">
                <a16:creationId xmlns:a16="http://schemas.microsoft.com/office/drawing/2014/main" id="{6B044F9F-D233-A87C-749D-292E03F09EC9}"/>
              </a:ext>
            </a:extLst>
          </p:cNvPr>
          <p:cNvGrpSpPr/>
          <p:nvPr/>
        </p:nvGrpSpPr>
        <p:grpSpPr>
          <a:xfrm>
            <a:off x="2846723" y="4574428"/>
            <a:ext cx="1227900" cy="720764"/>
            <a:chOff x="2844477" y="2906945"/>
            <a:chExt cx="1227900" cy="720764"/>
          </a:xfrm>
        </p:grpSpPr>
        <p:grpSp>
          <p:nvGrpSpPr>
            <p:cNvPr id="87" name="グループ化 86">
              <a:extLst>
                <a:ext uri="{FF2B5EF4-FFF2-40B4-BE49-F238E27FC236}">
                  <a16:creationId xmlns:a16="http://schemas.microsoft.com/office/drawing/2014/main" id="{46CCA007-0230-FF59-103B-5BAFB961DA77}"/>
                </a:ext>
              </a:extLst>
            </p:cNvPr>
            <p:cNvGrpSpPr/>
            <p:nvPr/>
          </p:nvGrpSpPr>
          <p:grpSpPr>
            <a:xfrm rot="5400000">
              <a:off x="3296753" y="2454669"/>
              <a:ext cx="323347" cy="1227900"/>
              <a:chOff x="7800489" y="2818451"/>
              <a:chExt cx="840658" cy="2492473"/>
            </a:xfrm>
          </p:grpSpPr>
          <p:sp>
            <p:nvSpPr>
              <p:cNvPr id="89" name="二等辺三角形 23">
                <a:extLst>
                  <a:ext uri="{FF2B5EF4-FFF2-40B4-BE49-F238E27FC236}">
                    <a16:creationId xmlns:a16="http://schemas.microsoft.com/office/drawing/2014/main" id="{477A0A59-062B-1E36-EB18-DD9F90A627EC}"/>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二等辺三角形 24">
                <a:extLst>
                  <a:ext uri="{FF2B5EF4-FFF2-40B4-BE49-F238E27FC236}">
                    <a16:creationId xmlns:a16="http://schemas.microsoft.com/office/drawing/2014/main" id="{E7247B49-CA9B-93E8-3747-72CE60A6EA07}"/>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8" name="テキスト ボックス 87">
              <a:extLst>
                <a:ext uri="{FF2B5EF4-FFF2-40B4-BE49-F238E27FC236}">
                  <a16:creationId xmlns:a16="http://schemas.microsoft.com/office/drawing/2014/main" id="{A06BA6F5-5C56-515E-7AA4-15D158763760}"/>
                </a:ext>
              </a:extLst>
            </p:cNvPr>
            <p:cNvSpPr txBox="1"/>
            <p:nvPr/>
          </p:nvSpPr>
          <p:spPr>
            <a:xfrm>
              <a:off x="2910069" y="3258377"/>
              <a:ext cx="1107996" cy="369332"/>
            </a:xfrm>
            <a:prstGeom prst="rect">
              <a:avLst/>
            </a:prstGeom>
            <a:noFill/>
          </p:spPr>
          <p:txBody>
            <a:bodyPr wrap="none" rtlCol="0">
              <a:spAutoFit/>
            </a:bodyPr>
            <a:lstStyle/>
            <a:p>
              <a:r>
                <a:rPr kumimoji="1" lang="ja-JP" altLang="en-US"/>
                <a:t>特徴抽出</a:t>
              </a:r>
            </a:p>
          </p:txBody>
        </p:sp>
      </p:grpSp>
      <p:sp>
        <p:nvSpPr>
          <p:cNvPr id="91" name="テキスト ボックス 90">
            <a:extLst>
              <a:ext uri="{FF2B5EF4-FFF2-40B4-BE49-F238E27FC236}">
                <a16:creationId xmlns:a16="http://schemas.microsoft.com/office/drawing/2014/main" id="{93B28AF7-AB19-CC45-E8DF-350050EEADAE}"/>
              </a:ext>
            </a:extLst>
          </p:cNvPr>
          <p:cNvSpPr txBox="1"/>
          <p:nvPr/>
        </p:nvSpPr>
        <p:spPr>
          <a:xfrm>
            <a:off x="6835131" y="3545147"/>
            <a:ext cx="1889427" cy="646331"/>
          </a:xfrm>
          <a:prstGeom prst="rect">
            <a:avLst/>
          </a:prstGeom>
          <a:noFill/>
        </p:spPr>
        <p:txBody>
          <a:bodyPr wrap="square" rtlCol="0">
            <a:spAutoFit/>
          </a:bodyPr>
          <a:lstStyle/>
          <a:p>
            <a:r>
              <a:rPr kumimoji="1" lang="ja-JP" altLang="en-US"/>
              <a:t>類似度</a:t>
            </a:r>
            <a:br>
              <a:rPr kumimoji="1" lang="en-US" altLang="ja-JP" dirty="0"/>
            </a:br>
            <a:r>
              <a:rPr kumimoji="1" lang="ja-JP" altLang="en-US"/>
              <a:t>計算</a:t>
            </a:r>
          </a:p>
        </p:txBody>
      </p:sp>
      <p:sp>
        <p:nvSpPr>
          <p:cNvPr id="95" name="テキスト ボックス 94">
            <a:extLst>
              <a:ext uri="{FF2B5EF4-FFF2-40B4-BE49-F238E27FC236}">
                <a16:creationId xmlns:a16="http://schemas.microsoft.com/office/drawing/2014/main" id="{AD70A6FB-698D-6E3B-F215-F20F22A784EC}"/>
              </a:ext>
            </a:extLst>
          </p:cNvPr>
          <p:cNvSpPr txBox="1"/>
          <p:nvPr/>
        </p:nvSpPr>
        <p:spPr>
          <a:xfrm>
            <a:off x="1201968" y="5912264"/>
            <a:ext cx="697627" cy="400110"/>
          </a:xfrm>
          <a:prstGeom prst="rect">
            <a:avLst/>
          </a:prstGeom>
          <a:noFill/>
        </p:spPr>
        <p:txBody>
          <a:bodyPr wrap="none" rtlCol="0">
            <a:spAutoFit/>
          </a:bodyPr>
          <a:lstStyle/>
          <a:p>
            <a:r>
              <a:rPr kumimoji="1" lang="ja-JP" altLang="en-US" sz="2000" b="1" u="sng">
                <a:latin typeface="Yu Gothic" panose="020B0400000000000000" pitchFamily="34" charset="-128"/>
                <a:ea typeface="Yu Gothic" panose="020B0400000000000000" pitchFamily="34" charset="-128"/>
              </a:rPr>
              <a:t>入力</a:t>
            </a:r>
          </a:p>
        </p:txBody>
      </p:sp>
      <p:sp>
        <p:nvSpPr>
          <p:cNvPr id="96" name="テキスト ボックス 95">
            <a:extLst>
              <a:ext uri="{FF2B5EF4-FFF2-40B4-BE49-F238E27FC236}">
                <a16:creationId xmlns:a16="http://schemas.microsoft.com/office/drawing/2014/main" id="{5FD121EC-CA15-E688-2EC7-8C1C9582CD82}"/>
              </a:ext>
            </a:extLst>
          </p:cNvPr>
          <p:cNvSpPr txBox="1"/>
          <p:nvPr/>
        </p:nvSpPr>
        <p:spPr>
          <a:xfrm>
            <a:off x="3329782" y="5952934"/>
            <a:ext cx="4288353" cy="400110"/>
          </a:xfrm>
          <a:prstGeom prst="rect">
            <a:avLst/>
          </a:prstGeom>
          <a:noFill/>
        </p:spPr>
        <p:txBody>
          <a:bodyPr wrap="none" rtlCol="0">
            <a:spAutoFit/>
          </a:bodyPr>
          <a:lstStyle/>
          <a:p>
            <a:r>
              <a:rPr kumimoji="1" lang="ja-JP" altLang="en-US" sz="2000" b="1" u="sng">
                <a:latin typeface="Yu Gothic" panose="020B0400000000000000" pitchFamily="34" charset="-128"/>
                <a:ea typeface="Yu Gothic" panose="020B0400000000000000" pitchFamily="34" charset="-128"/>
              </a:rPr>
              <a:t>フィンガープリントで化合物を表現</a:t>
            </a:r>
          </a:p>
        </p:txBody>
      </p:sp>
      <p:sp>
        <p:nvSpPr>
          <p:cNvPr id="97" name="テキスト ボックス 96">
            <a:extLst>
              <a:ext uri="{FF2B5EF4-FFF2-40B4-BE49-F238E27FC236}">
                <a16:creationId xmlns:a16="http://schemas.microsoft.com/office/drawing/2014/main" id="{BC822B98-6DB7-AA43-B840-8479F331E5A1}"/>
              </a:ext>
            </a:extLst>
          </p:cNvPr>
          <p:cNvSpPr txBox="1"/>
          <p:nvPr/>
        </p:nvSpPr>
        <p:spPr>
          <a:xfrm>
            <a:off x="7878867" y="5061342"/>
            <a:ext cx="2653290" cy="707886"/>
          </a:xfrm>
          <a:prstGeom prst="rect">
            <a:avLst/>
          </a:prstGeom>
          <a:noFill/>
        </p:spPr>
        <p:txBody>
          <a:bodyPr wrap="none" rtlCol="0">
            <a:spAutoFit/>
          </a:bodyPr>
          <a:lstStyle/>
          <a:p>
            <a:pPr algn="ctr"/>
            <a:r>
              <a:rPr kumimoji="1" lang="en-US" altLang="ja-JP" sz="2000" b="1" u="sng" dirty="0" err="1">
                <a:latin typeface="Yu Gothic" panose="020B0400000000000000" pitchFamily="34" charset="-128"/>
                <a:ea typeface="Yu Gothic" panose="020B0400000000000000" pitchFamily="34" charset="-128"/>
              </a:rPr>
              <a:t>Tanimoto</a:t>
            </a:r>
            <a:r>
              <a:rPr kumimoji="1" lang="ja-JP" altLang="en-US" sz="2000" b="1" u="sng">
                <a:latin typeface="Yu Gothic" panose="020B0400000000000000" pitchFamily="34" charset="-128"/>
                <a:ea typeface="Yu Gothic" panose="020B0400000000000000" pitchFamily="34" charset="-128"/>
              </a:rPr>
              <a:t>係数による</a:t>
            </a:r>
            <a:endParaRPr kumimoji="1" lang="en-US" altLang="ja-JP" sz="2000" b="1" u="sng" dirty="0">
              <a:latin typeface="Yu Gothic" panose="020B0400000000000000" pitchFamily="34" charset="-128"/>
              <a:ea typeface="Yu Gothic" panose="020B0400000000000000" pitchFamily="34" charset="-128"/>
            </a:endParaRPr>
          </a:p>
          <a:p>
            <a:pPr algn="ctr"/>
            <a:r>
              <a:rPr kumimoji="1" lang="ja-JP" altLang="en-US" sz="2000" b="1" u="sng">
                <a:latin typeface="Yu Gothic" panose="020B0400000000000000" pitchFamily="34" charset="-128"/>
                <a:ea typeface="Yu Gothic" panose="020B0400000000000000" pitchFamily="34" charset="-128"/>
              </a:rPr>
              <a:t>類似度計算結果</a:t>
            </a:r>
          </a:p>
        </p:txBody>
      </p:sp>
      <p:sp>
        <p:nvSpPr>
          <p:cNvPr id="98" name="コンテンツ プレースホルダー 2">
            <a:extLst>
              <a:ext uri="{FF2B5EF4-FFF2-40B4-BE49-F238E27FC236}">
                <a16:creationId xmlns:a16="http://schemas.microsoft.com/office/drawing/2014/main" id="{D00E3134-5447-69E1-5333-DBDA2434F4FD}"/>
              </a:ext>
            </a:extLst>
          </p:cNvPr>
          <p:cNvSpPr txBox="1">
            <a:spLocks/>
          </p:cNvSpPr>
          <p:nvPr/>
        </p:nvSpPr>
        <p:spPr>
          <a:xfrm>
            <a:off x="546100" y="1901523"/>
            <a:ext cx="6284069" cy="434752"/>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方法</a:t>
            </a:r>
            <a:endParaRPr lang="en-US" altLang="ja-JP" dirty="0"/>
          </a:p>
        </p:txBody>
      </p:sp>
    </p:spTree>
    <p:extLst>
      <p:ext uri="{BB962C8B-B14F-4D97-AF65-F5344CB8AC3E}">
        <p14:creationId xmlns:p14="http://schemas.microsoft.com/office/powerpoint/2010/main" val="4183376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ECA3DD36-A9D7-95C8-BAA8-AB9B69CBB3E0}"/>
              </a:ext>
            </a:extLst>
          </p:cNvPr>
          <p:cNvSpPr/>
          <p:nvPr/>
        </p:nvSpPr>
        <p:spPr>
          <a:xfrm>
            <a:off x="0" y="2231053"/>
            <a:ext cx="12192000" cy="267543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8A66B613-0CFF-A510-0349-CA9AD8DE8B69}"/>
              </a:ext>
            </a:extLst>
          </p:cNvPr>
          <p:cNvSpPr>
            <a:spLocks noGrp="1"/>
          </p:cNvSpPr>
          <p:nvPr>
            <p:ph idx="1"/>
          </p:nvPr>
        </p:nvSpPr>
        <p:spPr>
          <a:xfrm>
            <a:off x="546100" y="1038483"/>
            <a:ext cx="11119874" cy="1172022"/>
          </a:xfrm>
        </p:spPr>
        <p:txBody>
          <a:bodyPr>
            <a:normAutofit/>
          </a:bodyPr>
          <a:lstStyle/>
          <a:p>
            <a:pPr marL="0" indent="0">
              <a:buNone/>
            </a:pPr>
            <a:r>
              <a:rPr kumimoji="1" lang="en-US" altLang="ja-JP" dirty="0" err="1"/>
              <a:t>MACCS_Keys</a:t>
            </a:r>
            <a:r>
              <a:rPr kumimoji="1" lang="ja-JP" altLang="en-US"/>
              <a:t>フィンガープリント</a:t>
            </a:r>
            <a:endParaRPr kumimoji="1" lang="en-US" altLang="ja-JP" dirty="0"/>
          </a:p>
          <a:p>
            <a:pPr marL="0" indent="0">
              <a:lnSpc>
                <a:spcPct val="150000"/>
              </a:lnSpc>
              <a:buNone/>
            </a:pPr>
            <a:r>
              <a:rPr kumimoji="1" lang="ja-JP" altLang="en-US" sz="1800" b="0"/>
              <a:t>官能基などの、あらかじめ決められた</a:t>
            </a:r>
            <a:r>
              <a:rPr kumimoji="1" lang="en-US" altLang="ja-JP" sz="1800" b="0" dirty="0"/>
              <a:t>166</a:t>
            </a:r>
            <a:r>
              <a:rPr kumimoji="1" lang="ja-JP" altLang="en-US" sz="1800" b="0"/>
              <a:t>個の部分構造を評価するフィンガープリント</a:t>
            </a:r>
            <a:endParaRPr kumimoji="1" lang="en-US" altLang="ja-JP" sz="1800" b="0" dirty="0"/>
          </a:p>
          <a:p>
            <a:endParaRPr kumimoji="1" lang="ja-JP" altLang="en-US" sz="1800" b="0"/>
          </a:p>
        </p:txBody>
      </p:sp>
      <p:sp>
        <p:nvSpPr>
          <p:cNvPr id="4" name="テキスト プレースホルダー 3">
            <a:extLst>
              <a:ext uri="{FF2B5EF4-FFF2-40B4-BE49-F238E27FC236}">
                <a16:creationId xmlns:a16="http://schemas.microsoft.com/office/drawing/2014/main" id="{8FCFC313-65E8-AF2A-A091-60AC2008131C}"/>
              </a:ext>
            </a:extLst>
          </p:cNvPr>
          <p:cNvSpPr>
            <a:spLocks noGrp="1"/>
          </p:cNvSpPr>
          <p:nvPr>
            <p:ph type="body" sz="quarter" idx="11"/>
          </p:nvPr>
        </p:nvSpPr>
        <p:spPr/>
        <p:txBody>
          <a:bodyPr/>
          <a:lstStyle/>
          <a:p>
            <a:r>
              <a:rPr kumimoji="1" lang="en-US" altLang="ja-JP" dirty="0"/>
              <a:t>Results - </a:t>
            </a:r>
            <a:r>
              <a:rPr kumimoji="1" lang="en-US" altLang="ja-JP" dirty="0" err="1"/>
              <a:t>MACCS_Keys</a:t>
            </a:r>
            <a:r>
              <a:rPr lang="ja-JP" altLang="en-US"/>
              <a:t>フィンガープリントを用いた類似度評価</a:t>
            </a:r>
            <a:endParaRPr kumimoji="1" lang="ja-JP" altLang="en-US"/>
          </a:p>
          <a:p>
            <a:endParaRPr kumimoji="1" lang="ja-JP" altLang="en-US"/>
          </a:p>
        </p:txBody>
      </p:sp>
      <p:pic>
        <p:nvPicPr>
          <p:cNvPr id="5" name="コンテンツ プレースホルダー 5" descr="ロゴ, 会社名&#10;&#10;自動的に生成された説明">
            <a:extLst>
              <a:ext uri="{FF2B5EF4-FFF2-40B4-BE49-F238E27FC236}">
                <a16:creationId xmlns:a16="http://schemas.microsoft.com/office/drawing/2014/main" id="{424BC612-5086-E996-F3FB-369F0BF95123}"/>
              </a:ext>
            </a:extLst>
          </p:cNvPr>
          <p:cNvPicPr>
            <a:picLocks noChangeAspect="1"/>
          </p:cNvPicPr>
          <p:nvPr/>
        </p:nvPicPr>
        <p:blipFill rotWithShape="1">
          <a:blip r:embed="rId3">
            <a:extLst>
              <a:ext uri="{28A0092B-C50C-407E-A947-70E740481C1C}">
                <a14:useLocalDpi xmlns:a14="http://schemas.microsoft.com/office/drawing/2010/main" val="0"/>
              </a:ext>
            </a:extLst>
          </a:blip>
          <a:srcRect b="65183"/>
          <a:stretch/>
        </p:blipFill>
        <p:spPr>
          <a:xfrm>
            <a:off x="7177719" y="3323277"/>
            <a:ext cx="4488255" cy="1562661"/>
          </a:xfrm>
          <a:prstGeom prst="rect">
            <a:avLst/>
          </a:prstGeom>
        </p:spPr>
      </p:pic>
      <p:pic>
        <p:nvPicPr>
          <p:cNvPr id="6" name="図 5" descr="スポーツゲーム, サッカー が含まれている画像&#10;&#10;自動的に生成された説明">
            <a:extLst>
              <a:ext uri="{FF2B5EF4-FFF2-40B4-BE49-F238E27FC236}">
                <a16:creationId xmlns:a16="http://schemas.microsoft.com/office/drawing/2014/main" id="{65ED9959-5AFA-9DB2-B1A2-4A7F7AD4AC78}"/>
              </a:ext>
            </a:extLst>
          </p:cNvPr>
          <p:cNvPicPr>
            <a:picLocks noChangeAspect="1"/>
          </p:cNvPicPr>
          <p:nvPr/>
        </p:nvPicPr>
        <p:blipFill rotWithShape="1">
          <a:blip r:embed="rId4">
            <a:extLst>
              <a:ext uri="{28A0092B-C50C-407E-A947-70E740481C1C}">
                <a14:useLocalDpi xmlns:a14="http://schemas.microsoft.com/office/drawing/2010/main" val="0"/>
              </a:ext>
            </a:extLst>
          </a:blip>
          <a:srcRect t="20720" b="19760"/>
          <a:stretch/>
        </p:blipFill>
        <p:spPr>
          <a:xfrm>
            <a:off x="7177719" y="2369891"/>
            <a:ext cx="1503944" cy="895148"/>
          </a:xfrm>
          <a:prstGeom prst="rect">
            <a:avLst/>
          </a:prstGeom>
        </p:spPr>
      </p:pic>
      <p:sp>
        <p:nvSpPr>
          <p:cNvPr id="7" name="テキスト ボックス 6">
            <a:extLst>
              <a:ext uri="{FF2B5EF4-FFF2-40B4-BE49-F238E27FC236}">
                <a16:creationId xmlns:a16="http://schemas.microsoft.com/office/drawing/2014/main" id="{7A24FE9D-D569-87EF-BE18-03EDF73BDAC9}"/>
              </a:ext>
            </a:extLst>
          </p:cNvPr>
          <p:cNvSpPr txBox="1"/>
          <p:nvPr/>
        </p:nvSpPr>
        <p:spPr>
          <a:xfrm>
            <a:off x="8844652" y="2448133"/>
            <a:ext cx="2658332" cy="738664"/>
          </a:xfrm>
          <a:prstGeom prst="rect">
            <a:avLst/>
          </a:prstGeom>
          <a:noFill/>
        </p:spPr>
        <p:txBody>
          <a:bodyPr wrap="square">
            <a:spAutoFit/>
          </a:bodyPr>
          <a:lstStyle/>
          <a:p>
            <a:r>
              <a:rPr lang="ja-JP" altLang="en-US" sz="1400" b="0">
                <a:latin typeface="+mn-ea"/>
              </a:rPr>
              <a:t>ターゲット：</a:t>
            </a:r>
            <a:endParaRPr lang="en-US" altLang="ja-JP" sz="1400" b="0" dirty="0">
              <a:latin typeface="+mn-ea"/>
            </a:endParaRPr>
          </a:p>
          <a:p>
            <a:r>
              <a:rPr lang="en-US" altLang="ja-JP" sz="1400" b="0" dirty="0">
                <a:latin typeface="+mn-ea"/>
              </a:rPr>
              <a:t>3-</a:t>
            </a:r>
            <a:r>
              <a:rPr lang="ja-JP" altLang="en-US" sz="1400" b="0">
                <a:latin typeface="+mn-ea"/>
              </a:rPr>
              <a:t>アリール</a:t>
            </a:r>
            <a:r>
              <a:rPr lang="en-US" altLang="ja-JP" sz="1400" b="0" dirty="0">
                <a:latin typeface="+mn-ea"/>
              </a:rPr>
              <a:t>-4-</a:t>
            </a:r>
            <a:r>
              <a:rPr lang="ja-JP" altLang="en-US" sz="1400" b="0">
                <a:latin typeface="+mn-ea"/>
              </a:rPr>
              <a:t>イソオキサゾールカルボキサミド</a:t>
            </a:r>
            <a:endParaRPr lang="ja-JP" altLang="en-US" sz="1400">
              <a:latin typeface="+mn-ea"/>
            </a:endParaRPr>
          </a:p>
        </p:txBody>
      </p:sp>
      <p:sp>
        <p:nvSpPr>
          <p:cNvPr id="9" name="テキスト ボックス 8">
            <a:extLst>
              <a:ext uri="{FF2B5EF4-FFF2-40B4-BE49-F238E27FC236}">
                <a16:creationId xmlns:a16="http://schemas.microsoft.com/office/drawing/2014/main" id="{2C3332F7-C914-B364-61BA-E2E5B3DC3285}"/>
              </a:ext>
            </a:extLst>
          </p:cNvPr>
          <p:cNvSpPr txBox="1"/>
          <p:nvPr/>
        </p:nvSpPr>
        <p:spPr>
          <a:xfrm>
            <a:off x="7818985" y="3323277"/>
            <a:ext cx="3205721" cy="307777"/>
          </a:xfrm>
          <a:prstGeom prst="rect">
            <a:avLst/>
          </a:prstGeom>
          <a:noFill/>
        </p:spPr>
        <p:txBody>
          <a:bodyPr wrap="square">
            <a:spAutoFit/>
          </a:bodyPr>
          <a:lstStyle/>
          <a:p>
            <a:pPr algn="ctr"/>
            <a:r>
              <a:rPr lang="ja-JP" altLang="en-US" sz="1400" b="0">
                <a:latin typeface="+mn-ea"/>
              </a:rPr>
              <a:t>類似度が高かった上位</a:t>
            </a:r>
            <a:r>
              <a:rPr lang="en-US" altLang="ja-JP" sz="1400" dirty="0">
                <a:latin typeface="+mn-ea"/>
              </a:rPr>
              <a:t>3</a:t>
            </a:r>
            <a:r>
              <a:rPr lang="ja-JP" altLang="en-US" sz="1400" b="0">
                <a:latin typeface="+mn-ea"/>
              </a:rPr>
              <a:t>つのペプチド</a:t>
            </a:r>
            <a:endParaRPr lang="en-US" altLang="ja-JP" sz="1400" b="0" dirty="0">
              <a:latin typeface="+mn-ea"/>
            </a:endParaRPr>
          </a:p>
        </p:txBody>
      </p:sp>
      <p:sp>
        <p:nvSpPr>
          <p:cNvPr id="10" name="コンテンツ プレースホルダー 2">
            <a:extLst>
              <a:ext uri="{FF2B5EF4-FFF2-40B4-BE49-F238E27FC236}">
                <a16:creationId xmlns:a16="http://schemas.microsoft.com/office/drawing/2014/main" id="{B83F8550-64BB-23F4-5928-09D6A78EB191}"/>
              </a:ext>
            </a:extLst>
          </p:cNvPr>
          <p:cNvSpPr txBox="1">
            <a:spLocks/>
          </p:cNvSpPr>
          <p:nvPr/>
        </p:nvSpPr>
        <p:spPr>
          <a:xfrm>
            <a:off x="546100" y="2329726"/>
            <a:ext cx="6230085" cy="2436990"/>
          </a:xfrm>
          <a:prstGeom prst="rect">
            <a:avLst/>
          </a:prstGeom>
        </p:spPr>
        <p:txBody>
          <a:bodyPr vert="horz" lIns="91440" tIns="45720" rIns="91440" bIns="45720" rtlCol="0">
            <a:normAutofit/>
          </a:bodyPr>
          <a:lstStyle>
            <a:lvl1pPr marL="457200" indent="-457200" algn="l" defTabSz="914400" rtl="0" eaLnBrk="1" latinLnBrk="0" hangingPunct="1">
              <a:lnSpc>
                <a:spcPct val="100000"/>
              </a:lnSpc>
              <a:spcBef>
                <a:spcPts val="14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50000"/>
              </a:lnSpc>
              <a:spcBef>
                <a:spcPts val="800"/>
              </a:spcBef>
              <a:buFont typeface="Wingdings" panose="05000000000000000000" pitchFamily="2" charset="2"/>
              <a:buNone/>
            </a:pPr>
            <a:r>
              <a:rPr lang="ja-JP" altLang="en-US" sz="1800"/>
              <a:t>結果</a:t>
            </a:r>
            <a:endParaRPr lang="en-US" altLang="ja-JP" sz="1800" dirty="0"/>
          </a:p>
          <a:p>
            <a:pPr>
              <a:lnSpc>
                <a:spcPct val="150000"/>
              </a:lnSpc>
              <a:spcBef>
                <a:spcPts val="800"/>
              </a:spcBef>
            </a:pPr>
            <a:r>
              <a:rPr lang="ja-JP" altLang="en-US" sz="1800" b="0"/>
              <a:t>上位のペプチドを見る限り、感覚的に似ている構造</a:t>
            </a:r>
            <a:br>
              <a:rPr lang="en-US" altLang="ja-JP" sz="1800" b="0" dirty="0"/>
            </a:br>
            <a:r>
              <a:rPr lang="ja-JP" altLang="en-US" sz="1800" b="0"/>
              <a:t>ではないように思える</a:t>
            </a:r>
            <a:endParaRPr lang="en-US" altLang="ja-JP" sz="1800" b="0" dirty="0"/>
          </a:p>
          <a:p>
            <a:pPr>
              <a:lnSpc>
                <a:spcPct val="150000"/>
              </a:lnSpc>
              <a:spcBef>
                <a:spcPts val="800"/>
              </a:spcBef>
            </a:pPr>
            <a:r>
              <a:rPr lang="en-US" altLang="ja-JP" sz="1800" b="0" dirty="0"/>
              <a:t>166</a:t>
            </a:r>
            <a:r>
              <a:rPr lang="ja-JP" altLang="en-US" sz="1800" b="0"/>
              <a:t>個の部分構造以外は評価できないため、</a:t>
            </a:r>
            <a:br>
              <a:rPr lang="en-US" altLang="ja-JP" sz="1800" b="0" dirty="0"/>
            </a:br>
            <a:r>
              <a:rPr lang="en-US" altLang="ja-JP" sz="1800" b="0" dirty="0"/>
              <a:t>MACCS-Keys</a:t>
            </a:r>
            <a:r>
              <a:rPr lang="ja-JP" altLang="en-US" sz="1800" b="0"/>
              <a:t>は精度が高くない</a:t>
            </a:r>
            <a:endParaRPr lang="en-US" altLang="ja-JP" sz="1800" b="0" dirty="0"/>
          </a:p>
          <a:p>
            <a:endParaRPr lang="ja-JP" altLang="en-US" sz="1800" b="0"/>
          </a:p>
        </p:txBody>
      </p:sp>
      <p:sp>
        <p:nvSpPr>
          <p:cNvPr id="12" name="テキスト ボックス 11">
            <a:extLst>
              <a:ext uri="{FF2B5EF4-FFF2-40B4-BE49-F238E27FC236}">
                <a16:creationId xmlns:a16="http://schemas.microsoft.com/office/drawing/2014/main" id="{08CFC059-6996-0D1D-0255-211FFFA725C7}"/>
              </a:ext>
            </a:extLst>
          </p:cNvPr>
          <p:cNvSpPr txBox="1"/>
          <p:nvPr/>
        </p:nvSpPr>
        <p:spPr>
          <a:xfrm>
            <a:off x="599442" y="5072219"/>
            <a:ext cx="11046457" cy="1397434"/>
          </a:xfrm>
          <a:prstGeom prst="rect">
            <a:avLst/>
          </a:prstGeom>
          <a:noFill/>
        </p:spPr>
        <p:txBody>
          <a:bodyPr wrap="square">
            <a:spAutoFit/>
          </a:bodyPr>
          <a:lstStyle/>
          <a:p>
            <a:pPr marL="0" indent="0">
              <a:buFont typeface="Wingdings" panose="05000000000000000000" pitchFamily="2" charset="2"/>
              <a:buNone/>
            </a:pPr>
            <a:r>
              <a:rPr lang="ja-JP" altLang="en-US" sz="2000" b="1">
                <a:latin typeface="Yu Gothic" panose="020B0400000000000000" pitchFamily="34" charset="-128"/>
                <a:ea typeface="Yu Gothic" panose="020B0400000000000000" pitchFamily="34" charset="-128"/>
              </a:rPr>
              <a:t>方針</a:t>
            </a:r>
            <a:endParaRPr lang="en-US" altLang="ja-JP" sz="2000" b="1" dirty="0">
              <a:latin typeface="Yu Gothic" panose="020B0400000000000000" pitchFamily="34" charset="-128"/>
              <a:ea typeface="Yu Gothic" panose="020B0400000000000000" pitchFamily="34" charset="-128"/>
            </a:endParaRPr>
          </a:p>
          <a:p>
            <a:pPr marL="342900" indent="-342900">
              <a:lnSpc>
                <a:spcPct val="150000"/>
              </a:lnSpc>
              <a:spcBef>
                <a:spcPts val="800"/>
              </a:spcBef>
              <a:buFont typeface="+mj-lt"/>
              <a:buAutoNum type="arabicPeriod"/>
            </a:pPr>
            <a:r>
              <a:rPr lang="ja-JP" altLang="en-US" sz="1800" b="0">
                <a:latin typeface="Yu Gothic" panose="020B0400000000000000" pitchFamily="34" charset="-128"/>
                <a:ea typeface="Yu Gothic" panose="020B0400000000000000" pitchFamily="34" charset="-128"/>
              </a:rPr>
              <a:t>化合物の特徴をより多く表現できる手法</a:t>
            </a:r>
            <a:r>
              <a:rPr lang="en-US" altLang="ja-JP" sz="1800" b="0" dirty="0">
                <a:latin typeface="Yu Gothic" panose="020B0400000000000000" pitchFamily="34" charset="-128"/>
                <a:ea typeface="Yu Gothic" panose="020B0400000000000000" pitchFamily="34" charset="-128"/>
              </a:rPr>
              <a:t>(</a:t>
            </a:r>
            <a:r>
              <a:rPr lang="en-US" altLang="ja-JP" sz="1800" b="1" u="sng" dirty="0">
                <a:latin typeface="Yu Gothic" panose="020B0400000000000000" pitchFamily="34" charset="-128"/>
                <a:ea typeface="Yu Gothic" panose="020B0400000000000000" pitchFamily="34" charset="-128"/>
              </a:rPr>
              <a:t>KCF-S</a:t>
            </a:r>
            <a:r>
              <a:rPr lang="en-US" altLang="ja-JP" sz="1800" b="0" dirty="0">
                <a:latin typeface="Yu Gothic" panose="020B0400000000000000" pitchFamily="34" charset="-128"/>
                <a:ea typeface="Yu Gothic" panose="020B0400000000000000" pitchFamily="34" charset="-128"/>
              </a:rPr>
              <a:t>)</a:t>
            </a:r>
            <a:r>
              <a:rPr lang="ja-JP" altLang="en-US" sz="1800" b="0">
                <a:latin typeface="Yu Gothic" panose="020B0400000000000000" pitchFamily="34" charset="-128"/>
                <a:ea typeface="Yu Gothic" panose="020B0400000000000000" pitchFamily="34" charset="-128"/>
              </a:rPr>
              <a:t>を用いる</a:t>
            </a:r>
            <a:r>
              <a:rPr lang="en-US" altLang="ja-JP" sz="1800" b="0" dirty="0">
                <a:latin typeface="Yu Gothic" panose="020B0400000000000000" pitchFamily="34" charset="-128"/>
                <a:ea typeface="Yu Gothic" panose="020B0400000000000000" pitchFamily="34" charset="-128"/>
              </a:rPr>
              <a:t>  </a:t>
            </a:r>
          </a:p>
          <a:p>
            <a:pPr marL="342900" indent="-342900">
              <a:lnSpc>
                <a:spcPct val="150000"/>
              </a:lnSpc>
              <a:spcBef>
                <a:spcPts val="800"/>
              </a:spcBef>
              <a:buFont typeface="+mj-lt"/>
              <a:buAutoNum type="arabicPeriod"/>
            </a:pPr>
            <a:r>
              <a:rPr lang="ja-JP" altLang="en-US" sz="1800" b="0">
                <a:latin typeface="Yu Gothic" panose="020B0400000000000000" pitchFamily="34" charset="-128"/>
                <a:ea typeface="Yu Gothic" panose="020B0400000000000000" pitchFamily="34" charset="-128"/>
              </a:rPr>
              <a:t>化学的性質を表現することができる手法</a:t>
            </a:r>
            <a:r>
              <a:rPr lang="en-US" altLang="ja-JP" sz="1800" b="0" dirty="0">
                <a:latin typeface="Yu Gothic" panose="020B0400000000000000" pitchFamily="34" charset="-128"/>
                <a:ea typeface="Yu Gothic" panose="020B0400000000000000" pitchFamily="34" charset="-128"/>
              </a:rPr>
              <a:t>(</a:t>
            </a:r>
            <a:r>
              <a:rPr lang="ja-JP" altLang="en-US" sz="1800" b="1" u="sng">
                <a:latin typeface="Yu Gothic" panose="020B0400000000000000" pitchFamily="34" charset="-128"/>
                <a:ea typeface="Yu Gothic" panose="020B0400000000000000" pitchFamily="34" charset="-128"/>
              </a:rPr>
              <a:t>ドナーアクセプターフィンガープリント</a:t>
            </a:r>
            <a:r>
              <a:rPr lang="en-US" altLang="ja-JP" sz="1800" b="0" dirty="0">
                <a:latin typeface="Yu Gothic" panose="020B0400000000000000" pitchFamily="34" charset="-128"/>
                <a:ea typeface="Yu Gothic" panose="020B0400000000000000" pitchFamily="34" charset="-128"/>
              </a:rPr>
              <a:t>)</a:t>
            </a:r>
            <a:r>
              <a:rPr lang="ja-JP" altLang="en-US" sz="1800" b="0">
                <a:latin typeface="Yu Gothic" panose="020B0400000000000000" pitchFamily="34" charset="-128"/>
                <a:ea typeface="Yu Gothic" panose="020B0400000000000000" pitchFamily="34" charset="-128"/>
              </a:rPr>
              <a:t>を用いる</a:t>
            </a:r>
            <a:endParaRPr lang="en-US" altLang="ja-JP" sz="1800" b="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223482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A66B613-0CFF-A510-0349-CA9AD8DE8B69}"/>
              </a:ext>
            </a:extLst>
          </p:cNvPr>
          <p:cNvSpPr>
            <a:spLocks noGrp="1"/>
          </p:cNvSpPr>
          <p:nvPr>
            <p:ph idx="1"/>
          </p:nvPr>
        </p:nvSpPr>
        <p:spPr>
          <a:xfrm>
            <a:off x="546100" y="1038483"/>
            <a:ext cx="6503924" cy="5708339"/>
          </a:xfrm>
        </p:spPr>
        <p:txBody>
          <a:bodyPr>
            <a:normAutofit/>
          </a:bodyPr>
          <a:lstStyle/>
          <a:p>
            <a:pPr marL="0" indent="0">
              <a:lnSpc>
                <a:spcPct val="150000"/>
              </a:lnSpc>
              <a:spcBef>
                <a:spcPts val="800"/>
              </a:spcBef>
              <a:buNone/>
            </a:pPr>
            <a:r>
              <a:rPr kumimoji="1" lang="en-US" altLang="ja-JP" dirty="0"/>
              <a:t>KCF-S</a:t>
            </a:r>
            <a:endParaRPr kumimoji="1" lang="en-US" altLang="ja-JP" b="0" dirty="0"/>
          </a:p>
          <a:p>
            <a:pPr marL="0" indent="0">
              <a:lnSpc>
                <a:spcPct val="150000"/>
              </a:lnSpc>
              <a:spcBef>
                <a:spcPts val="800"/>
              </a:spcBef>
              <a:buNone/>
            </a:pPr>
            <a:r>
              <a:rPr lang="en-US" altLang="ja-JP" sz="1800" b="0" dirty="0"/>
              <a:t>7</a:t>
            </a:r>
            <a:r>
              <a:rPr lang="ja-JP" altLang="en-US" sz="1800" b="0"/>
              <a:t>つの属性を用いて部分構造を定義し、化合物の特徴を抽出する手法</a:t>
            </a:r>
            <a:endParaRPr kumimoji="1" lang="en-US" altLang="ja-JP" sz="1800" dirty="0"/>
          </a:p>
          <a:p>
            <a:endParaRPr kumimoji="1" lang="en-US" altLang="ja-JP" sz="1800" b="0" dirty="0"/>
          </a:p>
          <a:p>
            <a:pPr marL="0" indent="0">
              <a:buNone/>
            </a:pPr>
            <a:endParaRPr kumimoji="1" lang="en-US" altLang="ja-JP" sz="1800" b="0" dirty="0"/>
          </a:p>
          <a:p>
            <a:pPr marL="0" indent="0">
              <a:buNone/>
            </a:pPr>
            <a:endParaRPr lang="en-US" altLang="ja-JP" sz="1800" b="0" dirty="0"/>
          </a:p>
          <a:p>
            <a:pPr marL="0" indent="0">
              <a:buNone/>
            </a:pPr>
            <a:endParaRPr kumimoji="1" lang="en-US" altLang="ja-JP" sz="1800" b="0" dirty="0"/>
          </a:p>
          <a:p>
            <a:pPr marL="0" indent="0">
              <a:buNone/>
            </a:pPr>
            <a:endParaRPr lang="en-US" altLang="ja-JP" sz="1800" b="0" dirty="0"/>
          </a:p>
          <a:p>
            <a:pPr marL="0" indent="0">
              <a:buNone/>
            </a:pPr>
            <a:endParaRPr kumimoji="1" lang="en-US" altLang="ja-JP" sz="1800" b="0" dirty="0"/>
          </a:p>
          <a:p>
            <a:pPr marL="0" indent="0">
              <a:buNone/>
            </a:pPr>
            <a:endParaRPr lang="en-US" altLang="ja-JP" sz="1800" b="0" dirty="0"/>
          </a:p>
          <a:p>
            <a:pPr marL="0" indent="0">
              <a:buNone/>
            </a:pPr>
            <a:endParaRPr kumimoji="1" lang="en-US" altLang="ja-JP" sz="1800" b="0" dirty="0"/>
          </a:p>
          <a:p>
            <a:pPr marL="0" indent="0">
              <a:buNone/>
            </a:pPr>
            <a:r>
              <a:rPr kumimoji="1" lang="en-US" altLang="ja-JP" sz="1800" u="sng" dirty="0" err="1"/>
              <a:t>MACCS_Keys</a:t>
            </a:r>
            <a:r>
              <a:rPr kumimoji="1" lang="ja-JP" altLang="en-US" sz="1800" u="sng"/>
              <a:t>よりも詳細に構造の特徴を表現することが可能</a:t>
            </a:r>
          </a:p>
        </p:txBody>
      </p:sp>
      <p:sp>
        <p:nvSpPr>
          <p:cNvPr id="4" name="テキスト プレースホルダー 3">
            <a:extLst>
              <a:ext uri="{FF2B5EF4-FFF2-40B4-BE49-F238E27FC236}">
                <a16:creationId xmlns:a16="http://schemas.microsoft.com/office/drawing/2014/main" id="{8FCFC313-65E8-AF2A-A091-60AC2008131C}"/>
              </a:ext>
            </a:extLst>
          </p:cNvPr>
          <p:cNvSpPr>
            <a:spLocks noGrp="1"/>
          </p:cNvSpPr>
          <p:nvPr>
            <p:ph type="body" sz="quarter" idx="11"/>
          </p:nvPr>
        </p:nvSpPr>
        <p:spPr/>
        <p:txBody>
          <a:bodyPr/>
          <a:lstStyle/>
          <a:p>
            <a:r>
              <a:rPr kumimoji="1" lang="en-US" altLang="ja-JP" dirty="0"/>
              <a:t>Results - </a:t>
            </a:r>
            <a:r>
              <a:rPr lang="en-US" altLang="ja-JP" dirty="0"/>
              <a:t>KCF-S</a:t>
            </a:r>
            <a:r>
              <a:rPr lang="ja-JP" altLang="en-US"/>
              <a:t>を用いた類似度評価</a:t>
            </a:r>
            <a:endParaRPr kumimoji="1" lang="ja-JP" altLang="en-US"/>
          </a:p>
          <a:p>
            <a:endParaRPr kumimoji="1" lang="ja-JP" altLang="en-US"/>
          </a:p>
        </p:txBody>
      </p:sp>
      <p:pic>
        <p:nvPicPr>
          <p:cNvPr id="6" name="図 5" descr="スポーツゲーム, サッカー が含まれている画像&#10;&#10;自動的に生成された説明">
            <a:extLst>
              <a:ext uri="{FF2B5EF4-FFF2-40B4-BE49-F238E27FC236}">
                <a16:creationId xmlns:a16="http://schemas.microsoft.com/office/drawing/2014/main" id="{65ED9959-5AFA-9DB2-B1A2-4A7F7AD4AC78}"/>
              </a:ext>
            </a:extLst>
          </p:cNvPr>
          <p:cNvPicPr>
            <a:picLocks noChangeAspect="1"/>
          </p:cNvPicPr>
          <p:nvPr/>
        </p:nvPicPr>
        <p:blipFill rotWithShape="1">
          <a:blip r:embed="rId3">
            <a:extLst>
              <a:ext uri="{28A0092B-C50C-407E-A947-70E740481C1C}">
                <a14:useLocalDpi xmlns:a14="http://schemas.microsoft.com/office/drawing/2010/main" val="0"/>
              </a:ext>
            </a:extLst>
          </a:blip>
          <a:srcRect t="20720" b="19760"/>
          <a:stretch/>
        </p:blipFill>
        <p:spPr>
          <a:xfrm>
            <a:off x="7177719" y="1038484"/>
            <a:ext cx="1755969" cy="1045153"/>
          </a:xfrm>
          <a:prstGeom prst="rect">
            <a:avLst/>
          </a:prstGeom>
        </p:spPr>
      </p:pic>
      <p:sp>
        <p:nvSpPr>
          <p:cNvPr id="7" name="テキスト ボックス 6">
            <a:extLst>
              <a:ext uri="{FF2B5EF4-FFF2-40B4-BE49-F238E27FC236}">
                <a16:creationId xmlns:a16="http://schemas.microsoft.com/office/drawing/2014/main" id="{7A24FE9D-D569-87EF-BE18-03EDF73BDAC9}"/>
              </a:ext>
            </a:extLst>
          </p:cNvPr>
          <p:cNvSpPr txBox="1"/>
          <p:nvPr/>
        </p:nvSpPr>
        <p:spPr>
          <a:xfrm>
            <a:off x="9007642" y="1192168"/>
            <a:ext cx="2658332" cy="738664"/>
          </a:xfrm>
          <a:prstGeom prst="rect">
            <a:avLst/>
          </a:prstGeom>
          <a:noFill/>
        </p:spPr>
        <p:txBody>
          <a:bodyPr wrap="square">
            <a:spAutoFit/>
          </a:bodyPr>
          <a:lstStyle/>
          <a:p>
            <a:r>
              <a:rPr lang="ja-JP" altLang="en-US" sz="1400" b="0">
                <a:latin typeface="+mn-ea"/>
              </a:rPr>
              <a:t>ターゲット：</a:t>
            </a:r>
            <a:endParaRPr lang="en-US" altLang="ja-JP" sz="1400" b="0" dirty="0">
              <a:latin typeface="+mn-ea"/>
            </a:endParaRPr>
          </a:p>
          <a:p>
            <a:r>
              <a:rPr lang="en-US" altLang="ja-JP" sz="1400" b="0" dirty="0">
                <a:latin typeface="+mn-ea"/>
              </a:rPr>
              <a:t>3-</a:t>
            </a:r>
            <a:r>
              <a:rPr lang="ja-JP" altLang="en-US" sz="1400" b="0">
                <a:latin typeface="+mn-ea"/>
              </a:rPr>
              <a:t>アリール</a:t>
            </a:r>
            <a:r>
              <a:rPr lang="en-US" altLang="ja-JP" sz="1400" b="0" dirty="0">
                <a:latin typeface="+mn-ea"/>
              </a:rPr>
              <a:t>-4-</a:t>
            </a:r>
            <a:r>
              <a:rPr lang="ja-JP" altLang="en-US" sz="1400" b="0">
                <a:latin typeface="+mn-ea"/>
              </a:rPr>
              <a:t>イソオキサゾールカルボキサミド</a:t>
            </a:r>
            <a:endParaRPr lang="ja-JP" altLang="en-US" sz="1400">
              <a:latin typeface="+mn-ea"/>
            </a:endParaRPr>
          </a:p>
        </p:txBody>
      </p:sp>
      <p:pic>
        <p:nvPicPr>
          <p:cNvPr id="11" name="図 10" descr="ロゴ, 会社名&#10;&#10;自動的に生成された説明">
            <a:extLst>
              <a:ext uri="{FF2B5EF4-FFF2-40B4-BE49-F238E27FC236}">
                <a16:creationId xmlns:a16="http://schemas.microsoft.com/office/drawing/2014/main" id="{887A454E-28D1-D350-520A-A10294A73A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7719" y="2295557"/>
            <a:ext cx="4451265" cy="4451265"/>
          </a:xfrm>
          <a:prstGeom prst="rect">
            <a:avLst/>
          </a:prstGeom>
        </p:spPr>
      </p:pic>
      <p:sp>
        <p:nvSpPr>
          <p:cNvPr id="12" name="テキスト ボックス 11">
            <a:extLst>
              <a:ext uri="{FF2B5EF4-FFF2-40B4-BE49-F238E27FC236}">
                <a16:creationId xmlns:a16="http://schemas.microsoft.com/office/drawing/2014/main" id="{A0322562-16CD-EB8F-92A7-DC26E3817366}"/>
              </a:ext>
            </a:extLst>
          </p:cNvPr>
          <p:cNvSpPr txBox="1"/>
          <p:nvPr/>
        </p:nvSpPr>
        <p:spPr>
          <a:xfrm>
            <a:off x="7818985" y="2258568"/>
            <a:ext cx="3205721" cy="307777"/>
          </a:xfrm>
          <a:prstGeom prst="rect">
            <a:avLst/>
          </a:prstGeom>
          <a:noFill/>
        </p:spPr>
        <p:txBody>
          <a:bodyPr wrap="square">
            <a:spAutoFit/>
          </a:bodyPr>
          <a:lstStyle/>
          <a:p>
            <a:pPr algn="ctr"/>
            <a:r>
              <a:rPr lang="ja-JP" altLang="en-US" sz="1400" b="0">
                <a:latin typeface="+mn-ea"/>
              </a:rPr>
              <a:t>類似度が高かった上位</a:t>
            </a:r>
            <a:r>
              <a:rPr lang="en-US" altLang="ja-JP" sz="1400" b="0" dirty="0">
                <a:latin typeface="+mn-ea"/>
              </a:rPr>
              <a:t>9</a:t>
            </a:r>
            <a:r>
              <a:rPr lang="ja-JP" altLang="en-US" sz="1400" b="0">
                <a:latin typeface="+mn-ea"/>
              </a:rPr>
              <a:t>つのペプチド</a:t>
            </a:r>
            <a:endParaRPr lang="en-US" altLang="ja-JP" sz="1400" b="0" dirty="0">
              <a:latin typeface="+mn-ea"/>
            </a:endParaRPr>
          </a:p>
        </p:txBody>
      </p:sp>
      <p:graphicFrame>
        <p:nvGraphicFramePr>
          <p:cNvPr id="13" name="表 12">
            <a:extLst>
              <a:ext uri="{FF2B5EF4-FFF2-40B4-BE49-F238E27FC236}">
                <a16:creationId xmlns:a16="http://schemas.microsoft.com/office/drawing/2014/main" id="{A203E853-52B0-748F-A113-0F0E46E07B30}"/>
              </a:ext>
            </a:extLst>
          </p:cNvPr>
          <p:cNvGraphicFramePr>
            <a:graphicFrameLocks noGrp="1"/>
          </p:cNvGraphicFramePr>
          <p:nvPr>
            <p:extLst>
              <p:ext uri="{D42A27DB-BD31-4B8C-83A1-F6EECF244321}">
                <p14:modId xmlns:p14="http://schemas.microsoft.com/office/powerpoint/2010/main" val="2219859105"/>
              </p:ext>
            </p:extLst>
          </p:nvPr>
        </p:nvGraphicFramePr>
        <p:xfrm>
          <a:off x="600964" y="2566345"/>
          <a:ext cx="6394196" cy="2959385"/>
        </p:xfrm>
        <a:graphic>
          <a:graphicData uri="http://schemas.openxmlformats.org/drawingml/2006/table">
            <a:tbl>
              <a:tblPr firstRow="1">
                <a:tableStyleId>{5C22544A-7EE6-4342-B048-85BDC9FD1C3A}</a:tableStyleId>
              </a:tblPr>
              <a:tblGrid>
                <a:gridCol w="1306008">
                  <a:extLst>
                    <a:ext uri="{9D8B030D-6E8A-4147-A177-3AD203B41FA5}">
                      <a16:colId xmlns:a16="http://schemas.microsoft.com/office/drawing/2014/main" val="866577003"/>
                    </a:ext>
                  </a:extLst>
                </a:gridCol>
                <a:gridCol w="5088188">
                  <a:extLst>
                    <a:ext uri="{9D8B030D-6E8A-4147-A177-3AD203B41FA5}">
                      <a16:colId xmlns:a16="http://schemas.microsoft.com/office/drawing/2014/main" val="608412255"/>
                    </a:ext>
                  </a:extLst>
                </a:gridCol>
              </a:tblGrid>
              <a:tr h="341941">
                <a:tc>
                  <a:txBody>
                    <a:bodyPr/>
                    <a:lstStyle/>
                    <a:p>
                      <a:r>
                        <a:rPr lang="en" sz="1400" b="0" dirty="0">
                          <a:solidFill>
                            <a:schemeClr val="tx1"/>
                          </a:solidFill>
                        </a:rPr>
                        <a:t>ATOM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400" b="0">
                          <a:solidFill>
                            <a:schemeClr val="tx1"/>
                          </a:solidFill>
                          <a:effectLst/>
                        </a:rPr>
                        <a:t>分子グラフを形成するノードに対応。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4173261"/>
                  </a:ext>
                </a:extLst>
              </a:tr>
              <a:tr h="341941">
                <a:tc>
                  <a:txBody>
                    <a:bodyPr/>
                    <a:lstStyle/>
                    <a:p>
                      <a:r>
                        <a:rPr lang="en" sz="1400" dirty="0"/>
                        <a:t>BOND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400">
                          <a:effectLst/>
                        </a:rPr>
                        <a:t>分子内で化学結合を形成する</a:t>
                      </a:r>
                      <a:r>
                        <a:rPr lang="en" sz="1400" dirty="0">
                          <a:effectLst/>
                        </a:rPr>
                        <a:t>ATOM</a:t>
                      </a:r>
                      <a:r>
                        <a:rPr lang="ja-JP" altLang="en-US" sz="1400">
                          <a:effectLst/>
                        </a:rPr>
                        <a:t>エントリーのペア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1184711"/>
                  </a:ext>
                </a:extLst>
              </a:tr>
              <a:tr h="499926">
                <a:tc>
                  <a:txBody>
                    <a:bodyPr/>
                    <a:lstStyle/>
                    <a:p>
                      <a:r>
                        <a:rPr lang="en" sz="1400"/>
                        <a:t>TRIPLET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ja-JP" sz="1400" dirty="0">
                          <a:effectLst/>
                        </a:rPr>
                        <a:t>3</a:t>
                      </a:r>
                      <a:r>
                        <a:rPr lang="ja-JP" altLang="en-US" sz="1400">
                          <a:effectLst/>
                        </a:rPr>
                        <a:t>つの</a:t>
                      </a:r>
                      <a:r>
                        <a:rPr lang="en" sz="1400" dirty="0">
                          <a:effectLst/>
                        </a:rPr>
                        <a:t>ATOM</a:t>
                      </a:r>
                      <a:r>
                        <a:rPr lang="ja-JP" altLang="en-US" sz="1400">
                          <a:effectLst/>
                        </a:rPr>
                        <a:t>が順次接続された中心</a:t>
                      </a:r>
                      <a:r>
                        <a:rPr lang="en" sz="1400" dirty="0">
                          <a:effectLst/>
                        </a:rPr>
                        <a:t>ATOM</a:t>
                      </a:r>
                      <a:r>
                        <a:rPr lang="ja-JP" altLang="en-US" sz="1400">
                          <a:effectLst/>
                        </a:rPr>
                        <a:t>を共有する</a:t>
                      </a:r>
                      <a:r>
                        <a:rPr lang="en" sz="1400" dirty="0">
                          <a:effectLst/>
                        </a:rPr>
                        <a:t>BOND</a:t>
                      </a:r>
                      <a:r>
                        <a:rPr lang="ja-JP" altLang="en-US" sz="1400">
                          <a:effectLst/>
                        </a:rPr>
                        <a:t>エントリーのペア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1845374"/>
                  </a:ext>
                </a:extLst>
              </a:tr>
              <a:tr h="710422">
                <a:tc>
                  <a:txBody>
                    <a:bodyPr/>
                    <a:lstStyle/>
                    <a:p>
                      <a:r>
                        <a:rPr lang="en" sz="1400"/>
                        <a:t>VICINITY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400">
                          <a:effectLst/>
                        </a:rPr>
                        <a:t>中心原子とそれに接続する原子</a:t>
                      </a:r>
                      <a:br>
                        <a:rPr lang="ja-JP" altLang="en-US" sz="1400">
                          <a:effectLst/>
                        </a:rPr>
                      </a:br>
                      <a:r>
                        <a:rPr lang="ja-JP" altLang="en-US" sz="1400">
                          <a:effectLst/>
                        </a:rPr>
                        <a:t>少なくとも</a:t>
                      </a:r>
                      <a:r>
                        <a:rPr lang="en-US" altLang="ja-JP" sz="1400" dirty="0">
                          <a:effectLst/>
                        </a:rPr>
                        <a:t>3</a:t>
                      </a:r>
                      <a:r>
                        <a:rPr lang="ja-JP" altLang="en-US" sz="1400">
                          <a:effectLst/>
                        </a:rPr>
                        <a:t>つの</a:t>
                      </a:r>
                      <a:r>
                        <a:rPr lang="en" sz="1400" dirty="0">
                          <a:effectLst/>
                        </a:rPr>
                        <a:t>BOND</a:t>
                      </a:r>
                      <a:r>
                        <a:rPr lang="ja-JP" altLang="en-US" sz="1400">
                          <a:effectLst/>
                        </a:rPr>
                        <a:t>エントリーと少なくとも</a:t>
                      </a:r>
                      <a:r>
                        <a:rPr lang="en-US" altLang="ja-JP" sz="1400" dirty="0">
                          <a:effectLst/>
                        </a:rPr>
                        <a:t>4</a:t>
                      </a:r>
                      <a:r>
                        <a:rPr lang="ja-JP" altLang="en-US" sz="1400">
                          <a:effectLst/>
                        </a:rPr>
                        <a:t>つの</a:t>
                      </a:r>
                      <a:r>
                        <a:rPr lang="en" sz="1400" dirty="0">
                          <a:effectLst/>
                        </a:rPr>
                        <a:t>ATOM</a:t>
                      </a:r>
                      <a:br>
                        <a:rPr lang="en" sz="1400" dirty="0">
                          <a:effectLst/>
                        </a:rPr>
                      </a:br>
                      <a:r>
                        <a:rPr lang="ja-JP" altLang="en-US" sz="1400">
                          <a:effectLst/>
                        </a:rPr>
                        <a:t>エントリーから構成される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5683356"/>
                  </a:ext>
                </a:extLst>
              </a:tr>
              <a:tr h="341941">
                <a:tc>
                  <a:txBody>
                    <a:bodyPr/>
                    <a:lstStyle/>
                    <a:p>
                      <a:r>
                        <a:rPr lang="en" sz="1400" dirty="0"/>
                        <a: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ja-JP" sz="1400" dirty="0">
                          <a:effectLst/>
                        </a:rPr>
                        <a:t>3〜12</a:t>
                      </a:r>
                      <a:r>
                        <a:rPr lang="ja-JP" altLang="en-US" sz="1400">
                          <a:effectLst/>
                        </a:rPr>
                        <a:t>の環を含む環状部分構造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933303"/>
                  </a:ext>
                </a:extLst>
              </a:tr>
              <a:tr h="341941">
                <a:tc>
                  <a:txBody>
                    <a:bodyPr/>
                    <a:lstStyle/>
                    <a:p>
                      <a:r>
                        <a:rPr lang="en" sz="1400" dirty="0"/>
                        <a:t>SKELETON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400">
                          <a:effectLst/>
                        </a:rPr>
                        <a:t>アルキル基やアリール基などの炭素骨格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983222"/>
                  </a:ext>
                </a:extLst>
              </a:tr>
              <a:tr h="341941">
                <a:tc>
                  <a:txBody>
                    <a:bodyPr/>
                    <a:lstStyle/>
                    <a:p>
                      <a:r>
                        <a:rPr lang="en" sz="1400"/>
                        <a:t>INORGANIC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400">
                          <a:effectLst/>
                        </a:rPr>
                        <a:t>炭素原子以外の元素で構成される連結原子グループ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6252891"/>
                  </a:ext>
                </a:extLst>
              </a:tr>
            </a:tbl>
          </a:graphicData>
        </a:graphic>
      </p:graphicFrame>
      <p:sp>
        <p:nvSpPr>
          <p:cNvPr id="16" name="テキスト ボックス 15">
            <a:extLst>
              <a:ext uri="{FF2B5EF4-FFF2-40B4-BE49-F238E27FC236}">
                <a16:creationId xmlns:a16="http://schemas.microsoft.com/office/drawing/2014/main" id="{83780873-FFBF-4558-D0FD-2559B0A594CF}"/>
              </a:ext>
            </a:extLst>
          </p:cNvPr>
          <p:cNvSpPr txBox="1"/>
          <p:nvPr/>
        </p:nvSpPr>
        <p:spPr>
          <a:xfrm>
            <a:off x="2010295" y="5628445"/>
            <a:ext cx="5170005" cy="338554"/>
          </a:xfrm>
          <a:prstGeom prst="rect">
            <a:avLst/>
          </a:prstGeom>
          <a:noFill/>
        </p:spPr>
        <p:txBody>
          <a:bodyPr wrap="none" rtlCol="0">
            <a:spAutoFit/>
          </a:bodyPr>
          <a:lstStyle/>
          <a:p>
            <a:r>
              <a:rPr kumimoji="1" lang="en-US" altLang="ja-JP" sz="1600" dirty="0">
                <a:latin typeface="Yu Gothic" panose="020B0400000000000000" pitchFamily="34" charset="-128"/>
                <a:ea typeface="Yu Gothic" panose="020B0400000000000000" pitchFamily="34" charset="-128"/>
              </a:rPr>
              <a:t>[Masaaki </a:t>
            </a:r>
            <a:r>
              <a:rPr kumimoji="1" lang="en-US" altLang="ja-JP" sz="1600" dirty="0" err="1">
                <a:latin typeface="Yu Gothic" panose="020B0400000000000000" pitchFamily="34" charset="-128"/>
                <a:ea typeface="Yu Gothic" panose="020B0400000000000000" pitchFamily="34" charset="-128"/>
              </a:rPr>
              <a:t>Kotera</a:t>
            </a:r>
            <a:r>
              <a:rPr kumimoji="1" lang="en-US" altLang="ja-JP" sz="1600" dirty="0">
                <a:latin typeface="Yu Gothic" panose="020B0400000000000000" pitchFamily="34" charset="-128"/>
                <a:ea typeface="Yu Gothic" panose="020B0400000000000000" pitchFamily="34" charset="-128"/>
              </a:rPr>
              <a:t>, </a:t>
            </a:r>
            <a:r>
              <a:rPr kumimoji="1" lang="en-US" altLang="ja-JP" sz="1600" i="1" dirty="0">
                <a:latin typeface="Yu Gothic" panose="020B0400000000000000" pitchFamily="34" charset="-128"/>
                <a:ea typeface="Yu Gothic" panose="020B0400000000000000" pitchFamily="34" charset="-128"/>
              </a:rPr>
              <a:t>et al</a:t>
            </a:r>
            <a:r>
              <a:rPr kumimoji="1" lang="en-US" altLang="ja-JP" sz="1600" dirty="0">
                <a:latin typeface="Yu Gothic" panose="020B0400000000000000" pitchFamily="34" charset="-128"/>
                <a:ea typeface="Yu Gothic" panose="020B0400000000000000" pitchFamily="34" charset="-128"/>
              </a:rPr>
              <a:t>., BMC Systems Biology, 2013]</a:t>
            </a:r>
            <a:endParaRPr kumimoji="1" lang="ja-JP" altLang="en-US" sz="160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788811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A66B613-0CFF-A510-0349-CA9AD8DE8B69}"/>
              </a:ext>
            </a:extLst>
          </p:cNvPr>
          <p:cNvSpPr>
            <a:spLocks noGrp="1"/>
          </p:cNvSpPr>
          <p:nvPr>
            <p:ph idx="1"/>
          </p:nvPr>
        </p:nvSpPr>
        <p:spPr>
          <a:xfrm>
            <a:off x="546100" y="1038483"/>
            <a:ext cx="6503924" cy="5708339"/>
          </a:xfrm>
        </p:spPr>
        <p:txBody>
          <a:bodyPr>
            <a:normAutofit/>
          </a:bodyPr>
          <a:lstStyle/>
          <a:p>
            <a:pPr marL="0" indent="0">
              <a:lnSpc>
                <a:spcPct val="150000"/>
              </a:lnSpc>
              <a:spcBef>
                <a:spcPts val="800"/>
              </a:spcBef>
              <a:buNone/>
            </a:pPr>
            <a:r>
              <a:rPr kumimoji="1" lang="ja-JP" altLang="en-US"/>
              <a:t>ドナーアクセプターフィンガープリント</a:t>
            </a:r>
            <a:endParaRPr kumimoji="1" lang="en-US" altLang="ja-JP" dirty="0"/>
          </a:p>
          <a:p>
            <a:pPr>
              <a:lnSpc>
                <a:spcPct val="150000"/>
              </a:lnSpc>
              <a:spcBef>
                <a:spcPts val="800"/>
              </a:spcBef>
            </a:pPr>
            <a:r>
              <a:rPr kumimoji="1" lang="ja-JP" altLang="en-US" sz="1800" b="0"/>
              <a:t>原子を</a:t>
            </a:r>
            <a:r>
              <a:rPr kumimoji="1" lang="en-US" altLang="ja-JP" sz="1800" b="0" dirty="0"/>
              <a:t>7</a:t>
            </a:r>
            <a:r>
              <a:rPr kumimoji="1" lang="ja-JP" altLang="en-US" sz="1800" b="0"/>
              <a:t>つの分類のいずれかに割り当て、原子ペアと連続した</a:t>
            </a:r>
            <a:r>
              <a:rPr kumimoji="1" lang="en-US" altLang="ja-JP" sz="1800" b="0" dirty="0"/>
              <a:t>4</a:t>
            </a:r>
            <a:r>
              <a:rPr kumimoji="1" lang="ja-JP" altLang="en-US" sz="1800" b="0"/>
              <a:t>つの原子の</a:t>
            </a:r>
            <a:r>
              <a:rPr kumimoji="1" lang="en-US" altLang="ja-JP" sz="1800" b="0" dirty="0"/>
              <a:t>2</a:t>
            </a:r>
            <a:r>
              <a:rPr kumimoji="1" lang="ja-JP" altLang="en-US" sz="1800" b="0"/>
              <a:t>つの形式で特徴を表す</a:t>
            </a:r>
            <a:endParaRPr kumimoji="1" lang="en-US" altLang="ja-JP" sz="1800" dirty="0"/>
          </a:p>
          <a:p>
            <a:pPr>
              <a:lnSpc>
                <a:spcPct val="150000"/>
              </a:lnSpc>
              <a:spcBef>
                <a:spcPts val="800"/>
              </a:spcBef>
            </a:pPr>
            <a:r>
              <a:rPr lang="ja-JP" altLang="en-US" sz="1800" b="0"/>
              <a:t>化合物の化学的性質を表現することができる</a:t>
            </a:r>
            <a:endParaRPr lang="en-US" altLang="ja-JP" sz="1800" b="0" dirty="0"/>
          </a:p>
          <a:p>
            <a:pPr marL="0" indent="0">
              <a:buNone/>
            </a:pPr>
            <a:endParaRPr kumimoji="1" lang="en-US" altLang="ja-JP" sz="1800" b="0" dirty="0"/>
          </a:p>
          <a:p>
            <a:pPr marL="0" indent="0">
              <a:buNone/>
            </a:pPr>
            <a:endParaRPr lang="en-US" altLang="ja-JP" sz="1800" b="0" dirty="0"/>
          </a:p>
          <a:p>
            <a:pPr marL="0" indent="0">
              <a:buNone/>
            </a:pPr>
            <a:endParaRPr kumimoji="1" lang="en-US" altLang="ja-JP" sz="1800" b="0" dirty="0"/>
          </a:p>
          <a:p>
            <a:pPr marL="0" indent="0">
              <a:buNone/>
            </a:pPr>
            <a:endParaRPr lang="en-US" altLang="ja-JP" sz="1800" b="0" dirty="0"/>
          </a:p>
          <a:p>
            <a:pPr marL="0" indent="0">
              <a:buNone/>
            </a:pPr>
            <a:endParaRPr kumimoji="1" lang="en-US" altLang="ja-JP" sz="1800" b="0" dirty="0"/>
          </a:p>
          <a:p>
            <a:pPr marL="0" indent="0">
              <a:buNone/>
            </a:pPr>
            <a:endParaRPr kumimoji="1" lang="en-US" altLang="ja-JP" sz="1800" b="0" dirty="0"/>
          </a:p>
          <a:p>
            <a:pPr marL="0" indent="0" algn="ctr">
              <a:buNone/>
            </a:pPr>
            <a:endParaRPr lang="en-US" altLang="ja-JP" sz="1800" u="sng" dirty="0"/>
          </a:p>
          <a:p>
            <a:pPr marL="0" indent="0" algn="ctr">
              <a:buNone/>
            </a:pPr>
            <a:r>
              <a:rPr lang="ja-JP" altLang="en-US" u="sng"/>
              <a:t>アゴニストの類似度を評価するのに適している</a:t>
            </a:r>
            <a:endParaRPr lang="en-US" altLang="ja-JP" u="sng" dirty="0"/>
          </a:p>
        </p:txBody>
      </p:sp>
      <p:sp>
        <p:nvSpPr>
          <p:cNvPr id="4" name="テキスト プレースホルダー 3">
            <a:extLst>
              <a:ext uri="{FF2B5EF4-FFF2-40B4-BE49-F238E27FC236}">
                <a16:creationId xmlns:a16="http://schemas.microsoft.com/office/drawing/2014/main" id="{8FCFC313-65E8-AF2A-A091-60AC2008131C}"/>
              </a:ext>
            </a:extLst>
          </p:cNvPr>
          <p:cNvSpPr>
            <a:spLocks noGrp="1"/>
          </p:cNvSpPr>
          <p:nvPr>
            <p:ph type="body" sz="quarter" idx="11"/>
          </p:nvPr>
        </p:nvSpPr>
        <p:spPr/>
        <p:txBody>
          <a:bodyPr/>
          <a:lstStyle/>
          <a:p>
            <a:r>
              <a:rPr kumimoji="1" lang="en-US" altLang="ja-JP" dirty="0"/>
              <a:t>Results -</a:t>
            </a:r>
            <a:r>
              <a:rPr lang="ja-JP" altLang="en-US"/>
              <a:t>ドナーアクセプターフィンガープリントを用いた類似度評価</a:t>
            </a:r>
            <a:endParaRPr kumimoji="1" lang="ja-JP" altLang="en-US"/>
          </a:p>
          <a:p>
            <a:endParaRPr kumimoji="1" lang="ja-JP" altLang="en-US"/>
          </a:p>
        </p:txBody>
      </p:sp>
      <p:pic>
        <p:nvPicPr>
          <p:cNvPr id="6" name="図 5" descr="スポーツゲーム, サッカー が含まれている画像&#10;&#10;自動的に生成された説明">
            <a:extLst>
              <a:ext uri="{FF2B5EF4-FFF2-40B4-BE49-F238E27FC236}">
                <a16:creationId xmlns:a16="http://schemas.microsoft.com/office/drawing/2014/main" id="{65ED9959-5AFA-9DB2-B1A2-4A7F7AD4AC78}"/>
              </a:ext>
            </a:extLst>
          </p:cNvPr>
          <p:cNvPicPr>
            <a:picLocks noChangeAspect="1"/>
          </p:cNvPicPr>
          <p:nvPr/>
        </p:nvPicPr>
        <p:blipFill rotWithShape="1">
          <a:blip r:embed="rId3">
            <a:extLst>
              <a:ext uri="{28A0092B-C50C-407E-A947-70E740481C1C}">
                <a14:useLocalDpi xmlns:a14="http://schemas.microsoft.com/office/drawing/2010/main" val="0"/>
              </a:ext>
            </a:extLst>
          </a:blip>
          <a:srcRect t="20720" b="19760"/>
          <a:stretch/>
        </p:blipFill>
        <p:spPr>
          <a:xfrm>
            <a:off x="7177719" y="1038484"/>
            <a:ext cx="1755969" cy="1045153"/>
          </a:xfrm>
          <a:prstGeom prst="rect">
            <a:avLst/>
          </a:prstGeom>
        </p:spPr>
      </p:pic>
      <p:sp>
        <p:nvSpPr>
          <p:cNvPr id="7" name="テキスト ボックス 6">
            <a:extLst>
              <a:ext uri="{FF2B5EF4-FFF2-40B4-BE49-F238E27FC236}">
                <a16:creationId xmlns:a16="http://schemas.microsoft.com/office/drawing/2014/main" id="{7A24FE9D-D569-87EF-BE18-03EDF73BDAC9}"/>
              </a:ext>
            </a:extLst>
          </p:cNvPr>
          <p:cNvSpPr txBox="1"/>
          <p:nvPr/>
        </p:nvSpPr>
        <p:spPr>
          <a:xfrm>
            <a:off x="9007642" y="1192168"/>
            <a:ext cx="2658332" cy="738664"/>
          </a:xfrm>
          <a:prstGeom prst="rect">
            <a:avLst/>
          </a:prstGeom>
          <a:noFill/>
        </p:spPr>
        <p:txBody>
          <a:bodyPr wrap="square">
            <a:spAutoFit/>
          </a:bodyPr>
          <a:lstStyle/>
          <a:p>
            <a:r>
              <a:rPr lang="ja-JP" altLang="en-US" sz="1400" b="0">
                <a:latin typeface="+mn-ea"/>
              </a:rPr>
              <a:t>ターゲット：</a:t>
            </a:r>
            <a:endParaRPr lang="en-US" altLang="ja-JP" sz="1400" b="0" dirty="0">
              <a:latin typeface="+mn-ea"/>
            </a:endParaRPr>
          </a:p>
          <a:p>
            <a:r>
              <a:rPr lang="en-US" altLang="ja-JP" sz="1400" b="0" dirty="0">
                <a:latin typeface="+mn-ea"/>
              </a:rPr>
              <a:t>3-</a:t>
            </a:r>
            <a:r>
              <a:rPr lang="ja-JP" altLang="en-US" sz="1400" b="0">
                <a:latin typeface="+mn-ea"/>
              </a:rPr>
              <a:t>アリール</a:t>
            </a:r>
            <a:r>
              <a:rPr lang="en-US" altLang="ja-JP" sz="1400" b="0" dirty="0">
                <a:latin typeface="+mn-ea"/>
              </a:rPr>
              <a:t>-4-</a:t>
            </a:r>
            <a:r>
              <a:rPr lang="ja-JP" altLang="en-US" sz="1400" b="0">
                <a:latin typeface="+mn-ea"/>
              </a:rPr>
              <a:t>イソオキサゾールカルボキサミド</a:t>
            </a:r>
            <a:endParaRPr lang="ja-JP" altLang="en-US" sz="1400">
              <a:latin typeface="+mn-ea"/>
            </a:endParaRPr>
          </a:p>
        </p:txBody>
      </p:sp>
      <p:graphicFrame>
        <p:nvGraphicFramePr>
          <p:cNvPr id="8" name="表 7">
            <a:extLst>
              <a:ext uri="{FF2B5EF4-FFF2-40B4-BE49-F238E27FC236}">
                <a16:creationId xmlns:a16="http://schemas.microsoft.com/office/drawing/2014/main" id="{991800F1-58F8-60B1-B2E3-3F48C46A6BC7}"/>
              </a:ext>
            </a:extLst>
          </p:cNvPr>
          <p:cNvGraphicFramePr>
            <a:graphicFrameLocks noGrp="1"/>
          </p:cNvGraphicFramePr>
          <p:nvPr>
            <p:extLst>
              <p:ext uri="{D42A27DB-BD31-4B8C-83A1-F6EECF244321}">
                <p14:modId xmlns:p14="http://schemas.microsoft.com/office/powerpoint/2010/main" val="1954763272"/>
              </p:ext>
            </p:extLst>
          </p:nvPr>
        </p:nvGraphicFramePr>
        <p:xfrm>
          <a:off x="546100" y="3268893"/>
          <a:ext cx="2581148" cy="2472813"/>
        </p:xfrm>
        <a:graphic>
          <a:graphicData uri="http://schemas.openxmlformats.org/drawingml/2006/table">
            <a:tbl>
              <a:tblPr firstRow="1">
                <a:tableStyleId>{5C22544A-7EE6-4342-B048-85BDC9FD1C3A}</a:tableStyleId>
              </a:tblPr>
              <a:tblGrid>
                <a:gridCol w="353387">
                  <a:extLst>
                    <a:ext uri="{9D8B030D-6E8A-4147-A177-3AD203B41FA5}">
                      <a16:colId xmlns:a16="http://schemas.microsoft.com/office/drawing/2014/main" val="866577003"/>
                    </a:ext>
                  </a:extLst>
                </a:gridCol>
                <a:gridCol w="2227761">
                  <a:extLst>
                    <a:ext uri="{9D8B030D-6E8A-4147-A177-3AD203B41FA5}">
                      <a16:colId xmlns:a16="http://schemas.microsoft.com/office/drawing/2014/main" val="608412255"/>
                    </a:ext>
                  </a:extLst>
                </a:gridCol>
              </a:tblGrid>
              <a:tr h="353259">
                <a:tc>
                  <a:txBody>
                    <a:bodyPr/>
                    <a:lstStyle/>
                    <a:p>
                      <a:r>
                        <a:rPr lang="en" sz="1600" b="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b="0">
                          <a:solidFill>
                            <a:schemeClr val="tx1"/>
                          </a:solidFill>
                          <a:effectLst/>
                        </a:rPr>
                        <a:t>陽イオン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4173261"/>
                  </a:ext>
                </a:extLst>
              </a:tr>
              <a:tr h="353259">
                <a:tc>
                  <a:txBody>
                    <a:bodyPr/>
                    <a:lstStyle/>
                    <a:p>
                      <a:r>
                        <a:rPr lang="en" sz="16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陰イオン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1184711"/>
                  </a:ext>
                </a:extLst>
              </a:tr>
              <a:tr h="353259">
                <a:tc>
                  <a:txBody>
                    <a:bodyPr/>
                    <a:lstStyle/>
                    <a:p>
                      <a:r>
                        <a:rPr lang="en" sz="16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中性水素結合供与体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1845374"/>
                  </a:ext>
                </a:extLst>
              </a:tr>
              <a:tr h="353259">
                <a:tc>
                  <a:txBody>
                    <a:bodyPr/>
                    <a:lstStyle/>
                    <a:p>
                      <a:r>
                        <a:rPr lang="en" sz="16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中性水素結合受容体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5683356"/>
                  </a:ext>
                </a:extLst>
              </a:tr>
              <a:tr h="353259">
                <a:tc>
                  <a:txBody>
                    <a:bodyPr/>
                    <a:lstStyle/>
                    <a:p>
                      <a:r>
                        <a:rPr lang="en" sz="16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極性原子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933303"/>
                  </a:ext>
                </a:extLst>
              </a:tr>
              <a:tr h="353259">
                <a:tc>
                  <a:txBody>
                    <a:bodyPr/>
                    <a:lstStyle/>
                    <a:p>
                      <a:r>
                        <a:rPr lang="en" sz="16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疎水性原子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983222"/>
                  </a:ext>
                </a:extLst>
              </a:tr>
              <a:tr h="353259">
                <a:tc>
                  <a:txBody>
                    <a:bodyPr/>
                    <a:lstStyle/>
                    <a:p>
                      <a:r>
                        <a:rPr lang="en" sz="1600"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その他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6252891"/>
                  </a:ext>
                </a:extLst>
              </a:tr>
            </a:tbl>
          </a:graphicData>
        </a:graphic>
      </p:graphicFrame>
      <p:pic>
        <p:nvPicPr>
          <p:cNvPr id="10" name="図 9" descr="時計 が含まれている画像&#10;&#10;自動的に生成された説明">
            <a:extLst>
              <a:ext uri="{FF2B5EF4-FFF2-40B4-BE49-F238E27FC236}">
                <a16:creationId xmlns:a16="http://schemas.microsoft.com/office/drawing/2014/main" id="{C5C0E48E-45D9-88EB-C680-D0A79F2BA8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70796" y="3861476"/>
            <a:ext cx="1330096" cy="1287646"/>
          </a:xfrm>
          <a:prstGeom prst="rect">
            <a:avLst/>
          </a:prstGeom>
        </p:spPr>
      </p:pic>
      <p:pic>
        <p:nvPicPr>
          <p:cNvPr id="15" name="図 14" descr="テキスト&#10;&#10;自動的に生成された説明">
            <a:extLst>
              <a:ext uri="{FF2B5EF4-FFF2-40B4-BE49-F238E27FC236}">
                <a16:creationId xmlns:a16="http://schemas.microsoft.com/office/drawing/2014/main" id="{781BCF8C-2404-ACB2-D9BD-3A0F3D7989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28587" y="3861476"/>
            <a:ext cx="2041840" cy="1287646"/>
          </a:xfrm>
          <a:prstGeom prst="rect">
            <a:avLst/>
          </a:prstGeom>
        </p:spPr>
      </p:pic>
      <p:sp>
        <p:nvSpPr>
          <p:cNvPr id="17" name="テキスト ボックス 16">
            <a:extLst>
              <a:ext uri="{FF2B5EF4-FFF2-40B4-BE49-F238E27FC236}">
                <a16:creationId xmlns:a16="http://schemas.microsoft.com/office/drawing/2014/main" id="{7C3ADDE9-A2EE-378A-9703-32AC4E4C7043}"/>
              </a:ext>
            </a:extLst>
          </p:cNvPr>
          <p:cNvSpPr txBox="1"/>
          <p:nvPr/>
        </p:nvSpPr>
        <p:spPr>
          <a:xfrm>
            <a:off x="3471726" y="3513778"/>
            <a:ext cx="2658332" cy="338554"/>
          </a:xfrm>
          <a:prstGeom prst="rect">
            <a:avLst/>
          </a:prstGeom>
          <a:noFill/>
        </p:spPr>
        <p:txBody>
          <a:bodyPr wrap="square">
            <a:spAutoFit/>
          </a:bodyPr>
          <a:lstStyle/>
          <a:p>
            <a:r>
              <a:rPr lang="ja-JP" altLang="en-US" sz="1600">
                <a:latin typeface="+mn-ea"/>
              </a:rPr>
              <a:t>例</a:t>
            </a:r>
            <a:endParaRPr lang="en-US" altLang="ja-JP" sz="1600" b="0" dirty="0">
              <a:latin typeface="+mn-ea"/>
            </a:endParaRPr>
          </a:p>
        </p:txBody>
      </p:sp>
      <p:pic>
        <p:nvPicPr>
          <p:cNvPr id="1028" name="Picture 4">
            <a:extLst>
              <a:ext uri="{FF2B5EF4-FFF2-40B4-BE49-F238E27FC236}">
                <a16:creationId xmlns:a16="http://schemas.microsoft.com/office/drawing/2014/main" id="{9E56D555-5BC2-0990-9384-F04A92BA4C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7719" y="2278641"/>
            <a:ext cx="4468181" cy="4468181"/>
          </a:xfrm>
          <a:prstGeom prst="rect">
            <a:avLst/>
          </a:prstGeom>
          <a:noFill/>
          <a:extLst>
            <a:ext uri="{909E8E84-426E-40DD-AFC4-6F175D3DCCD1}">
              <a14:hiddenFill xmlns:a14="http://schemas.microsoft.com/office/drawing/2010/main">
                <a:solidFill>
                  <a:srgbClr val="FFFFFF"/>
                </a:solidFill>
              </a14:hiddenFill>
            </a:ext>
          </a:extLst>
        </p:spPr>
      </p:pic>
      <p:sp>
        <p:nvSpPr>
          <p:cNvPr id="18" name="テキスト ボックス 17">
            <a:extLst>
              <a:ext uri="{FF2B5EF4-FFF2-40B4-BE49-F238E27FC236}">
                <a16:creationId xmlns:a16="http://schemas.microsoft.com/office/drawing/2014/main" id="{A35BE81C-6E34-BD32-2430-78B2B655532F}"/>
              </a:ext>
            </a:extLst>
          </p:cNvPr>
          <p:cNvSpPr txBox="1"/>
          <p:nvPr/>
        </p:nvSpPr>
        <p:spPr>
          <a:xfrm>
            <a:off x="7818985" y="2258568"/>
            <a:ext cx="3205721" cy="307777"/>
          </a:xfrm>
          <a:prstGeom prst="rect">
            <a:avLst/>
          </a:prstGeom>
          <a:noFill/>
        </p:spPr>
        <p:txBody>
          <a:bodyPr wrap="square">
            <a:spAutoFit/>
          </a:bodyPr>
          <a:lstStyle/>
          <a:p>
            <a:pPr algn="ctr"/>
            <a:r>
              <a:rPr lang="ja-JP" altLang="en-US" sz="1400" b="0">
                <a:latin typeface="+mn-ea"/>
              </a:rPr>
              <a:t>類似度が高かった上位</a:t>
            </a:r>
            <a:r>
              <a:rPr lang="en-US" altLang="ja-JP" sz="1400" b="0" dirty="0">
                <a:latin typeface="+mn-ea"/>
              </a:rPr>
              <a:t>9</a:t>
            </a:r>
            <a:r>
              <a:rPr lang="ja-JP" altLang="en-US" sz="1400" b="0">
                <a:latin typeface="+mn-ea"/>
              </a:rPr>
              <a:t>つのペプチド</a:t>
            </a:r>
            <a:endParaRPr lang="en-US" altLang="ja-JP" sz="1400" b="0" dirty="0">
              <a:latin typeface="+mn-ea"/>
            </a:endParaRPr>
          </a:p>
        </p:txBody>
      </p:sp>
      <p:sp>
        <p:nvSpPr>
          <p:cNvPr id="19" name="テキスト ボックス 18">
            <a:extLst>
              <a:ext uri="{FF2B5EF4-FFF2-40B4-BE49-F238E27FC236}">
                <a16:creationId xmlns:a16="http://schemas.microsoft.com/office/drawing/2014/main" id="{E13357A8-2AF4-968B-7BA6-D831B130FD78}"/>
              </a:ext>
            </a:extLst>
          </p:cNvPr>
          <p:cNvSpPr txBox="1"/>
          <p:nvPr/>
        </p:nvSpPr>
        <p:spPr>
          <a:xfrm>
            <a:off x="1403757" y="5778695"/>
            <a:ext cx="5735866" cy="338554"/>
          </a:xfrm>
          <a:prstGeom prst="rect">
            <a:avLst/>
          </a:prstGeom>
          <a:noFill/>
        </p:spPr>
        <p:txBody>
          <a:bodyPr wrap="none" rtlCol="0">
            <a:spAutoFit/>
          </a:bodyPr>
          <a:lstStyle/>
          <a:p>
            <a:r>
              <a:rPr kumimoji="1" lang="en-US" altLang="ja-JP" sz="1600" dirty="0">
                <a:latin typeface="Yu Gothic" panose="020B0400000000000000" pitchFamily="34" charset="-128"/>
                <a:ea typeface="Yu Gothic" panose="020B0400000000000000" pitchFamily="34" charset="-128"/>
              </a:rPr>
              <a:t>[Simon K. Kearsley, </a:t>
            </a:r>
            <a:r>
              <a:rPr kumimoji="1" lang="en-US" altLang="ja-JP" sz="1600" i="1" dirty="0">
                <a:latin typeface="Yu Gothic" panose="020B0400000000000000" pitchFamily="34" charset="-128"/>
                <a:ea typeface="Yu Gothic" panose="020B0400000000000000" pitchFamily="34" charset="-128"/>
              </a:rPr>
              <a:t>et al</a:t>
            </a:r>
            <a:r>
              <a:rPr kumimoji="1" lang="en-US" altLang="ja-JP" sz="1600" dirty="0">
                <a:latin typeface="Yu Gothic" panose="020B0400000000000000" pitchFamily="34" charset="-128"/>
                <a:ea typeface="Yu Gothic" panose="020B0400000000000000" pitchFamily="34" charset="-128"/>
              </a:rPr>
              <a:t>., J. Chem. Inf, </a:t>
            </a:r>
            <a:r>
              <a:rPr kumimoji="1" lang="en-US" altLang="ja-JP" sz="1600" dirty="0" err="1">
                <a:latin typeface="Yu Gothic" panose="020B0400000000000000" pitchFamily="34" charset="-128"/>
                <a:ea typeface="Yu Gothic" panose="020B0400000000000000" pitchFamily="34" charset="-128"/>
              </a:rPr>
              <a:t>Comput</a:t>
            </a:r>
            <a:r>
              <a:rPr kumimoji="1" lang="en-US" altLang="ja-JP" sz="1600" dirty="0">
                <a:latin typeface="Yu Gothic" panose="020B0400000000000000" pitchFamily="34" charset="-128"/>
                <a:ea typeface="Yu Gothic" panose="020B0400000000000000" pitchFamily="34" charset="-128"/>
              </a:rPr>
              <a:t>. Sci., 1996]</a:t>
            </a:r>
            <a:endParaRPr kumimoji="1" lang="ja-JP" altLang="en-US" sz="160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986244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5AEB5F5-F5D2-93ED-21E7-0CE8AA834123}"/>
              </a:ext>
            </a:extLst>
          </p:cNvPr>
          <p:cNvSpPr>
            <a:spLocks noGrp="1"/>
          </p:cNvSpPr>
          <p:nvPr>
            <p:ph idx="1"/>
          </p:nvPr>
        </p:nvSpPr>
        <p:spPr>
          <a:xfrm>
            <a:off x="546099" y="1038484"/>
            <a:ext cx="6700519" cy="5708338"/>
          </a:xfrm>
        </p:spPr>
        <p:txBody>
          <a:bodyPr/>
          <a:lstStyle/>
          <a:p>
            <a:pPr marL="0" indent="0">
              <a:buNone/>
            </a:pPr>
            <a:r>
              <a:rPr kumimoji="1" lang="ja-JP" altLang="en-US"/>
              <a:t>結果</a:t>
            </a:r>
            <a:endParaRPr kumimoji="1" lang="en-US" altLang="ja-JP" dirty="0"/>
          </a:p>
          <a:p>
            <a:pPr marL="0" indent="0">
              <a:lnSpc>
                <a:spcPct val="150000"/>
              </a:lnSpc>
              <a:spcBef>
                <a:spcPts val="800"/>
              </a:spcBef>
              <a:buNone/>
            </a:pPr>
            <a:r>
              <a:rPr lang="en-US" altLang="ja-JP" sz="1800" b="0" dirty="0"/>
              <a:t>KCF-S</a:t>
            </a:r>
            <a:r>
              <a:rPr lang="ja-JP" altLang="en-US" sz="1800" b="0"/>
              <a:t>でもドナーアクセプターフィンガープリントでも類似</a:t>
            </a:r>
            <a:br>
              <a:rPr lang="en-US" altLang="ja-JP" sz="1800" b="0" dirty="0"/>
            </a:br>
            <a:r>
              <a:rPr lang="ja-JP" altLang="en-US" sz="1800" b="0"/>
              <a:t>していなそうな構造が得られた</a:t>
            </a:r>
            <a:endParaRPr lang="en-US" altLang="ja-JP" sz="1800" b="0" dirty="0"/>
          </a:p>
          <a:p>
            <a:pPr marL="0" indent="0">
              <a:buNone/>
            </a:pPr>
            <a:r>
              <a:rPr kumimoji="1" lang="ja-JP" altLang="en-US"/>
              <a:t>今後の方針</a:t>
            </a:r>
            <a:endParaRPr kumimoji="1" lang="en-US" altLang="ja-JP" dirty="0"/>
          </a:p>
          <a:p>
            <a:pPr>
              <a:lnSpc>
                <a:spcPct val="150000"/>
              </a:lnSpc>
              <a:spcBef>
                <a:spcPts val="800"/>
              </a:spcBef>
            </a:pPr>
            <a:r>
              <a:rPr lang="en-US" altLang="ja-JP" sz="1800" b="0" dirty="0"/>
              <a:t>KCF-S, </a:t>
            </a:r>
            <a:r>
              <a:rPr lang="ja-JP" altLang="en-US" sz="1800" b="0"/>
              <a:t>ドナーアクセプターフィンガープリントそれぞれの上位の配列を合成し、活性が得られるかどうかを</a:t>
            </a:r>
            <a:br>
              <a:rPr lang="en-US" altLang="ja-JP" sz="1800" b="0" dirty="0"/>
            </a:br>
            <a:r>
              <a:rPr lang="ja-JP" altLang="en-US" sz="1800" b="0"/>
              <a:t>実験する</a:t>
            </a:r>
            <a:endParaRPr lang="en-US" altLang="ja-JP" sz="1800" b="0" dirty="0"/>
          </a:p>
          <a:p>
            <a:pPr>
              <a:lnSpc>
                <a:spcPct val="150000"/>
              </a:lnSpc>
              <a:spcBef>
                <a:spcPts val="800"/>
              </a:spcBef>
            </a:pPr>
            <a:r>
              <a:rPr lang="ja-JP" altLang="en-US" sz="1800" b="0"/>
              <a:t>他の</a:t>
            </a:r>
            <a:r>
              <a:rPr lang="en-US" altLang="ja-JP" sz="1800" b="0" dirty="0"/>
              <a:t>TGR5</a:t>
            </a:r>
            <a:r>
              <a:rPr lang="ja-JP" altLang="en-US" sz="1800" b="0"/>
              <a:t>アゴニストとの類似度を比較した結果の配列についても実験する</a:t>
            </a:r>
            <a:endParaRPr lang="en-US" altLang="ja-JP" sz="1800" b="0" dirty="0"/>
          </a:p>
          <a:p>
            <a:pPr>
              <a:lnSpc>
                <a:spcPct val="150000"/>
              </a:lnSpc>
              <a:spcBef>
                <a:spcPts val="800"/>
              </a:spcBef>
            </a:pPr>
            <a:r>
              <a:rPr lang="ja-JP" altLang="en-US" sz="1800" b="0"/>
              <a:t>どの部分構造が類似度に寄与しているのか、データを</a:t>
            </a:r>
            <a:br>
              <a:rPr lang="en-US" altLang="ja-JP" sz="1800" b="0" dirty="0"/>
            </a:br>
            <a:r>
              <a:rPr lang="ja-JP" altLang="en-US" sz="1800" b="0"/>
              <a:t>詳しく見る</a:t>
            </a:r>
            <a:endParaRPr lang="en-US" altLang="ja-JP" sz="1800" b="0" dirty="0"/>
          </a:p>
        </p:txBody>
      </p:sp>
      <p:sp>
        <p:nvSpPr>
          <p:cNvPr id="4" name="テキスト プレースホルダー 3">
            <a:extLst>
              <a:ext uri="{FF2B5EF4-FFF2-40B4-BE49-F238E27FC236}">
                <a16:creationId xmlns:a16="http://schemas.microsoft.com/office/drawing/2014/main" id="{357E9109-8FAC-278B-4DD3-8797482F59A2}"/>
              </a:ext>
            </a:extLst>
          </p:cNvPr>
          <p:cNvSpPr>
            <a:spLocks noGrp="1"/>
          </p:cNvSpPr>
          <p:nvPr>
            <p:ph type="body" sz="quarter" idx="11"/>
          </p:nvPr>
        </p:nvSpPr>
        <p:spPr/>
        <p:txBody>
          <a:bodyPr/>
          <a:lstStyle/>
          <a:p>
            <a:r>
              <a:rPr kumimoji="1" lang="en-US" altLang="ja-JP" dirty="0"/>
              <a:t>Results - </a:t>
            </a:r>
            <a:r>
              <a:rPr kumimoji="1" lang="ja-JP" altLang="en-US"/>
              <a:t>結果と方針</a:t>
            </a:r>
          </a:p>
        </p:txBody>
      </p:sp>
      <p:pic>
        <p:nvPicPr>
          <p:cNvPr id="6" name="図 5" descr="ロゴ, 会社名&#10;&#10;自動的に生成された説明">
            <a:extLst>
              <a:ext uri="{FF2B5EF4-FFF2-40B4-BE49-F238E27FC236}">
                <a16:creationId xmlns:a16="http://schemas.microsoft.com/office/drawing/2014/main" id="{1EA30B42-F325-A7AF-02F0-C766EB6535EF}"/>
              </a:ext>
            </a:extLst>
          </p:cNvPr>
          <p:cNvPicPr>
            <a:picLocks noChangeAspect="1"/>
          </p:cNvPicPr>
          <p:nvPr/>
        </p:nvPicPr>
        <p:blipFill rotWithShape="1">
          <a:blip r:embed="rId3">
            <a:extLst>
              <a:ext uri="{28A0092B-C50C-407E-A947-70E740481C1C}">
                <a14:useLocalDpi xmlns:a14="http://schemas.microsoft.com/office/drawing/2010/main" val="0"/>
              </a:ext>
            </a:extLst>
          </a:blip>
          <a:srcRect t="5018" b="33354"/>
          <a:stretch/>
        </p:blipFill>
        <p:spPr>
          <a:xfrm>
            <a:off x="7443216" y="1237398"/>
            <a:ext cx="4202684" cy="2590007"/>
          </a:xfrm>
          <a:prstGeom prst="rect">
            <a:avLst/>
          </a:prstGeom>
        </p:spPr>
      </p:pic>
      <p:pic>
        <p:nvPicPr>
          <p:cNvPr id="7" name="Picture 4">
            <a:extLst>
              <a:ext uri="{FF2B5EF4-FFF2-40B4-BE49-F238E27FC236}">
                <a16:creationId xmlns:a16="http://schemas.microsoft.com/office/drawing/2014/main" id="{0156A1C9-E857-9950-93F0-15C9189B381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053" b="34553"/>
          <a:stretch/>
        </p:blipFill>
        <p:spPr bwMode="auto">
          <a:xfrm>
            <a:off x="7424674" y="4155237"/>
            <a:ext cx="4221226" cy="2591585"/>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4630D47D-0168-45FB-15B0-BC9EA368C844}"/>
              </a:ext>
            </a:extLst>
          </p:cNvPr>
          <p:cNvSpPr txBox="1"/>
          <p:nvPr/>
        </p:nvSpPr>
        <p:spPr>
          <a:xfrm>
            <a:off x="7237348" y="3869082"/>
            <a:ext cx="4595877" cy="307777"/>
          </a:xfrm>
          <a:prstGeom prst="rect">
            <a:avLst/>
          </a:prstGeom>
          <a:noFill/>
        </p:spPr>
        <p:txBody>
          <a:bodyPr wrap="square">
            <a:spAutoFit/>
          </a:bodyPr>
          <a:lstStyle/>
          <a:p>
            <a:pPr algn="ctr"/>
            <a:r>
              <a:rPr lang="ja-JP" altLang="en-US" sz="1400">
                <a:latin typeface="+mn-ea"/>
              </a:rPr>
              <a:t>ドナーアクセプターフィンガープリントでの上位</a:t>
            </a:r>
            <a:r>
              <a:rPr lang="en-US" altLang="ja-JP" sz="1400" dirty="0">
                <a:latin typeface="+mn-ea"/>
              </a:rPr>
              <a:t>6</a:t>
            </a:r>
            <a:r>
              <a:rPr lang="ja-JP" altLang="en-US" sz="1400">
                <a:latin typeface="+mn-ea"/>
              </a:rPr>
              <a:t>配列</a:t>
            </a:r>
            <a:endParaRPr lang="en-US" altLang="ja-JP" sz="1400" b="0" dirty="0">
              <a:latin typeface="+mn-ea"/>
            </a:endParaRPr>
          </a:p>
        </p:txBody>
      </p:sp>
      <p:sp>
        <p:nvSpPr>
          <p:cNvPr id="9" name="テキスト ボックス 8">
            <a:extLst>
              <a:ext uri="{FF2B5EF4-FFF2-40B4-BE49-F238E27FC236}">
                <a16:creationId xmlns:a16="http://schemas.microsoft.com/office/drawing/2014/main" id="{178A5977-6537-5944-8DEE-75D108E1ED3E}"/>
              </a:ext>
            </a:extLst>
          </p:cNvPr>
          <p:cNvSpPr txBox="1"/>
          <p:nvPr/>
        </p:nvSpPr>
        <p:spPr>
          <a:xfrm>
            <a:off x="7246619" y="986968"/>
            <a:ext cx="4595877" cy="307777"/>
          </a:xfrm>
          <a:prstGeom prst="rect">
            <a:avLst/>
          </a:prstGeom>
          <a:noFill/>
        </p:spPr>
        <p:txBody>
          <a:bodyPr wrap="square">
            <a:spAutoFit/>
          </a:bodyPr>
          <a:lstStyle/>
          <a:p>
            <a:pPr algn="ctr"/>
            <a:r>
              <a:rPr lang="en-US" altLang="ja-JP" sz="1400" dirty="0">
                <a:latin typeface="+mn-ea"/>
              </a:rPr>
              <a:t>KCF-S</a:t>
            </a:r>
            <a:r>
              <a:rPr lang="ja-JP" altLang="en-US" sz="1400">
                <a:latin typeface="+mn-ea"/>
              </a:rPr>
              <a:t>での上位</a:t>
            </a:r>
            <a:r>
              <a:rPr lang="en-US" altLang="ja-JP" sz="1400" dirty="0">
                <a:latin typeface="+mn-ea"/>
              </a:rPr>
              <a:t>6</a:t>
            </a:r>
            <a:r>
              <a:rPr lang="ja-JP" altLang="en-US" sz="1400">
                <a:latin typeface="+mn-ea"/>
              </a:rPr>
              <a:t>配列</a:t>
            </a:r>
            <a:endParaRPr lang="en-US" altLang="ja-JP" sz="1400" b="0" dirty="0">
              <a:latin typeface="+mn-ea"/>
            </a:endParaRPr>
          </a:p>
        </p:txBody>
      </p:sp>
    </p:spTree>
    <p:extLst>
      <p:ext uri="{BB962C8B-B14F-4D97-AF65-F5344CB8AC3E}">
        <p14:creationId xmlns:p14="http://schemas.microsoft.com/office/powerpoint/2010/main" val="3981427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93B5946-ED6D-089E-C48F-A17D118D04CB}"/>
              </a:ext>
            </a:extLst>
          </p:cNvPr>
          <p:cNvSpPr>
            <a:spLocks noGrp="1"/>
          </p:cNvSpPr>
          <p:nvPr>
            <p:ph idx="1"/>
          </p:nvPr>
        </p:nvSpPr>
        <p:spPr>
          <a:xfrm>
            <a:off x="546100" y="3225502"/>
            <a:ext cx="11099800" cy="469900"/>
          </a:xfrm>
        </p:spPr>
        <p:txBody>
          <a:bodyPr>
            <a:normAutofit/>
          </a:bodyPr>
          <a:lstStyle/>
          <a:p>
            <a:pPr marL="0" indent="0">
              <a:buNone/>
            </a:pPr>
            <a:r>
              <a:rPr lang="ja-JP" altLang="en-US"/>
              <a:t>長期</a:t>
            </a:r>
            <a:r>
              <a:rPr kumimoji="1" lang="ja-JP" altLang="en-US"/>
              <a:t>予定</a:t>
            </a:r>
          </a:p>
        </p:txBody>
      </p:sp>
      <p:sp>
        <p:nvSpPr>
          <p:cNvPr id="4" name="テキスト プレースホルダー 3">
            <a:extLst>
              <a:ext uri="{FF2B5EF4-FFF2-40B4-BE49-F238E27FC236}">
                <a16:creationId xmlns:a16="http://schemas.microsoft.com/office/drawing/2014/main" id="{91CE3F74-8A89-FDDF-93AC-6086F7A6ED20}"/>
              </a:ext>
            </a:extLst>
          </p:cNvPr>
          <p:cNvSpPr>
            <a:spLocks noGrp="1"/>
          </p:cNvSpPr>
          <p:nvPr>
            <p:ph type="body" sz="quarter" idx="11"/>
          </p:nvPr>
        </p:nvSpPr>
        <p:spPr/>
        <p:txBody>
          <a:bodyPr/>
          <a:lstStyle/>
          <a:p>
            <a:r>
              <a:rPr kumimoji="1" lang="ja-JP" altLang="en-US"/>
              <a:t>今後の予定</a:t>
            </a:r>
          </a:p>
        </p:txBody>
      </p:sp>
      <p:graphicFrame>
        <p:nvGraphicFramePr>
          <p:cNvPr id="5" name="表 4">
            <a:extLst>
              <a:ext uri="{FF2B5EF4-FFF2-40B4-BE49-F238E27FC236}">
                <a16:creationId xmlns:a16="http://schemas.microsoft.com/office/drawing/2014/main" id="{DB6E4A7A-31E8-F7AB-957A-38C0F4677A92}"/>
              </a:ext>
            </a:extLst>
          </p:cNvPr>
          <p:cNvGraphicFramePr>
            <a:graphicFrameLocks noGrp="1"/>
          </p:cNvGraphicFramePr>
          <p:nvPr>
            <p:extLst>
              <p:ext uri="{D42A27DB-BD31-4B8C-83A1-F6EECF244321}">
                <p14:modId xmlns:p14="http://schemas.microsoft.com/office/powerpoint/2010/main" val="760299024"/>
              </p:ext>
            </p:extLst>
          </p:nvPr>
        </p:nvGraphicFramePr>
        <p:xfrm>
          <a:off x="546099" y="3667121"/>
          <a:ext cx="11099798" cy="1895471"/>
        </p:xfrm>
        <a:graphic>
          <a:graphicData uri="http://schemas.openxmlformats.org/drawingml/2006/table">
            <a:tbl>
              <a:tblPr firstRow="1">
                <a:tableStyleId>{5C22544A-7EE6-4342-B048-85BDC9FD1C3A}</a:tableStyleId>
              </a:tblPr>
              <a:tblGrid>
                <a:gridCol w="4365266">
                  <a:extLst>
                    <a:ext uri="{9D8B030D-6E8A-4147-A177-3AD203B41FA5}">
                      <a16:colId xmlns:a16="http://schemas.microsoft.com/office/drawing/2014/main" val="3371328493"/>
                    </a:ext>
                  </a:extLst>
                </a:gridCol>
                <a:gridCol w="2244844">
                  <a:extLst>
                    <a:ext uri="{9D8B030D-6E8A-4147-A177-3AD203B41FA5}">
                      <a16:colId xmlns:a16="http://schemas.microsoft.com/office/drawing/2014/main" val="2336952824"/>
                    </a:ext>
                  </a:extLst>
                </a:gridCol>
                <a:gridCol w="2244844">
                  <a:extLst>
                    <a:ext uri="{9D8B030D-6E8A-4147-A177-3AD203B41FA5}">
                      <a16:colId xmlns:a16="http://schemas.microsoft.com/office/drawing/2014/main" val="3322159680"/>
                    </a:ext>
                  </a:extLst>
                </a:gridCol>
                <a:gridCol w="2244844">
                  <a:extLst>
                    <a:ext uri="{9D8B030D-6E8A-4147-A177-3AD203B41FA5}">
                      <a16:colId xmlns:a16="http://schemas.microsoft.com/office/drawing/2014/main" val="1025667938"/>
                    </a:ext>
                  </a:extLst>
                </a:gridCol>
              </a:tblGrid>
              <a:tr h="400465">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kumimoji="1" lang="en-US" altLang="ja-JP" dirty="0"/>
                        <a:t>7</a:t>
                      </a:r>
                      <a:r>
                        <a:rPr kumimoji="1" lang="ja-JP" altLang="en-US"/>
                        <a:t>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kumimoji="1" lang="en-US" altLang="ja-JP" dirty="0"/>
                        <a:t>8</a:t>
                      </a:r>
                      <a:r>
                        <a:rPr kumimoji="1" lang="ja-JP" altLang="en-US"/>
                        <a:t>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en-US" altLang="ja-JP" dirty="0"/>
                        <a:t>9</a:t>
                      </a:r>
                      <a:r>
                        <a:rPr kumimoji="1" lang="ja-JP" altLang="en-US"/>
                        <a:t>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642672014"/>
                  </a:ext>
                </a:extLst>
              </a:tr>
              <a:tr h="482018">
                <a:tc>
                  <a:txBody>
                    <a:bodyPr/>
                    <a:lstStyle/>
                    <a:p>
                      <a:pPr algn="l"/>
                      <a:r>
                        <a:rPr kumimoji="1" lang="ja-JP" altLang="en-US"/>
                        <a:t>他の</a:t>
                      </a:r>
                      <a:r>
                        <a:rPr kumimoji="1" lang="en-US" altLang="ja-JP" dirty="0"/>
                        <a:t>TGR5</a:t>
                      </a:r>
                      <a:r>
                        <a:rPr kumimoji="1" lang="ja-JP" altLang="en-US"/>
                        <a:t>アゴニストとの類似度評価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8361630"/>
                  </a:ext>
                </a:extLst>
              </a:tr>
              <a:tr h="482018">
                <a:tc>
                  <a:txBody>
                    <a:bodyPr/>
                    <a:lstStyle/>
                    <a:p>
                      <a:pPr algn="l"/>
                      <a:r>
                        <a:rPr kumimoji="1" lang="ja-JP" altLang="en-US"/>
                        <a:t>トリペプチドの合成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90603281"/>
                  </a:ext>
                </a:extLst>
              </a:tr>
              <a:tr h="530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トリペプチドの</a:t>
                      </a:r>
                      <a:r>
                        <a:rPr kumimoji="1" lang="en-US" altLang="ja-JP" dirty="0"/>
                        <a:t>TGR5</a:t>
                      </a:r>
                      <a:r>
                        <a:rPr kumimoji="1" lang="ja-JP" altLang="en-US"/>
                        <a:t>活性評価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5393681"/>
                  </a:ext>
                </a:extLst>
              </a:tr>
            </a:tbl>
          </a:graphicData>
        </a:graphic>
      </p:graphicFrame>
      <p:grpSp>
        <p:nvGrpSpPr>
          <p:cNvPr id="11" name="グループ化 10">
            <a:extLst>
              <a:ext uri="{FF2B5EF4-FFF2-40B4-BE49-F238E27FC236}">
                <a16:creationId xmlns:a16="http://schemas.microsoft.com/office/drawing/2014/main" id="{11569514-0320-2852-4199-F3F5E9BE3AB5}"/>
              </a:ext>
            </a:extLst>
          </p:cNvPr>
          <p:cNvGrpSpPr/>
          <p:nvPr/>
        </p:nvGrpSpPr>
        <p:grpSpPr>
          <a:xfrm rot="5400000">
            <a:off x="5835544" y="3222994"/>
            <a:ext cx="339565" cy="2167624"/>
            <a:chOff x="7800489" y="2818451"/>
            <a:chExt cx="840658" cy="2492477"/>
          </a:xfrm>
        </p:grpSpPr>
        <p:sp>
          <p:nvSpPr>
            <p:cNvPr id="12" name="二等辺三角形 23">
              <a:extLst>
                <a:ext uri="{FF2B5EF4-FFF2-40B4-BE49-F238E27FC236}">
                  <a16:creationId xmlns:a16="http://schemas.microsoft.com/office/drawing/2014/main" id="{E445AF1E-6DF6-3935-D1BE-C869C30A175D}"/>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24">
              <a:extLst>
                <a:ext uri="{FF2B5EF4-FFF2-40B4-BE49-F238E27FC236}">
                  <a16:creationId xmlns:a16="http://schemas.microsoft.com/office/drawing/2014/main" id="{AD31714A-8519-2964-5706-F5721BF5DF02}"/>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4" name="グループ化 13">
            <a:extLst>
              <a:ext uri="{FF2B5EF4-FFF2-40B4-BE49-F238E27FC236}">
                <a16:creationId xmlns:a16="http://schemas.microsoft.com/office/drawing/2014/main" id="{59CB5763-5302-2F95-1214-8FF4DBF73FFB}"/>
              </a:ext>
            </a:extLst>
          </p:cNvPr>
          <p:cNvGrpSpPr/>
          <p:nvPr/>
        </p:nvGrpSpPr>
        <p:grpSpPr>
          <a:xfrm rot="5400000">
            <a:off x="6966668" y="2583485"/>
            <a:ext cx="339565" cy="4429877"/>
            <a:chOff x="7800489" y="2818451"/>
            <a:chExt cx="840658" cy="2492477"/>
          </a:xfrm>
        </p:grpSpPr>
        <p:sp>
          <p:nvSpPr>
            <p:cNvPr id="22" name="二等辺三角形 23">
              <a:extLst>
                <a:ext uri="{FF2B5EF4-FFF2-40B4-BE49-F238E27FC236}">
                  <a16:creationId xmlns:a16="http://schemas.microsoft.com/office/drawing/2014/main" id="{9CBCB18F-BA99-744E-1799-82F7D3F04386}"/>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二等辺三角形 24">
              <a:extLst>
                <a:ext uri="{FF2B5EF4-FFF2-40B4-BE49-F238E27FC236}">
                  <a16:creationId xmlns:a16="http://schemas.microsoft.com/office/drawing/2014/main" id="{3299FF83-8447-9DC6-A82E-B52036ECA338}"/>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4" name="グループ化 23">
            <a:extLst>
              <a:ext uri="{FF2B5EF4-FFF2-40B4-BE49-F238E27FC236}">
                <a16:creationId xmlns:a16="http://schemas.microsoft.com/office/drawing/2014/main" id="{919FBA2F-903F-E96F-93E7-7F22080BA373}"/>
              </a:ext>
            </a:extLst>
          </p:cNvPr>
          <p:cNvGrpSpPr/>
          <p:nvPr/>
        </p:nvGrpSpPr>
        <p:grpSpPr>
          <a:xfrm rot="5400000">
            <a:off x="9237198" y="3082639"/>
            <a:ext cx="339565" cy="4477831"/>
            <a:chOff x="7800489" y="2818451"/>
            <a:chExt cx="840658" cy="2492477"/>
          </a:xfrm>
        </p:grpSpPr>
        <p:sp>
          <p:nvSpPr>
            <p:cNvPr id="25" name="二等辺三角形 23">
              <a:extLst>
                <a:ext uri="{FF2B5EF4-FFF2-40B4-BE49-F238E27FC236}">
                  <a16:creationId xmlns:a16="http://schemas.microsoft.com/office/drawing/2014/main" id="{F1DE2514-65EB-3E45-37F2-8A1D9E0F7F42}"/>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二等辺三角形 24">
              <a:extLst>
                <a:ext uri="{FF2B5EF4-FFF2-40B4-BE49-F238E27FC236}">
                  <a16:creationId xmlns:a16="http://schemas.microsoft.com/office/drawing/2014/main" id="{74123D4C-0269-9617-3ABB-566004BD0B14}"/>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7" name="コンテンツ プレースホルダー 2">
            <a:extLst>
              <a:ext uri="{FF2B5EF4-FFF2-40B4-BE49-F238E27FC236}">
                <a16:creationId xmlns:a16="http://schemas.microsoft.com/office/drawing/2014/main" id="{1370C5E6-82F6-A4C4-E04D-3E9374DE552F}"/>
              </a:ext>
            </a:extLst>
          </p:cNvPr>
          <p:cNvSpPr txBox="1">
            <a:spLocks/>
          </p:cNvSpPr>
          <p:nvPr/>
        </p:nvSpPr>
        <p:spPr>
          <a:xfrm>
            <a:off x="546100" y="1038484"/>
            <a:ext cx="11099800" cy="2105506"/>
          </a:xfrm>
          <a:prstGeom prst="rect">
            <a:avLst/>
          </a:prstGeom>
        </p:spPr>
        <p:txBody>
          <a:bodyPr vert="horz" lIns="91440" tIns="45720" rIns="91440" bIns="45720" rtlCol="0">
            <a:normAutofit/>
          </a:bodyPr>
          <a:lstStyle>
            <a:lvl1pPr marL="457200" indent="-457200" algn="l" defTabSz="914400" rtl="0" eaLnBrk="1" latinLnBrk="0" hangingPunct="1">
              <a:lnSpc>
                <a:spcPct val="100000"/>
              </a:lnSpc>
              <a:spcBef>
                <a:spcPts val="14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短期予定</a:t>
            </a:r>
            <a:endParaRPr lang="en-US" altLang="ja-JP" dirty="0"/>
          </a:p>
          <a:p>
            <a:r>
              <a:rPr lang="ja-JP" altLang="en-US" sz="1800" b="0"/>
              <a:t>適当な配列のペプチド合成</a:t>
            </a:r>
            <a:endParaRPr lang="en-US" altLang="ja-JP" sz="1800" b="0" dirty="0"/>
          </a:p>
          <a:p>
            <a:r>
              <a:rPr lang="ja-JP" altLang="en-US" sz="1800" b="0"/>
              <a:t>適当な配列で</a:t>
            </a:r>
            <a:r>
              <a:rPr lang="en-US" altLang="ja-JP" sz="1800" b="0" dirty="0"/>
              <a:t>TGR5</a:t>
            </a:r>
            <a:r>
              <a:rPr lang="ja-JP" altLang="en-US" sz="1800" b="0"/>
              <a:t>活性が出るかどうかの検証</a:t>
            </a:r>
            <a:endParaRPr lang="en-US" altLang="ja-JP" sz="1800" b="0" dirty="0"/>
          </a:p>
          <a:p>
            <a:r>
              <a:rPr lang="en-US" altLang="ja-JP" sz="1800" b="0" dirty="0">
                <a:latin typeface="+mn-ea"/>
              </a:rPr>
              <a:t>3-</a:t>
            </a:r>
            <a:r>
              <a:rPr lang="ja-JP" altLang="en-US" sz="1800" b="0">
                <a:latin typeface="+mn-ea"/>
              </a:rPr>
              <a:t>アリール</a:t>
            </a:r>
            <a:r>
              <a:rPr lang="en-US" altLang="ja-JP" sz="1800" b="0" dirty="0">
                <a:latin typeface="+mn-ea"/>
              </a:rPr>
              <a:t>-4-</a:t>
            </a:r>
            <a:r>
              <a:rPr lang="ja-JP" altLang="en-US" sz="1800" b="0">
                <a:latin typeface="+mn-ea"/>
              </a:rPr>
              <a:t>イソオキサゾールカルボキサミド類似ペプチドの合成</a:t>
            </a:r>
            <a:endParaRPr lang="en-US" altLang="ja-JP" sz="1800" b="0" dirty="0"/>
          </a:p>
          <a:p>
            <a:endParaRPr lang="ja-JP" altLang="en-US" sz="1800" b="0"/>
          </a:p>
        </p:txBody>
      </p:sp>
    </p:spTree>
    <p:extLst>
      <p:ext uri="{BB962C8B-B14F-4D97-AF65-F5344CB8AC3E}">
        <p14:creationId xmlns:p14="http://schemas.microsoft.com/office/powerpoint/2010/main" val="1677642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3C9FBA14-A123-0EE7-309F-AC17DCDA23FA}"/>
              </a:ext>
            </a:extLst>
          </p:cNvPr>
          <p:cNvSpPr>
            <a:spLocks noGrp="1"/>
          </p:cNvSpPr>
          <p:nvPr>
            <p:ph type="body" sz="quarter" idx="11"/>
          </p:nvPr>
        </p:nvSpPr>
        <p:spPr/>
        <p:txBody>
          <a:bodyPr/>
          <a:lstStyle/>
          <a:p>
            <a:r>
              <a:rPr lang="en" altLang="ja-JP" b="1" dirty="0" err="1"/>
              <a:t>Nipecotamide</a:t>
            </a:r>
            <a:r>
              <a:rPr lang="ja-JP" altLang="en-US" b="1">
                <a:effectLst/>
              </a:rPr>
              <a:t>の構造相関</a:t>
            </a:r>
            <a:endParaRPr kumimoji="1" lang="ja-JP" altLang="en-US"/>
          </a:p>
        </p:txBody>
      </p:sp>
      <p:sp>
        <p:nvSpPr>
          <p:cNvPr id="14" name="コンテンツ プレースホルダー 2">
            <a:extLst>
              <a:ext uri="{FF2B5EF4-FFF2-40B4-BE49-F238E27FC236}">
                <a16:creationId xmlns:a16="http://schemas.microsoft.com/office/drawing/2014/main" id="{48EE83C9-EB23-ACC0-5C4B-15285922CD6F}"/>
              </a:ext>
            </a:extLst>
          </p:cNvPr>
          <p:cNvSpPr txBox="1">
            <a:spLocks/>
          </p:cNvSpPr>
          <p:nvPr/>
        </p:nvSpPr>
        <p:spPr>
          <a:xfrm>
            <a:off x="546100" y="1038484"/>
            <a:ext cx="11099800" cy="469900"/>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各フィンガープリント手法で類似度の高かった上位</a:t>
            </a:r>
            <a:r>
              <a:rPr lang="en-US" altLang="ja-JP" dirty="0"/>
              <a:t> 9 </a:t>
            </a:r>
            <a:r>
              <a:rPr lang="ja-JP" altLang="en-US"/>
              <a:t>配列</a:t>
            </a:r>
          </a:p>
        </p:txBody>
      </p:sp>
      <p:sp>
        <p:nvSpPr>
          <p:cNvPr id="15" name="テキスト ボックス 14">
            <a:extLst>
              <a:ext uri="{FF2B5EF4-FFF2-40B4-BE49-F238E27FC236}">
                <a16:creationId xmlns:a16="http://schemas.microsoft.com/office/drawing/2014/main" id="{42AD425F-C8F4-6F61-F3E3-4CA803CE43FD}"/>
              </a:ext>
            </a:extLst>
          </p:cNvPr>
          <p:cNvSpPr txBox="1"/>
          <p:nvPr/>
        </p:nvSpPr>
        <p:spPr>
          <a:xfrm>
            <a:off x="526025" y="1750848"/>
            <a:ext cx="912429" cy="369332"/>
          </a:xfrm>
          <a:prstGeom prst="rect">
            <a:avLst/>
          </a:prstGeom>
          <a:noFill/>
        </p:spPr>
        <p:txBody>
          <a:bodyPr wrap="none" rtlCol="0">
            <a:spAutoFit/>
          </a:bodyPr>
          <a:lstStyle/>
          <a:p>
            <a:r>
              <a:rPr kumimoji="1" lang="en-US" altLang="ja-JP" b="1" dirty="0">
                <a:latin typeface="Yu Gothic" panose="020B0400000000000000" pitchFamily="34" charset="-128"/>
                <a:ea typeface="Yu Gothic" panose="020B0400000000000000" pitchFamily="34" charset="-128"/>
              </a:rPr>
              <a:t>KCF-S</a:t>
            </a:r>
            <a:endParaRPr kumimoji="1" lang="ja-JP" altLang="en-US" b="1">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6DC00E6B-F936-F5E7-76F5-7BAE7B189013}"/>
              </a:ext>
            </a:extLst>
          </p:cNvPr>
          <p:cNvSpPr txBox="1"/>
          <p:nvPr/>
        </p:nvSpPr>
        <p:spPr>
          <a:xfrm>
            <a:off x="7434886" y="1750848"/>
            <a:ext cx="2776722" cy="369332"/>
          </a:xfrm>
          <a:prstGeom prst="rect">
            <a:avLst/>
          </a:prstGeom>
          <a:noFill/>
        </p:spPr>
        <p:txBody>
          <a:bodyPr wrap="none" rtlCol="0">
            <a:spAutoFit/>
          </a:bodyPr>
          <a:lstStyle/>
          <a:p>
            <a:r>
              <a:rPr kumimoji="1" lang="ja-JP" altLang="en-US" b="1"/>
              <a:t>ドナーアクセプターペア</a:t>
            </a:r>
          </a:p>
        </p:txBody>
      </p:sp>
      <p:pic>
        <p:nvPicPr>
          <p:cNvPr id="3" name="図 2" descr="図形, 多角形&#10;&#10;自動的に生成された説明">
            <a:extLst>
              <a:ext uri="{FF2B5EF4-FFF2-40B4-BE49-F238E27FC236}">
                <a16:creationId xmlns:a16="http://schemas.microsoft.com/office/drawing/2014/main" id="{41F933D8-9A22-F9A3-0108-89C0C3F654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8899" y="3033022"/>
            <a:ext cx="1854200" cy="1816100"/>
          </a:xfrm>
          <a:prstGeom prst="rect">
            <a:avLst/>
          </a:prstGeom>
        </p:spPr>
      </p:pic>
      <p:pic>
        <p:nvPicPr>
          <p:cNvPr id="7" name="図 6" descr="ロゴ, 会社名&#10;&#10;自動的に生成された説明">
            <a:extLst>
              <a:ext uri="{FF2B5EF4-FFF2-40B4-BE49-F238E27FC236}">
                <a16:creationId xmlns:a16="http://schemas.microsoft.com/office/drawing/2014/main" id="{68F66903-F104-356A-7C8B-3A1610443B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100" y="2156220"/>
            <a:ext cx="4211015" cy="4211015"/>
          </a:xfrm>
          <a:prstGeom prst="rect">
            <a:avLst/>
          </a:prstGeom>
        </p:spPr>
      </p:pic>
      <p:pic>
        <p:nvPicPr>
          <p:cNvPr id="17" name="図 16" descr="ロゴ, 会社名&#10;&#10;自動的に生成された説明">
            <a:extLst>
              <a:ext uri="{FF2B5EF4-FFF2-40B4-BE49-F238E27FC236}">
                <a16:creationId xmlns:a16="http://schemas.microsoft.com/office/drawing/2014/main" id="{D5B99C9D-1444-C446-953D-515BC6555F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9482" y="2192260"/>
            <a:ext cx="4476418" cy="4174975"/>
          </a:xfrm>
          <a:prstGeom prst="rect">
            <a:avLst/>
          </a:prstGeom>
        </p:spPr>
      </p:pic>
      <p:sp>
        <p:nvSpPr>
          <p:cNvPr id="2" name="正方形/長方形 1">
            <a:extLst>
              <a:ext uri="{FF2B5EF4-FFF2-40B4-BE49-F238E27FC236}">
                <a16:creationId xmlns:a16="http://schemas.microsoft.com/office/drawing/2014/main" id="{C7C57605-070A-7BAA-3625-0F901CF977F2}"/>
              </a:ext>
            </a:extLst>
          </p:cNvPr>
          <p:cNvSpPr/>
          <p:nvPr/>
        </p:nvSpPr>
        <p:spPr>
          <a:xfrm>
            <a:off x="10520855" y="378372"/>
            <a:ext cx="1555531" cy="4414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Supplement</a:t>
            </a:r>
            <a:endParaRPr kumimoji="1" lang="ja-JP" altLang="en-US">
              <a:solidFill>
                <a:schemeClr val="tx1"/>
              </a:solidFill>
            </a:endParaRPr>
          </a:p>
        </p:txBody>
      </p:sp>
    </p:spTree>
    <p:extLst>
      <p:ext uri="{BB962C8B-B14F-4D97-AF65-F5344CB8AC3E}">
        <p14:creationId xmlns:p14="http://schemas.microsoft.com/office/powerpoint/2010/main" val="224454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3C9FBA14-A123-0EE7-309F-AC17DCDA23FA}"/>
              </a:ext>
            </a:extLst>
          </p:cNvPr>
          <p:cNvSpPr>
            <a:spLocks noGrp="1"/>
          </p:cNvSpPr>
          <p:nvPr>
            <p:ph type="body" sz="quarter" idx="11"/>
          </p:nvPr>
        </p:nvSpPr>
        <p:spPr/>
        <p:txBody>
          <a:bodyPr/>
          <a:lstStyle/>
          <a:p>
            <a:r>
              <a:rPr lang="en-US" altLang="ja-JP" b="1" dirty="0">
                <a:effectLst/>
              </a:rPr>
              <a:t>2-Aryl-3-aminomethylquinolines</a:t>
            </a:r>
            <a:r>
              <a:rPr lang="ja-JP" altLang="en-US" b="1">
                <a:effectLst/>
              </a:rPr>
              <a:t>の構造相関</a:t>
            </a:r>
            <a:endParaRPr kumimoji="1" lang="ja-JP" altLang="en-US"/>
          </a:p>
        </p:txBody>
      </p:sp>
      <p:sp>
        <p:nvSpPr>
          <p:cNvPr id="14" name="コンテンツ プレースホルダー 2">
            <a:extLst>
              <a:ext uri="{FF2B5EF4-FFF2-40B4-BE49-F238E27FC236}">
                <a16:creationId xmlns:a16="http://schemas.microsoft.com/office/drawing/2014/main" id="{48EE83C9-EB23-ACC0-5C4B-15285922CD6F}"/>
              </a:ext>
            </a:extLst>
          </p:cNvPr>
          <p:cNvSpPr txBox="1">
            <a:spLocks/>
          </p:cNvSpPr>
          <p:nvPr/>
        </p:nvSpPr>
        <p:spPr>
          <a:xfrm>
            <a:off x="546100" y="1038484"/>
            <a:ext cx="11099800" cy="469900"/>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各フィンガープリント手法で類似度の高かった上位</a:t>
            </a:r>
            <a:r>
              <a:rPr lang="en-US" altLang="ja-JP" dirty="0"/>
              <a:t> 9 </a:t>
            </a:r>
            <a:r>
              <a:rPr lang="ja-JP" altLang="en-US"/>
              <a:t>配列</a:t>
            </a:r>
          </a:p>
        </p:txBody>
      </p:sp>
      <p:sp>
        <p:nvSpPr>
          <p:cNvPr id="15" name="テキスト ボックス 14">
            <a:extLst>
              <a:ext uri="{FF2B5EF4-FFF2-40B4-BE49-F238E27FC236}">
                <a16:creationId xmlns:a16="http://schemas.microsoft.com/office/drawing/2014/main" id="{42AD425F-C8F4-6F61-F3E3-4CA803CE43FD}"/>
              </a:ext>
            </a:extLst>
          </p:cNvPr>
          <p:cNvSpPr txBox="1"/>
          <p:nvPr/>
        </p:nvSpPr>
        <p:spPr>
          <a:xfrm>
            <a:off x="526025" y="1750848"/>
            <a:ext cx="912429" cy="369332"/>
          </a:xfrm>
          <a:prstGeom prst="rect">
            <a:avLst/>
          </a:prstGeom>
          <a:noFill/>
        </p:spPr>
        <p:txBody>
          <a:bodyPr wrap="none" rtlCol="0">
            <a:spAutoFit/>
          </a:bodyPr>
          <a:lstStyle/>
          <a:p>
            <a:r>
              <a:rPr kumimoji="1" lang="en-US" altLang="ja-JP" b="1" dirty="0">
                <a:latin typeface="Yu Gothic" panose="020B0400000000000000" pitchFamily="34" charset="-128"/>
                <a:ea typeface="Yu Gothic" panose="020B0400000000000000" pitchFamily="34" charset="-128"/>
              </a:rPr>
              <a:t>KCF-S</a:t>
            </a:r>
            <a:endParaRPr kumimoji="1" lang="ja-JP" altLang="en-US" b="1">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6DC00E6B-F936-F5E7-76F5-7BAE7B189013}"/>
              </a:ext>
            </a:extLst>
          </p:cNvPr>
          <p:cNvSpPr txBox="1"/>
          <p:nvPr/>
        </p:nvSpPr>
        <p:spPr>
          <a:xfrm>
            <a:off x="7434886" y="1750848"/>
            <a:ext cx="2776722" cy="369332"/>
          </a:xfrm>
          <a:prstGeom prst="rect">
            <a:avLst/>
          </a:prstGeom>
          <a:noFill/>
        </p:spPr>
        <p:txBody>
          <a:bodyPr wrap="none" rtlCol="0">
            <a:spAutoFit/>
          </a:bodyPr>
          <a:lstStyle/>
          <a:p>
            <a:r>
              <a:rPr kumimoji="1" lang="ja-JP" altLang="en-US" b="1"/>
              <a:t>ドナーアクセプターペア</a:t>
            </a:r>
          </a:p>
        </p:txBody>
      </p:sp>
      <p:pic>
        <p:nvPicPr>
          <p:cNvPr id="5" name="図 4" descr="ロゴ, 会社名&#10;&#10;自動的に生成された説明">
            <a:extLst>
              <a:ext uri="{FF2B5EF4-FFF2-40B4-BE49-F238E27FC236}">
                <a16:creationId xmlns:a16="http://schemas.microsoft.com/office/drawing/2014/main" id="{0DA3DDDE-539B-1408-7091-544E7BDCF2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4886" y="2146083"/>
            <a:ext cx="4211013" cy="4211013"/>
          </a:xfrm>
          <a:prstGeom prst="rect">
            <a:avLst/>
          </a:prstGeom>
        </p:spPr>
      </p:pic>
      <p:pic>
        <p:nvPicPr>
          <p:cNvPr id="8" name="図 7" descr="ダイアグラム が含まれている画像&#10;&#10;自動的に生成された説明">
            <a:extLst>
              <a:ext uri="{FF2B5EF4-FFF2-40B4-BE49-F238E27FC236}">
                <a16:creationId xmlns:a16="http://schemas.microsoft.com/office/drawing/2014/main" id="{63890A0F-C0CE-98BB-E3D4-61FB739545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3499" y="2944122"/>
            <a:ext cx="1905000" cy="1905000"/>
          </a:xfrm>
          <a:prstGeom prst="rect">
            <a:avLst/>
          </a:prstGeom>
        </p:spPr>
      </p:pic>
      <p:pic>
        <p:nvPicPr>
          <p:cNvPr id="10" name="図 9" descr="ロゴ, 会社名&#10;&#10;自動的に生成された説明">
            <a:extLst>
              <a:ext uri="{FF2B5EF4-FFF2-40B4-BE49-F238E27FC236}">
                <a16:creationId xmlns:a16="http://schemas.microsoft.com/office/drawing/2014/main" id="{F52B296C-74EC-BFFF-538B-C743B7C9C7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099" y="2146083"/>
            <a:ext cx="4211013" cy="4211013"/>
          </a:xfrm>
          <a:prstGeom prst="rect">
            <a:avLst/>
          </a:prstGeom>
        </p:spPr>
      </p:pic>
      <p:sp>
        <p:nvSpPr>
          <p:cNvPr id="2" name="正方形/長方形 1">
            <a:extLst>
              <a:ext uri="{FF2B5EF4-FFF2-40B4-BE49-F238E27FC236}">
                <a16:creationId xmlns:a16="http://schemas.microsoft.com/office/drawing/2014/main" id="{412D9703-9B4F-C5CB-E794-30D6E0623197}"/>
              </a:ext>
            </a:extLst>
          </p:cNvPr>
          <p:cNvSpPr/>
          <p:nvPr/>
        </p:nvSpPr>
        <p:spPr>
          <a:xfrm>
            <a:off x="10520855" y="378372"/>
            <a:ext cx="1555531" cy="4414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Supplement</a:t>
            </a:r>
            <a:endParaRPr kumimoji="1" lang="ja-JP" altLang="en-US">
              <a:solidFill>
                <a:schemeClr val="tx1"/>
              </a:solidFill>
            </a:endParaRPr>
          </a:p>
        </p:txBody>
      </p:sp>
    </p:spTree>
    <p:extLst>
      <p:ext uri="{BB962C8B-B14F-4D97-AF65-F5344CB8AC3E}">
        <p14:creationId xmlns:p14="http://schemas.microsoft.com/office/powerpoint/2010/main" val="3215426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3C9FBA14-A123-0EE7-309F-AC17DCDA23FA}"/>
              </a:ext>
            </a:extLst>
          </p:cNvPr>
          <p:cNvSpPr>
            <a:spLocks noGrp="1"/>
          </p:cNvSpPr>
          <p:nvPr>
            <p:ph type="body" sz="quarter" idx="11"/>
          </p:nvPr>
        </p:nvSpPr>
        <p:spPr/>
        <p:txBody>
          <a:bodyPr/>
          <a:lstStyle/>
          <a:p>
            <a:r>
              <a:rPr lang="en-US" altLang="ja-JP" b="1" dirty="0"/>
              <a:t>Azepine</a:t>
            </a:r>
            <a:r>
              <a:rPr lang="ja-JP" altLang="en-US" b="1">
                <a:effectLst/>
              </a:rPr>
              <a:t>構造相関</a:t>
            </a:r>
            <a:endParaRPr kumimoji="1" lang="ja-JP" altLang="en-US"/>
          </a:p>
        </p:txBody>
      </p:sp>
      <p:sp>
        <p:nvSpPr>
          <p:cNvPr id="14" name="コンテンツ プレースホルダー 2">
            <a:extLst>
              <a:ext uri="{FF2B5EF4-FFF2-40B4-BE49-F238E27FC236}">
                <a16:creationId xmlns:a16="http://schemas.microsoft.com/office/drawing/2014/main" id="{48EE83C9-EB23-ACC0-5C4B-15285922CD6F}"/>
              </a:ext>
            </a:extLst>
          </p:cNvPr>
          <p:cNvSpPr txBox="1">
            <a:spLocks/>
          </p:cNvSpPr>
          <p:nvPr/>
        </p:nvSpPr>
        <p:spPr>
          <a:xfrm>
            <a:off x="546100" y="1038484"/>
            <a:ext cx="11099800" cy="469900"/>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各フィンガープリント手法で類似度の高かった上位</a:t>
            </a:r>
            <a:r>
              <a:rPr lang="en-US" altLang="ja-JP" dirty="0"/>
              <a:t> 9 </a:t>
            </a:r>
            <a:r>
              <a:rPr lang="ja-JP" altLang="en-US"/>
              <a:t>配列</a:t>
            </a:r>
          </a:p>
        </p:txBody>
      </p:sp>
      <p:sp>
        <p:nvSpPr>
          <p:cNvPr id="15" name="テキスト ボックス 14">
            <a:extLst>
              <a:ext uri="{FF2B5EF4-FFF2-40B4-BE49-F238E27FC236}">
                <a16:creationId xmlns:a16="http://schemas.microsoft.com/office/drawing/2014/main" id="{42AD425F-C8F4-6F61-F3E3-4CA803CE43FD}"/>
              </a:ext>
            </a:extLst>
          </p:cNvPr>
          <p:cNvSpPr txBox="1"/>
          <p:nvPr/>
        </p:nvSpPr>
        <p:spPr>
          <a:xfrm>
            <a:off x="526025" y="1750848"/>
            <a:ext cx="912429" cy="369332"/>
          </a:xfrm>
          <a:prstGeom prst="rect">
            <a:avLst/>
          </a:prstGeom>
          <a:noFill/>
        </p:spPr>
        <p:txBody>
          <a:bodyPr wrap="none" rtlCol="0">
            <a:spAutoFit/>
          </a:bodyPr>
          <a:lstStyle/>
          <a:p>
            <a:r>
              <a:rPr kumimoji="1" lang="en-US" altLang="ja-JP" b="1" dirty="0">
                <a:latin typeface="Yu Gothic" panose="020B0400000000000000" pitchFamily="34" charset="-128"/>
                <a:ea typeface="Yu Gothic" panose="020B0400000000000000" pitchFamily="34" charset="-128"/>
              </a:rPr>
              <a:t>KCF-S</a:t>
            </a:r>
            <a:endParaRPr kumimoji="1" lang="ja-JP" altLang="en-US" b="1">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6DC00E6B-F936-F5E7-76F5-7BAE7B189013}"/>
              </a:ext>
            </a:extLst>
          </p:cNvPr>
          <p:cNvSpPr txBox="1"/>
          <p:nvPr/>
        </p:nvSpPr>
        <p:spPr>
          <a:xfrm>
            <a:off x="7434886" y="1750848"/>
            <a:ext cx="2776722" cy="369332"/>
          </a:xfrm>
          <a:prstGeom prst="rect">
            <a:avLst/>
          </a:prstGeom>
          <a:noFill/>
        </p:spPr>
        <p:txBody>
          <a:bodyPr wrap="none" rtlCol="0">
            <a:spAutoFit/>
          </a:bodyPr>
          <a:lstStyle/>
          <a:p>
            <a:r>
              <a:rPr kumimoji="1" lang="ja-JP" altLang="en-US" b="1"/>
              <a:t>ドナーアクセプターペア</a:t>
            </a:r>
          </a:p>
        </p:txBody>
      </p:sp>
      <p:pic>
        <p:nvPicPr>
          <p:cNvPr id="7" name="図 6" descr="会社名&#10;&#10;中程度の精度で自動的に生成された説明">
            <a:extLst>
              <a:ext uri="{FF2B5EF4-FFF2-40B4-BE49-F238E27FC236}">
                <a16:creationId xmlns:a16="http://schemas.microsoft.com/office/drawing/2014/main" id="{07F5448D-59CC-03A6-D604-F2603EFC6A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099" y="2146084"/>
            <a:ext cx="4211012" cy="4211012"/>
          </a:xfrm>
          <a:prstGeom prst="rect">
            <a:avLst/>
          </a:prstGeom>
        </p:spPr>
      </p:pic>
      <p:pic>
        <p:nvPicPr>
          <p:cNvPr id="11" name="図 10" descr="図形 が含まれている画像&#10;&#10;自動的に生成された説明">
            <a:extLst>
              <a:ext uri="{FF2B5EF4-FFF2-40B4-BE49-F238E27FC236}">
                <a16:creationId xmlns:a16="http://schemas.microsoft.com/office/drawing/2014/main" id="{AF442A61-7376-AF93-4E6F-E21C2D393D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3499" y="2944122"/>
            <a:ext cx="1905000" cy="1905000"/>
          </a:xfrm>
          <a:prstGeom prst="rect">
            <a:avLst/>
          </a:prstGeom>
        </p:spPr>
      </p:pic>
      <p:pic>
        <p:nvPicPr>
          <p:cNvPr id="17" name="図 16" descr="ロゴ, 会社名&#10;&#10;自動的に生成された説明">
            <a:extLst>
              <a:ext uri="{FF2B5EF4-FFF2-40B4-BE49-F238E27FC236}">
                <a16:creationId xmlns:a16="http://schemas.microsoft.com/office/drawing/2014/main" id="{178FD5A0-8756-D187-438C-8A6066A596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4887" y="2146084"/>
            <a:ext cx="4211012" cy="4211012"/>
          </a:xfrm>
          <a:prstGeom prst="rect">
            <a:avLst/>
          </a:prstGeom>
        </p:spPr>
      </p:pic>
      <p:sp>
        <p:nvSpPr>
          <p:cNvPr id="2" name="正方形/長方形 1">
            <a:extLst>
              <a:ext uri="{FF2B5EF4-FFF2-40B4-BE49-F238E27FC236}">
                <a16:creationId xmlns:a16="http://schemas.microsoft.com/office/drawing/2014/main" id="{CDE24A7F-3FD1-629B-9ABF-74BACBF2E67F}"/>
              </a:ext>
            </a:extLst>
          </p:cNvPr>
          <p:cNvSpPr/>
          <p:nvPr/>
        </p:nvSpPr>
        <p:spPr>
          <a:xfrm>
            <a:off x="10520855" y="378372"/>
            <a:ext cx="1555531" cy="4414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Supplement</a:t>
            </a:r>
            <a:endParaRPr kumimoji="1" lang="ja-JP" altLang="en-US">
              <a:solidFill>
                <a:schemeClr val="tx1"/>
              </a:solidFill>
            </a:endParaRPr>
          </a:p>
        </p:txBody>
      </p:sp>
    </p:spTree>
    <p:extLst>
      <p:ext uri="{BB962C8B-B14F-4D97-AF65-F5344CB8AC3E}">
        <p14:creationId xmlns:p14="http://schemas.microsoft.com/office/powerpoint/2010/main" val="1755234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3C9FBA14-A123-0EE7-309F-AC17DCDA23FA}"/>
              </a:ext>
            </a:extLst>
          </p:cNvPr>
          <p:cNvSpPr>
            <a:spLocks noGrp="1"/>
          </p:cNvSpPr>
          <p:nvPr>
            <p:ph type="body" sz="quarter" idx="11"/>
          </p:nvPr>
        </p:nvSpPr>
        <p:spPr/>
        <p:txBody>
          <a:bodyPr/>
          <a:lstStyle/>
          <a:p>
            <a:r>
              <a:rPr lang="en-US" altLang="ja-JP" b="1" dirty="0">
                <a:effectLst/>
              </a:rPr>
              <a:t>Sulfonamide</a:t>
            </a:r>
            <a:r>
              <a:rPr lang="ja-JP" altLang="en-US" b="1">
                <a:effectLst/>
              </a:rPr>
              <a:t>の構造相関</a:t>
            </a:r>
            <a:endParaRPr kumimoji="1" lang="ja-JP" altLang="en-US"/>
          </a:p>
        </p:txBody>
      </p:sp>
      <p:sp>
        <p:nvSpPr>
          <p:cNvPr id="14" name="コンテンツ プレースホルダー 2">
            <a:extLst>
              <a:ext uri="{FF2B5EF4-FFF2-40B4-BE49-F238E27FC236}">
                <a16:creationId xmlns:a16="http://schemas.microsoft.com/office/drawing/2014/main" id="{48EE83C9-EB23-ACC0-5C4B-15285922CD6F}"/>
              </a:ext>
            </a:extLst>
          </p:cNvPr>
          <p:cNvSpPr txBox="1">
            <a:spLocks/>
          </p:cNvSpPr>
          <p:nvPr/>
        </p:nvSpPr>
        <p:spPr>
          <a:xfrm>
            <a:off x="546100" y="1038484"/>
            <a:ext cx="11099800" cy="469900"/>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各フィンガープリント手法で類似度の高かった上位</a:t>
            </a:r>
            <a:r>
              <a:rPr lang="en-US" altLang="ja-JP" dirty="0"/>
              <a:t> 9 </a:t>
            </a:r>
            <a:r>
              <a:rPr lang="ja-JP" altLang="en-US"/>
              <a:t>配列</a:t>
            </a:r>
          </a:p>
        </p:txBody>
      </p:sp>
      <p:sp>
        <p:nvSpPr>
          <p:cNvPr id="15" name="テキスト ボックス 14">
            <a:extLst>
              <a:ext uri="{FF2B5EF4-FFF2-40B4-BE49-F238E27FC236}">
                <a16:creationId xmlns:a16="http://schemas.microsoft.com/office/drawing/2014/main" id="{42AD425F-C8F4-6F61-F3E3-4CA803CE43FD}"/>
              </a:ext>
            </a:extLst>
          </p:cNvPr>
          <p:cNvSpPr txBox="1"/>
          <p:nvPr/>
        </p:nvSpPr>
        <p:spPr>
          <a:xfrm>
            <a:off x="526025" y="1750848"/>
            <a:ext cx="912429" cy="369332"/>
          </a:xfrm>
          <a:prstGeom prst="rect">
            <a:avLst/>
          </a:prstGeom>
          <a:noFill/>
        </p:spPr>
        <p:txBody>
          <a:bodyPr wrap="none" rtlCol="0">
            <a:spAutoFit/>
          </a:bodyPr>
          <a:lstStyle/>
          <a:p>
            <a:r>
              <a:rPr kumimoji="1" lang="en-US" altLang="ja-JP" b="1" dirty="0">
                <a:latin typeface="Yu Gothic" panose="020B0400000000000000" pitchFamily="34" charset="-128"/>
                <a:ea typeface="Yu Gothic" panose="020B0400000000000000" pitchFamily="34" charset="-128"/>
              </a:rPr>
              <a:t>KCF-S</a:t>
            </a:r>
            <a:endParaRPr kumimoji="1" lang="ja-JP" altLang="en-US" b="1">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6DC00E6B-F936-F5E7-76F5-7BAE7B189013}"/>
              </a:ext>
            </a:extLst>
          </p:cNvPr>
          <p:cNvSpPr txBox="1"/>
          <p:nvPr/>
        </p:nvSpPr>
        <p:spPr>
          <a:xfrm>
            <a:off x="7434886" y="1750848"/>
            <a:ext cx="2776722" cy="369332"/>
          </a:xfrm>
          <a:prstGeom prst="rect">
            <a:avLst/>
          </a:prstGeom>
          <a:noFill/>
        </p:spPr>
        <p:txBody>
          <a:bodyPr wrap="none" rtlCol="0">
            <a:spAutoFit/>
          </a:bodyPr>
          <a:lstStyle/>
          <a:p>
            <a:r>
              <a:rPr kumimoji="1" lang="ja-JP" altLang="en-US" b="1"/>
              <a:t>ドナーアクセプターペア</a:t>
            </a:r>
          </a:p>
        </p:txBody>
      </p:sp>
      <p:pic>
        <p:nvPicPr>
          <p:cNvPr id="5" name="図 4" descr="ロゴ, 会社名&#10;&#10;自動的に生成された説明">
            <a:extLst>
              <a:ext uri="{FF2B5EF4-FFF2-40B4-BE49-F238E27FC236}">
                <a16:creationId xmlns:a16="http://schemas.microsoft.com/office/drawing/2014/main" id="{1B4E29B8-6568-F581-23CE-7686D23A5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4886" y="2146082"/>
            <a:ext cx="4211014" cy="4211014"/>
          </a:xfrm>
          <a:prstGeom prst="rect">
            <a:avLst/>
          </a:prstGeom>
        </p:spPr>
      </p:pic>
      <p:pic>
        <p:nvPicPr>
          <p:cNvPr id="8" name="図 7" descr="ダイアグラム, 概略図&#10;&#10;中程度の精度で自動的に生成された説明">
            <a:extLst>
              <a:ext uri="{FF2B5EF4-FFF2-40B4-BE49-F238E27FC236}">
                <a16:creationId xmlns:a16="http://schemas.microsoft.com/office/drawing/2014/main" id="{9AD3ABEA-5D89-42F2-B659-5EE88DC46C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3498" y="2944122"/>
            <a:ext cx="1905000" cy="1905000"/>
          </a:xfrm>
          <a:prstGeom prst="rect">
            <a:avLst/>
          </a:prstGeom>
        </p:spPr>
      </p:pic>
      <p:pic>
        <p:nvPicPr>
          <p:cNvPr id="10" name="図 9" descr="ロゴ&#10;&#10;中程度の精度で自動的に生成された説明">
            <a:extLst>
              <a:ext uri="{FF2B5EF4-FFF2-40B4-BE49-F238E27FC236}">
                <a16:creationId xmlns:a16="http://schemas.microsoft.com/office/drawing/2014/main" id="{A10F90F4-6432-1AB6-5A61-35A0163543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1248" y="2146082"/>
            <a:ext cx="4211014" cy="4211014"/>
          </a:xfrm>
          <a:prstGeom prst="rect">
            <a:avLst/>
          </a:prstGeom>
        </p:spPr>
      </p:pic>
      <p:sp>
        <p:nvSpPr>
          <p:cNvPr id="2" name="正方形/長方形 1">
            <a:extLst>
              <a:ext uri="{FF2B5EF4-FFF2-40B4-BE49-F238E27FC236}">
                <a16:creationId xmlns:a16="http://schemas.microsoft.com/office/drawing/2014/main" id="{BFB1DE2D-BABA-FE90-86B3-FDEF1759449C}"/>
              </a:ext>
            </a:extLst>
          </p:cNvPr>
          <p:cNvSpPr/>
          <p:nvPr/>
        </p:nvSpPr>
        <p:spPr>
          <a:xfrm>
            <a:off x="10520855" y="378372"/>
            <a:ext cx="1555531" cy="4414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Supplement</a:t>
            </a:r>
            <a:endParaRPr kumimoji="1" lang="ja-JP" altLang="en-US">
              <a:solidFill>
                <a:schemeClr val="tx1"/>
              </a:solidFill>
            </a:endParaRPr>
          </a:p>
        </p:txBody>
      </p:sp>
    </p:spTree>
    <p:extLst>
      <p:ext uri="{BB962C8B-B14F-4D97-AF65-F5344CB8AC3E}">
        <p14:creationId xmlns:p14="http://schemas.microsoft.com/office/powerpoint/2010/main" val="3583536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3C9FBA14-A123-0EE7-309F-AC17DCDA23FA}"/>
              </a:ext>
            </a:extLst>
          </p:cNvPr>
          <p:cNvSpPr>
            <a:spLocks noGrp="1"/>
          </p:cNvSpPr>
          <p:nvPr>
            <p:ph type="body" sz="quarter" idx="11"/>
          </p:nvPr>
        </p:nvSpPr>
        <p:spPr/>
        <p:txBody>
          <a:bodyPr/>
          <a:lstStyle/>
          <a:p>
            <a:r>
              <a:rPr lang="en-US" altLang="ja-JP" b="1" dirty="0">
                <a:effectLst/>
              </a:rPr>
              <a:t>Oximes</a:t>
            </a:r>
            <a:r>
              <a:rPr lang="ja-JP" altLang="en-US" b="1">
                <a:effectLst/>
              </a:rPr>
              <a:t>の構造相関</a:t>
            </a:r>
            <a:endParaRPr kumimoji="1" lang="ja-JP" altLang="en-US"/>
          </a:p>
        </p:txBody>
      </p:sp>
      <p:sp>
        <p:nvSpPr>
          <p:cNvPr id="13" name="テキスト ボックス 12">
            <a:extLst>
              <a:ext uri="{FF2B5EF4-FFF2-40B4-BE49-F238E27FC236}">
                <a16:creationId xmlns:a16="http://schemas.microsoft.com/office/drawing/2014/main" id="{0D5906B6-E544-BF32-E152-176D8672A9B7}"/>
              </a:ext>
            </a:extLst>
          </p:cNvPr>
          <p:cNvSpPr txBox="1"/>
          <p:nvPr/>
        </p:nvSpPr>
        <p:spPr>
          <a:xfrm>
            <a:off x="5085659" y="4849122"/>
            <a:ext cx="2020681" cy="307777"/>
          </a:xfrm>
          <a:prstGeom prst="rect">
            <a:avLst/>
          </a:prstGeom>
          <a:noFill/>
        </p:spPr>
        <p:txBody>
          <a:bodyPr wrap="square" rtlCol="0">
            <a:spAutoFit/>
          </a:bodyPr>
          <a:lstStyle/>
          <a:p>
            <a:pPr algn="ctr"/>
            <a:r>
              <a:rPr kumimoji="1" lang="en-US" altLang="ja-JP" sz="1400" dirty="0"/>
              <a:t>hTGR5 EC50 = 0.88µM</a:t>
            </a:r>
          </a:p>
        </p:txBody>
      </p:sp>
      <p:sp>
        <p:nvSpPr>
          <p:cNvPr id="14" name="コンテンツ プレースホルダー 2">
            <a:extLst>
              <a:ext uri="{FF2B5EF4-FFF2-40B4-BE49-F238E27FC236}">
                <a16:creationId xmlns:a16="http://schemas.microsoft.com/office/drawing/2014/main" id="{48EE83C9-EB23-ACC0-5C4B-15285922CD6F}"/>
              </a:ext>
            </a:extLst>
          </p:cNvPr>
          <p:cNvSpPr txBox="1">
            <a:spLocks/>
          </p:cNvSpPr>
          <p:nvPr/>
        </p:nvSpPr>
        <p:spPr>
          <a:xfrm>
            <a:off x="546100" y="1038484"/>
            <a:ext cx="11099800" cy="469900"/>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各フィンガープリント手法で類似度の高かった上位</a:t>
            </a:r>
            <a:r>
              <a:rPr lang="en-US" altLang="ja-JP" dirty="0"/>
              <a:t> 9 </a:t>
            </a:r>
            <a:r>
              <a:rPr lang="ja-JP" altLang="en-US"/>
              <a:t>配列</a:t>
            </a:r>
          </a:p>
        </p:txBody>
      </p:sp>
      <p:sp>
        <p:nvSpPr>
          <p:cNvPr id="15" name="テキスト ボックス 14">
            <a:extLst>
              <a:ext uri="{FF2B5EF4-FFF2-40B4-BE49-F238E27FC236}">
                <a16:creationId xmlns:a16="http://schemas.microsoft.com/office/drawing/2014/main" id="{42AD425F-C8F4-6F61-F3E3-4CA803CE43FD}"/>
              </a:ext>
            </a:extLst>
          </p:cNvPr>
          <p:cNvSpPr txBox="1"/>
          <p:nvPr/>
        </p:nvSpPr>
        <p:spPr>
          <a:xfrm>
            <a:off x="526025" y="1750848"/>
            <a:ext cx="912429" cy="369332"/>
          </a:xfrm>
          <a:prstGeom prst="rect">
            <a:avLst/>
          </a:prstGeom>
          <a:noFill/>
        </p:spPr>
        <p:txBody>
          <a:bodyPr wrap="none" rtlCol="0">
            <a:spAutoFit/>
          </a:bodyPr>
          <a:lstStyle/>
          <a:p>
            <a:r>
              <a:rPr kumimoji="1" lang="en-US" altLang="ja-JP" b="1" dirty="0">
                <a:latin typeface="Yu Gothic" panose="020B0400000000000000" pitchFamily="34" charset="-128"/>
                <a:ea typeface="Yu Gothic" panose="020B0400000000000000" pitchFamily="34" charset="-128"/>
              </a:rPr>
              <a:t>KCF-S</a:t>
            </a:r>
            <a:endParaRPr kumimoji="1" lang="ja-JP" altLang="en-US" b="1">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6DC00E6B-F936-F5E7-76F5-7BAE7B189013}"/>
              </a:ext>
            </a:extLst>
          </p:cNvPr>
          <p:cNvSpPr txBox="1"/>
          <p:nvPr/>
        </p:nvSpPr>
        <p:spPr>
          <a:xfrm>
            <a:off x="7434886" y="1750848"/>
            <a:ext cx="2776722" cy="369332"/>
          </a:xfrm>
          <a:prstGeom prst="rect">
            <a:avLst/>
          </a:prstGeom>
          <a:noFill/>
        </p:spPr>
        <p:txBody>
          <a:bodyPr wrap="none" rtlCol="0">
            <a:spAutoFit/>
          </a:bodyPr>
          <a:lstStyle/>
          <a:p>
            <a:r>
              <a:rPr kumimoji="1" lang="ja-JP" altLang="en-US" b="1"/>
              <a:t>ドナーアクセプターペア</a:t>
            </a:r>
          </a:p>
        </p:txBody>
      </p:sp>
      <p:pic>
        <p:nvPicPr>
          <p:cNvPr id="3" name="図 2" descr="図形, 多角形&#10;&#10;自動的に生成された説明">
            <a:extLst>
              <a:ext uri="{FF2B5EF4-FFF2-40B4-BE49-F238E27FC236}">
                <a16:creationId xmlns:a16="http://schemas.microsoft.com/office/drawing/2014/main" id="{B5005A06-DCAF-5849-64CE-C735E0AE4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3499" y="2944122"/>
            <a:ext cx="1905000" cy="1905000"/>
          </a:xfrm>
          <a:prstGeom prst="rect">
            <a:avLst/>
          </a:prstGeom>
        </p:spPr>
      </p:pic>
      <p:pic>
        <p:nvPicPr>
          <p:cNvPr id="6" name="図 5" descr="ロゴ が含まれている画像&#10;&#10;自動的に生成された説明">
            <a:extLst>
              <a:ext uri="{FF2B5EF4-FFF2-40B4-BE49-F238E27FC236}">
                <a16:creationId xmlns:a16="http://schemas.microsoft.com/office/drawing/2014/main" id="{28E22393-5650-E711-8A7D-99B7412CBF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099" y="2146084"/>
            <a:ext cx="4211012" cy="4211012"/>
          </a:xfrm>
          <a:prstGeom prst="rect">
            <a:avLst/>
          </a:prstGeom>
        </p:spPr>
      </p:pic>
    </p:spTree>
    <p:extLst>
      <p:ext uri="{BB962C8B-B14F-4D97-AF65-F5344CB8AC3E}">
        <p14:creationId xmlns:p14="http://schemas.microsoft.com/office/powerpoint/2010/main" val="2376754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12648646-BB49-22B0-72B6-0A1458F1F9DF}"/>
              </a:ext>
            </a:extLst>
          </p:cNvPr>
          <p:cNvSpPr>
            <a:spLocks noGrp="1"/>
          </p:cNvSpPr>
          <p:nvPr>
            <p:ph idx="1"/>
          </p:nvPr>
        </p:nvSpPr>
        <p:spPr>
          <a:xfrm>
            <a:off x="546101" y="1038483"/>
            <a:ext cx="6109142" cy="5708339"/>
          </a:xfrm>
        </p:spPr>
        <p:txBody>
          <a:bodyPr/>
          <a:lstStyle/>
          <a:p>
            <a:pPr marL="0" indent="0">
              <a:buNone/>
            </a:pPr>
            <a:r>
              <a:rPr lang="ja-JP" altLang="en-US"/>
              <a:t>７つの属性を用いて部分構造を定義し、化合物の特徴を抽出する手法</a:t>
            </a:r>
            <a:endParaRPr lang="en-US" altLang="ja-JP" dirty="0"/>
          </a:p>
        </p:txBody>
      </p:sp>
      <p:sp>
        <p:nvSpPr>
          <p:cNvPr id="4" name="テキスト プレースホルダー 3">
            <a:extLst>
              <a:ext uri="{FF2B5EF4-FFF2-40B4-BE49-F238E27FC236}">
                <a16:creationId xmlns:a16="http://schemas.microsoft.com/office/drawing/2014/main" id="{4C35F78D-34A3-08B2-B100-C919B2BC25E2}"/>
              </a:ext>
            </a:extLst>
          </p:cNvPr>
          <p:cNvSpPr>
            <a:spLocks noGrp="1"/>
          </p:cNvSpPr>
          <p:nvPr>
            <p:ph type="body" sz="quarter" idx="11"/>
          </p:nvPr>
        </p:nvSpPr>
        <p:spPr/>
        <p:txBody>
          <a:bodyPr/>
          <a:lstStyle/>
          <a:p>
            <a:r>
              <a:rPr kumimoji="1" lang="en-US" altLang="ja-JP" dirty="0"/>
              <a:t>KCF-S</a:t>
            </a:r>
            <a:endParaRPr kumimoji="1" lang="ja-JP" altLang="en-US"/>
          </a:p>
        </p:txBody>
      </p:sp>
      <p:pic>
        <p:nvPicPr>
          <p:cNvPr id="1032" name="Picture 8" descr="Figure 3">
            <a:extLst>
              <a:ext uri="{FF2B5EF4-FFF2-40B4-BE49-F238E27FC236}">
                <a16:creationId xmlns:a16="http://schemas.microsoft.com/office/drawing/2014/main" id="{8DDC24A8-22F5-E649-794C-3067AA4E6F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1633" y="1038484"/>
            <a:ext cx="4824341" cy="57083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表 4">
            <a:extLst>
              <a:ext uri="{FF2B5EF4-FFF2-40B4-BE49-F238E27FC236}">
                <a16:creationId xmlns:a16="http://schemas.microsoft.com/office/drawing/2014/main" id="{D24514AD-839F-32D8-FF01-6DD8A4CB9FB5}"/>
              </a:ext>
            </a:extLst>
          </p:cNvPr>
          <p:cNvGraphicFramePr>
            <a:graphicFrameLocks noGrp="1"/>
          </p:cNvGraphicFramePr>
          <p:nvPr/>
        </p:nvGraphicFramePr>
        <p:xfrm>
          <a:off x="546101" y="2122997"/>
          <a:ext cx="6109142" cy="4512504"/>
        </p:xfrm>
        <a:graphic>
          <a:graphicData uri="http://schemas.openxmlformats.org/drawingml/2006/table">
            <a:tbl>
              <a:tblPr firstRow="1">
                <a:tableStyleId>{5C22544A-7EE6-4342-B048-85BDC9FD1C3A}</a:tableStyleId>
              </a:tblPr>
              <a:tblGrid>
                <a:gridCol w="1592800">
                  <a:extLst>
                    <a:ext uri="{9D8B030D-6E8A-4147-A177-3AD203B41FA5}">
                      <a16:colId xmlns:a16="http://schemas.microsoft.com/office/drawing/2014/main" val="866577003"/>
                    </a:ext>
                  </a:extLst>
                </a:gridCol>
                <a:gridCol w="4516342">
                  <a:extLst>
                    <a:ext uri="{9D8B030D-6E8A-4147-A177-3AD203B41FA5}">
                      <a16:colId xmlns:a16="http://schemas.microsoft.com/office/drawing/2014/main" val="608412255"/>
                    </a:ext>
                  </a:extLst>
                </a:gridCol>
              </a:tblGrid>
              <a:tr h="586034">
                <a:tc>
                  <a:txBody>
                    <a:bodyPr/>
                    <a:lstStyle/>
                    <a:p>
                      <a:r>
                        <a:rPr lang="en" sz="1600" b="0" dirty="0">
                          <a:solidFill>
                            <a:schemeClr val="tx1"/>
                          </a:solidFill>
                        </a:rPr>
                        <a:t>ATOM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b="0">
                          <a:solidFill>
                            <a:schemeClr val="tx1"/>
                          </a:solidFill>
                          <a:effectLst/>
                        </a:rPr>
                        <a:t>分子グラフを形成するノードに対応。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4173261"/>
                  </a:ext>
                </a:extLst>
              </a:tr>
              <a:tr h="586034">
                <a:tc>
                  <a:txBody>
                    <a:bodyPr/>
                    <a:lstStyle/>
                    <a:p>
                      <a:r>
                        <a:rPr lang="en" sz="1600" dirty="0"/>
                        <a:t>BOND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分子内で化学結合を形成する</a:t>
                      </a:r>
                      <a:r>
                        <a:rPr lang="en" sz="1600" dirty="0">
                          <a:effectLst/>
                        </a:rPr>
                        <a:t>ATOM</a:t>
                      </a:r>
                      <a:r>
                        <a:rPr lang="ja-JP" altLang="en-US" sz="1600">
                          <a:effectLst/>
                        </a:rPr>
                        <a:t>エントリーのペア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1184711"/>
                  </a:ext>
                </a:extLst>
              </a:tr>
              <a:tr h="586034">
                <a:tc>
                  <a:txBody>
                    <a:bodyPr/>
                    <a:lstStyle/>
                    <a:p>
                      <a:r>
                        <a:rPr lang="en" sz="1600"/>
                        <a:t>TRIPLET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ja-JP" sz="1600" dirty="0">
                          <a:effectLst/>
                        </a:rPr>
                        <a:t>3</a:t>
                      </a:r>
                      <a:r>
                        <a:rPr lang="ja-JP" altLang="en-US" sz="1600">
                          <a:effectLst/>
                        </a:rPr>
                        <a:t>つの</a:t>
                      </a:r>
                      <a:r>
                        <a:rPr lang="en" sz="1600" dirty="0">
                          <a:effectLst/>
                        </a:rPr>
                        <a:t>ATOM</a:t>
                      </a:r>
                      <a:r>
                        <a:rPr lang="ja-JP" altLang="en-US" sz="1600">
                          <a:effectLst/>
                        </a:rPr>
                        <a:t>が順次接続された中心</a:t>
                      </a:r>
                      <a:r>
                        <a:rPr lang="en" sz="1600" dirty="0">
                          <a:effectLst/>
                        </a:rPr>
                        <a:t>ATOM</a:t>
                      </a:r>
                      <a:r>
                        <a:rPr lang="ja-JP" altLang="en-US" sz="1600">
                          <a:effectLst/>
                        </a:rPr>
                        <a:t>を共有する</a:t>
                      </a:r>
                      <a:r>
                        <a:rPr lang="en" sz="1600" dirty="0">
                          <a:effectLst/>
                        </a:rPr>
                        <a:t>BOND</a:t>
                      </a:r>
                      <a:r>
                        <a:rPr lang="ja-JP" altLang="en-US" sz="1600">
                          <a:effectLst/>
                        </a:rPr>
                        <a:t>エントリーのペア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1845374"/>
                  </a:ext>
                </a:extLst>
              </a:tr>
              <a:tr h="1329782">
                <a:tc>
                  <a:txBody>
                    <a:bodyPr/>
                    <a:lstStyle/>
                    <a:p>
                      <a:r>
                        <a:rPr lang="en" sz="1600"/>
                        <a:t>VICINITY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中心原子とそれに接続する原子</a:t>
                      </a:r>
                      <a:br>
                        <a:rPr lang="ja-JP" altLang="en-US" sz="1600">
                          <a:effectLst/>
                        </a:rPr>
                      </a:br>
                      <a:r>
                        <a:rPr lang="ja-JP" altLang="en-US" sz="1600">
                          <a:effectLst/>
                        </a:rPr>
                        <a:t>少なくとも</a:t>
                      </a:r>
                      <a:r>
                        <a:rPr lang="en-US" altLang="ja-JP" sz="1600" dirty="0">
                          <a:effectLst/>
                        </a:rPr>
                        <a:t>3</a:t>
                      </a:r>
                      <a:r>
                        <a:rPr lang="ja-JP" altLang="en-US" sz="1600">
                          <a:effectLst/>
                        </a:rPr>
                        <a:t>つの</a:t>
                      </a:r>
                      <a:r>
                        <a:rPr lang="en" sz="1600" dirty="0">
                          <a:effectLst/>
                        </a:rPr>
                        <a:t>BOND</a:t>
                      </a:r>
                      <a:r>
                        <a:rPr lang="ja-JP" altLang="en-US" sz="1600">
                          <a:effectLst/>
                        </a:rPr>
                        <a:t>エントリーと少なくとも</a:t>
                      </a:r>
                      <a:r>
                        <a:rPr lang="en-US" altLang="ja-JP" sz="1600" dirty="0">
                          <a:effectLst/>
                        </a:rPr>
                        <a:t>4</a:t>
                      </a:r>
                      <a:r>
                        <a:rPr lang="ja-JP" altLang="en-US" sz="1600">
                          <a:effectLst/>
                        </a:rPr>
                        <a:t>つの</a:t>
                      </a:r>
                      <a:r>
                        <a:rPr lang="en" sz="1600" dirty="0">
                          <a:effectLst/>
                        </a:rPr>
                        <a:t>ATOM</a:t>
                      </a:r>
                      <a:r>
                        <a:rPr lang="ja-JP" altLang="en-US" sz="1600">
                          <a:effectLst/>
                        </a:rPr>
                        <a:t>エントリーから構成される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5683356"/>
                  </a:ext>
                </a:extLst>
              </a:tr>
              <a:tr h="419293">
                <a:tc>
                  <a:txBody>
                    <a:bodyPr/>
                    <a:lstStyle/>
                    <a:p>
                      <a:r>
                        <a:rPr lang="en" sz="1600"/>
                        <a: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ja-JP" sz="1600" dirty="0">
                          <a:effectLst/>
                        </a:rPr>
                        <a:t>3〜12</a:t>
                      </a:r>
                      <a:r>
                        <a:rPr lang="ja-JP" altLang="en-US" sz="1600">
                          <a:effectLst/>
                        </a:rPr>
                        <a:t>の環を含む環状部分構造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933303"/>
                  </a:ext>
                </a:extLst>
              </a:tr>
              <a:tr h="419293">
                <a:tc>
                  <a:txBody>
                    <a:bodyPr/>
                    <a:lstStyle/>
                    <a:p>
                      <a:r>
                        <a:rPr lang="en" sz="1600" dirty="0"/>
                        <a:t>SKELETON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アルキル基やアリール基などの炭素骨格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983222"/>
                  </a:ext>
                </a:extLst>
              </a:tr>
              <a:tr h="586034">
                <a:tc>
                  <a:txBody>
                    <a:bodyPr/>
                    <a:lstStyle/>
                    <a:p>
                      <a:r>
                        <a:rPr lang="en" sz="1600"/>
                        <a:t>INORGANIC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炭素原子以外の元素で構成される連結原子グループ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6252891"/>
                  </a:ext>
                </a:extLst>
              </a:tr>
            </a:tbl>
          </a:graphicData>
        </a:graphic>
      </p:graphicFrame>
    </p:spTree>
    <p:extLst>
      <p:ext uri="{BB962C8B-B14F-4D97-AF65-F5344CB8AC3E}">
        <p14:creationId xmlns:p14="http://schemas.microsoft.com/office/powerpoint/2010/main" val="1986642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B1A07BBE-325B-031D-103B-1085A77CBB97}"/>
              </a:ext>
            </a:extLst>
          </p:cNvPr>
          <p:cNvSpPr>
            <a:spLocks noGrp="1"/>
          </p:cNvSpPr>
          <p:nvPr>
            <p:ph idx="1"/>
          </p:nvPr>
        </p:nvSpPr>
        <p:spPr>
          <a:xfrm>
            <a:off x="546100" y="1038483"/>
            <a:ext cx="11099800" cy="5708339"/>
          </a:xfrm>
        </p:spPr>
        <p:txBody>
          <a:bodyPr/>
          <a:lstStyle/>
          <a:p>
            <a:pPr marL="0" indent="0">
              <a:buNone/>
            </a:pPr>
            <a:r>
              <a:rPr kumimoji="1" lang="ja-JP" altLang="en-US"/>
              <a:t>化学的性質を特徴として用いるフィンガープリント</a:t>
            </a:r>
            <a:endParaRPr lang="en-US" altLang="ja-JP" sz="1800" b="0" dirty="0"/>
          </a:p>
          <a:p>
            <a:pPr marL="0" indent="0">
              <a:buNone/>
            </a:pPr>
            <a:r>
              <a:rPr kumimoji="1" lang="ja-JP" altLang="en-US" sz="1800" b="0"/>
              <a:t>原子を</a:t>
            </a:r>
            <a:r>
              <a:rPr kumimoji="1" lang="en-US" altLang="ja-JP" sz="1800" b="0" dirty="0"/>
              <a:t>7</a:t>
            </a:r>
            <a:r>
              <a:rPr kumimoji="1" lang="ja-JP" altLang="en-US" sz="1800" b="0"/>
              <a:t>つの分類のいずれかに割り当て、原子ペア</a:t>
            </a:r>
            <a:r>
              <a:rPr kumimoji="1" lang="en-US" altLang="ja-JP" sz="1800" b="0" dirty="0"/>
              <a:t>(bp)</a:t>
            </a:r>
            <a:r>
              <a:rPr kumimoji="1" lang="ja-JP" altLang="en-US" sz="1800" b="0"/>
              <a:t>と連続した</a:t>
            </a:r>
            <a:r>
              <a:rPr kumimoji="1" lang="en-US" altLang="ja-JP" sz="1800" b="0" dirty="0"/>
              <a:t>4</a:t>
            </a:r>
            <a:r>
              <a:rPr kumimoji="1" lang="ja-JP" altLang="en-US" sz="1800" b="0"/>
              <a:t>つの原子</a:t>
            </a:r>
            <a:r>
              <a:rPr kumimoji="1" lang="en-US" altLang="ja-JP" sz="1800" b="0" dirty="0"/>
              <a:t>(</a:t>
            </a:r>
            <a:r>
              <a:rPr kumimoji="1" lang="en-US" altLang="ja-JP" sz="1800" b="0" dirty="0" err="1"/>
              <a:t>bt</a:t>
            </a:r>
            <a:r>
              <a:rPr kumimoji="1" lang="en-US" altLang="ja-JP" sz="1800" b="0" dirty="0"/>
              <a:t>)</a:t>
            </a:r>
            <a:r>
              <a:rPr kumimoji="1" lang="ja-JP" altLang="en-US" sz="1800" b="0"/>
              <a:t>の</a:t>
            </a:r>
            <a:r>
              <a:rPr kumimoji="1" lang="en-US" altLang="ja-JP" sz="1800" b="0" dirty="0"/>
              <a:t>2</a:t>
            </a:r>
            <a:r>
              <a:rPr kumimoji="1" lang="ja-JP" altLang="en-US" sz="1800" b="0"/>
              <a:t>つの形式で表す</a:t>
            </a:r>
            <a:endParaRPr kumimoji="1" lang="en-US" altLang="ja-JP" sz="1800" b="0" dirty="0"/>
          </a:p>
          <a:p>
            <a:pPr marL="0" indent="0">
              <a:buNone/>
            </a:pPr>
            <a:endParaRPr kumimoji="1" lang="en-US" altLang="ja-JP" dirty="0"/>
          </a:p>
        </p:txBody>
      </p:sp>
      <p:sp>
        <p:nvSpPr>
          <p:cNvPr id="4" name="テキスト プレースホルダー 3">
            <a:extLst>
              <a:ext uri="{FF2B5EF4-FFF2-40B4-BE49-F238E27FC236}">
                <a16:creationId xmlns:a16="http://schemas.microsoft.com/office/drawing/2014/main" id="{26853263-AC94-DC6B-6F2B-5FD074EC1E01}"/>
              </a:ext>
            </a:extLst>
          </p:cNvPr>
          <p:cNvSpPr>
            <a:spLocks noGrp="1"/>
          </p:cNvSpPr>
          <p:nvPr>
            <p:ph type="body" sz="quarter" idx="11"/>
          </p:nvPr>
        </p:nvSpPr>
        <p:spPr/>
        <p:txBody>
          <a:bodyPr/>
          <a:lstStyle/>
          <a:p>
            <a:r>
              <a:rPr kumimoji="1" lang="ja-JP" altLang="en-US"/>
              <a:t>ドナーアクセプターペアフィンガープリント</a:t>
            </a:r>
          </a:p>
        </p:txBody>
      </p:sp>
      <p:pic>
        <p:nvPicPr>
          <p:cNvPr id="6" name="図 5" descr="時計 が含まれている画像&#10;&#10;自動的に生成された説明">
            <a:extLst>
              <a:ext uri="{FF2B5EF4-FFF2-40B4-BE49-F238E27FC236}">
                <a16:creationId xmlns:a16="http://schemas.microsoft.com/office/drawing/2014/main" id="{24C43673-5D4E-C94B-361C-6DF4366C4E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6877" y="3016163"/>
            <a:ext cx="1855320" cy="1796108"/>
          </a:xfrm>
          <a:prstGeom prst="rect">
            <a:avLst/>
          </a:prstGeom>
        </p:spPr>
      </p:pic>
      <p:pic>
        <p:nvPicPr>
          <p:cNvPr id="8" name="図 7" descr="ダイアグラム が含まれている画像&#10;&#10;自動的に生成された説明">
            <a:extLst>
              <a:ext uri="{FF2B5EF4-FFF2-40B4-BE49-F238E27FC236}">
                <a16:creationId xmlns:a16="http://schemas.microsoft.com/office/drawing/2014/main" id="{E70ECD13-306C-61B9-ADB7-3291D65FDC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5754" y="2622448"/>
            <a:ext cx="2096867" cy="2562837"/>
          </a:xfrm>
          <a:prstGeom prst="rect">
            <a:avLst/>
          </a:prstGeom>
        </p:spPr>
      </p:pic>
      <p:pic>
        <p:nvPicPr>
          <p:cNvPr id="10" name="図 9" descr="テキスト&#10;&#10;自動的に生成された説明">
            <a:extLst>
              <a:ext uri="{FF2B5EF4-FFF2-40B4-BE49-F238E27FC236}">
                <a16:creationId xmlns:a16="http://schemas.microsoft.com/office/drawing/2014/main" id="{6FD90CE9-5073-8F2D-C553-75915F2F0D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49034" y="2622448"/>
            <a:ext cx="2096866" cy="1322348"/>
          </a:xfrm>
          <a:prstGeom prst="rect">
            <a:avLst/>
          </a:prstGeom>
        </p:spPr>
      </p:pic>
      <p:graphicFrame>
        <p:nvGraphicFramePr>
          <p:cNvPr id="11" name="表 10">
            <a:extLst>
              <a:ext uri="{FF2B5EF4-FFF2-40B4-BE49-F238E27FC236}">
                <a16:creationId xmlns:a16="http://schemas.microsoft.com/office/drawing/2014/main" id="{D869AB52-C03D-688C-2D9E-42F0B4AA3E86}"/>
              </a:ext>
            </a:extLst>
          </p:cNvPr>
          <p:cNvGraphicFramePr>
            <a:graphicFrameLocks noGrp="1"/>
          </p:cNvGraphicFramePr>
          <p:nvPr/>
        </p:nvGraphicFramePr>
        <p:xfrm>
          <a:off x="546100" y="2893559"/>
          <a:ext cx="3460252" cy="2925958"/>
        </p:xfrm>
        <a:graphic>
          <a:graphicData uri="http://schemas.openxmlformats.org/drawingml/2006/table">
            <a:tbl>
              <a:tblPr firstRow="1">
                <a:tableStyleId>{5C22544A-7EE6-4342-B048-85BDC9FD1C3A}</a:tableStyleId>
              </a:tblPr>
              <a:tblGrid>
                <a:gridCol w="435477">
                  <a:extLst>
                    <a:ext uri="{9D8B030D-6E8A-4147-A177-3AD203B41FA5}">
                      <a16:colId xmlns:a16="http://schemas.microsoft.com/office/drawing/2014/main" val="866577003"/>
                    </a:ext>
                  </a:extLst>
                </a:gridCol>
                <a:gridCol w="3024775">
                  <a:extLst>
                    <a:ext uri="{9D8B030D-6E8A-4147-A177-3AD203B41FA5}">
                      <a16:colId xmlns:a16="http://schemas.microsoft.com/office/drawing/2014/main" val="608412255"/>
                    </a:ext>
                  </a:extLst>
                </a:gridCol>
              </a:tblGrid>
              <a:tr h="417994">
                <a:tc>
                  <a:txBody>
                    <a:bodyPr/>
                    <a:lstStyle/>
                    <a:p>
                      <a:r>
                        <a:rPr lang="en" sz="1600" b="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b="0">
                          <a:solidFill>
                            <a:schemeClr val="tx1"/>
                          </a:solidFill>
                          <a:effectLst/>
                        </a:rPr>
                        <a:t>陽イオン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4173261"/>
                  </a:ext>
                </a:extLst>
              </a:tr>
              <a:tr h="417994">
                <a:tc>
                  <a:txBody>
                    <a:bodyPr/>
                    <a:lstStyle/>
                    <a:p>
                      <a:r>
                        <a:rPr lang="en" sz="16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陰イオン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1184711"/>
                  </a:ext>
                </a:extLst>
              </a:tr>
              <a:tr h="417994">
                <a:tc>
                  <a:txBody>
                    <a:bodyPr/>
                    <a:lstStyle/>
                    <a:p>
                      <a:r>
                        <a:rPr lang="en" sz="16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中性水素結合供与体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1845374"/>
                  </a:ext>
                </a:extLst>
              </a:tr>
              <a:tr h="417994">
                <a:tc>
                  <a:txBody>
                    <a:bodyPr/>
                    <a:lstStyle/>
                    <a:p>
                      <a:r>
                        <a:rPr lang="en" sz="16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中性水素結合受容体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5683356"/>
                  </a:ext>
                </a:extLst>
              </a:tr>
              <a:tr h="417994">
                <a:tc>
                  <a:txBody>
                    <a:bodyPr/>
                    <a:lstStyle/>
                    <a:p>
                      <a:r>
                        <a:rPr lang="en" sz="16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極性原子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933303"/>
                  </a:ext>
                </a:extLst>
              </a:tr>
              <a:tr h="417994">
                <a:tc>
                  <a:txBody>
                    <a:bodyPr/>
                    <a:lstStyle/>
                    <a:p>
                      <a:r>
                        <a:rPr lang="en" sz="16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疎水性原子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983222"/>
                  </a:ext>
                </a:extLst>
              </a:tr>
              <a:tr h="417994">
                <a:tc>
                  <a:txBody>
                    <a:bodyPr/>
                    <a:lstStyle/>
                    <a:p>
                      <a:r>
                        <a:rPr lang="en" sz="1600"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600">
                          <a:effectLst/>
                        </a:rPr>
                        <a:t>その他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6252891"/>
                  </a:ext>
                </a:extLst>
              </a:tr>
            </a:tbl>
          </a:graphicData>
        </a:graphic>
      </p:graphicFrame>
      <p:sp>
        <p:nvSpPr>
          <p:cNvPr id="13" name="テキスト ボックス 12">
            <a:extLst>
              <a:ext uri="{FF2B5EF4-FFF2-40B4-BE49-F238E27FC236}">
                <a16:creationId xmlns:a16="http://schemas.microsoft.com/office/drawing/2014/main" id="{ECC8D592-C4F1-AA2F-67E7-19449911D35F}"/>
              </a:ext>
            </a:extLst>
          </p:cNvPr>
          <p:cNvSpPr txBox="1"/>
          <p:nvPr/>
        </p:nvSpPr>
        <p:spPr>
          <a:xfrm>
            <a:off x="546100" y="2228734"/>
            <a:ext cx="3547715" cy="584775"/>
          </a:xfrm>
          <a:prstGeom prst="rect">
            <a:avLst/>
          </a:prstGeom>
          <a:noFill/>
        </p:spPr>
        <p:txBody>
          <a:bodyPr wrap="square" rtlCol="0">
            <a:spAutoFit/>
          </a:bodyPr>
          <a:lstStyle/>
          <a:p>
            <a:r>
              <a:rPr kumimoji="1" lang="ja-JP" altLang="en-US" sz="1600"/>
              <a:t>ドナーアクセプターペアフィンガープリントでの原子の分類</a:t>
            </a:r>
          </a:p>
        </p:txBody>
      </p:sp>
      <p:sp>
        <p:nvSpPr>
          <p:cNvPr id="14" name="テキスト ボックス 13">
            <a:extLst>
              <a:ext uri="{FF2B5EF4-FFF2-40B4-BE49-F238E27FC236}">
                <a16:creationId xmlns:a16="http://schemas.microsoft.com/office/drawing/2014/main" id="{4C4EB8E3-1AD4-9E99-E40E-0A8E62C29C6E}"/>
              </a:ext>
            </a:extLst>
          </p:cNvPr>
          <p:cNvSpPr txBox="1"/>
          <p:nvPr/>
        </p:nvSpPr>
        <p:spPr>
          <a:xfrm>
            <a:off x="5088002" y="2622448"/>
            <a:ext cx="631521" cy="338554"/>
          </a:xfrm>
          <a:prstGeom prst="rect">
            <a:avLst/>
          </a:prstGeom>
          <a:noFill/>
        </p:spPr>
        <p:txBody>
          <a:bodyPr wrap="square" rtlCol="0">
            <a:spAutoFit/>
          </a:bodyPr>
          <a:lstStyle/>
          <a:p>
            <a:r>
              <a:rPr kumimoji="1" lang="ja-JP" altLang="en-US" sz="1600"/>
              <a:t>例</a:t>
            </a:r>
          </a:p>
        </p:txBody>
      </p:sp>
      <p:sp>
        <p:nvSpPr>
          <p:cNvPr id="17" name="テキスト ボックス 16">
            <a:extLst>
              <a:ext uri="{FF2B5EF4-FFF2-40B4-BE49-F238E27FC236}">
                <a16:creationId xmlns:a16="http://schemas.microsoft.com/office/drawing/2014/main" id="{666E74EF-2A0F-8686-7064-1B6FDB2951B1}"/>
              </a:ext>
            </a:extLst>
          </p:cNvPr>
          <p:cNvSpPr txBox="1"/>
          <p:nvPr/>
        </p:nvSpPr>
        <p:spPr>
          <a:xfrm>
            <a:off x="7702256" y="5185285"/>
            <a:ext cx="1443862" cy="338554"/>
          </a:xfrm>
          <a:prstGeom prst="rect">
            <a:avLst/>
          </a:prstGeom>
          <a:noFill/>
        </p:spPr>
        <p:txBody>
          <a:bodyPr wrap="square" rtlCol="0">
            <a:spAutoFit/>
          </a:bodyPr>
          <a:lstStyle/>
          <a:p>
            <a:r>
              <a:rPr kumimoji="1" lang="ja-JP" altLang="en-US" sz="1600"/>
              <a:t>原子ペア</a:t>
            </a:r>
            <a:r>
              <a:rPr kumimoji="1" lang="en-US" altLang="ja-JP" sz="1600" dirty="0"/>
              <a:t>(bp)</a:t>
            </a:r>
            <a:endParaRPr kumimoji="1" lang="ja-JP" altLang="en-US" sz="1600"/>
          </a:p>
        </p:txBody>
      </p:sp>
      <p:sp>
        <p:nvSpPr>
          <p:cNvPr id="18" name="テキスト ボックス 17">
            <a:extLst>
              <a:ext uri="{FF2B5EF4-FFF2-40B4-BE49-F238E27FC236}">
                <a16:creationId xmlns:a16="http://schemas.microsoft.com/office/drawing/2014/main" id="{34F4AE25-75FB-7B41-2389-402F97B1B89C}"/>
              </a:ext>
            </a:extLst>
          </p:cNvPr>
          <p:cNvSpPr txBox="1"/>
          <p:nvPr/>
        </p:nvSpPr>
        <p:spPr>
          <a:xfrm>
            <a:off x="9762588" y="3944796"/>
            <a:ext cx="1669758" cy="338554"/>
          </a:xfrm>
          <a:prstGeom prst="rect">
            <a:avLst/>
          </a:prstGeom>
          <a:noFill/>
        </p:spPr>
        <p:txBody>
          <a:bodyPr wrap="square" rtlCol="0">
            <a:spAutoFit/>
          </a:bodyPr>
          <a:lstStyle/>
          <a:p>
            <a:r>
              <a:rPr lang="ja-JP" altLang="en-US" sz="1600"/>
              <a:t>連続した</a:t>
            </a:r>
            <a:r>
              <a:rPr lang="en-US" altLang="ja-JP" sz="1600" dirty="0"/>
              <a:t>4</a:t>
            </a:r>
            <a:r>
              <a:rPr lang="ja-JP" altLang="en-US" sz="1600"/>
              <a:t>つ</a:t>
            </a:r>
            <a:r>
              <a:rPr kumimoji="1" lang="en-US" altLang="ja-JP" sz="1600" dirty="0"/>
              <a:t>(</a:t>
            </a:r>
            <a:r>
              <a:rPr kumimoji="1" lang="en-US" altLang="ja-JP" sz="1600" dirty="0" err="1"/>
              <a:t>bt</a:t>
            </a:r>
            <a:r>
              <a:rPr kumimoji="1" lang="en-US" altLang="ja-JP" sz="1600" dirty="0"/>
              <a:t>)</a:t>
            </a:r>
            <a:endParaRPr kumimoji="1" lang="ja-JP" altLang="en-US" sz="1600"/>
          </a:p>
        </p:txBody>
      </p:sp>
      <p:sp>
        <p:nvSpPr>
          <p:cNvPr id="19" name="テキスト ボックス 18">
            <a:extLst>
              <a:ext uri="{FF2B5EF4-FFF2-40B4-BE49-F238E27FC236}">
                <a16:creationId xmlns:a16="http://schemas.microsoft.com/office/drawing/2014/main" id="{5D85851F-D532-0BDE-928F-D35A7D9CD567}"/>
              </a:ext>
            </a:extLst>
          </p:cNvPr>
          <p:cNvSpPr txBox="1"/>
          <p:nvPr/>
        </p:nvSpPr>
        <p:spPr>
          <a:xfrm>
            <a:off x="7371493" y="5676765"/>
            <a:ext cx="4202255" cy="523220"/>
          </a:xfrm>
          <a:prstGeom prst="rect">
            <a:avLst/>
          </a:prstGeom>
          <a:noFill/>
        </p:spPr>
        <p:txBody>
          <a:bodyPr wrap="square" rtlCol="0">
            <a:spAutoFit/>
          </a:bodyPr>
          <a:lstStyle/>
          <a:p>
            <a:r>
              <a:rPr kumimoji="1" lang="en-US" altLang="ja-JP" sz="1400" dirty="0"/>
              <a:t>4-(3)-6</a:t>
            </a:r>
            <a:r>
              <a:rPr kumimoji="1" lang="ja-JP" altLang="en-US" sz="1400"/>
              <a:t>は、</a:t>
            </a:r>
            <a:r>
              <a:rPr kumimoji="1" lang="en-US" altLang="ja-JP" sz="1400" dirty="0"/>
              <a:t>4</a:t>
            </a:r>
            <a:r>
              <a:rPr kumimoji="1" lang="ja-JP" altLang="en-US" sz="1400"/>
              <a:t>から</a:t>
            </a:r>
            <a:r>
              <a:rPr kumimoji="1" lang="en-US" altLang="ja-JP" sz="1400" dirty="0"/>
              <a:t>3</a:t>
            </a:r>
            <a:r>
              <a:rPr kumimoji="1" lang="ja-JP" altLang="en-US" sz="1400"/>
              <a:t>つ離れたところに</a:t>
            </a:r>
            <a:r>
              <a:rPr kumimoji="1" lang="en-US" altLang="ja-JP" sz="1400" dirty="0"/>
              <a:t>6</a:t>
            </a:r>
            <a:r>
              <a:rPr kumimoji="1" lang="ja-JP" altLang="en-US" sz="1400"/>
              <a:t>が位置しているような構造を指す</a:t>
            </a:r>
            <a:endParaRPr kumimoji="1" lang="en-US" altLang="ja-JP" sz="1400" dirty="0"/>
          </a:p>
        </p:txBody>
      </p:sp>
    </p:spTree>
    <p:extLst>
      <p:ext uri="{BB962C8B-B14F-4D97-AF65-F5344CB8AC3E}">
        <p14:creationId xmlns:p14="http://schemas.microsoft.com/office/powerpoint/2010/main" val="7394377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FD98EC-8D25-482F-8132-04421A268D61}"/>
              </a:ext>
            </a:extLst>
          </p:cNvPr>
          <p:cNvSpPr>
            <a:spLocks noGrp="1"/>
          </p:cNvSpPr>
          <p:nvPr>
            <p:ph type="title"/>
          </p:nvPr>
        </p:nvSpPr>
        <p:spPr/>
        <p:txBody>
          <a:bodyPr/>
          <a:lstStyle/>
          <a:p>
            <a:r>
              <a:rPr kumimoji="1" lang="ja-JP" altLang="en-US"/>
              <a:t>目的：</a:t>
            </a:r>
            <a:r>
              <a:rPr kumimoji="1" lang="en-US" altLang="ja-JP" dirty="0"/>
              <a:t>TGR5</a:t>
            </a:r>
            <a:r>
              <a:rPr kumimoji="1" lang="ja-JP" altLang="en-US"/>
              <a:t>に結合して活性化する作用を持つ生理活性ペプチドの探索</a:t>
            </a:r>
            <a:endParaRPr kumimoji="1" lang="ja-JP" altLang="en-US" dirty="0"/>
          </a:p>
        </p:txBody>
      </p:sp>
      <p:sp>
        <p:nvSpPr>
          <p:cNvPr id="3" name="コンテンツ プレースホルダー 2">
            <a:extLst>
              <a:ext uri="{FF2B5EF4-FFF2-40B4-BE49-F238E27FC236}">
                <a16:creationId xmlns:a16="http://schemas.microsoft.com/office/drawing/2014/main" id="{51CDB890-8D30-437B-8CC3-08166F8C7210}"/>
              </a:ext>
            </a:extLst>
          </p:cNvPr>
          <p:cNvSpPr>
            <a:spLocks noGrp="1"/>
          </p:cNvSpPr>
          <p:nvPr>
            <p:ph idx="1"/>
          </p:nvPr>
        </p:nvSpPr>
        <p:spPr>
          <a:xfrm>
            <a:off x="546099" y="1038484"/>
            <a:ext cx="5744935" cy="4797052"/>
          </a:xfrm>
        </p:spPr>
        <p:txBody>
          <a:bodyPr/>
          <a:lstStyle/>
          <a:p>
            <a:pPr marL="0" indent="0">
              <a:buNone/>
            </a:pPr>
            <a:r>
              <a:rPr kumimoji="1" lang="en-US" altLang="ja-JP" dirty="0">
                <a:solidFill>
                  <a:schemeClr val="accent4"/>
                </a:solidFill>
              </a:rPr>
              <a:t>TGR5</a:t>
            </a:r>
          </a:p>
          <a:p>
            <a:pPr>
              <a:lnSpc>
                <a:spcPct val="150000"/>
              </a:lnSpc>
              <a:spcBef>
                <a:spcPts val="800"/>
              </a:spcBef>
            </a:pPr>
            <a:r>
              <a:rPr kumimoji="1" lang="en-US" altLang="ja-JP" sz="1800" b="0" dirty="0"/>
              <a:t>TGR</a:t>
            </a:r>
            <a:r>
              <a:rPr lang="en-US" altLang="ja-JP" sz="1800" b="0" dirty="0"/>
              <a:t>5</a:t>
            </a:r>
            <a:r>
              <a:rPr kumimoji="1" lang="ja-JP" altLang="en-US" sz="1800" b="0"/>
              <a:t>は肝臓、褐色脂肪細胞、骨格筋などで発現している胆汁酸受容体</a:t>
            </a:r>
            <a:endParaRPr kumimoji="1" lang="en-US" altLang="ja-JP" sz="1800" b="0" dirty="0"/>
          </a:p>
          <a:p>
            <a:pPr>
              <a:lnSpc>
                <a:spcPct val="150000"/>
              </a:lnSpc>
              <a:spcBef>
                <a:spcPts val="800"/>
              </a:spcBef>
            </a:pPr>
            <a:r>
              <a:rPr lang="ja-JP" altLang="en-US" sz="1800" b="0"/>
              <a:t>腸管</a:t>
            </a:r>
            <a:r>
              <a:rPr lang="en" altLang="ja-JP" sz="1800" b="0" dirty="0"/>
              <a:t>L</a:t>
            </a:r>
            <a:r>
              <a:rPr lang="ja-JP" altLang="en-US" sz="1800" b="0"/>
              <a:t>細胞で、</a:t>
            </a:r>
            <a:r>
              <a:rPr lang="en" altLang="ja-JP" sz="1800" b="0" dirty="0"/>
              <a:t>TGR5</a:t>
            </a:r>
            <a:r>
              <a:rPr lang="ja-JP" altLang="en-US" sz="1800" b="0"/>
              <a:t>は胆汁酸や</a:t>
            </a:r>
            <a:r>
              <a:rPr lang="en" altLang="ja-JP" sz="1800" b="0" dirty="0"/>
              <a:t>TGR5</a:t>
            </a:r>
            <a:r>
              <a:rPr lang="ja-JP" altLang="en-US" sz="1800" b="0"/>
              <a:t>アゴニストと結合して</a:t>
            </a:r>
            <a:r>
              <a:rPr lang="en" altLang="ja-JP" sz="1800" b="0" dirty="0"/>
              <a:t>GLP-1</a:t>
            </a:r>
            <a:r>
              <a:rPr lang="ja-JP" altLang="en-US" sz="1800" b="0"/>
              <a:t>分泌を亢進する</a:t>
            </a:r>
            <a:endParaRPr lang="en-US" altLang="ja-JP" sz="1800" b="0" dirty="0"/>
          </a:p>
          <a:p>
            <a:pPr>
              <a:lnSpc>
                <a:spcPct val="150000"/>
              </a:lnSpc>
              <a:spcBef>
                <a:spcPts val="800"/>
              </a:spcBef>
            </a:pPr>
            <a:r>
              <a:rPr lang="en" altLang="ja-JP" sz="1800" b="0" dirty="0"/>
              <a:t>GLP-1</a:t>
            </a:r>
            <a:r>
              <a:rPr lang="ja-JP" altLang="en-US" sz="1800" b="0"/>
              <a:t>は膵</a:t>
            </a:r>
            <a:r>
              <a:rPr lang="en-US" altLang="ja-JP" sz="1800" b="0" dirty="0"/>
              <a:t>β</a:t>
            </a:r>
            <a:r>
              <a:rPr lang="ja-JP" altLang="en-US" sz="1800" b="0"/>
              <a:t>細胞におけるインスリン分泌を促進し、抗肥満</a:t>
            </a:r>
            <a:r>
              <a:rPr lang="en-US" altLang="ja-JP" sz="1800" b="0" dirty="0"/>
              <a:t>, </a:t>
            </a:r>
            <a:r>
              <a:rPr lang="ja-JP" altLang="en-US" sz="1800" b="0"/>
              <a:t>血糖降下作用をもたらす</a:t>
            </a:r>
            <a:endParaRPr lang="en-US" altLang="ja-JP" sz="1800" b="0" dirty="0"/>
          </a:p>
          <a:p>
            <a:pPr marL="0" indent="0" algn="ctr">
              <a:buNone/>
            </a:pPr>
            <a:endParaRPr lang="en-US" altLang="ja-JP" u="sng" dirty="0"/>
          </a:p>
          <a:p>
            <a:pPr marL="0" indent="0" algn="ctr">
              <a:buNone/>
            </a:pPr>
            <a:r>
              <a:rPr lang="ja-JP" altLang="en-US" u="sng"/>
              <a:t>糖尿病治療に有益</a:t>
            </a:r>
            <a:endParaRPr lang="en-US" altLang="ja-JP" u="sng" dirty="0"/>
          </a:p>
          <a:p>
            <a:pPr marL="0" indent="0">
              <a:buNone/>
            </a:pPr>
            <a:endParaRPr lang="en-US" altLang="ja-JP" dirty="0"/>
          </a:p>
        </p:txBody>
      </p:sp>
      <p:sp>
        <p:nvSpPr>
          <p:cNvPr id="4" name="テキスト プレースホルダー 3">
            <a:extLst>
              <a:ext uri="{FF2B5EF4-FFF2-40B4-BE49-F238E27FC236}">
                <a16:creationId xmlns:a16="http://schemas.microsoft.com/office/drawing/2014/main" id="{7573968E-BF17-4017-AA59-5326CD607CE0}"/>
              </a:ext>
            </a:extLst>
          </p:cNvPr>
          <p:cNvSpPr>
            <a:spLocks noGrp="1"/>
          </p:cNvSpPr>
          <p:nvPr>
            <p:ph type="body" sz="quarter" idx="11"/>
          </p:nvPr>
        </p:nvSpPr>
        <p:spPr/>
        <p:txBody>
          <a:bodyPr>
            <a:normAutofit/>
          </a:bodyPr>
          <a:lstStyle/>
          <a:p>
            <a:r>
              <a:rPr kumimoji="1" lang="en-US" altLang="ja-JP" dirty="0"/>
              <a:t>Introduction - TGR5</a:t>
            </a:r>
            <a:endParaRPr kumimoji="1" lang="ja-JP" altLang="en-US"/>
          </a:p>
        </p:txBody>
      </p:sp>
      <p:pic>
        <p:nvPicPr>
          <p:cNvPr id="6" name="図 5" descr="ダイアグラム&#10;&#10;自動的に生成された説明">
            <a:extLst>
              <a:ext uri="{FF2B5EF4-FFF2-40B4-BE49-F238E27FC236}">
                <a16:creationId xmlns:a16="http://schemas.microsoft.com/office/drawing/2014/main" id="{7DE73FBD-8BBA-D42D-1823-06E86157BB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1035" y="1548053"/>
            <a:ext cx="5354865" cy="3743667"/>
          </a:xfrm>
          <a:prstGeom prst="rect">
            <a:avLst/>
          </a:prstGeom>
        </p:spPr>
      </p:pic>
      <p:sp>
        <p:nvSpPr>
          <p:cNvPr id="8" name="矢印: 右 43">
            <a:extLst>
              <a:ext uri="{FF2B5EF4-FFF2-40B4-BE49-F238E27FC236}">
                <a16:creationId xmlns:a16="http://schemas.microsoft.com/office/drawing/2014/main" id="{AE349380-FE7B-C12C-93D5-398105AD1057}"/>
              </a:ext>
            </a:extLst>
          </p:cNvPr>
          <p:cNvSpPr/>
          <p:nvPr/>
        </p:nvSpPr>
        <p:spPr>
          <a:xfrm>
            <a:off x="1578882" y="4699960"/>
            <a:ext cx="498929" cy="522369"/>
          </a:xfrm>
          <a:custGeom>
            <a:avLst/>
            <a:gdLst>
              <a:gd name="connsiteX0" fmla="*/ 0 w 498929"/>
              <a:gd name="connsiteY0" fmla="*/ 130592 h 522369"/>
              <a:gd name="connsiteX1" fmla="*/ 249465 w 498929"/>
              <a:gd name="connsiteY1" fmla="*/ 130592 h 522369"/>
              <a:gd name="connsiteX2" fmla="*/ 249465 w 498929"/>
              <a:gd name="connsiteY2" fmla="*/ 0 h 522369"/>
              <a:gd name="connsiteX3" fmla="*/ 498929 w 498929"/>
              <a:gd name="connsiteY3" fmla="*/ 261185 h 522369"/>
              <a:gd name="connsiteX4" fmla="*/ 249465 w 498929"/>
              <a:gd name="connsiteY4" fmla="*/ 522369 h 522369"/>
              <a:gd name="connsiteX5" fmla="*/ 249465 w 498929"/>
              <a:gd name="connsiteY5" fmla="*/ 391777 h 522369"/>
              <a:gd name="connsiteX6" fmla="*/ 0 w 498929"/>
              <a:gd name="connsiteY6" fmla="*/ 391777 h 522369"/>
              <a:gd name="connsiteX7" fmla="*/ 0 w 498929"/>
              <a:gd name="connsiteY7" fmla="*/ 130592 h 52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8929" h="522369" fill="none" extrusionOk="0">
                <a:moveTo>
                  <a:pt x="0" y="130592"/>
                </a:moveTo>
                <a:cubicBezTo>
                  <a:pt x="58281" y="110792"/>
                  <a:pt x="216793" y="137704"/>
                  <a:pt x="249465" y="130592"/>
                </a:cubicBezTo>
                <a:cubicBezTo>
                  <a:pt x="244161" y="95101"/>
                  <a:pt x="256580" y="25222"/>
                  <a:pt x="249465" y="0"/>
                </a:cubicBezTo>
                <a:cubicBezTo>
                  <a:pt x="344950" y="124713"/>
                  <a:pt x="443456" y="238460"/>
                  <a:pt x="498929" y="261185"/>
                </a:cubicBezTo>
                <a:cubicBezTo>
                  <a:pt x="470940" y="333259"/>
                  <a:pt x="369056" y="411150"/>
                  <a:pt x="249465" y="522369"/>
                </a:cubicBezTo>
                <a:cubicBezTo>
                  <a:pt x="239601" y="468735"/>
                  <a:pt x="259018" y="409973"/>
                  <a:pt x="249465" y="391777"/>
                </a:cubicBezTo>
                <a:cubicBezTo>
                  <a:pt x="222764" y="407238"/>
                  <a:pt x="39990" y="385987"/>
                  <a:pt x="0" y="391777"/>
                </a:cubicBezTo>
                <a:cubicBezTo>
                  <a:pt x="1799" y="347423"/>
                  <a:pt x="-8568" y="224152"/>
                  <a:pt x="0" y="130592"/>
                </a:cubicBezTo>
                <a:close/>
              </a:path>
              <a:path w="498929" h="522369" stroke="0" extrusionOk="0">
                <a:moveTo>
                  <a:pt x="0" y="130592"/>
                </a:moveTo>
                <a:cubicBezTo>
                  <a:pt x="27971" y="139355"/>
                  <a:pt x="156677" y="151221"/>
                  <a:pt x="249465" y="130592"/>
                </a:cubicBezTo>
                <a:cubicBezTo>
                  <a:pt x="253428" y="100803"/>
                  <a:pt x="246703" y="13629"/>
                  <a:pt x="249465" y="0"/>
                </a:cubicBezTo>
                <a:cubicBezTo>
                  <a:pt x="281200" y="77888"/>
                  <a:pt x="468262" y="187695"/>
                  <a:pt x="498929" y="261185"/>
                </a:cubicBezTo>
                <a:cubicBezTo>
                  <a:pt x="479908" y="295024"/>
                  <a:pt x="317340" y="450265"/>
                  <a:pt x="249465" y="522369"/>
                </a:cubicBezTo>
                <a:cubicBezTo>
                  <a:pt x="239478" y="494807"/>
                  <a:pt x="244607" y="438750"/>
                  <a:pt x="249465" y="391777"/>
                </a:cubicBezTo>
                <a:cubicBezTo>
                  <a:pt x="206012" y="398113"/>
                  <a:pt x="95558" y="406906"/>
                  <a:pt x="0" y="391777"/>
                </a:cubicBezTo>
                <a:cubicBezTo>
                  <a:pt x="180" y="281764"/>
                  <a:pt x="-23212" y="208737"/>
                  <a:pt x="0" y="130592"/>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7C1DEC43-EC5E-F656-EFAC-650DAB063D7F}"/>
              </a:ext>
            </a:extLst>
          </p:cNvPr>
          <p:cNvSpPr txBox="1"/>
          <p:nvPr/>
        </p:nvSpPr>
        <p:spPr>
          <a:xfrm>
            <a:off x="6353010" y="5420761"/>
            <a:ext cx="5230920" cy="338554"/>
          </a:xfrm>
          <a:prstGeom prst="rect">
            <a:avLst/>
          </a:prstGeom>
          <a:noFill/>
        </p:spPr>
        <p:txBody>
          <a:bodyPr wrap="none" rtlCol="0">
            <a:spAutoFit/>
          </a:bodyPr>
          <a:lstStyle/>
          <a:p>
            <a:pPr algn="ctr"/>
            <a:r>
              <a:rPr kumimoji="1" lang="en-US" altLang="ja-JP" sz="1600" dirty="0">
                <a:latin typeface="Yu Gothic" panose="020B0400000000000000" pitchFamily="34" charset="-128"/>
                <a:ea typeface="Yu Gothic" panose="020B0400000000000000" pitchFamily="34" charset="-128"/>
              </a:rPr>
              <a:t>[</a:t>
            </a:r>
            <a:r>
              <a:rPr kumimoji="1" lang="en-US" altLang="ja-JP" sz="1600" dirty="0" err="1">
                <a:latin typeface="Yu Gothic" panose="020B0400000000000000" pitchFamily="34" charset="-128"/>
                <a:ea typeface="Yu Gothic" panose="020B0400000000000000" pitchFamily="34" charset="-128"/>
              </a:rPr>
              <a:t>Hyeonhui</a:t>
            </a:r>
            <a:r>
              <a:rPr kumimoji="1" lang="en-US" altLang="ja-JP" sz="1600" dirty="0">
                <a:latin typeface="Yu Gothic" panose="020B0400000000000000" pitchFamily="34" charset="-128"/>
                <a:ea typeface="Yu Gothic" panose="020B0400000000000000" pitchFamily="34" charset="-128"/>
              </a:rPr>
              <a:t> Kim, </a:t>
            </a:r>
            <a:r>
              <a:rPr kumimoji="1" lang="en-US" altLang="ja-JP" sz="1600" dirty="0" err="1">
                <a:latin typeface="Yu Gothic" panose="020B0400000000000000" pitchFamily="34" charset="-128"/>
                <a:ea typeface="Yu Gothic" panose="020B0400000000000000" pitchFamily="34" charset="-128"/>
              </a:rPr>
              <a:t>Sungsoon</a:t>
            </a:r>
            <a:r>
              <a:rPr kumimoji="1" lang="en-US" altLang="ja-JP" sz="1600" dirty="0">
                <a:latin typeface="Yu Gothic" panose="020B0400000000000000" pitchFamily="34" charset="-128"/>
                <a:ea typeface="Yu Gothic" panose="020B0400000000000000" pitchFamily="34" charset="-128"/>
              </a:rPr>
              <a:t> Fang, Lab Anim Res, 2018]</a:t>
            </a:r>
            <a:endParaRPr kumimoji="1" lang="ja-JP" altLang="en-US" sz="160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260193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56" name="直線コネクタ 55">
            <a:extLst>
              <a:ext uri="{FF2B5EF4-FFF2-40B4-BE49-F238E27FC236}">
                <a16:creationId xmlns:a16="http://schemas.microsoft.com/office/drawing/2014/main" id="{14D8FBF0-CEA4-FF10-19B6-4F8C003EAA9B}"/>
              </a:ext>
            </a:extLst>
          </p:cNvPr>
          <p:cNvCxnSpPr>
            <a:cxnSpLocks noChangeAspect="1"/>
          </p:cNvCxnSpPr>
          <p:nvPr/>
        </p:nvCxnSpPr>
        <p:spPr>
          <a:xfrm flipH="1" flipV="1">
            <a:off x="1512030" y="4342898"/>
            <a:ext cx="585057" cy="1842459"/>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108" name="角丸四角形 107">
            <a:extLst>
              <a:ext uri="{FF2B5EF4-FFF2-40B4-BE49-F238E27FC236}">
                <a16:creationId xmlns:a16="http://schemas.microsoft.com/office/drawing/2014/main" id="{BD273747-D8B8-93E8-CEBF-EED734C5F3B0}"/>
              </a:ext>
            </a:extLst>
          </p:cNvPr>
          <p:cNvSpPr/>
          <p:nvPr/>
        </p:nvSpPr>
        <p:spPr>
          <a:xfrm>
            <a:off x="546101" y="3844960"/>
            <a:ext cx="3851455" cy="2519264"/>
          </a:xfrm>
          <a:prstGeom prst="roundRect">
            <a:avLst/>
          </a:prstGeom>
          <a:solidFill>
            <a:srgbClr val="AADBD5">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4AB3962C-828D-1611-4BE9-4773C9AD51A2}"/>
              </a:ext>
            </a:extLst>
          </p:cNvPr>
          <p:cNvSpPr txBox="1"/>
          <p:nvPr/>
        </p:nvSpPr>
        <p:spPr>
          <a:xfrm>
            <a:off x="958032" y="3979471"/>
            <a:ext cx="1107996" cy="369332"/>
          </a:xfrm>
          <a:prstGeom prst="rect">
            <a:avLst/>
          </a:prstGeom>
          <a:noFill/>
        </p:spPr>
        <p:txBody>
          <a:bodyPr wrap="none" rtlCol="0">
            <a:spAutoFit/>
          </a:bodyPr>
          <a:lstStyle/>
          <a:p>
            <a:r>
              <a:rPr kumimoji="1" lang="ja-JP" altLang="en-US" b="1">
                <a:latin typeface="Yu Gothic" panose="020B0400000000000000" pitchFamily="34" charset="-128"/>
                <a:ea typeface="Yu Gothic" panose="020B0400000000000000" pitchFamily="34" charset="-128"/>
              </a:rPr>
              <a:t>構造相関</a:t>
            </a:r>
          </a:p>
        </p:txBody>
      </p:sp>
      <p:sp>
        <p:nvSpPr>
          <p:cNvPr id="58" name="テキスト ボックス 57">
            <a:extLst>
              <a:ext uri="{FF2B5EF4-FFF2-40B4-BE49-F238E27FC236}">
                <a16:creationId xmlns:a16="http://schemas.microsoft.com/office/drawing/2014/main" id="{15A0FD11-FEB4-CFF5-165F-95892D06C44D}"/>
              </a:ext>
            </a:extLst>
          </p:cNvPr>
          <p:cNvSpPr txBox="1"/>
          <p:nvPr/>
        </p:nvSpPr>
        <p:spPr>
          <a:xfrm>
            <a:off x="2667306" y="4702810"/>
            <a:ext cx="595035" cy="338554"/>
          </a:xfrm>
          <a:prstGeom prst="rect">
            <a:avLst/>
          </a:prstGeom>
          <a:noFill/>
        </p:spPr>
        <p:txBody>
          <a:bodyPr wrap="none" rtlCol="0">
            <a:spAutoFit/>
          </a:bodyPr>
          <a:lstStyle/>
          <a:p>
            <a:r>
              <a:rPr kumimoji="1" lang="ja-JP" altLang="en-US" sz="1600">
                <a:latin typeface="Yu Gothic" panose="020B0400000000000000" pitchFamily="34" charset="-128"/>
                <a:ea typeface="Yu Gothic" panose="020B0400000000000000" pitchFamily="34" charset="-128"/>
              </a:rPr>
              <a:t>調査</a:t>
            </a:r>
          </a:p>
        </p:txBody>
      </p:sp>
      <p:sp>
        <p:nvSpPr>
          <p:cNvPr id="3" name="コンテンツ プレースホルダー 2">
            <a:extLst>
              <a:ext uri="{FF2B5EF4-FFF2-40B4-BE49-F238E27FC236}">
                <a16:creationId xmlns:a16="http://schemas.microsoft.com/office/drawing/2014/main" id="{D10752AF-5D1D-4563-2987-862148884F1F}"/>
              </a:ext>
            </a:extLst>
          </p:cNvPr>
          <p:cNvSpPr>
            <a:spLocks noGrp="1"/>
          </p:cNvSpPr>
          <p:nvPr>
            <p:ph idx="1"/>
          </p:nvPr>
        </p:nvSpPr>
        <p:spPr>
          <a:xfrm>
            <a:off x="546100" y="1038484"/>
            <a:ext cx="5549900" cy="534284"/>
          </a:xfrm>
        </p:spPr>
        <p:txBody>
          <a:bodyPr/>
          <a:lstStyle/>
          <a:p>
            <a:pPr marL="0" indent="0">
              <a:buNone/>
            </a:pPr>
            <a:r>
              <a:rPr kumimoji="1" lang="en-US" altLang="ja-JP" dirty="0"/>
              <a:t>DCA</a:t>
            </a:r>
            <a:r>
              <a:rPr kumimoji="1" lang="ja-JP" altLang="en-US"/>
              <a:t>結合ペプチドの</a:t>
            </a:r>
            <a:r>
              <a:rPr kumimoji="1" lang="en-US" altLang="ja-JP" dirty="0"/>
              <a:t>TGR5</a:t>
            </a:r>
            <a:r>
              <a:rPr kumimoji="1" lang="ja-JP" altLang="en-US"/>
              <a:t>活性評価</a:t>
            </a:r>
          </a:p>
        </p:txBody>
      </p:sp>
      <p:sp>
        <p:nvSpPr>
          <p:cNvPr id="4" name="テキスト プレースホルダー 3">
            <a:extLst>
              <a:ext uri="{FF2B5EF4-FFF2-40B4-BE49-F238E27FC236}">
                <a16:creationId xmlns:a16="http://schemas.microsoft.com/office/drawing/2014/main" id="{AAC6301E-987F-B31C-6276-FBB7AAD54750}"/>
              </a:ext>
            </a:extLst>
          </p:cNvPr>
          <p:cNvSpPr>
            <a:spLocks noGrp="1"/>
          </p:cNvSpPr>
          <p:nvPr>
            <p:ph type="body" sz="quarter" idx="11"/>
          </p:nvPr>
        </p:nvSpPr>
        <p:spPr/>
        <p:txBody>
          <a:bodyPr/>
          <a:lstStyle/>
          <a:p>
            <a:r>
              <a:rPr kumimoji="1" lang="en-US" altLang="ja-JP" dirty="0"/>
              <a:t>Introduction - </a:t>
            </a:r>
            <a:r>
              <a:rPr kumimoji="1" lang="ja-JP" altLang="en-US"/>
              <a:t>本研究の目的と流れ</a:t>
            </a:r>
          </a:p>
        </p:txBody>
      </p:sp>
      <p:sp>
        <p:nvSpPr>
          <p:cNvPr id="5" name="コンテンツ プレースホルダー 2">
            <a:extLst>
              <a:ext uri="{FF2B5EF4-FFF2-40B4-BE49-F238E27FC236}">
                <a16:creationId xmlns:a16="http://schemas.microsoft.com/office/drawing/2014/main" id="{7A19724A-96A3-7EB7-7971-0EC081B99BF3}"/>
              </a:ext>
            </a:extLst>
          </p:cNvPr>
          <p:cNvSpPr txBox="1">
            <a:spLocks/>
          </p:cNvSpPr>
          <p:nvPr/>
        </p:nvSpPr>
        <p:spPr>
          <a:xfrm>
            <a:off x="546100" y="3390458"/>
            <a:ext cx="6092444" cy="534284"/>
          </a:xfrm>
          <a:prstGeom prst="rect">
            <a:avLst/>
          </a:prstGeom>
        </p:spPr>
        <p:txBody>
          <a:bodyPr vert="horz" lIns="91440" tIns="45720" rIns="91440" bIns="45720" rtlCol="0">
            <a:noAutofit/>
          </a:bodyPr>
          <a:lstStyle>
            <a:lvl1pPr marL="457200" indent="-457200" algn="l" defTabSz="914400" rtl="0" eaLnBrk="1" latinLnBrk="0" hangingPunct="1">
              <a:lnSpc>
                <a:spcPct val="100000"/>
              </a:lnSpc>
              <a:spcBef>
                <a:spcPts val="14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構造相関による</a:t>
            </a:r>
            <a:r>
              <a:rPr lang="en-US" altLang="ja-JP" dirty="0"/>
              <a:t>TGR5</a:t>
            </a:r>
            <a:r>
              <a:rPr lang="ja-JP" altLang="en-US"/>
              <a:t>アゴニストペプチド探索</a:t>
            </a:r>
          </a:p>
        </p:txBody>
      </p:sp>
      <p:cxnSp>
        <p:nvCxnSpPr>
          <p:cNvPr id="6" name="直線コネクタ 5">
            <a:extLst>
              <a:ext uri="{FF2B5EF4-FFF2-40B4-BE49-F238E27FC236}">
                <a16:creationId xmlns:a16="http://schemas.microsoft.com/office/drawing/2014/main" id="{6D30F94C-4AA7-8FE7-4150-21075329B331}"/>
              </a:ext>
            </a:extLst>
          </p:cNvPr>
          <p:cNvCxnSpPr>
            <a:cxnSpLocks noChangeAspect="1"/>
          </p:cNvCxnSpPr>
          <p:nvPr/>
        </p:nvCxnSpPr>
        <p:spPr>
          <a:xfrm flipH="1" flipV="1">
            <a:off x="1542044" y="2308380"/>
            <a:ext cx="170932" cy="538299"/>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cxnSp>
        <p:nvCxnSpPr>
          <p:cNvPr id="13" name="直線矢印コネクタ 12">
            <a:extLst>
              <a:ext uri="{FF2B5EF4-FFF2-40B4-BE49-F238E27FC236}">
                <a16:creationId xmlns:a16="http://schemas.microsoft.com/office/drawing/2014/main" id="{17A1B1AB-91C9-5421-A46D-9E06BD505E06}"/>
              </a:ext>
            </a:extLst>
          </p:cNvPr>
          <p:cNvCxnSpPr>
            <a:cxnSpLocks noChangeAspect="1"/>
          </p:cNvCxnSpPr>
          <p:nvPr/>
        </p:nvCxnSpPr>
        <p:spPr>
          <a:xfrm>
            <a:off x="644548" y="2854410"/>
            <a:ext cx="9962492"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9" name="直線コネクタ 18">
            <a:extLst>
              <a:ext uri="{FF2B5EF4-FFF2-40B4-BE49-F238E27FC236}">
                <a16:creationId xmlns:a16="http://schemas.microsoft.com/office/drawing/2014/main" id="{38D113EA-4C26-6674-5BA5-AAE1C05D314F}"/>
              </a:ext>
            </a:extLst>
          </p:cNvPr>
          <p:cNvCxnSpPr>
            <a:cxnSpLocks noChangeAspect="1"/>
            <a:endCxn id="26" idx="2"/>
          </p:cNvCxnSpPr>
          <p:nvPr/>
        </p:nvCxnSpPr>
        <p:spPr>
          <a:xfrm flipH="1" flipV="1">
            <a:off x="7074481" y="1507369"/>
            <a:ext cx="416286" cy="1321215"/>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23" name="テキスト ボックス 22">
            <a:extLst>
              <a:ext uri="{FF2B5EF4-FFF2-40B4-BE49-F238E27FC236}">
                <a16:creationId xmlns:a16="http://schemas.microsoft.com/office/drawing/2014/main" id="{441FCEDF-013A-FF0A-D015-743F30D3D3E7}"/>
              </a:ext>
            </a:extLst>
          </p:cNvPr>
          <p:cNvSpPr txBox="1"/>
          <p:nvPr/>
        </p:nvSpPr>
        <p:spPr>
          <a:xfrm>
            <a:off x="627368" y="1921208"/>
            <a:ext cx="1800493" cy="369332"/>
          </a:xfrm>
          <a:prstGeom prst="rect">
            <a:avLst/>
          </a:prstGeom>
          <a:noFill/>
        </p:spPr>
        <p:txBody>
          <a:bodyPr wrap="none" rtlCol="0">
            <a:spAutoFit/>
          </a:bodyPr>
          <a:lstStyle/>
          <a:p>
            <a:r>
              <a:rPr kumimoji="1" lang="ja-JP" altLang="en-US" b="1">
                <a:latin typeface="Yu Gothic" panose="020B0400000000000000" pitchFamily="34" charset="-128"/>
                <a:ea typeface="Yu Gothic" panose="020B0400000000000000" pitchFamily="34" charset="-128"/>
              </a:rPr>
              <a:t>スクリーニング</a:t>
            </a:r>
          </a:p>
        </p:txBody>
      </p:sp>
      <p:cxnSp>
        <p:nvCxnSpPr>
          <p:cNvPr id="24" name="直線コネクタ 23">
            <a:extLst>
              <a:ext uri="{FF2B5EF4-FFF2-40B4-BE49-F238E27FC236}">
                <a16:creationId xmlns:a16="http://schemas.microsoft.com/office/drawing/2014/main" id="{76ABCA3E-0752-BFA2-E887-D351A79313B9}"/>
              </a:ext>
            </a:extLst>
          </p:cNvPr>
          <p:cNvCxnSpPr>
            <a:cxnSpLocks noChangeAspect="1"/>
          </p:cNvCxnSpPr>
          <p:nvPr/>
        </p:nvCxnSpPr>
        <p:spPr>
          <a:xfrm flipH="1" flipV="1">
            <a:off x="4474088" y="2294525"/>
            <a:ext cx="171473" cy="540000"/>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25" name="テキスト ボックス 24">
            <a:extLst>
              <a:ext uri="{FF2B5EF4-FFF2-40B4-BE49-F238E27FC236}">
                <a16:creationId xmlns:a16="http://schemas.microsoft.com/office/drawing/2014/main" id="{F4DE5C60-7F03-1142-E632-3F2239A7EEA8}"/>
              </a:ext>
            </a:extLst>
          </p:cNvPr>
          <p:cNvSpPr txBox="1"/>
          <p:nvPr/>
        </p:nvSpPr>
        <p:spPr>
          <a:xfrm>
            <a:off x="3328108" y="1921208"/>
            <a:ext cx="2262158" cy="369332"/>
          </a:xfrm>
          <a:prstGeom prst="rect">
            <a:avLst/>
          </a:prstGeom>
          <a:noFill/>
        </p:spPr>
        <p:txBody>
          <a:bodyPr wrap="none" rtlCol="0">
            <a:spAutoFit/>
          </a:bodyPr>
          <a:lstStyle/>
          <a:p>
            <a:r>
              <a:rPr kumimoji="1" lang="ja-JP" altLang="en-US" b="1">
                <a:latin typeface="Yu Gothic" panose="020B0400000000000000" pitchFamily="34" charset="-128"/>
                <a:ea typeface="Yu Gothic" panose="020B0400000000000000" pitchFamily="34" charset="-128"/>
              </a:rPr>
              <a:t>ミセル活性崩壊試験</a:t>
            </a:r>
          </a:p>
        </p:txBody>
      </p:sp>
      <p:sp>
        <p:nvSpPr>
          <p:cNvPr id="26" name="テキスト ボックス 25">
            <a:extLst>
              <a:ext uri="{FF2B5EF4-FFF2-40B4-BE49-F238E27FC236}">
                <a16:creationId xmlns:a16="http://schemas.microsoft.com/office/drawing/2014/main" id="{9F3CAFE6-B043-704C-0503-D4CD59705A62}"/>
              </a:ext>
            </a:extLst>
          </p:cNvPr>
          <p:cNvSpPr txBox="1"/>
          <p:nvPr/>
        </p:nvSpPr>
        <p:spPr>
          <a:xfrm>
            <a:off x="6208699" y="1138037"/>
            <a:ext cx="1731564" cy="369332"/>
          </a:xfrm>
          <a:prstGeom prst="rect">
            <a:avLst/>
          </a:prstGeom>
          <a:noFill/>
        </p:spPr>
        <p:txBody>
          <a:bodyPr wrap="none" rtlCol="0">
            <a:spAutoFit/>
          </a:bodyPr>
          <a:lstStyle/>
          <a:p>
            <a:r>
              <a:rPr kumimoji="1" lang="en-US" altLang="ja-JP" b="1" dirty="0">
                <a:latin typeface="Yu Gothic" panose="020B0400000000000000" pitchFamily="34" charset="-128"/>
                <a:ea typeface="Yu Gothic" panose="020B0400000000000000" pitchFamily="34" charset="-128"/>
              </a:rPr>
              <a:t>TGR5</a:t>
            </a:r>
            <a:r>
              <a:rPr kumimoji="1" lang="ja-JP" altLang="en-US" b="1">
                <a:latin typeface="Yu Gothic" panose="020B0400000000000000" pitchFamily="34" charset="-128"/>
                <a:ea typeface="Yu Gothic" panose="020B0400000000000000" pitchFamily="34" charset="-128"/>
              </a:rPr>
              <a:t>活性評価</a:t>
            </a:r>
          </a:p>
        </p:txBody>
      </p:sp>
      <p:cxnSp>
        <p:nvCxnSpPr>
          <p:cNvPr id="44" name="直線矢印コネクタ 43">
            <a:extLst>
              <a:ext uri="{FF2B5EF4-FFF2-40B4-BE49-F238E27FC236}">
                <a16:creationId xmlns:a16="http://schemas.microsoft.com/office/drawing/2014/main" id="{3AFF15C6-B417-B01E-B641-467CC9258AF7}"/>
              </a:ext>
            </a:extLst>
          </p:cNvPr>
          <p:cNvCxnSpPr>
            <a:cxnSpLocks noChangeAspect="1"/>
          </p:cNvCxnSpPr>
          <p:nvPr/>
        </p:nvCxnSpPr>
        <p:spPr>
          <a:xfrm>
            <a:off x="636452" y="6185357"/>
            <a:ext cx="9906580"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59" name="直線コネクタ 58">
            <a:extLst>
              <a:ext uri="{FF2B5EF4-FFF2-40B4-BE49-F238E27FC236}">
                <a16:creationId xmlns:a16="http://schemas.microsoft.com/office/drawing/2014/main" id="{411E9327-480A-FC7E-A607-BFBCB2E1843D}"/>
              </a:ext>
            </a:extLst>
          </p:cNvPr>
          <p:cNvCxnSpPr>
            <a:cxnSpLocks noChangeAspect="1"/>
            <a:endCxn id="58" idx="1"/>
          </p:cNvCxnSpPr>
          <p:nvPr/>
        </p:nvCxnSpPr>
        <p:spPr>
          <a:xfrm>
            <a:off x="1679215" y="4872087"/>
            <a:ext cx="988091" cy="0"/>
          </a:xfrm>
          <a:prstGeom prst="line">
            <a:avLst/>
          </a:prstGeom>
        </p:spPr>
        <p:style>
          <a:lnRef idx="3">
            <a:schemeClr val="accent4"/>
          </a:lnRef>
          <a:fillRef idx="0">
            <a:schemeClr val="accent4"/>
          </a:fillRef>
          <a:effectRef idx="2">
            <a:schemeClr val="accent4"/>
          </a:effectRef>
          <a:fontRef idx="minor">
            <a:schemeClr val="tx1"/>
          </a:fontRef>
        </p:style>
      </p:cxnSp>
      <p:sp>
        <p:nvSpPr>
          <p:cNvPr id="60" name="テキスト ボックス 59">
            <a:extLst>
              <a:ext uri="{FF2B5EF4-FFF2-40B4-BE49-F238E27FC236}">
                <a16:creationId xmlns:a16="http://schemas.microsoft.com/office/drawing/2014/main" id="{9513200B-88BD-ABA3-1C53-BC8F5E5D6456}"/>
              </a:ext>
            </a:extLst>
          </p:cNvPr>
          <p:cNvSpPr txBox="1"/>
          <p:nvPr/>
        </p:nvSpPr>
        <p:spPr>
          <a:xfrm>
            <a:off x="2796956" y="5115372"/>
            <a:ext cx="1620957" cy="338554"/>
          </a:xfrm>
          <a:prstGeom prst="rect">
            <a:avLst/>
          </a:prstGeom>
          <a:noFill/>
        </p:spPr>
        <p:txBody>
          <a:bodyPr wrap="none" rtlCol="0">
            <a:spAutoFit/>
          </a:bodyPr>
          <a:lstStyle/>
          <a:p>
            <a:r>
              <a:rPr lang="ja-JP" altLang="en-US" sz="1600">
                <a:latin typeface="Yu Gothic" panose="020B0400000000000000" pitchFamily="34" charset="-128"/>
                <a:ea typeface="Yu Gothic" panose="020B0400000000000000" pitchFamily="34" charset="-128"/>
              </a:rPr>
              <a:t>プログラム構築</a:t>
            </a:r>
            <a:endParaRPr kumimoji="1" lang="ja-JP" altLang="en-US" sz="1600">
              <a:latin typeface="Yu Gothic" panose="020B0400000000000000" pitchFamily="34" charset="-128"/>
              <a:ea typeface="Yu Gothic" panose="020B0400000000000000" pitchFamily="34" charset="-128"/>
            </a:endParaRPr>
          </a:p>
        </p:txBody>
      </p:sp>
      <p:cxnSp>
        <p:nvCxnSpPr>
          <p:cNvPr id="61" name="直線コネクタ 60">
            <a:extLst>
              <a:ext uri="{FF2B5EF4-FFF2-40B4-BE49-F238E27FC236}">
                <a16:creationId xmlns:a16="http://schemas.microsoft.com/office/drawing/2014/main" id="{CD431D46-5C6B-ADCF-EAD1-803685C3A7C7}"/>
              </a:ext>
            </a:extLst>
          </p:cNvPr>
          <p:cNvCxnSpPr>
            <a:cxnSpLocks noChangeAspect="1"/>
            <a:endCxn id="60" idx="1"/>
          </p:cNvCxnSpPr>
          <p:nvPr/>
        </p:nvCxnSpPr>
        <p:spPr>
          <a:xfrm>
            <a:off x="1808865" y="5284649"/>
            <a:ext cx="988091" cy="0"/>
          </a:xfrm>
          <a:prstGeom prst="line">
            <a:avLst/>
          </a:prstGeom>
        </p:spPr>
        <p:style>
          <a:lnRef idx="3">
            <a:schemeClr val="accent4"/>
          </a:lnRef>
          <a:fillRef idx="0">
            <a:schemeClr val="accent4"/>
          </a:fillRef>
          <a:effectRef idx="2">
            <a:schemeClr val="accent4"/>
          </a:effectRef>
          <a:fontRef idx="minor">
            <a:schemeClr val="tx1"/>
          </a:fontRef>
        </p:style>
      </p:cxnSp>
      <p:sp>
        <p:nvSpPr>
          <p:cNvPr id="62" name="テキスト ボックス 61">
            <a:extLst>
              <a:ext uri="{FF2B5EF4-FFF2-40B4-BE49-F238E27FC236}">
                <a16:creationId xmlns:a16="http://schemas.microsoft.com/office/drawing/2014/main" id="{37E49D49-687D-61C9-E6E9-703098005CEA}"/>
              </a:ext>
            </a:extLst>
          </p:cNvPr>
          <p:cNvSpPr txBox="1"/>
          <p:nvPr/>
        </p:nvSpPr>
        <p:spPr>
          <a:xfrm>
            <a:off x="2928935" y="5527934"/>
            <a:ext cx="1210588" cy="338554"/>
          </a:xfrm>
          <a:prstGeom prst="rect">
            <a:avLst/>
          </a:prstGeom>
          <a:noFill/>
        </p:spPr>
        <p:txBody>
          <a:bodyPr wrap="none" rtlCol="0">
            <a:spAutoFit/>
          </a:bodyPr>
          <a:lstStyle/>
          <a:p>
            <a:r>
              <a:rPr kumimoji="1" lang="ja-JP" altLang="en-US" sz="1600">
                <a:latin typeface="Yu Gothic" panose="020B0400000000000000" pitchFamily="34" charset="-128"/>
                <a:ea typeface="Yu Gothic" panose="020B0400000000000000" pitchFamily="34" charset="-128"/>
              </a:rPr>
              <a:t>データ出力</a:t>
            </a:r>
          </a:p>
        </p:txBody>
      </p:sp>
      <p:cxnSp>
        <p:nvCxnSpPr>
          <p:cNvPr id="63" name="直線コネクタ 62">
            <a:extLst>
              <a:ext uri="{FF2B5EF4-FFF2-40B4-BE49-F238E27FC236}">
                <a16:creationId xmlns:a16="http://schemas.microsoft.com/office/drawing/2014/main" id="{75299E82-2A4A-88EA-B39A-A0CEE3000494}"/>
              </a:ext>
            </a:extLst>
          </p:cNvPr>
          <p:cNvCxnSpPr>
            <a:cxnSpLocks noChangeAspect="1"/>
            <a:endCxn id="62" idx="1"/>
          </p:cNvCxnSpPr>
          <p:nvPr/>
        </p:nvCxnSpPr>
        <p:spPr>
          <a:xfrm>
            <a:off x="1940844" y="5697211"/>
            <a:ext cx="988091"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73" name="直線コネクタ 72">
            <a:extLst>
              <a:ext uri="{FF2B5EF4-FFF2-40B4-BE49-F238E27FC236}">
                <a16:creationId xmlns:a16="http://schemas.microsoft.com/office/drawing/2014/main" id="{EBD06E05-4A0E-AA30-896E-C597BC0C8DDC}"/>
              </a:ext>
            </a:extLst>
          </p:cNvPr>
          <p:cNvCxnSpPr>
            <a:cxnSpLocks noChangeAspect="1"/>
          </p:cNvCxnSpPr>
          <p:nvPr/>
        </p:nvCxnSpPr>
        <p:spPr>
          <a:xfrm flipH="1" flipV="1">
            <a:off x="4605043" y="4354947"/>
            <a:ext cx="585057" cy="1842459"/>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75" name="テキスト ボックス 74">
            <a:extLst>
              <a:ext uri="{FF2B5EF4-FFF2-40B4-BE49-F238E27FC236}">
                <a16:creationId xmlns:a16="http://schemas.microsoft.com/office/drawing/2014/main" id="{FB71F8C0-7C11-F179-E332-12DDB9030AFB}"/>
              </a:ext>
            </a:extLst>
          </p:cNvPr>
          <p:cNvSpPr txBox="1"/>
          <p:nvPr/>
        </p:nvSpPr>
        <p:spPr>
          <a:xfrm>
            <a:off x="5687167" y="4467971"/>
            <a:ext cx="1005403" cy="338554"/>
          </a:xfrm>
          <a:prstGeom prst="rect">
            <a:avLst/>
          </a:prstGeom>
          <a:noFill/>
        </p:spPr>
        <p:txBody>
          <a:bodyPr wrap="none" rtlCol="0">
            <a:spAutoFit/>
          </a:bodyPr>
          <a:lstStyle/>
          <a:p>
            <a:r>
              <a:rPr lang="ja-JP" altLang="en-US" sz="1600">
                <a:latin typeface="Yu Gothic" panose="020B0400000000000000" pitchFamily="34" charset="-128"/>
                <a:ea typeface="Yu Gothic" panose="020B0400000000000000" pitchFamily="34" charset="-128"/>
              </a:rPr>
              <a:t>手技習得</a:t>
            </a:r>
            <a:endParaRPr kumimoji="1" lang="ja-JP" altLang="en-US" sz="1600">
              <a:latin typeface="Yu Gothic" panose="020B0400000000000000" pitchFamily="34" charset="-128"/>
              <a:ea typeface="Yu Gothic" panose="020B0400000000000000" pitchFamily="34" charset="-128"/>
            </a:endParaRPr>
          </a:p>
        </p:txBody>
      </p:sp>
      <p:cxnSp>
        <p:nvCxnSpPr>
          <p:cNvPr id="76" name="直線コネクタ 75">
            <a:extLst>
              <a:ext uri="{FF2B5EF4-FFF2-40B4-BE49-F238E27FC236}">
                <a16:creationId xmlns:a16="http://schemas.microsoft.com/office/drawing/2014/main" id="{7DE5A883-3B90-25DB-0B06-C605869BFB63}"/>
              </a:ext>
            </a:extLst>
          </p:cNvPr>
          <p:cNvCxnSpPr>
            <a:cxnSpLocks noChangeAspect="1"/>
            <a:endCxn id="75" idx="1"/>
          </p:cNvCxnSpPr>
          <p:nvPr/>
        </p:nvCxnSpPr>
        <p:spPr>
          <a:xfrm>
            <a:off x="4699076" y="4637248"/>
            <a:ext cx="988091" cy="0"/>
          </a:xfrm>
          <a:prstGeom prst="line">
            <a:avLst/>
          </a:prstGeom>
        </p:spPr>
        <p:style>
          <a:lnRef idx="3">
            <a:schemeClr val="accent4"/>
          </a:lnRef>
          <a:fillRef idx="0">
            <a:schemeClr val="accent4"/>
          </a:fillRef>
          <a:effectRef idx="2">
            <a:schemeClr val="accent4"/>
          </a:effectRef>
          <a:fontRef idx="minor">
            <a:schemeClr val="tx1"/>
          </a:fontRef>
        </p:style>
      </p:cxnSp>
      <p:sp>
        <p:nvSpPr>
          <p:cNvPr id="77" name="テキスト ボックス 76">
            <a:extLst>
              <a:ext uri="{FF2B5EF4-FFF2-40B4-BE49-F238E27FC236}">
                <a16:creationId xmlns:a16="http://schemas.microsoft.com/office/drawing/2014/main" id="{348E4506-945B-957F-7B36-28F837119BBB}"/>
              </a:ext>
            </a:extLst>
          </p:cNvPr>
          <p:cNvSpPr txBox="1"/>
          <p:nvPr/>
        </p:nvSpPr>
        <p:spPr>
          <a:xfrm>
            <a:off x="5816817" y="4880533"/>
            <a:ext cx="1415772" cy="338554"/>
          </a:xfrm>
          <a:prstGeom prst="rect">
            <a:avLst/>
          </a:prstGeom>
          <a:noFill/>
        </p:spPr>
        <p:txBody>
          <a:bodyPr wrap="none" rtlCol="0">
            <a:spAutoFit/>
          </a:bodyPr>
          <a:lstStyle/>
          <a:p>
            <a:r>
              <a:rPr lang="ja-JP" altLang="en-US" sz="1600">
                <a:latin typeface="Yu Gothic" panose="020B0400000000000000" pitchFamily="34" charset="-128"/>
                <a:ea typeface="Yu Gothic" panose="020B0400000000000000" pitchFamily="34" charset="-128"/>
              </a:rPr>
              <a:t>評価系の改善</a:t>
            </a:r>
            <a:endParaRPr kumimoji="1" lang="ja-JP" altLang="en-US" sz="1600">
              <a:latin typeface="Yu Gothic" panose="020B0400000000000000" pitchFamily="34" charset="-128"/>
              <a:ea typeface="Yu Gothic" panose="020B0400000000000000" pitchFamily="34" charset="-128"/>
            </a:endParaRPr>
          </a:p>
        </p:txBody>
      </p:sp>
      <p:cxnSp>
        <p:nvCxnSpPr>
          <p:cNvPr id="78" name="直線コネクタ 77">
            <a:extLst>
              <a:ext uri="{FF2B5EF4-FFF2-40B4-BE49-F238E27FC236}">
                <a16:creationId xmlns:a16="http://schemas.microsoft.com/office/drawing/2014/main" id="{2A295868-4459-DA75-CFD5-2BF6B3D2FABE}"/>
              </a:ext>
            </a:extLst>
          </p:cNvPr>
          <p:cNvCxnSpPr>
            <a:cxnSpLocks noChangeAspect="1"/>
            <a:endCxn id="77" idx="1"/>
          </p:cNvCxnSpPr>
          <p:nvPr/>
        </p:nvCxnSpPr>
        <p:spPr>
          <a:xfrm>
            <a:off x="4828726" y="5049810"/>
            <a:ext cx="988091" cy="0"/>
          </a:xfrm>
          <a:prstGeom prst="line">
            <a:avLst/>
          </a:prstGeom>
        </p:spPr>
        <p:style>
          <a:lnRef idx="3">
            <a:schemeClr val="accent4"/>
          </a:lnRef>
          <a:fillRef idx="0">
            <a:schemeClr val="accent4"/>
          </a:fillRef>
          <a:effectRef idx="2">
            <a:schemeClr val="accent4"/>
          </a:effectRef>
          <a:fontRef idx="minor">
            <a:schemeClr val="tx1"/>
          </a:fontRef>
        </p:style>
      </p:cxnSp>
      <p:sp>
        <p:nvSpPr>
          <p:cNvPr id="79" name="テキスト ボックス 78">
            <a:extLst>
              <a:ext uri="{FF2B5EF4-FFF2-40B4-BE49-F238E27FC236}">
                <a16:creationId xmlns:a16="http://schemas.microsoft.com/office/drawing/2014/main" id="{B23B62AA-17CE-D818-A51B-E7B603DBABAE}"/>
              </a:ext>
            </a:extLst>
          </p:cNvPr>
          <p:cNvSpPr txBox="1"/>
          <p:nvPr/>
        </p:nvSpPr>
        <p:spPr>
          <a:xfrm>
            <a:off x="5948796" y="5293095"/>
            <a:ext cx="1415772" cy="338554"/>
          </a:xfrm>
          <a:prstGeom prst="rect">
            <a:avLst/>
          </a:prstGeom>
          <a:noFill/>
        </p:spPr>
        <p:txBody>
          <a:bodyPr wrap="none" rtlCol="0">
            <a:spAutoFit/>
          </a:bodyPr>
          <a:lstStyle/>
          <a:p>
            <a:r>
              <a:rPr kumimoji="1" lang="ja-JP" altLang="en-US" sz="1600">
                <a:latin typeface="Yu Gothic" panose="020B0400000000000000" pitchFamily="34" charset="-128"/>
                <a:ea typeface="Yu Gothic" panose="020B0400000000000000" pitchFamily="34" charset="-128"/>
              </a:rPr>
              <a:t>ペプチド合成</a:t>
            </a:r>
          </a:p>
        </p:txBody>
      </p:sp>
      <p:cxnSp>
        <p:nvCxnSpPr>
          <p:cNvPr id="80" name="直線コネクタ 79">
            <a:extLst>
              <a:ext uri="{FF2B5EF4-FFF2-40B4-BE49-F238E27FC236}">
                <a16:creationId xmlns:a16="http://schemas.microsoft.com/office/drawing/2014/main" id="{6AEA3829-BA1B-1D16-4E1B-EAD501980980}"/>
              </a:ext>
            </a:extLst>
          </p:cNvPr>
          <p:cNvCxnSpPr>
            <a:cxnSpLocks noChangeAspect="1"/>
            <a:endCxn id="79" idx="1"/>
          </p:cNvCxnSpPr>
          <p:nvPr/>
        </p:nvCxnSpPr>
        <p:spPr>
          <a:xfrm>
            <a:off x="4960705" y="5462372"/>
            <a:ext cx="988091" cy="0"/>
          </a:xfrm>
          <a:prstGeom prst="line">
            <a:avLst/>
          </a:prstGeom>
        </p:spPr>
        <p:style>
          <a:lnRef idx="3">
            <a:schemeClr val="accent4"/>
          </a:lnRef>
          <a:fillRef idx="0">
            <a:schemeClr val="accent4"/>
          </a:fillRef>
          <a:effectRef idx="2">
            <a:schemeClr val="accent4"/>
          </a:effectRef>
          <a:fontRef idx="minor">
            <a:schemeClr val="tx1"/>
          </a:fontRef>
        </p:style>
      </p:cxnSp>
      <p:sp>
        <p:nvSpPr>
          <p:cNvPr id="81" name="テキスト ボックス 80">
            <a:extLst>
              <a:ext uri="{FF2B5EF4-FFF2-40B4-BE49-F238E27FC236}">
                <a16:creationId xmlns:a16="http://schemas.microsoft.com/office/drawing/2014/main" id="{12884AEC-A3A0-3287-BD27-BFA89644EF30}"/>
              </a:ext>
            </a:extLst>
          </p:cNvPr>
          <p:cNvSpPr txBox="1"/>
          <p:nvPr/>
        </p:nvSpPr>
        <p:spPr>
          <a:xfrm>
            <a:off x="6080772" y="5705658"/>
            <a:ext cx="1005403" cy="338554"/>
          </a:xfrm>
          <a:prstGeom prst="rect">
            <a:avLst/>
          </a:prstGeom>
          <a:noFill/>
        </p:spPr>
        <p:txBody>
          <a:bodyPr wrap="none" rtlCol="0">
            <a:spAutoFit/>
          </a:bodyPr>
          <a:lstStyle/>
          <a:p>
            <a:r>
              <a:rPr kumimoji="1" lang="ja-JP" altLang="en-US" sz="1600">
                <a:latin typeface="Yu Gothic" panose="020B0400000000000000" pitchFamily="34" charset="-128"/>
                <a:ea typeface="Yu Gothic" panose="020B0400000000000000" pitchFamily="34" charset="-128"/>
              </a:rPr>
              <a:t>活性評価</a:t>
            </a:r>
          </a:p>
        </p:txBody>
      </p:sp>
      <p:cxnSp>
        <p:nvCxnSpPr>
          <p:cNvPr id="82" name="直線コネクタ 81">
            <a:extLst>
              <a:ext uri="{FF2B5EF4-FFF2-40B4-BE49-F238E27FC236}">
                <a16:creationId xmlns:a16="http://schemas.microsoft.com/office/drawing/2014/main" id="{D5B4BF5B-4B10-0D1D-8DEA-CC5583BC53C0}"/>
              </a:ext>
            </a:extLst>
          </p:cNvPr>
          <p:cNvCxnSpPr>
            <a:cxnSpLocks noChangeAspect="1"/>
            <a:endCxn id="81" idx="1"/>
          </p:cNvCxnSpPr>
          <p:nvPr/>
        </p:nvCxnSpPr>
        <p:spPr>
          <a:xfrm>
            <a:off x="5092681" y="5874935"/>
            <a:ext cx="988091"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83" name="直線コネクタ 82">
            <a:extLst>
              <a:ext uri="{FF2B5EF4-FFF2-40B4-BE49-F238E27FC236}">
                <a16:creationId xmlns:a16="http://schemas.microsoft.com/office/drawing/2014/main" id="{E08E1C73-5B99-3DCC-1D4F-349CA3DB89B2}"/>
              </a:ext>
            </a:extLst>
          </p:cNvPr>
          <p:cNvCxnSpPr>
            <a:cxnSpLocks noChangeAspect="1"/>
          </p:cNvCxnSpPr>
          <p:nvPr/>
        </p:nvCxnSpPr>
        <p:spPr>
          <a:xfrm flipH="1" flipV="1">
            <a:off x="7649324" y="4354947"/>
            <a:ext cx="585057" cy="1842459"/>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84" name="テキスト ボックス 83">
            <a:extLst>
              <a:ext uri="{FF2B5EF4-FFF2-40B4-BE49-F238E27FC236}">
                <a16:creationId xmlns:a16="http://schemas.microsoft.com/office/drawing/2014/main" id="{BF6F0795-F790-2AE0-EA4A-1CAED8A9DCBA}"/>
              </a:ext>
            </a:extLst>
          </p:cNvPr>
          <p:cNvSpPr txBox="1"/>
          <p:nvPr/>
        </p:nvSpPr>
        <p:spPr>
          <a:xfrm>
            <a:off x="6749077" y="3973064"/>
            <a:ext cx="1800493" cy="369332"/>
          </a:xfrm>
          <a:prstGeom prst="rect">
            <a:avLst/>
          </a:prstGeom>
          <a:noFill/>
        </p:spPr>
        <p:txBody>
          <a:bodyPr wrap="none" rtlCol="0">
            <a:spAutoFit/>
          </a:bodyPr>
          <a:lstStyle/>
          <a:p>
            <a:r>
              <a:rPr kumimoji="1" lang="ja-JP" altLang="en-US" b="1">
                <a:latin typeface="Yu Gothic" panose="020B0400000000000000" pitchFamily="34" charset="-128"/>
                <a:ea typeface="Yu Gothic" panose="020B0400000000000000" pitchFamily="34" charset="-128"/>
              </a:rPr>
              <a:t>スクリーニング</a:t>
            </a:r>
          </a:p>
        </p:txBody>
      </p:sp>
      <p:sp>
        <p:nvSpPr>
          <p:cNvPr id="85" name="テキスト ボックス 84">
            <a:extLst>
              <a:ext uri="{FF2B5EF4-FFF2-40B4-BE49-F238E27FC236}">
                <a16:creationId xmlns:a16="http://schemas.microsoft.com/office/drawing/2014/main" id="{6ADDC343-A78F-B6FF-4340-A3D247E5492A}"/>
              </a:ext>
            </a:extLst>
          </p:cNvPr>
          <p:cNvSpPr txBox="1"/>
          <p:nvPr/>
        </p:nvSpPr>
        <p:spPr>
          <a:xfrm>
            <a:off x="8795456" y="4678283"/>
            <a:ext cx="595035" cy="338554"/>
          </a:xfrm>
          <a:prstGeom prst="rect">
            <a:avLst/>
          </a:prstGeom>
          <a:noFill/>
        </p:spPr>
        <p:txBody>
          <a:bodyPr wrap="none" rtlCol="0">
            <a:spAutoFit/>
          </a:bodyPr>
          <a:lstStyle/>
          <a:p>
            <a:r>
              <a:rPr kumimoji="1" lang="ja-JP" altLang="en-US" sz="1600">
                <a:latin typeface="Yu Gothic" panose="020B0400000000000000" pitchFamily="34" charset="-128"/>
                <a:ea typeface="Yu Gothic" panose="020B0400000000000000" pitchFamily="34" charset="-128"/>
              </a:rPr>
              <a:t>調査</a:t>
            </a:r>
          </a:p>
        </p:txBody>
      </p:sp>
      <p:cxnSp>
        <p:nvCxnSpPr>
          <p:cNvPr id="86" name="直線コネクタ 85">
            <a:extLst>
              <a:ext uri="{FF2B5EF4-FFF2-40B4-BE49-F238E27FC236}">
                <a16:creationId xmlns:a16="http://schemas.microsoft.com/office/drawing/2014/main" id="{7CBB8E44-10D5-6521-E6E9-478EA82537BE}"/>
              </a:ext>
            </a:extLst>
          </p:cNvPr>
          <p:cNvCxnSpPr>
            <a:cxnSpLocks noChangeAspect="1"/>
            <a:endCxn id="85" idx="1"/>
          </p:cNvCxnSpPr>
          <p:nvPr/>
        </p:nvCxnSpPr>
        <p:spPr>
          <a:xfrm>
            <a:off x="7807365" y="4847560"/>
            <a:ext cx="988091" cy="0"/>
          </a:xfrm>
          <a:prstGeom prst="line">
            <a:avLst/>
          </a:prstGeom>
        </p:spPr>
        <p:style>
          <a:lnRef idx="3">
            <a:schemeClr val="accent4"/>
          </a:lnRef>
          <a:fillRef idx="0">
            <a:schemeClr val="accent4"/>
          </a:fillRef>
          <a:effectRef idx="2">
            <a:schemeClr val="accent4"/>
          </a:effectRef>
          <a:fontRef idx="minor">
            <a:schemeClr val="tx1"/>
          </a:fontRef>
        </p:style>
      </p:cxnSp>
      <p:sp>
        <p:nvSpPr>
          <p:cNvPr id="87" name="テキスト ボックス 86">
            <a:extLst>
              <a:ext uri="{FF2B5EF4-FFF2-40B4-BE49-F238E27FC236}">
                <a16:creationId xmlns:a16="http://schemas.microsoft.com/office/drawing/2014/main" id="{FB89E5CD-3EDF-89C6-55C0-DA6E20B5228B}"/>
              </a:ext>
            </a:extLst>
          </p:cNvPr>
          <p:cNvSpPr txBox="1"/>
          <p:nvPr/>
        </p:nvSpPr>
        <p:spPr>
          <a:xfrm>
            <a:off x="8925106" y="5090845"/>
            <a:ext cx="595035" cy="338554"/>
          </a:xfrm>
          <a:prstGeom prst="rect">
            <a:avLst/>
          </a:prstGeom>
          <a:noFill/>
        </p:spPr>
        <p:txBody>
          <a:bodyPr wrap="none" rtlCol="0">
            <a:spAutoFit/>
          </a:bodyPr>
          <a:lstStyle/>
          <a:p>
            <a:r>
              <a:rPr lang="ja-JP" altLang="en-US" sz="1600">
                <a:latin typeface="Yu Gothic" panose="020B0400000000000000" pitchFamily="34" charset="-128"/>
                <a:ea typeface="Yu Gothic" panose="020B0400000000000000" pitchFamily="34" charset="-128"/>
              </a:rPr>
              <a:t>分取</a:t>
            </a:r>
            <a:endParaRPr kumimoji="1" lang="ja-JP" altLang="en-US" sz="1600">
              <a:latin typeface="Yu Gothic" panose="020B0400000000000000" pitchFamily="34" charset="-128"/>
              <a:ea typeface="Yu Gothic" panose="020B0400000000000000" pitchFamily="34" charset="-128"/>
            </a:endParaRPr>
          </a:p>
        </p:txBody>
      </p:sp>
      <p:cxnSp>
        <p:nvCxnSpPr>
          <p:cNvPr id="88" name="直線コネクタ 87">
            <a:extLst>
              <a:ext uri="{FF2B5EF4-FFF2-40B4-BE49-F238E27FC236}">
                <a16:creationId xmlns:a16="http://schemas.microsoft.com/office/drawing/2014/main" id="{7530F600-166B-D364-2215-259C6FD725D3}"/>
              </a:ext>
            </a:extLst>
          </p:cNvPr>
          <p:cNvCxnSpPr>
            <a:cxnSpLocks noChangeAspect="1"/>
            <a:endCxn id="87" idx="1"/>
          </p:cNvCxnSpPr>
          <p:nvPr/>
        </p:nvCxnSpPr>
        <p:spPr>
          <a:xfrm>
            <a:off x="7937015" y="5260122"/>
            <a:ext cx="988091" cy="0"/>
          </a:xfrm>
          <a:prstGeom prst="line">
            <a:avLst/>
          </a:prstGeom>
        </p:spPr>
        <p:style>
          <a:lnRef idx="3">
            <a:schemeClr val="accent4"/>
          </a:lnRef>
          <a:fillRef idx="0">
            <a:schemeClr val="accent4"/>
          </a:fillRef>
          <a:effectRef idx="2">
            <a:schemeClr val="accent4"/>
          </a:effectRef>
          <a:fontRef idx="minor">
            <a:schemeClr val="tx1"/>
          </a:fontRef>
        </p:style>
      </p:cxnSp>
      <p:sp>
        <p:nvSpPr>
          <p:cNvPr id="89" name="テキスト ボックス 88">
            <a:extLst>
              <a:ext uri="{FF2B5EF4-FFF2-40B4-BE49-F238E27FC236}">
                <a16:creationId xmlns:a16="http://schemas.microsoft.com/office/drawing/2014/main" id="{A87CA7DE-4056-2E76-4720-E241A083C153}"/>
              </a:ext>
            </a:extLst>
          </p:cNvPr>
          <p:cNvSpPr txBox="1"/>
          <p:nvPr/>
        </p:nvSpPr>
        <p:spPr>
          <a:xfrm>
            <a:off x="9057085" y="5503407"/>
            <a:ext cx="1005403" cy="338554"/>
          </a:xfrm>
          <a:prstGeom prst="rect">
            <a:avLst/>
          </a:prstGeom>
          <a:noFill/>
        </p:spPr>
        <p:txBody>
          <a:bodyPr wrap="none" rtlCol="0">
            <a:spAutoFit/>
          </a:bodyPr>
          <a:lstStyle/>
          <a:p>
            <a:r>
              <a:rPr kumimoji="1" lang="ja-JP" altLang="en-US" sz="1600">
                <a:latin typeface="Yu Gothic" panose="020B0400000000000000" pitchFamily="34" charset="-128"/>
                <a:ea typeface="Yu Gothic" panose="020B0400000000000000" pitchFamily="34" charset="-128"/>
              </a:rPr>
              <a:t>活性評価</a:t>
            </a:r>
          </a:p>
        </p:txBody>
      </p:sp>
      <p:cxnSp>
        <p:nvCxnSpPr>
          <p:cNvPr id="90" name="直線コネクタ 89">
            <a:extLst>
              <a:ext uri="{FF2B5EF4-FFF2-40B4-BE49-F238E27FC236}">
                <a16:creationId xmlns:a16="http://schemas.microsoft.com/office/drawing/2014/main" id="{90C477D3-71F0-74AE-8A66-48886950A17B}"/>
              </a:ext>
            </a:extLst>
          </p:cNvPr>
          <p:cNvCxnSpPr>
            <a:cxnSpLocks noChangeAspect="1"/>
            <a:endCxn id="89" idx="1"/>
          </p:cNvCxnSpPr>
          <p:nvPr/>
        </p:nvCxnSpPr>
        <p:spPr>
          <a:xfrm>
            <a:off x="8068994" y="5672684"/>
            <a:ext cx="988091" cy="0"/>
          </a:xfrm>
          <a:prstGeom prst="line">
            <a:avLst/>
          </a:prstGeom>
        </p:spPr>
        <p:style>
          <a:lnRef idx="3">
            <a:schemeClr val="accent4"/>
          </a:lnRef>
          <a:fillRef idx="0">
            <a:schemeClr val="accent4"/>
          </a:fillRef>
          <a:effectRef idx="2">
            <a:schemeClr val="accent4"/>
          </a:effectRef>
          <a:fontRef idx="minor">
            <a:schemeClr val="tx1"/>
          </a:fontRef>
        </p:style>
      </p:cxnSp>
      <p:sp>
        <p:nvSpPr>
          <p:cNvPr id="93" name="テキスト ボックス 92">
            <a:extLst>
              <a:ext uri="{FF2B5EF4-FFF2-40B4-BE49-F238E27FC236}">
                <a16:creationId xmlns:a16="http://schemas.microsoft.com/office/drawing/2014/main" id="{84CF0762-A31B-77FB-4681-C054D2A0C31A}"/>
              </a:ext>
            </a:extLst>
          </p:cNvPr>
          <p:cNvSpPr txBox="1"/>
          <p:nvPr/>
        </p:nvSpPr>
        <p:spPr>
          <a:xfrm>
            <a:off x="8139205" y="1547240"/>
            <a:ext cx="1005403" cy="338554"/>
          </a:xfrm>
          <a:prstGeom prst="rect">
            <a:avLst/>
          </a:prstGeom>
          <a:noFill/>
        </p:spPr>
        <p:txBody>
          <a:bodyPr wrap="none" rtlCol="0">
            <a:spAutoFit/>
          </a:bodyPr>
          <a:lstStyle/>
          <a:p>
            <a:r>
              <a:rPr kumimoji="1" lang="ja-JP" altLang="en-US" sz="1600">
                <a:latin typeface="Yu Gothic" panose="020B0400000000000000" pitchFamily="34" charset="-128"/>
                <a:ea typeface="Yu Gothic" panose="020B0400000000000000" pitchFamily="34" charset="-128"/>
              </a:rPr>
              <a:t>活性評価</a:t>
            </a:r>
          </a:p>
        </p:txBody>
      </p:sp>
      <p:cxnSp>
        <p:nvCxnSpPr>
          <p:cNvPr id="94" name="直線コネクタ 93">
            <a:extLst>
              <a:ext uri="{FF2B5EF4-FFF2-40B4-BE49-F238E27FC236}">
                <a16:creationId xmlns:a16="http://schemas.microsoft.com/office/drawing/2014/main" id="{BABB59DA-9597-F9D2-AB03-117A34C592CD}"/>
              </a:ext>
            </a:extLst>
          </p:cNvPr>
          <p:cNvCxnSpPr>
            <a:cxnSpLocks noChangeAspect="1"/>
            <a:endCxn id="93" idx="1"/>
          </p:cNvCxnSpPr>
          <p:nvPr/>
        </p:nvCxnSpPr>
        <p:spPr>
          <a:xfrm>
            <a:off x="7151114" y="1716517"/>
            <a:ext cx="988091" cy="0"/>
          </a:xfrm>
          <a:prstGeom prst="line">
            <a:avLst/>
          </a:prstGeom>
        </p:spPr>
        <p:style>
          <a:lnRef idx="3">
            <a:schemeClr val="accent4"/>
          </a:lnRef>
          <a:fillRef idx="0">
            <a:schemeClr val="accent4"/>
          </a:fillRef>
          <a:effectRef idx="2">
            <a:schemeClr val="accent4"/>
          </a:effectRef>
          <a:fontRef idx="minor">
            <a:schemeClr val="tx1"/>
          </a:fontRef>
        </p:style>
      </p:cxnSp>
      <p:sp>
        <p:nvSpPr>
          <p:cNvPr id="95" name="テキスト ボックス 94">
            <a:extLst>
              <a:ext uri="{FF2B5EF4-FFF2-40B4-BE49-F238E27FC236}">
                <a16:creationId xmlns:a16="http://schemas.microsoft.com/office/drawing/2014/main" id="{DBB6DBF4-3DA7-B60A-2D1C-7AFA5A867DCA}"/>
              </a:ext>
            </a:extLst>
          </p:cNvPr>
          <p:cNvSpPr txBox="1"/>
          <p:nvPr/>
        </p:nvSpPr>
        <p:spPr>
          <a:xfrm>
            <a:off x="8268855" y="1959802"/>
            <a:ext cx="1210588" cy="338554"/>
          </a:xfrm>
          <a:prstGeom prst="rect">
            <a:avLst/>
          </a:prstGeom>
          <a:noFill/>
        </p:spPr>
        <p:txBody>
          <a:bodyPr wrap="none" rtlCol="0">
            <a:spAutoFit/>
          </a:bodyPr>
          <a:lstStyle/>
          <a:p>
            <a:r>
              <a:rPr lang="ja-JP" altLang="en-US" sz="1600">
                <a:latin typeface="Yu Gothic" panose="020B0400000000000000" pitchFamily="34" charset="-128"/>
                <a:ea typeface="Yu Gothic" panose="020B0400000000000000" pitchFamily="34" charset="-128"/>
              </a:rPr>
              <a:t>評価系改善</a:t>
            </a:r>
            <a:endParaRPr kumimoji="1" lang="ja-JP" altLang="en-US" sz="1600">
              <a:latin typeface="Yu Gothic" panose="020B0400000000000000" pitchFamily="34" charset="-128"/>
              <a:ea typeface="Yu Gothic" panose="020B0400000000000000" pitchFamily="34" charset="-128"/>
            </a:endParaRPr>
          </a:p>
        </p:txBody>
      </p:sp>
      <p:cxnSp>
        <p:nvCxnSpPr>
          <p:cNvPr id="96" name="直線コネクタ 95">
            <a:extLst>
              <a:ext uri="{FF2B5EF4-FFF2-40B4-BE49-F238E27FC236}">
                <a16:creationId xmlns:a16="http://schemas.microsoft.com/office/drawing/2014/main" id="{DBB5871B-F9C2-ED6B-09BB-634BF7198FE2}"/>
              </a:ext>
            </a:extLst>
          </p:cNvPr>
          <p:cNvCxnSpPr>
            <a:cxnSpLocks noChangeAspect="1"/>
            <a:endCxn id="95" idx="1"/>
          </p:cNvCxnSpPr>
          <p:nvPr/>
        </p:nvCxnSpPr>
        <p:spPr>
          <a:xfrm>
            <a:off x="7280764" y="2129079"/>
            <a:ext cx="988091" cy="0"/>
          </a:xfrm>
          <a:prstGeom prst="line">
            <a:avLst/>
          </a:prstGeom>
        </p:spPr>
        <p:style>
          <a:lnRef idx="3">
            <a:schemeClr val="accent4"/>
          </a:lnRef>
          <a:fillRef idx="0">
            <a:schemeClr val="accent4"/>
          </a:fillRef>
          <a:effectRef idx="2">
            <a:schemeClr val="accent4"/>
          </a:effectRef>
          <a:fontRef idx="minor">
            <a:schemeClr val="tx1"/>
          </a:fontRef>
        </p:style>
      </p:cxnSp>
      <p:sp>
        <p:nvSpPr>
          <p:cNvPr id="97" name="テキスト ボックス 96">
            <a:extLst>
              <a:ext uri="{FF2B5EF4-FFF2-40B4-BE49-F238E27FC236}">
                <a16:creationId xmlns:a16="http://schemas.microsoft.com/office/drawing/2014/main" id="{17CE00CE-E848-22DF-85C7-D91745186212}"/>
              </a:ext>
            </a:extLst>
          </p:cNvPr>
          <p:cNvSpPr txBox="1"/>
          <p:nvPr/>
        </p:nvSpPr>
        <p:spPr>
          <a:xfrm>
            <a:off x="8400834" y="2372364"/>
            <a:ext cx="1415772" cy="338554"/>
          </a:xfrm>
          <a:prstGeom prst="rect">
            <a:avLst/>
          </a:prstGeom>
          <a:noFill/>
        </p:spPr>
        <p:txBody>
          <a:bodyPr wrap="none" rtlCol="0">
            <a:spAutoFit/>
          </a:bodyPr>
          <a:lstStyle/>
          <a:p>
            <a:r>
              <a:rPr lang="ja-JP" altLang="en-US" sz="1600">
                <a:latin typeface="Yu Gothic" panose="020B0400000000000000" pitchFamily="34" charset="-128"/>
                <a:ea typeface="Yu Gothic" panose="020B0400000000000000" pitchFamily="34" charset="-128"/>
              </a:rPr>
              <a:t>ネガコン</a:t>
            </a:r>
            <a:r>
              <a:rPr kumimoji="1" lang="ja-JP" altLang="en-US" sz="1600">
                <a:latin typeface="Yu Gothic" panose="020B0400000000000000" pitchFamily="34" charset="-128"/>
                <a:ea typeface="Yu Gothic" panose="020B0400000000000000" pitchFamily="34" charset="-128"/>
              </a:rPr>
              <a:t>評価</a:t>
            </a:r>
          </a:p>
        </p:txBody>
      </p:sp>
      <p:cxnSp>
        <p:nvCxnSpPr>
          <p:cNvPr id="98" name="直線コネクタ 97">
            <a:extLst>
              <a:ext uri="{FF2B5EF4-FFF2-40B4-BE49-F238E27FC236}">
                <a16:creationId xmlns:a16="http://schemas.microsoft.com/office/drawing/2014/main" id="{0F1FA563-9448-62B2-1DED-8C42E3319AEA}"/>
              </a:ext>
            </a:extLst>
          </p:cNvPr>
          <p:cNvCxnSpPr>
            <a:cxnSpLocks noChangeAspect="1"/>
            <a:endCxn id="97" idx="1"/>
          </p:cNvCxnSpPr>
          <p:nvPr/>
        </p:nvCxnSpPr>
        <p:spPr>
          <a:xfrm>
            <a:off x="7412743" y="2541641"/>
            <a:ext cx="988091" cy="0"/>
          </a:xfrm>
          <a:prstGeom prst="line">
            <a:avLst/>
          </a:prstGeom>
        </p:spPr>
        <p:style>
          <a:lnRef idx="3">
            <a:schemeClr val="accent4"/>
          </a:lnRef>
          <a:fillRef idx="0">
            <a:schemeClr val="accent4"/>
          </a:fillRef>
          <a:effectRef idx="2">
            <a:schemeClr val="accent4"/>
          </a:effectRef>
          <a:fontRef idx="minor">
            <a:schemeClr val="tx1"/>
          </a:fontRef>
        </p:style>
      </p:cxnSp>
      <p:sp>
        <p:nvSpPr>
          <p:cNvPr id="104" name="角丸四角形 103">
            <a:extLst>
              <a:ext uri="{FF2B5EF4-FFF2-40B4-BE49-F238E27FC236}">
                <a16:creationId xmlns:a16="http://schemas.microsoft.com/office/drawing/2014/main" id="{F5B4855E-0CCC-F088-10B7-2DF871644941}"/>
              </a:ext>
            </a:extLst>
          </p:cNvPr>
          <p:cNvSpPr/>
          <p:nvPr/>
        </p:nvSpPr>
        <p:spPr>
          <a:xfrm>
            <a:off x="546100" y="1801368"/>
            <a:ext cx="5270717" cy="1225296"/>
          </a:xfrm>
          <a:prstGeom prst="roundRect">
            <a:avLst/>
          </a:prstGeom>
          <a:solidFill>
            <a:srgbClr val="E8AEAD">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9" name="角丸四角形 108">
            <a:extLst>
              <a:ext uri="{FF2B5EF4-FFF2-40B4-BE49-F238E27FC236}">
                <a16:creationId xmlns:a16="http://schemas.microsoft.com/office/drawing/2014/main" id="{6D196F3E-B701-5507-1A3F-68CBB5045873}"/>
              </a:ext>
            </a:extLst>
          </p:cNvPr>
          <p:cNvSpPr/>
          <p:nvPr/>
        </p:nvSpPr>
        <p:spPr>
          <a:xfrm>
            <a:off x="4575954" y="4392388"/>
            <a:ext cx="2656635" cy="875242"/>
          </a:xfrm>
          <a:prstGeom prst="roundRect">
            <a:avLst/>
          </a:prstGeom>
          <a:solidFill>
            <a:srgbClr val="AADBD5">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テキスト ボックス 73">
            <a:extLst>
              <a:ext uri="{FF2B5EF4-FFF2-40B4-BE49-F238E27FC236}">
                <a16:creationId xmlns:a16="http://schemas.microsoft.com/office/drawing/2014/main" id="{FC35AA9F-4F25-EA35-7237-23A4EA838360}"/>
              </a:ext>
            </a:extLst>
          </p:cNvPr>
          <p:cNvSpPr txBox="1"/>
          <p:nvPr/>
        </p:nvSpPr>
        <p:spPr>
          <a:xfrm>
            <a:off x="3739261" y="3979471"/>
            <a:ext cx="1731564" cy="369332"/>
          </a:xfrm>
          <a:prstGeom prst="rect">
            <a:avLst/>
          </a:prstGeom>
          <a:noFill/>
        </p:spPr>
        <p:txBody>
          <a:bodyPr wrap="none" rtlCol="0">
            <a:spAutoFit/>
          </a:bodyPr>
          <a:lstStyle/>
          <a:p>
            <a:r>
              <a:rPr kumimoji="1" lang="en-US" altLang="ja-JP" b="1" dirty="0">
                <a:latin typeface="Yu Gothic" panose="020B0400000000000000" pitchFamily="34" charset="-128"/>
                <a:ea typeface="Yu Gothic" panose="020B0400000000000000" pitchFamily="34" charset="-128"/>
              </a:rPr>
              <a:t>TGR5</a:t>
            </a:r>
            <a:r>
              <a:rPr kumimoji="1" lang="ja-JP" altLang="en-US" b="1">
                <a:latin typeface="Yu Gothic" panose="020B0400000000000000" pitchFamily="34" charset="-128"/>
                <a:ea typeface="Yu Gothic" panose="020B0400000000000000" pitchFamily="34" charset="-128"/>
              </a:rPr>
              <a:t>活性評価</a:t>
            </a:r>
          </a:p>
        </p:txBody>
      </p:sp>
      <p:grpSp>
        <p:nvGrpSpPr>
          <p:cNvPr id="119" name="グループ化 118">
            <a:extLst>
              <a:ext uri="{FF2B5EF4-FFF2-40B4-BE49-F238E27FC236}">
                <a16:creationId xmlns:a16="http://schemas.microsoft.com/office/drawing/2014/main" id="{5DFE2701-97BA-4E98-9981-BBBF99DC6819}"/>
              </a:ext>
            </a:extLst>
          </p:cNvPr>
          <p:cNvGrpSpPr/>
          <p:nvPr/>
        </p:nvGrpSpPr>
        <p:grpSpPr>
          <a:xfrm>
            <a:off x="10773422" y="2291043"/>
            <a:ext cx="676656" cy="4253431"/>
            <a:chOff x="10625579" y="2129079"/>
            <a:chExt cx="676656" cy="4253431"/>
          </a:xfrm>
        </p:grpSpPr>
        <p:sp>
          <p:nvSpPr>
            <p:cNvPr id="116" name="角丸四角形 115">
              <a:extLst>
                <a:ext uri="{FF2B5EF4-FFF2-40B4-BE49-F238E27FC236}">
                  <a16:creationId xmlns:a16="http://schemas.microsoft.com/office/drawing/2014/main" id="{EE2FAAC5-80EF-8F7B-1935-67AB12F3E7CB}"/>
                </a:ext>
              </a:extLst>
            </p:cNvPr>
            <p:cNvSpPr/>
            <p:nvPr/>
          </p:nvSpPr>
          <p:spPr>
            <a:xfrm>
              <a:off x="10625579" y="2129079"/>
              <a:ext cx="676656" cy="4253431"/>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7" name="グループ化 116">
              <a:extLst>
                <a:ext uri="{FF2B5EF4-FFF2-40B4-BE49-F238E27FC236}">
                  <a16:creationId xmlns:a16="http://schemas.microsoft.com/office/drawing/2014/main" id="{699CC5E1-3320-D5D2-1EA7-79732E7A1F04}"/>
                </a:ext>
              </a:extLst>
            </p:cNvPr>
            <p:cNvGrpSpPr/>
            <p:nvPr/>
          </p:nvGrpSpPr>
          <p:grpSpPr>
            <a:xfrm>
              <a:off x="10702296" y="2308380"/>
              <a:ext cx="502492" cy="3946116"/>
              <a:chOff x="10794689" y="2587449"/>
              <a:chExt cx="502492" cy="3946116"/>
            </a:xfrm>
          </p:grpSpPr>
          <p:sp>
            <p:nvSpPr>
              <p:cNvPr id="113" name="テキスト ボックス 112">
                <a:extLst>
                  <a:ext uri="{FF2B5EF4-FFF2-40B4-BE49-F238E27FC236}">
                    <a16:creationId xmlns:a16="http://schemas.microsoft.com/office/drawing/2014/main" id="{6F4C68DC-24CB-3905-B1EB-6DD7F7C9308A}"/>
                  </a:ext>
                </a:extLst>
              </p:cNvPr>
              <p:cNvSpPr txBox="1"/>
              <p:nvPr/>
            </p:nvSpPr>
            <p:spPr>
              <a:xfrm>
                <a:off x="10804738" y="3334473"/>
                <a:ext cx="492443" cy="3199092"/>
              </a:xfrm>
              <a:prstGeom prst="rect">
                <a:avLst/>
              </a:prstGeom>
              <a:noFill/>
            </p:spPr>
            <p:txBody>
              <a:bodyPr vert="eaVert" wrap="square" rtlCol="0">
                <a:spAutoFit/>
              </a:bodyPr>
              <a:lstStyle/>
              <a:p>
                <a:r>
                  <a:rPr kumimoji="1" lang="ja-JP" altLang="en-US" sz="2000" b="1">
                    <a:solidFill>
                      <a:srgbClr val="FFFFFF"/>
                    </a:solidFill>
                    <a:latin typeface="Yu Gothic" panose="020B0400000000000000" pitchFamily="34" charset="-128"/>
                    <a:ea typeface="Yu Gothic" panose="020B0400000000000000" pitchFamily="34" charset="-128"/>
                  </a:rPr>
                  <a:t>アゴニストペプチドの取得</a:t>
                </a:r>
              </a:p>
            </p:txBody>
          </p:sp>
          <p:sp>
            <p:nvSpPr>
              <p:cNvPr id="114" name="テキスト ボックス 113">
                <a:extLst>
                  <a:ext uri="{FF2B5EF4-FFF2-40B4-BE49-F238E27FC236}">
                    <a16:creationId xmlns:a16="http://schemas.microsoft.com/office/drawing/2014/main" id="{8A987FB5-0253-31BC-50B6-5E99E86B2F83}"/>
                  </a:ext>
                </a:extLst>
              </p:cNvPr>
              <p:cNvSpPr txBox="1"/>
              <p:nvPr/>
            </p:nvSpPr>
            <p:spPr>
              <a:xfrm>
                <a:off x="10794689" y="2587449"/>
                <a:ext cx="492443" cy="783228"/>
              </a:xfrm>
              <a:prstGeom prst="rect">
                <a:avLst/>
              </a:prstGeom>
              <a:noFill/>
            </p:spPr>
            <p:txBody>
              <a:bodyPr vert="vert" wrap="none" rtlCol="0">
                <a:spAutoFit/>
              </a:bodyPr>
              <a:lstStyle/>
              <a:p>
                <a:r>
                  <a:rPr kumimoji="1" lang="en-US" altLang="ja-JP" sz="2000" b="1" dirty="0">
                    <a:solidFill>
                      <a:srgbClr val="FFFFFF"/>
                    </a:solidFill>
                    <a:latin typeface="Yu Gothic" panose="020B0400000000000000" pitchFamily="34" charset="-128"/>
                    <a:ea typeface="Yu Gothic" panose="020B0400000000000000" pitchFamily="34" charset="-128"/>
                  </a:rPr>
                  <a:t>TGR5</a:t>
                </a:r>
                <a:endParaRPr kumimoji="1" lang="ja-JP" altLang="en-US" sz="2000" b="1">
                  <a:solidFill>
                    <a:srgbClr val="FFFFFF"/>
                  </a:solidFill>
                  <a:latin typeface="Yu Gothic" panose="020B0400000000000000" pitchFamily="34" charset="-128"/>
                  <a:ea typeface="Yu Gothic" panose="020B0400000000000000" pitchFamily="34" charset="-128"/>
                </a:endParaRPr>
              </a:p>
            </p:txBody>
          </p:sp>
        </p:grpSp>
      </p:grpSp>
      <p:sp>
        <p:nvSpPr>
          <p:cNvPr id="120" name="角丸四角形 119">
            <a:extLst>
              <a:ext uri="{FF2B5EF4-FFF2-40B4-BE49-F238E27FC236}">
                <a16:creationId xmlns:a16="http://schemas.microsoft.com/office/drawing/2014/main" id="{78823462-5754-7D95-21B8-193653727F12}"/>
              </a:ext>
            </a:extLst>
          </p:cNvPr>
          <p:cNvSpPr/>
          <p:nvPr/>
        </p:nvSpPr>
        <p:spPr>
          <a:xfrm>
            <a:off x="10479024" y="1136125"/>
            <a:ext cx="1186949" cy="331622"/>
          </a:xfrm>
          <a:prstGeom prst="roundRect">
            <a:avLst/>
          </a:prstGeom>
          <a:solidFill>
            <a:srgbClr val="E8AEAD">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tx1"/>
                </a:solidFill>
              </a:rPr>
              <a:t>先行研究</a:t>
            </a:r>
          </a:p>
        </p:txBody>
      </p:sp>
      <p:sp>
        <p:nvSpPr>
          <p:cNvPr id="121" name="角丸四角形 120">
            <a:extLst>
              <a:ext uri="{FF2B5EF4-FFF2-40B4-BE49-F238E27FC236}">
                <a16:creationId xmlns:a16="http://schemas.microsoft.com/office/drawing/2014/main" id="{129F1749-2C61-7441-E53D-FCB3BA9BC6AA}"/>
              </a:ext>
            </a:extLst>
          </p:cNvPr>
          <p:cNvSpPr/>
          <p:nvPr/>
        </p:nvSpPr>
        <p:spPr>
          <a:xfrm>
            <a:off x="10479024" y="1532924"/>
            <a:ext cx="1186949" cy="344164"/>
          </a:xfrm>
          <a:prstGeom prst="roundRect">
            <a:avLst/>
          </a:prstGeom>
          <a:solidFill>
            <a:srgbClr val="AADBD5">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tx1"/>
                </a:solidFill>
              </a:rPr>
              <a:t>完了</a:t>
            </a:r>
          </a:p>
        </p:txBody>
      </p:sp>
      <p:sp>
        <p:nvSpPr>
          <p:cNvPr id="112" name="角丸四角形 111">
            <a:extLst>
              <a:ext uri="{FF2B5EF4-FFF2-40B4-BE49-F238E27FC236}">
                <a16:creationId xmlns:a16="http://schemas.microsoft.com/office/drawing/2014/main" id="{A7805618-C375-4E38-10F7-DEA73B687A32}"/>
              </a:ext>
            </a:extLst>
          </p:cNvPr>
          <p:cNvSpPr/>
          <p:nvPr/>
        </p:nvSpPr>
        <p:spPr>
          <a:xfrm>
            <a:off x="7184602" y="1933788"/>
            <a:ext cx="2294842" cy="404072"/>
          </a:xfrm>
          <a:prstGeom prst="roundRect">
            <a:avLst/>
          </a:prstGeom>
          <a:solidFill>
            <a:srgbClr val="AADBD5">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角丸四角形 104">
            <a:extLst>
              <a:ext uri="{FF2B5EF4-FFF2-40B4-BE49-F238E27FC236}">
                <a16:creationId xmlns:a16="http://schemas.microsoft.com/office/drawing/2014/main" id="{DB02362E-D329-FADD-2F8B-E9E144A8413B}"/>
              </a:ext>
            </a:extLst>
          </p:cNvPr>
          <p:cNvSpPr/>
          <p:nvPr/>
        </p:nvSpPr>
        <p:spPr>
          <a:xfrm>
            <a:off x="7074481" y="1518976"/>
            <a:ext cx="2070128" cy="389347"/>
          </a:xfrm>
          <a:prstGeom prst="roundRect">
            <a:avLst/>
          </a:prstGeom>
          <a:solidFill>
            <a:srgbClr val="E8AEAD">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88064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3DF8C1-D089-DD0E-7846-15D6C47D8C43}"/>
              </a:ext>
            </a:extLst>
          </p:cNvPr>
          <p:cNvSpPr>
            <a:spLocks noGrp="1"/>
          </p:cNvSpPr>
          <p:nvPr>
            <p:ph type="title"/>
          </p:nvPr>
        </p:nvSpPr>
        <p:spPr/>
        <p:txBody>
          <a:bodyPr/>
          <a:lstStyle/>
          <a:p>
            <a:r>
              <a:rPr kumimoji="1" lang="ja-JP" altLang="en-US"/>
              <a:t>コラーゲン濃度は</a:t>
            </a:r>
            <a:r>
              <a:rPr kumimoji="1" lang="en-US" altLang="ja-JP" dirty="0"/>
              <a:t>1/60</a:t>
            </a:r>
            <a:r>
              <a:rPr kumimoji="1" lang="ja-JP" altLang="en-US"/>
              <a:t>希釈、プレートは</a:t>
            </a:r>
            <a:r>
              <a:rPr kumimoji="1" lang="en-US" altLang="ja-JP" dirty="0"/>
              <a:t>24well</a:t>
            </a:r>
            <a:r>
              <a:rPr lang="ja-JP" altLang="en-US"/>
              <a:t>に決定</a:t>
            </a:r>
            <a:endParaRPr kumimoji="1" lang="ja-JP" altLang="en-US"/>
          </a:p>
        </p:txBody>
      </p:sp>
      <p:sp>
        <p:nvSpPr>
          <p:cNvPr id="3" name="コンテンツ プレースホルダー 2">
            <a:extLst>
              <a:ext uri="{FF2B5EF4-FFF2-40B4-BE49-F238E27FC236}">
                <a16:creationId xmlns:a16="http://schemas.microsoft.com/office/drawing/2014/main" id="{0F40D692-32F8-38BB-277A-3161F3B59814}"/>
              </a:ext>
            </a:extLst>
          </p:cNvPr>
          <p:cNvSpPr>
            <a:spLocks noGrp="1"/>
          </p:cNvSpPr>
          <p:nvPr>
            <p:ph idx="1"/>
          </p:nvPr>
        </p:nvSpPr>
        <p:spPr>
          <a:xfrm>
            <a:off x="546100" y="3489018"/>
            <a:ext cx="5613969" cy="2479688"/>
          </a:xfrm>
        </p:spPr>
        <p:txBody>
          <a:bodyPr/>
          <a:lstStyle/>
          <a:p>
            <a:pPr marL="0" indent="0">
              <a:buNone/>
            </a:pPr>
            <a:r>
              <a:rPr kumimoji="1" lang="ja-JP" altLang="en-US"/>
              <a:t>結果</a:t>
            </a:r>
            <a:endParaRPr kumimoji="1" lang="en-US" altLang="ja-JP" dirty="0"/>
          </a:p>
          <a:p>
            <a:pPr>
              <a:lnSpc>
                <a:spcPct val="150000"/>
              </a:lnSpc>
              <a:spcBef>
                <a:spcPts val="800"/>
              </a:spcBef>
            </a:pPr>
            <a:r>
              <a:rPr lang="en-US" altLang="ja-JP" sz="1800" b="0" dirty="0"/>
              <a:t>24well</a:t>
            </a:r>
            <a:r>
              <a:rPr lang="ja-JP" altLang="en-US" sz="1800" b="0"/>
              <a:t>でも</a:t>
            </a:r>
            <a:r>
              <a:rPr lang="en-US" altLang="ja-JP" sz="1800" b="0" dirty="0"/>
              <a:t>12well</a:t>
            </a:r>
            <a:r>
              <a:rPr lang="ja-JP" altLang="en-US" sz="1800" b="0"/>
              <a:t>と同様に</a:t>
            </a:r>
            <a:r>
              <a:rPr lang="en-US" altLang="ja-JP" sz="1800" b="0" dirty="0"/>
              <a:t>TGR5</a:t>
            </a:r>
            <a:r>
              <a:rPr lang="ja-JP" altLang="en-US" sz="1800" b="0"/>
              <a:t>活性を評価できた</a:t>
            </a:r>
            <a:endParaRPr lang="en-US" altLang="ja-JP" sz="1800" b="0" dirty="0"/>
          </a:p>
          <a:p>
            <a:pPr>
              <a:lnSpc>
                <a:spcPct val="150000"/>
              </a:lnSpc>
              <a:spcBef>
                <a:spcPts val="800"/>
              </a:spcBef>
            </a:pPr>
            <a:r>
              <a:rPr kumimoji="1" lang="ja-JP" altLang="en-US" sz="1800" b="0"/>
              <a:t>コラーゲン濃度による結果のばらつきはあまり見られなかった</a:t>
            </a:r>
          </a:p>
        </p:txBody>
      </p:sp>
      <p:sp>
        <p:nvSpPr>
          <p:cNvPr id="4" name="テキスト プレースホルダー 3">
            <a:extLst>
              <a:ext uri="{FF2B5EF4-FFF2-40B4-BE49-F238E27FC236}">
                <a16:creationId xmlns:a16="http://schemas.microsoft.com/office/drawing/2014/main" id="{83D27B9E-43D3-E29E-8402-04654871BA97}"/>
              </a:ext>
            </a:extLst>
          </p:cNvPr>
          <p:cNvSpPr>
            <a:spLocks noGrp="1"/>
          </p:cNvSpPr>
          <p:nvPr>
            <p:ph type="body" sz="quarter" idx="11"/>
          </p:nvPr>
        </p:nvSpPr>
        <p:spPr/>
        <p:txBody>
          <a:bodyPr/>
          <a:lstStyle/>
          <a:p>
            <a:r>
              <a:rPr kumimoji="1" lang="en-US" altLang="ja-JP" dirty="0"/>
              <a:t>24well</a:t>
            </a:r>
            <a:r>
              <a:rPr kumimoji="1" lang="ja-JP" altLang="en-US"/>
              <a:t>プレートの検討、コラーゲン濃度比較</a:t>
            </a:r>
          </a:p>
        </p:txBody>
      </p:sp>
      <p:sp>
        <p:nvSpPr>
          <p:cNvPr id="5" name="正方形/長方形 4">
            <a:extLst>
              <a:ext uri="{FF2B5EF4-FFF2-40B4-BE49-F238E27FC236}">
                <a16:creationId xmlns:a16="http://schemas.microsoft.com/office/drawing/2014/main" id="{F99F59D2-1FE9-5F4C-5403-495D51E3F1F3}"/>
              </a:ext>
            </a:extLst>
          </p:cNvPr>
          <p:cNvSpPr/>
          <p:nvPr/>
        </p:nvSpPr>
        <p:spPr>
          <a:xfrm>
            <a:off x="0" y="834715"/>
            <a:ext cx="12188742" cy="260136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コンテンツ プレースホルダー 2">
            <a:extLst>
              <a:ext uri="{FF2B5EF4-FFF2-40B4-BE49-F238E27FC236}">
                <a16:creationId xmlns:a16="http://schemas.microsoft.com/office/drawing/2014/main" id="{7C21A60F-5F45-DCCB-0E49-7031638DAAEE}"/>
              </a:ext>
            </a:extLst>
          </p:cNvPr>
          <p:cNvSpPr txBox="1">
            <a:spLocks/>
          </p:cNvSpPr>
          <p:nvPr/>
        </p:nvSpPr>
        <p:spPr>
          <a:xfrm>
            <a:off x="546101" y="1038484"/>
            <a:ext cx="5613968" cy="2390516"/>
          </a:xfrm>
          <a:prstGeom prst="rect">
            <a:avLst/>
          </a:prstGeom>
        </p:spPr>
        <p:txBody>
          <a:bodyPr vert="horz" lIns="91440" tIns="45720" rIns="91440" bIns="45720" rtlCol="0">
            <a:normAutofit/>
          </a:bodyPr>
          <a:lstStyle>
            <a:lvl1pPr marL="457200" indent="-457200" algn="l" defTabSz="914400" rtl="0" eaLnBrk="1" latinLnBrk="0" hangingPunct="1">
              <a:lnSpc>
                <a:spcPct val="100000"/>
              </a:lnSpc>
              <a:spcBef>
                <a:spcPts val="14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目的と方法</a:t>
            </a:r>
            <a:endParaRPr lang="en-US" altLang="ja-JP" dirty="0"/>
          </a:p>
          <a:p>
            <a:pPr>
              <a:lnSpc>
                <a:spcPct val="150000"/>
              </a:lnSpc>
              <a:spcBef>
                <a:spcPts val="800"/>
              </a:spcBef>
            </a:pPr>
            <a:r>
              <a:rPr lang="en-US" altLang="ja-JP" sz="1800" b="0" dirty="0"/>
              <a:t>12well</a:t>
            </a:r>
            <a:r>
              <a:rPr lang="ja-JP" altLang="en-US" sz="1800" b="0"/>
              <a:t>から</a:t>
            </a:r>
            <a:r>
              <a:rPr lang="en-US" altLang="ja-JP" sz="1800" b="0" dirty="0"/>
              <a:t>24well</a:t>
            </a:r>
            <a:r>
              <a:rPr lang="ja-JP" altLang="en-US" sz="1800" b="0"/>
              <a:t>にしてプレート</a:t>
            </a:r>
            <a:r>
              <a:rPr lang="en-US" altLang="ja-JP" sz="1800" b="0" dirty="0"/>
              <a:t>1</a:t>
            </a:r>
            <a:r>
              <a:rPr lang="ja-JP" altLang="en-US" sz="1800" b="0"/>
              <a:t>枚あたりで評価できるペプチドの種類を増やす</a:t>
            </a:r>
            <a:endParaRPr lang="en-US" altLang="ja-JP" sz="1800" b="0" dirty="0"/>
          </a:p>
          <a:p>
            <a:pPr>
              <a:lnSpc>
                <a:spcPct val="150000"/>
              </a:lnSpc>
              <a:spcBef>
                <a:spcPts val="800"/>
              </a:spcBef>
            </a:pPr>
            <a:r>
              <a:rPr lang="ja-JP" altLang="en-US" sz="1800" b="0"/>
              <a:t>コラーゲンコートでのコラーゲン濃度を高めることで細胞の剥がれを防げないか調査</a:t>
            </a:r>
            <a:endParaRPr lang="en-US" altLang="ja-JP" sz="1800" b="0" dirty="0"/>
          </a:p>
        </p:txBody>
      </p:sp>
      <p:grpSp>
        <p:nvGrpSpPr>
          <p:cNvPr id="7" name="グループ化 6">
            <a:extLst>
              <a:ext uri="{FF2B5EF4-FFF2-40B4-BE49-F238E27FC236}">
                <a16:creationId xmlns:a16="http://schemas.microsoft.com/office/drawing/2014/main" id="{4BB5C780-28FC-FD2A-B389-23949D3EEEE2}"/>
              </a:ext>
            </a:extLst>
          </p:cNvPr>
          <p:cNvGrpSpPr/>
          <p:nvPr/>
        </p:nvGrpSpPr>
        <p:grpSpPr>
          <a:xfrm>
            <a:off x="6436749" y="1273984"/>
            <a:ext cx="1180739" cy="1796858"/>
            <a:chOff x="1530093" y="2411000"/>
            <a:chExt cx="1690538" cy="2455332"/>
          </a:xfrm>
        </p:grpSpPr>
        <p:pic>
          <p:nvPicPr>
            <p:cNvPr id="8" name="図 7" descr="ダイアグラム&#10;&#10;低い精度で自動的に生成された説明">
              <a:extLst>
                <a:ext uri="{FF2B5EF4-FFF2-40B4-BE49-F238E27FC236}">
                  <a16:creationId xmlns:a16="http://schemas.microsoft.com/office/drawing/2014/main" id="{F071CACA-B499-8328-B4D0-D5429CE07A91}"/>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30093" y="2411000"/>
              <a:ext cx="1690538" cy="1181559"/>
            </a:xfrm>
            <a:prstGeom prst="rect">
              <a:avLst/>
            </a:prstGeom>
          </p:spPr>
        </p:pic>
        <p:pic>
          <p:nvPicPr>
            <p:cNvPr id="9" name="図 8" descr="ダイアグラム&#10;&#10;自動的に生成された説明">
              <a:extLst>
                <a:ext uri="{FF2B5EF4-FFF2-40B4-BE49-F238E27FC236}">
                  <a16:creationId xmlns:a16="http://schemas.microsoft.com/office/drawing/2014/main" id="{C28FE4F8-8602-DA7B-4E63-4A286073BE86}"/>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30093" y="3592559"/>
              <a:ext cx="1690537" cy="1273773"/>
            </a:xfrm>
            <a:prstGeom prst="rect">
              <a:avLst/>
            </a:prstGeom>
          </p:spPr>
        </p:pic>
      </p:grpSp>
      <p:sp>
        <p:nvSpPr>
          <p:cNvPr id="10" name="テキスト ボックス 9">
            <a:extLst>
              <a:ext uri="{FF2B5EF4-FFF2-40B4-BE49-F238E27FC236}">
                <a16:creationId xmlns:a16="http://schemas.microsoft.com/office/drawing/2014/main" id="{029F5230-9137-29F2-39C6-736638EB8007}"/>
              </a:ext>
            </a:extLst>
          </p:cNvPr>
          <p:cNvSpPr txBox="1"/>
          <p:nvPr/>
        </p:nvSpPr>
        <p:spPr>
          <a:xfrm>
            <a:off x="7908652" y="1273984"/>
            <a:ext cx="2672583" cy="584775"/>
          </a:xfrm>
          <a:prstGeom prst="rect">
            <a:avLst/>
          </a:prstGeom>
          <a:noFill/>
        </p:spPr>
        <p:txBody>
          <a:bodyPr wrap="square" rtlCol="0">
            <a:spAutoFit/>
          </a:bodyPr>
          <a:lstStyle/>
          <a:p>
            <a:r>
              <a:rPr kumimoji="1" lang="en-US" altLang="ja-JP" sz="1400" dirty="0"/>
              <a:t>12well plate</a:t>
            </a:r>
          </a:p>
          <a:p>
            <a:r>
              <a:rPr lang="ja-JP" altLang="en-US" b="1" u="sng">
                <a:solidFill>
                  <a:schemeClr val="accent4"/>
                </a:solidFill>
              </a:rPr>
              <a:t>→</a:t>
            </a:r>
            <a:r>
              <a:rPr lang="en-US" altLang="ja-JP" b="1" u="sng" dirty="0">
                <a:solidFill>
                  <a:schemeClr val="accent4"/>
                </a:solidFill>
                <a:latin typeface="+mn-ea"/>
              </a:rPr>
              <a:t>12well, 24well</a:t>
            </a:r>
            <a:r>
              <a:rPr lang="ja-JP" altLang="en-US" b="1" u="sng">
                <a:solidFill>
                  <a:schemeClr val="accent4"/>
                </a:solidFill>
              </a:rPr>
              <a:t>で評価</a:t>
            </a:r>
            <a:endParaRPr kumimoji="1" lang="ja-JP" altLang="en-US" b="1" u="sng">
              <a:solidFill>
                <a:schemeClr val="accent4"/>
              </a:solidFill>
            </a:endParaRPr>
          </a:p>
        </p:txBody>
      </p:sp>
      <p:sp>
        <p:nvSpPr>
          <p:cNvPr id="11" name="テキスト ボックス 10">
            <a:extLst>
              <a:ext uri="{FF2B5EF4-FFF2-40B4-BE49-F238E27FC236}">
                <a16:creationId xmlns:a16="http://schemas.microsoft.com/office/drawing/2014/main" id="{A18F0D6A-360A-E3E8-6E52-3ED5E428B065}"/>
              </a:ext>
            </a:extLst>
          </p:cNvPr>
          <p:cNvSpPr txBox="1"/>
          <p:nvPr/>
        </p:nvSpPr>
        <p:spPr>
          <a:xfrm>
            <a:off x="7894167" y="2044871"/>
            <a:ext cx="2581054" cy="1077218"/>
          </a:xfrm>
          <a:prstGeom prst="rect">
            <a:avLst/>
          </a:prstGeom>
          <a:noFill/>
        </p:spPr>
        <p:txBody>
          <a:bodyPr wrap="square" rtlCol="0">
            <a:spAutoFit/>
          </a:bodyPr>
          <a:lstStyle/>
          <a:p>
            <a:r>
              <a:rPr lang="en-US" altLang="ja-JP" sz="1400" dirty="0" err="1"/>
              <a:t>Cellmatrix</a:t>
            </a:r>
            <a:r>
              <a:rPr lang="en-US" altLang="ja-JP" sz="1400" dirty="0"/>
              <a:t> type1C 1/60</a:t>
            </a:r>
            <a:r>
              <a:rPr lang="ja-JP" altLang="en-US" sz="1400"/>
              <a:t>希釈でコラーゲンコート</a:t>
            </a:r>
            <a:endParaRPr lang="en-US" altLang="ja-JP" sz="1400" dirty="0"/>
          </a:p>
          <a:p>
            <a:r>
              <a:rPr kumimoji="1" lang="ja-JP" altLang="en-US" b="1" u="sng">
                <a:solidFill>
                  <a:schemeClr val="accent4"/>
                </a:solidFill>
              </a:rPr>
              <a:t>→</a:t>
            </a:r>
            <a:r>
              <a:rPr kumimoji="1" lang="en-US" altLang="ja-JP" b="1" u="sng" dirty="0">
                <a:solidFill>
                  <a:schemeClr val="accent4"/>
                </a:solidFill>
                <a:latin typeface="+mn-ea"/>
              </a:rPr>
              <a:t>1/10, 1/30, 1/60</a:t>
            </a:r>
            <a:r>
              <a:rPr kumimoji="1" lang="ja-JP" altLang="en-US" b="1" u="sng">
                <a:solidFill>
                  <a:schemeClr val="accent4"/>
                </a:solidFill>
                <a:latin typeface="+mn-ea"/>
              </a:rPr>
              <a:t>倍希釈で評価</a:t>
            </a:r>
            <a:endParaRPr kumimoji="1" lang="en-US" altLang="ja-JP" b="1" u="sng" dirty="0">
              <a:solidFill>
                <a:schemeClr val="accent4"/>
              </a:solidFill>
              <a:latin typeface="+mn-ea"/>
            </a:endParaRPr>
          </a:p>
        </p:txBody>
      </p:sp>
      <p:sp>
        <p:nvSpPr>
          <p:cNvPr id="12" name="山形 11">
            <a:extLst>
              <a:ext uri="{FF2B5EF4-FFF2-40B4-BE49-F238E27FC236}">
                <a16:creationId xmlns:a16="http://schemas.microsoft.com/office/drawing/2014/main" id="{7650ACF0-DA20-21C3-406F-17E00858F06C}"/>
              </a:ext>
            </a:extLst>
          </p:cNvPr>
          <p:cNvSpPr/>
          <p:nvPr/>
        </p:nvSpPr>
        <p:spPr>
          <a:xfrm>
            <a:off x="10793707" y="2044871"/>
            <a:ext cx="263384" cy="332252"/>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4" name="山形 13">
            <a:extLst>
              <a:ext uri="{FF2B5EF4-FFF2-40B4-BE49-F238E27FC236}">
                <a16:creationId xmlns:a16="http://schemas.microsoft.com/office/drawing/2014/main" id="{57D8F622-DFFD-84E7-C95B-C46CD0155E53}"/>
              </a:ext>
            </a:extLst>
          </p:cNvPr>
          <p:cNvSpPr/>
          <p:nvPr/>
        </p:nvSpPr>
        <p:spPr>
          <a:xfrm>
            <a:off x="11059945" y="2033361"/>
            <a:ext cx="263384" cy="332252"/>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5" name="山形 14">
            <a:extLst>
              <a:ext uri="{FF2B5EF4-FFF2-40B4-BE49-F238E27FC236}">
                <a16:creationId xmlns:a16="http://schemas.microsoft.com/office/drawing/2014/main" id="{652B1ADE-AC93-A27B-4D8D-80C915C85928}"/>
              </a:ext>
            </a:extLst>
          </p:cNvPr>
          <p:cNvSpPr/>
          <p:nvPr/>
        </p:nvSpPr>
        <p:spPr>
          <a:xfrm>
            <a:off x="11317621" y="2044871"/>
            <a:ext cx="263384" cy="332252"/>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7" name="テキスト ボックス 16">
            <a:extLst>
              <a:ext uri="{FF2B5EF4-FFF2-40B4-BE49-F238E27FC236}">
                <a16:creationId xmlns:a16="http://schemas.microsoft.com/office/drawing/2014/main" id="{2E882CCD-D875-3190-E033-B841A63800F2}"/>
              </a:ext>
            </a:extLst>
          </p:cNvPr>
          <p:cNvSpPr txBox="1"/>
          <p:nvPr/>
        </p:nvSpPr>
        <p:spPr>
          <a:xfrm>
            <a:off x="10600900" y="2402975"/>
            <a:ext cx="1065074" cy="338554"/>
          </a:xfrm>
          <a:prstGeom prst="rect">
            <a:avLst/>
          </a:prstGeom>
          <a:noFill/>
        </p:spPr>
        <p:txBody>
          <a:bodyPr wrap="square" rtlCol="0">
            <a:spAutoFit/>
          </a:bodyPr>
          <a:lstStyle/>
          <a:p>
            <a:pPr algn="ctr"/>
            <a:r>
              <a:rPr kumimoji="1" lang="ja-JP" altLang="en-US" sz="1600"/>
              <a:t>通常操作</a:t>
            </a:r>
          </a:p>
        </p:txBody>
      </p:sp>
      <p:graphicFrame>
        <p:nvGraphicFramePr>
          <p:cNvPr id="18" name="グラフ 17">
            <a:extLst>
              <a:ext uri="{FF2B5EF4-FFF2-40B4-BE49-F238E27FC236}">
                <a16:creationId xmlns:a16="http://schemas.microsoft.com/office/drawing/2014/main" id="{9D00DEF2-8B2F-CF18-D966-4E77942B10DA}"/>
              </a:ext>
            </a:extLst>
          </p:cNvPr>
          <p:cNvGraphicFramePr>
            <a:graphicFrameLocks/>
          </p:cNvGraphicFramePr>
          <p:nvPr>
            <p:extLst>
              <p:ext uri="{D42A27DB-BD31-4B8C-83A1-F6EECF244321}">
                <p14:modId xmlns:p14="http://schemas.microsoft.com/office/powerpoint/2010/main" val="3077771351"/>
              </p:ext>
            </p:extLst>
          </p:nvPr>
        </p:nvGraphicFramePr>
        <p:xfrm>
          <a:off x="6096000" y="3489018"/>
          <a:ext cx="5549900" cy="2185416"/>
        </p:xfrm>
        <a:graphic>
          <a:graphicData uri="http://schemas.openxmlformats.org/drawingml/2006/chart">
            <c:chart xmlns:c="http://schemas.openxmlformats.org/drawingml/2006/chart" xmlns:r="http://schemas.openxmlformats.org/officeDocument/2006/relationships" r:id="rId4"/>
          </a:graphicData>
        </a:graphic>
      </p:graphicFrame>
      <p:sp>
        <p:nvSpPr>
          <p:cNvPr id="13" name="テキスト ボックス 12">
            <a:extLst>
              <a:ext uri="{FF2B5EF4-FFF2-40B4-BE49-F238E27FC236}">
                <a16:creationId xmlns:a16="http://schemas.microsoft.com/office/drawing/2014/main" id="{C60CA5FF-ED56-602D-F008-91166BBE1A1F}"/>
              </a:ext>
            </a:extLst>
          </p:cNvPr>
          <p:cNvSpPr txBox="1"/>
          <p:nvPr/>
        </p:nvSpPr>
        <p:spPr>
          <a:xfrm>
            <a:off x="7259743" y="5650711"/>
            <a:ext cx="3849902" cy="307777"/>
          </a:xfrm>
          <a:prstGeom prst="rect">
            <a:avLst/>
          </a:prstGeom>
          <a:noFill/>
        </p:spPr>
        <p:txBody>
          <a:bodyPr wrap="square" rtlCol="0">
            <a:spAutoFit/>
          </a:bodyPr>
          <a:lstStyle/>
          <a:p>
            <a:pPr algn="ctr"/>
            <a:r>
              <a:rPr lang="en-US" altLang="ja-JP" sz="1400" dirty="0"/>
              <a:t>12, 24well</a:t>
            </a:r>
            <a:r>
              <a:rPr lang="ja-JP" altLang="en-US" sz="1400"/>
              <a:t>と各コラーゲン濃度での</a:t>
            </a:r>
            <a:r>
              <a:rPr lang="en-US" altLang="ja-JP" sz="1400" dirty="0"/>
              <a:t>TGR5</a:t>
            </a:r>
            <a:r>
              <a:rPr lang="ja-JP" altLang="en-US" sz="1400"/>
              <a:t>活性</a:t>
            </a:r>
            <a:endParaRPr kumimoji="1" lang="ja-JP" altLang="en-US" sz="1400"/>
          </a:p>
        </p:txBody>
      </p:sp>
    </p:spTree>
    <p:extLst>
      <p:ext uri="{BB962C8B-B14F-4D97-AF65-F5344CB8AC3E}">
        <p14:creationId xmlns:p14="http://schemas.microsoft.com/office/powerpoint/2010/main" val="9831499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3E4D6B5-0CE4-ECA8-70C8-6B74CB2EDB2F}"/>
              </a:ext>
            </a:extLst>
          </p:cNvPr>
          <p:cNvSpPr>
            <a:spLocks noGrp="1"/>
          </p:cNvSpPr>
          <p:nvPr>
            <p:ph idx="1"/>
          </p:nvPr>
        </p:nvSpPr>
        <p:spPr>
          <a:xfrm>
            <a:off x="546100" y="1038484"/>
            <a:ext cx="11099800" cy="969220"/>
          </a:xfrm>
        </p:spPr>
        <p:txBody>
          <a:bodyPr/>
          <a:lstStyle/>
          <a:p>
            <a:pPr marL="0" indent="0">
              <a:buNone/>
            </a:pPr>
            <a:r>
              <a:rPr kumimoji="1" lang="ja-JP" altLang="en-US"/>
              <a:t>化学構造が類似の化合物は同じ作用を持つ傾向がある</a:t>
            </a:r>
            <a:endParaRPr kumimoji="1" lang="en-US" altLang="ja-JP" dirty="0"/>
          </a:p>
          <a:p>
            <a:pPr marL="0" indent="0">
              <a:buNone/>
            </a:pPr>
            <a:r>
              <a:rPr lang="ja-JP" altLang="en-US" sz="1800" b="0"/>
              <a:t>フィンガープリントを用いて化合物同士の類似度を算出することができる</a:t>
            </a:r>
            <a:endParaRPr kumimoji="1" lang="ja-JP" altLang="en-US" sz="1800" b="0"/>
          </a:p>
        </p:txBody>
      </p:sp>
      <p:sp>
        <p:nvSpPr>
          <p:cNvPr id="4" name="テキスト プレースホルダー 3">
            <a:extLst>
              <a:ext uri="{FF2B5EF4-FFF2-40B4-BE49-F238E27FC236}">
                <a16:creationId xmlns:a16="http://schemas.microsoft.com/office/drawing/2014/main" id="{A95988CC-78B5-7B3C-28BD-31896FDA9CC5}"/>
              </a:ext>
            </a:extLst>
          </p:cNvPr>
          <p:cNvSpPr>
            <a:spLocks noGrp="1"/>
          </p:cNvSpPr>
          <p:nvPr>
            <p:ph type="body" sz="quarter" idx="11"/>
          </p:nvPr>
        </p:nvSpPr>
        <p:spPr/>
        <p:txBody>
          <a:bodyPr/>
          <a:lstStyle/>
          <a:p>
            <a:r>
              <a:rPr kumimoji="1" lang="ja-JP" altLang="en-US"/>
              <a:t>構造相関</a:t>
            </a:r>
          </a:p>
        </p:txBody>
      </p:sp>
      <p:sp>
        <p:nvSpPr>
          <p:cNvPr id="5" name="正方形/長方形 4">
            <a:extLst>
              <a:ext uri="{FF2B5EF4-FFF2-40B4-BE49-F238E27FC236}">
                <a16:creationId xmlns:a16="http://schemas.microsoft.com/office/drawing/2014/main" id="{01F1F773-A0F6-644F-A953-85E2EE861A9E}"/>
              </a:ext>
            </a:extLst>
          </p:cNvPr>
          <p:cNvSpPr/>
          <p:nvPr/>
        </p:nvSpPr>
        <p:spPr>
          <a:xfrm>
            <a:off x="546100" y="2143595"/>
            <a:ext cx="5429262"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A378C214-0CD4-6D0E-7EBC-6F804222141E}"/>
              </a:ext>
            </a:extLst>
          </p:cNvPr>
          <p:cNvSpPr/>
          <p:nvPr/>
        </p:nvSpPr>
        <p:spPr>
          <a:xfrm>
            <a:off x="6216639" y="2143595"/>
            <a:ext cx="5429261"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8A636997-ABDC-B3C8-D9E6-49FA56772D21}"/>
              </a:ext>
            </a:extLst>
          </p:cNvPr>
          <p:cNvSpPr txBox="1"/>
          <p:nvPr/>
        </p:nvSpPr>
        <p:spPr>
          <a:xfrm>
            <a:off x="546100" y="2143595"/>
            <a:ext cx="5429261" cy="926920"/>
          </a:xfrm>
          <a:prstGeom prst="rect">
            <a:avLst/>
          </a:prstGeom>
          <a:noFill/>
        </p:spPr>
        <p:txBody>
          <a:bodyPr wrap="square" rtlCol="0">
            <a:spAutoFit/>
          </a:bodyPr>
          <a:lstStyle/>
          <a:p>
            <a:pPr>
              <a:lnSpc>
                <a:spcPct val="150000"/>
              </a:lnSpc>
            </a:pPr>
            <a:r>
              <a:rPr kumimoji="1" lang="ja-JP" altLang="en-US" sz="2000" b="1">
                <a:solidFill>
                  <a:schemeClr val="accent4"/>
                </a:solidFill>
                <a:latin typeface="Yu Gothic" panose="020B0400000000000000" pitchFamily="34" charset="-128"/>
                <a:ea typeface="Yu Gothic" panose="020B0400000000000000" pitchFamily="34" charset="-128"/>
              </a:rPr>
              <a:t>フィンガープリント</a:t>
            </a:r>
            <a:endParaRPr kumimoji="1" lang="en-US" altLang="ja-JP" sz="2000" b="1" dirty="0">
              <a:solidFill>
                <a:schemeClr val="accent4"/>
              </a:solidFill>
              <a:latin typeface="Yu Gothic" panose="020B0400000000000000" pitchFamily="34" charset="-128"/>
              <a:ea typeface="Yu Gothic" panose="020B0400000000000000" pitchFamily="34" charset="-128"/>
            </a:endParaRPr>
          </a:p>
          <a:p>
            <a:pPr>
              <a:lnSpc>
                <a:spcPct val="150000"/>
              </a:lnSpc>
            </a:pPr>
            <a:r>
              <a:rPr kumimoji="1" lang="ja-JP" altLang="en-US"/>
              <a:t>化学構造の特徴ベクトル表現</a:t>
            </a:r>
            <a:endParaRPr kumimoji="1" lang="en-US" altLang="ja-JP" dirty="0"/>
          </a:p>
        </p:txBody>
      </p:sp>
      <p:sp>
        <p:nvSpPr>
          <p:cNvPr id="9" name="テキスト ボックス 8">
            <a:extLst>
              <a:ext uri="{FF2B5EF4-FFF2-40B4-BE49-F238E27FC236}">
                <a16:creationId xmlns:a16="http://schemas.microsoft.com/office/drawing/2014/main" id="{CFC01485-EF6D-138E-91B4-590A2D0C33AC}"/>
              </a:ext>
            </a:extLst>
          </p:cNvPr>
          <p:cNvSpPr txBox="1"/>
          <p:nvPr/>
        </p:nvSpPr>
        <p:spPr>
          <a:xfrm>
            <a:off x="6216638" y="2143595"/>
            <a:ext cx="5429261" cy="926920"/>
          </a:xfrm>
          <a:prstGeom prst="rect">
            <a:avLst/>
          </a:prstGeom>
          <a:noFill/>
        </p:spPr>
        <p:txBody>
          <a:bodyPr wrap="square" rtlCol="0">
            <a:spAutoFit/>
          </a:bodyPr>
          <a:lstStyle/>
          <a:p>
            <a:pPr>
              <a:lnSpc>
                <a:spcPct val="150000"/>
              </a:lnSpc>
            </a:pPr>
            <a:r>
              <a:rPr kumimoji="1" lang="en-US" altLang="ja-JP" sz="2000" b="1" dirty="0" err="1">
                <a:solidFill>
                  <a:schemeClr val="accent4"/>
                </a:solidFill>
                <a:latin typeface="Yu Gothic" panose="020B0400000000000000" pitchFamily="34" charset="-128"/>
                <a:ea typeface="Yu Gothic" panose="020B0400000000000000" pitchFamily="34" charset="-128"/>
              </a:rPr>
              <a:t>Tanimoto</a:t>
            </a:r>
            <a:r>
              <a:rPr kumimoji="1" lang="ja-JP" altLang="en-US" sz="2000" b="1">
                <a:solidFill>
                  <a:schemeClr val="accent4"/>
                </a:solidFill>
                <a:latin typeface="Yu Gothic" panose="020B0400000000000000" pitchFamily="34" charset="-128"/>
                <a:ea typeface="Yu Gothic" panose="020B0400000000000000" pitchFamily="34" charset="-128"/>
              </a:rPr>
              <a:t>係数</a:t>
            </a:r>
            <a:endParaRPr kumimoji="1" lang="en-US" altLang="ja-JP" sz="2000" b="1" dirty="0">
              <a:solidFill>
                <a:schemeClr val="accent4"/>
              </a:solidFill>
              <a:latin typeface="Yu Gothic" panose="020B0400000000000000" pitchFamily="34" charset="-128"/>
              <a:ea typeface="Yu Gothic" panose="020B0400000000000000" pitchFamily="34" charset="-128"/>
            </a:endParaRPr>
          </a:p>
          <a:p>
            <a:pPr>
              <a:lnSpc>
                <a:spcPct val="150000"/>
              </a:lnSpc>
            </a:pPr>
            <a:r>
              <a:rPr kumimoji="1" lang="ja-JP" altLang="en-US"/>
              <a:t>フィンガープリントに基づく類似度評価法</a:t>
            </a:r>
            <a:endParaRPr kumimoji="1" lang="en-US" altLang="ja-JP" dirty="0"/>
          </a:p>
        </p:txBody>
      </p:sp>
      <p:sp>
        <p:nvSpPr>
          <p:cNvPr id="25" name="円/楕円 24">
            <a:extLst>
              <a:ext uri="{FF2B5EF4-FFF2-40B4-BE49-F238E27FC236}">
                <a16:creationId xmlns:a16="http://schemas.microsoft.com/office/drawing/2014/main" id="{11571F4C-6EC4-9BB4-6A2A-6BD5B8673746}"/>
              </a:ext>
            </a:extLst>
          </p:cNvPr>
          <p:cNvSpPr/>
          <p:nvPr/>
        </p:nvSpPr>
        <p:spPr>
          <a:xfrm>
            <a:off x="2885176" y="3093904"/>
            <a:ext cx="501706" cy="463075"/>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descr="グラフ&#10;&#10;低い精度で自動的に生成された説明">
            <a:extLst>
              <a:ext uri="{FF2B5EF4-FFF2-40B4-BE49-F238E27FC236}">
                <a16:creationId xmlns:a16="http://schemas.microsoft.com/office/drawing/2014/main" id="{D0B8C148-BD26-759D-460C-FB75E893E3F1}"/>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87024" y="2894270"/>
            <a:ext cx="2547412" cy="1922138"/>
          </a:xfrm>
          <a:prstGeom prst="rect">
            <a:avLst/>
          </a:prstGeom>
        </p:spPr>
      </p:pic>
      <p:grpSp>
        <p:nvGrpSpPr>
          <p:cNvPr id="24" name="グループ化 23">
            <a:extLst>
              <a:ext uri="{FF2B5EF4-FFF2-40B4-BE49-F238E27FC236}">
                <a16:creationId xmlns:a16="http://schemas.microsoft.com/office/drawing/2014/main" id="{9C8E257E-8AA5-67FC-5EA7-F912E3532968}"/>
              </a:ext>
            </a:extLst>
          </p:cNvPr>
          <p:cNvGrpSpPr/>
          <p:nvPr/>
        </p:nvGrpSpPr>
        <p:grpSpPr>
          <a:xfrm>
            <a:off x="986607" y="4815639"/>
            <a:ext cx="4548246" cy="751444"/>
            <a:chOff x="909843" y="4670584"/>
            <a:chExt cx="4662778" cy="751444"/>
          </a:xfrm>
        </p:grpSpPr>
        <p:sp>
          <p:nvSpPr>
            <p:cNvPr id="12" name="テキスト ボックス 11">
              <a:extLst>
                <a:ext uri="{FF2B5EF4-FFF2-40B4-BE49-F238E27FC236}">
                  <a16:creationId xmlns:a16="http://schemas.microsoft.com/office/drawing/2014/main" id="{E311E726-BBCF-5B0F-0D6A-E01A35EC3F37}"/>
                </a:ext>
              </a:extLst>
            </p:cNvPr>
            <p:cNvSpPr txBox="1"/>
            <p:nvPr/>
          </p:nvSpPr>
          <p:spPr>
            <a:xfrm>
              <a:off x="909843" y="4670584"/>
              <a:ext cx="559769" cy="307777"/>
            </a:xfrm>
            <a:prstGeom prst="rect">
              <a:avLst/>
            </a:prstGeom>
            <a:noFill/>
          </p:spPr>
          <p:txBody>
            <a:bodyPr wrap="none" rtlCol="0">
              <a:spAutoFit/>
            </a:bodyPr>
            <a:lstStyle/>
            <a:p>
              <a:r>
                <a:rPr kumimoji="1" lang="en-US" altLang="ja-JP" sz="1400" dirty="0"/>
                <a:t>-CH</a:t>
              </a:r>
              <a:r>
                <a:rPr kumimoji="1" lang="en-US" altLang="ja-JP" sz="1400" baseline="-25000" dirty="0"/>
                <a:t>3</a:t>
              </a:r>
              <a:endParaRPr kumimoji="1" lang="ja-JP" altLang="en-US" sz="1400"/>
            </a:p>
          </p:txBody>
        </p:sp>
        <p:sp>
          <p:nvSpPr>
            <p:cNvPr id="13" name="テキスト ボックス 12">
              <a:extLst>
                <a:ext uri="{FF2B5EF4-FFF2-40B4-BE49-F238E27FC236}">
                  <a16:creationId xmlns:a16="http://schemas.microsoft.com/office/drawing/2014/main" id="{F7E4AF50-A11C-F981-A874-A0D11646B277}"/>
                </a:ext>
              </a:extLst>
            </p:cNvPr>
            <p:cNvSpPr txBox="1"/>
            <p:nvPr/>
          </p:nvSpPr>
          <p:spPr>
            <a:xfrm>
              <a:off x="1736553" y="4672064"/>
              <a:ext cx="997389" cy="307777"/>
            </a:xfrm>
            <a:prstGeom prst="rect">
              <a:avLst/>
            </a:prstGeom>
            <a:noFill/>
          </p:spPr>
          <p:txBody>
            <a:bodyPr wrap="none" rtlCol="0">
              <a:spAutoFit/>
            </a:bodyPr>
            <a:lstStyle/>
            <a:p>
              <a:r>
                <a:rPr kumimoji="1" lang="en-US" altLang="ja-JP" sz="1400" dirty="0"/>
                <a:t>-C(O)=OH</a:t>
              </a:r>
              <a:endParaRPr kumimoji="1" lang="ja-JP" altLang="en-US" sz="1400"/>
            </a:p>
          </p:txBody>
        </p:sp>
        <p:sp>
          <p:nvSpPr>
            <p:cNvPr id="14" name="テキスト ボックス 13">
              <a:extLst>
                <a:ext uri="{FF2B5EF4-FFF2-40B4-BE49-F238E27FC236}">
                  <a16:creationId xmlns:a16="http://schemas.microsoft.com/office/drawing/2014/main" id="{C3190732-34E5-78F1-C0C4-D594A04F9FD1}"/>
                </a:ext>
              </a:extLst>
            </p:cNvPr>
            <p:cNvSpPr txBox="1"/>
            <p:nvPr/>
          </p:nvSpPr>
          <p:spPr>
            <a:xfrm>
              <a:off x="3000883" y="4672089"/>
              <a:ext cx="519694" cy="307777"/>
            </a:xfrm>
            <a:prstGeom prst="rect">
              <a:avLst/>
            </a:prstGeom>
            <a:noFill/>
          </p:spPr>
          <p:txBody>
            <a:bodyPr wrap="none" rtlCol="0">
              <a:spAutoFit/>
            </a:bodyPr>
            <a:lstStyle/>
            <a:p>
              <a:r>
                <a:rPr kumimoji="1" lang="en-US" altLang="ja-JP" sz="1400" dirty="0"/>
                <a:t>-OH</a:t>
              </a:r>
              <a:endParaRPr kumimoji="1" lang="ja-JP" altLang="en-US" sz="1400"/>
            </a:p>
          </p:txBody>
        </p:sp>
        <p:sp>
          <p:nvSpPr>
            <p:cNvPr id="15" name="テキスト ボックス 14">
              <a:extLst>
                <a:ext uri="{FF2B5EF4-FFF2-40B4-BE49-F238E27FC236}">
                  <a16:creationId xmlns:a16="http://schemas.microsoft.com/office/drawing/2014/main" id="{D2B3F8EF-A872-6E92-FE9B-0B0CEB42E592}"/>
                </a:ext>
              </a:extLst>
            </p:cNvPr>
            <p:cNvSpPr txBox="1"/>
            <p:nvPr/>
          </p:nvSpPr>
          <p:spPr>
            <a:xfrm>
              <a:off x="3816729" y="4670584"/>
              <a:ext cx="1023037" cy="307777"/>
            </a:xfrm>
            <a:prstGeom prst="rect">
              <a:avLst/>
            </a:prstGeom>
            <a:noFill/>
          </p:spPr>
          <p:txBody>
            <a:bodyPr wrap="none" rtlCol="0">
              <a:spAutoFit/>
            </a:bodyPr>
            <a:lstStyle/>
            <a:p>
              <a:r>
                <a:rPr kumimoji="1" lang="en-US" altLang="ja-JP" sz="1400" dirty="0"/>
                <a:t>-CC(=O)C-</a:t>
              </a:r>
              <a:endParaRPr kumimoji="1" lang="ja-JP" altLang="en-US" sz="1400"/>
            </a:p>
          </p:txBody>
        </p:sp>
        <p:sp>
          <p:nvSpPr>
            <p:cNvPr id="16" name="テキスト ボックス 15">
              <a:extLst>
                <a:ext uri="{FF2B5EF4-FFF2-40B4-BE49-F238E27FC236}">
                  <a16:creationId xmlns:a16="http://schemas.microsoft.com/office/drawing/2014/main" id="{EE4E1F4B-82D4-2CDA-1FF0-A86D7D80EB79}"/>
                </a:ext>
              </a:extLst>
            </p:cNvPr>
            <p:cNvSpPr txBox="1"/>
            <p:nvPr/>
          </p:nvSpPr>
          <p:spPr>
            <a:xfrm>
              <a:off x="5237690" y="4670584"/>
              <a:ext cx="316112" cy="307777"/>
            </a:xfrm>
            <a:prstGeom prst="rect">
              <a:avLst/>
            </a:prstGeom>
            <a:noFill/>
          </p:spPr>
          <p:txBody>
            <a:bodyPr wrap="none" rtlCol="0">
              <a:spAutoFit/>
            </a:bodyPr>
            <a:lstStyle/>
            <a:p>
              <a:r>
                <a:rPr kumimoji="1" lang="en-US" altLang="ja-JP" sz="1400" dirty="0"/>
                <a:t>…</a:t>
              </a:r>
              <a:endParaRPr kumimoji="1" lang="ja-JP" altLang="en-US" sz="1400"/>
            </a:p>
          </p:txBody>
        </p:sp>
        <p:grpSp>
          <p:nvGrpSpPr>
            <p:cNvPr id="23" name="グループ化 22">
              <a:extLst>
                <a:ext uri="{FF2B5EF4-FFF2-40B4-BE49-F238E27FC236}">
                  <a16:creationId xmlns:a16="http://schemas.microsoft.com/office/drawing/2014/main" id="{8C05BE50-CC85-499A-8E63-9BC4CB1A2A1C}"/>
                </a:ext>
              </a:extLst>
            </p:cNvPr>
            <p:cNvGrpSpPr/>
            <p:nvPr/>
          </p:nvGrpSpPr>
          <p:grpSpPr>
            <a:xfrm>
              <a:off x="1035780" y="5106186"/>
              <a:ext cx="4536841" cy="315842"/>
              <a:chOff x="1172922" y="5106187"/>
              <a:chExt cx="3316400" cy="315842"/>
            </a:xfrm>
          </p:grpSpPr>
          <p:sp>
            <p:nvSpPr>
              <p:cNvPr id="18" name="テキスト ボックス 17">
                <a:extLst>
                  <a:ext uri="{FF2B5EF4-FFF2-40B4-BE49-F238E27FC236}">
                    <a16:creationId xmlns:a16="http://schemas.microsoft.com/office/drawing/2014/main" id="{355D8ED3-D6DD-19FA-1D3A-2FD8A6179095}"/>
                  </a:ext>
                </a:extLst>
              </p:cNvPr>
              <p:cNvSpPr txBox="1"/>
              <p:nvPr/>
            </p:nvSpPr>
            <p:spPr>
              <a:xfrm>
                <a:off x="1172922" y="5106187"/>
                <a:ext cx="229739" cy="307777"/>
              </a:xfrm>
              <a:prstGeom prst="rect">
                <a:avLst/>
              </a:prstGeom>
              <a:noFill/>
            </p:spPr>
            <p:txBody>
              <a:bodyPr wrap="none" rtlCol="0">
                <a:spAutoFit/>
              </a:bodyPr>
              <a:lstStyle/>
              <a:p>
                <a:pPr algn="ctr"/>
                <a:r>
                  <a:rPr kumimoji="1" lang="en-US" altLang="ja-JP" sz="1400" dirty="0"/>
                  <a:t>1</a:t>
                </a:r>
                <a:endParaRPr kumimoji="1" lang="ja-JP" altLang="en-US" sz="1400"/>
              </a:p>
            </p:txBody>
          </p:sp>
          <p:sp>
            <p:nvSpPr>
              <p:cNvPr id="19" name="テキスト ボックス 18">
                <a:extLst>
                  <a:ext uri="{FF2B5EF4-FFF2-40B4-BE49-F238E27FC236}">
                    <a16:creationId xmlns:a16="http://schemas.microsoft.com/office/drawing/2014/main" id="{7D083784-578E-2AC0-3079-383646ACD8A9}"/>
                  </a:ext>
                </a:extLst>
              </p:cNvPr>
              <p:cNvSpPr txBox="1"/>
              <p:nvPr/>
            </p:nvSpPr>
            <p:spPr>
              <a:xfrm>
                <a:off x="1935623" y="5106187"/>
                <a:ext cx="229739" cy="307777"/>
              </a:xfrm>
              <a:prstGeom prst="rect">
                <a:avLst/>
              </a:prstGeom>
              <a:noFill/>
            </p:spPr>
            <p:txBody>
              <a:bodyPr wrap="none" rtlCol="0">
                <a:spAutoFit/>
              </a:bodyPr>
              <a:lstStyle/>
              <a:p>
                <a:pPr algn="ctr"/>
                <a:r>
                  <a:rPr kumimoji="1" lang="en-US" altLang="ja-JP" sz="1400" dirty="0"/>
                  <a:t>1</a:t>
                </a:r>
                <a:endParaRPr kumimoji="1" lang="ja-JP" altLang="en-US" sz="1400"/>
              </a:p>
            </p:txBody>
          </p:sp>
          <p:sp>
            <p:nvSpPr>
              <p:cNvPr id="20" name="テキスト ボックス 19">
                <a:extLst>
                  <a:ext uri="{FF2B5EF4-FFF2-40B4-BE49-F238E27FC236}">
                    <a16:creationId xmlns:a16="http://schemas.microsoft.com/office/drawing/2014/main" id="{5D1D946F-5003-B5ED-4126-1095F4C9C022}"/>
                  </a:ext>
                </a:extLst>
              </p:cNvPr>
              <p:cNvSpPr txBox="1"/>
              <p:nvPr/>
            </p:nvSpPr>
            <p:spPr>
              <a:xfrm>
                <a:off x="2698325" y="5106187"/>
                <a:ext cx="229739" cy="307777"/>
              </a:xfrm>
              <a:prstGeom prst="rect">
                <a:avLst/>
              </a:prstGeom>
              <a:noFill/>
            </p:spPr>
            <p:txBody>
              <a:bodyPr wrap="none" rtlCol="0">
                <a:spAutoFit/>
              </a:bodyPr>
              <a:lstStyle/>
              <a:p>
                <a:pPr algn="ctr"/>
                <a:r>
                  <a:rPr kumimoji="1" lang="en-US" altLang="ja-JP" sz="1400" dirty="0"/>
                  <a:t>1</a:t>
                </a:r>
                <a:endParaRPr kumimoji="1" lang="ja-JP" altLang="en-US" sz="1400"/>
              </a:p>
            </p:txBody>
          </p:sp>
          <p:sp>
            <p:nvSpPr>
              <p:cNvPr id="21" name="テキスト ボックス 20">
                <a:extLst>
                  <a:ext uri="{FF2B5EF4-FFF2-40B4-BE49-F238E27FC236}">
                    <a16:creationId xmlns:a16="http://schemas.microsoft.com/office/drawing/2014/main" id="{AC6FA9E5-0D21-4045-09AC-C0CA0299EEF3}"/>
                  </a:ext>
                </a:extLst>
              </p:cNvPr>
              <p:cNvSpPr txBox="1"/>
              <p:nvPr/>
            </p:nvSpPr>
            <p:spPr>
              <a:xfrm>
                <a:off x="3464825" y="5114252"/>
                <a:ext cx="229739" cy="307777"/>
              </a:xfrm>
              <a:prstGeom prst="rect">
                <a:avLst/>
              </a:prstGeom>
              <a:noFill/>
            </p:spPr>
            <p:txBody>
              <a:bodyPr wrap="none" rtlCol="0">
                <a:spAutoFit/>
              </a:bodyPr>
              <a:lstStyle/>
              <a:p>
                <a:pPr algn="ctr"/>
                <a:r>
                  <a:rPr kumimoji="1" lang="en-US" altLang="ja-JP" sz="1400" dirty="0"/>
                  <a:t>0</a:t>
                </a:r>
                <a:endParaRPr kumimoji="1" lang="ja-JP" altLang="en-US" sz="1400"/>
              </a:p>
            </p:txBody>
          </p:sp>
          <p:sp>
            <p:nvSpPr>
              <p:cNvPr id="22" name="テキスト ボックス 21">
                <a:extLst>
                  <a:ext uri="{FF2B5EF4-FFF2-40B4-BE49-F238E27FC236}">
                    <a16:creationId xmlns:a16="http://schemas.microsoft.com/office/drawing/2014/main" id="{E75369FF-E57F-74C8-7DAE-439A827F589D}"/>
                  </a:ext>
                </a:extLst>
              </p:cNvPr>
              <p:cNvSpPr txBox="1"/>
              <p:nvPr/>
            </p:nvSpPr>
            <p:spPr>
              <a:xfrm>
                <a:off x="4230734" y="5114252"/>
                <a:ext cx="258588" cy="307777"/>
              </a:xfrm>
              <a:prstGeom prst="rect">
                <a:avLst/>
              </a:prstGeom>
              <a:noFill/>
            </p:spPr>
            <p:txBody>
              <a:bodyPr wrap="none" rtlCol="0">
                <a:spAutoFit/>
              </a:bodyPr>
              <a:lstStyle/>
              <a:p>
                <a:pPr algn="ctr"/>
                <a:r>
                  <a:rPr kumimoji="1" lang="en-US" altLang="ja-JP" sz="1400" dirty="0"/>
                  <a:t>…</a:t>
                </a:r>
                <a:endParaRPr kumimoji="1" lang="ja-JP" altLang="en-US" sz="1400"/>
              </a:p>
            </p:txBody>
          </p:sp>
        </p:grpSp>
      </p:grpSp>
    </p:spTree>
    <p:extLst>
      <p:ext uri="{BB962C8B-B14F-4D97-AF65-F5344CB8AC3E}">
        <p14:creationId xmlns:p14="http://schemas.microsoft.com/office/powerpoint/2010/main" val="18256959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7573968E-BF17-4017-AA59-5326CD607CE0}"/>
              </a:ext>
            </a:extLst>
          </p:cNvPr>
          <p:cNvSpPr>
            <a:spLocks noGrp="1"/>
          </p:cNvSpPr>
          <p:nvPr>
            <p:ph type="body" sz="quarter" idx="11"/>
          </p:nvPr>
        </p:nvSpPr>
        <p:spPr/>
        <p:txBody>
          <a:bodyPr>
            <a:normAutofit/>
          </a:bodyPr>
          <a:lstStyle/>
          <a:p>
            <a:r>
              <a:rPr kumimoji="1" lang="ja-JP" altLang="en-US"/>
              <a:t>素材集</a:t>
            </a:r>
          </a:p>
        </p:txBody>
      </p:sp>
      <p:pic>
        <p:nvPicPr>
          <p:cNvPr id="16" name="図 15" descr="巣蜜, 建物, ミラー が含まれている画像&#10;&#10;自動的に生成された説明">
            <a:extLst>
              <a:ext uri="{FF2B5EF4-FFF2-40B4-BE49-F238E27FC236}">
                <a16:creationId xmlns:a16="http://schemas.microsoft.com/office/drawing/2014/main" id="{1D2721EE-CDF6-2723-5F42-7A778A6E52AC}"/>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676222" y="1459222"/>
            <a:ext cx="1587500" cy="939800"/>
          </a:xfrm>
          <a:prstGeom prst="rect">
            <a:avLst/>
          </a:prstGeom>
        </p:spPr>
      </p:pic>
      <p:pic>
        <p:nvPicPr>
          <p:cNvPr id="18" name="図 17" descr="図形, 矢印&#10;&#10;自動的に生成された説明">
            <a:extLst>
              <a:ext uri="{FF2B5EF4-FFF2-40B4-BE49-F238E27FC236}">
                <a16:creationId xmlns:a16="http://schemas.microsoft.com/office/drawing/2014/main" id="{EC0A1FA9-5D5B-58B5-1E97-DE2015A4BF81}"/>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57611" y="2466286"/>
            <a:ext cx="492637" cy="469900"/>
          </a:xfrm>
          <a:prstGeom prst="rect">
            <a:avLst/>
          </a:prstGeom>
        </p:spPr>
      </p:pic>
      <p:pic>
        <p:nvPicPr>
          <p:cNvPr id="20" name="図 19">
            <a:extLst>
              <a:ext uri="{FF2B5EF4-FFF2-40B4-BE49-F238E27FC236}">
                <a16:creationId xmlns:a16="http://schemas.microsoft.com/office/drawing/2014/main" id="{C5FF0AA2-CB5C-D0DD-F01B-9F662F522922}"/>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01227" y="2914574"/>
            <a:ext cx="513124" cy="1026247"/>
          </a:xfrm>
          <a:prstGeom prst="rect">
            <a:avLst/>
          </a:prstGeom>
        </p:spPr>
      </p:pic>
      <p:pic>
        <p:nvPicPr>
          <p:cNvPr id="22" name="図 21" descr="背景パターン&#10;&#10;自動的に生成された説明">
            <a:extLst>
              <a:ext uri="{FF2B5EF4-FFF2-40B4-BE49-F238E27FC236}">
                <a16:creationId xmlns:a16="http://schemas.microsoft.com/office/drawing/2014/main" id="{5434239A-8B98-543D-152A-8C832CF2FE6F}"/>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10182" y="1876690"/>
            <a:ext cx="676214" cy="1983054"/>
          </a:xfrm>
          <a:prstGeom prst="rect">
            <a:avLst/>
          </a:prstGeom>
        </p:spPr>
      </p:pic>
      <p:pic>
        <p:nvPicPr>
          <p:cNvPr id="26" name="図 25" descr="ダイアグラム&#10;&#10;低い精度で自動的に生成された説明">
            <a:extLst>
              <a:ext uri="{FF2B5EF4-FFF2-40B4-BE49-F238E27FC236}">
                <a16:creationId xmlns:a16="http://schemas.microsoft.com/office/drawing/2014/main" id="{A51E6FAD-F4B6-D44D-3059-D5006F095FA9}"/>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86564" y="1067113"/>
            <a:ext cx="2305783" cy="1611569"/>
          </a:xfrm>
          <a:prstGeom prst="rect">
            <a:avLst/>
          </a:prstGeom>
        </p:spPr>
      </p:pic>
      <p:pic>
        <p:nvPicPr>
          <p:cNvPr id="28" name="図 27" descr="洗面道具 が含まれている画像&#10;&#10;自動的に生成された説明">
            <a:extLst>
              <a:ext uri="{FF2B5EF4-FFF2-40B4-BE49-F238E27FC236}">
                <a16:creationId xmlns:a16="http://schemas.microsoft.com/office/drawing/2014/main" id="{B4245E6D-394C-C910-C428-32CB856ED7C4}"/>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817433" y="1157008"/>
            <a:ext cx="2209434" cy="1544228"/>
          </a:xfrm>
          <a:prstGeom prst="rect">
            <a:avLst/>
          </a:prstGeom>
        </p:spPr>
      </p:pic>
      <p:pic>
        <p:nvPicPr>
          <p:cNvPr id="30" name="図 29" descr="ダイアグラム&#10;&#10;自動的に生成された説明">
            <a:extLst>
              <a:ext uri="{FF2B5EF4-FFF2-40B4-BE49-F238E27FC236}">
                <a16:creationId xmlns:a16="http://schemas.microsoft.com/office/drawing/2014/main" id="{F7BB396B-089F-6019-752C-C7EF107744DD}"/>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4374" y="2914574"/>
            <a:ext cx="2391961" cy="1802276"/>
          </a:xfrm>
          <a:prstGeom prst="rect">
            <a:avLst/>
          </a:prstGeom>
        </p:spPr>
      </p:pic>
      <p:pic>
        <p:nvPicPr>
          <p:cNvPr id="32" name="図 31" descr="洗面道具 が含まれている画像&#10;&#10;自動的に生成された説明">
            <a:extLst>
              <a:ext uri="{FF2B5EF4-FFF2-40B4-BE49-F238E27FC236}">
                <a16:creationId xmlns:a16="http://schemas.microsoft.com/office/drawing/2014/main" id="{983C9901-2A7E-0A6B-4270-306CF53D1F17}"/>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962806" y="2630557"/>
            <a:ext cx="2391961" cy="1802276"/>
          </a:xfrm>
          <a:prstGeom prst="rect">
            <a:avLst/>
          </a:prstGeom>
        </p:spPr>
      </p:pic>
      <p:pic>
        <p:nvPicPr>
          <p:cNvPr id="3" name="図 2" descr="図形, 円&#10;&#10;自動的に生成された説明">
            <a:extLst>
              <a:ext uri="{FF2B5EF4-FFF2-40B4-BE49-F238E27FC236}">
                <a16:creationId xmlns:a16="http://schemas.microsoft.com/office/drawing/2014/main" id="{AE5E1DC3-04D7-8A10-2314-17AE2BED30F6}"/>
              </a:ext>
            </a:extLst>
          </p:cNvPr>
          <p:cNvPicPr>
            <a:picLocks noChangeAspect="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69972" y="5369457"/>
            <a:ext cx="1587500" cy="1140317"/>
          </a:xfrm>
          <a:prstGeom prst="rect">
            <a:avLst/>
          </a:prstGeom>
        </p:spPr>
      </p:pic>
      <p:sp>
        <p:nvSpPr>
          <p:cNvPr id="2" name="山形 1">
            <a:extLst>
              <a:ext uri="{FF2B5EF4-FFF2-40B4-BE49-F238E27FC236}">
                <a16:creationId xmlns:a16="http://schemas.microsoft.com/office/drawing/2014/main" id="{57F379B0-6B86-480F-CE5C-EE6CD4B817E1}"/>
              </a:ext>
            </a:extLst>
          </p:cNvPr>
          <p:cNvSpPr/>
          <p:nvPr/>
        </p:nvSpPr>
        <p:spPr>
          <a:xfrm>
            <a:off x="9513843" y="4501678"/>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5" name="円/楕円 4">
            <a:extLst>
              <a:ext uri="{FF2B5EF4-FFF2-40B4-BE49-F238E27FC236}">
                <a16:creationId xmlns:a16="http://schemas.microsoft.com/office/drawing/2014/main" id="{A8C07547-E8E0-D81E-39D1-0781AFCBA57A}"/>
              </a:ext>
            </a:extLst>
          </p:cNvPr>
          <p:cNvSpPr>
            <a:spLocks noChangeAspect="1"/>
          </p:cNvSpPr>
          <p:nvPr/>
        </p:nvSpPr>
        <p:spPr>
          <a:xfrm>
            <a:off x="7468688" y="1323193"/>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5">
            <a:extLst>
              <a:ext uri="{FF2B5EF4-FFF2-40B4-BE49-F238E27FC236}">
                <a16:creationId xmlns:a16="http://schemas.microsoft.com/office/drawing/2014/main" id="{13DF3B36-46D7-5F19-E254-C48487CB4B47}"/>
              </a:ext>
            </a:extLst>
          </p:cNvPr>
          <p:cNvSpPr>
            <a:spLocks noChangeAspect="1"/>
          </p:cNvSpPr>
          <p:nvPr/>
        </p:nvSpPr>
        <p:spPr>
          <a:xfrm>
            <a:off x="7563454" y="1234974"/>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a:extLst>
              <a:ext uri="{FF2B5EF4-FFF2-40B4-BE49-F238E27FC236}">
                <a16:creationId xmlns:a16="http://schemas.microsoft.com/office/drawing/2014/main" id="{36048A23-EDC5-A5E2-B44A-F263FDB892BE}"/>
              </a:ext>
            </a:extLst>
          </p:cNvPr>
          <p:cNvSpPr>
            <a:spLocks noChangeAspect="1"/>
          </p:cNvSpPr>
          <p:nvPr/>
        </p:nvSpPr>
        <p:spPr>
          <a:xfrm>
            <a:off x="7695938" y="1267412"/>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円/楕円 7">
            <a:extLst>
              <a:ext uri="{FF2B5EF4-FFF2-40B4-BE49-F238E27FC236}">
                <a16:creationId xmlns:a16="http://schemas.microsoft.com/office/drawing/2014/main" id="{58A7EAF2-E71F-BBD9-A258-2710F568D617}"/>
              </a:ext>
            </a:extLst>
          </p:cNvPr>
          <p:cNvSpPr>
            <a:spLocks noChangeAspect="1"/>
          </p:cNvSpPr>
          <p:nvPr/>
        </p:nvSpPr>
        <p:spPr>
          <a:xfrm>
            <a:off x="7801941" y="1172785"/>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8">
            <a:extLst>
              <a:ext uri="{FF2B5EF4-FFF2-40B4-BE49-F238E27FC236}">
                <a16:creationId xmlns:a16="http://schemas.microsoft.com/office/drawing/2014/main" id="{FC24DCA8-5AAC-9E8B-8AB5-4C9BF49FF420}"/>
              </a:ext>
            </a:extLst>
          </p:cNvPr>
          <p:cNvSpPr>
            <a:spLocks noChangeAspect="1"/>
          </p:cNvSpPr>
          <p:nvPr/>
        </p:nvSpPr>
        <p:spPr>
          <a:xfrm>
            <a:off x="7931468" y="1201821"/>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a:extLst>
              <a:ext uri="{FF2B5EF4-FFF2-40B4-BE49-F238E27FC236}">
                <a16:creationId xmlns:a16="http://schemas.microsoft.com/office/drawing/2014/main" id="{DCCD1A78-C6EB-F0B0-FEBB-5484AB3D0051}"/>
              </a:ext>
            </a:extLst>
          </p:cNvPr>
          <p:cNvSpPr>
            <a:spLocks noChangeAspect="1"/>
          </p:cNvSpPr>
          <p:nvPr/>
        </p:nvSpPr>
        <p:spPr>
          <a:xfrm>
            <a:off x="8037471" y="1112655"/>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descr="電子機器, コンパクトディスク が含まれている画像&#10;&#10;自動的に生成された説明">
            <a:extLst>
              <a:ext uri="{FF2B5EF4-FFF2-40B4-BE49-F238E27FC236}">
                <a16:creationId xmlns:a16="http://schemas.microsoft.com/office/drawing/2014/main" id="{9B2CB778-4614-47B1-AFA0-EC1FF6084832}"/>
              </a:ext>
            </a:extLst>
          </p:cNvPr>
          <p:cNvPicPr>
            <a:picLocks noChangeAspect="1"/>
          </p:cNvPicPr>
          <p:nvPr/>
        </p:nvPicPr>
        <p:blipFill rotWithShape="1">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l="5428" t="3148" r="3607" b="3180"/>
          <a:stretch/>
        </p:blipFill>
        <p:spPr>
          <a:xfrm>
            <a:off x="4412197" y="4833930"/>
            <a:ext cx="1572768" cy="1323144"/>
          </a:xfrm>
          <a:prstGeom prst="rect">
            <a:avLst/>
          </a:prstGeom>
        </p:spPr>
      </p:pic>
      <p:pic>
        <p:nvPicPr>
          <p:cNvPr id="12" name="図 11" descr="アイコン&#10;&#10;自動的に生成された説明">
            <a:extLst>
              <a:ext uri="{FF2B5EF4-FFF2-40B4-BE49-F238E27FC236}">
                <a16:creationId xmlns:a16="http://schemas.microsoft.com/office/drawing/2014/main" id="{B4CB8EA3-D32E-96DF-9C95-69D5C39CF3EA}"/>
              </a:ext>
            </a:extLst>
          </p:cNvPr>
          <p:cNvPicPr>
            <a:picLocks noChangeAspect="1"/>
          </p:cNvPicPr>
          <p:nvPr/>
        </p:nvPicPr>
        <p:blipFill rotWithShape="1">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l="4229" t="5254" r="3904" b="4055"/>
          <a:stretch/>
        </p:blipFill>
        <p:spPr>
          <a:xfrm>
            <a:off x="2427575" y="4909277"/>
            <a:ext cx="1499615" cy="1251060"/>
          </a:xfrm>
          <a:prstGeom prst="rect">
            <a:avLst/>
          </a:prstGeom>
        </p:spPr>
      </p:pic>
    </p:spTree>
    <p:extLst>
      <p:ext uri="{BB962C8B-B14F-4D97-AF65-F5344CB8AC3E}">
        <p14:creationId xmlns:p14="http://schemas.microsoft.com/office/powerpoint/2010/main" val="10699805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BAE509-1F5F-44D7-895B-AADA5EB0124C}"/>
              </a:ext>
            </a:extLst>
          </p:cNvPr>
          <p:cNvSpPr>
            <a:spLocks noGrp="1"/>
          </p:cNvSpPr>
          <p:nvPr>
            <p:ph type="title"/>
          </p:nvPr>
        </p:nvSpPr>
        <p:spPr/>
        <p:txBody>
          <a:bodyPr/>
          <a:lstStyle/>
          <a:p>
            <a:r>
              <a:rPr kumimoji="1" lang="ja-JP" altLang="en-US" dirty="0"/>
              <a:t>寸法や色は場合に応じて調整しましょう</a:t>
            </a:r>
          </a:p>
        </p:txBody>
      </p:sp>
      <p:sp>
        <p:nvSpPr>
          <p:cNvPr id="4" name="テキスト プレースホルダー 3">
            <a:extLst>
              <a:ext uri="{FF2B5EF4-FFF2-40B4-BE49-F238E27FC236}">
                <a16:creationId xmlns:a16="http://schemas.microsoft.com/office/drawing/2014/main" id="{5DCA4200-D082-429B-A7B9-20EDE7036BD0}"/>
              </a:ext>
            </a:extLst>
          </p:cNvPr>
          <p:cNvSpPr>
            <a:spLocks noGrp="1"/>
          </p:cNvSpPr>
          <p:nvPr>
            <p:ph type="body" sz="quarter" idx="11"/>
          </p:nvPr>
        </p:nvSpPr>
        <p:spPr/>
        <p:txBody>
          <a:bodyPr>
            <a:normAutofit/>
          </a:bodyPr>
          <a:lstStyle/>
          <a:p>
            <a:r>
              <a:rPr kumimoji="1" lang="ja-JP" altLang="en-US" dirty="0"/>
              <a:t>よく使う図形のパターン</a:t>
            </a:r>
          </a:p>
        </p:txBody>
      </p:sp>
      <p:grpSp>
        <p:nvGrpSpPr>
          <p:cNvPr id="11" name="グループ化 10">
            <a:extLst>
              <a:ext uri="{FF2B5EF4-FFF2-40B4-BE49-F238E27FC236}">
                <a16:creationId xmlns:a16="http://schemas.microsoft.com/office/drawing/2014/main" id="{1600F27F-842D-4A09-9876-4F4D6FED49D4}"/>
              </a:ext>
            </a:extLst>
          </p:cNvPr>
          <p:cNvGrpSpPr/>
          <p:nvPr/>
        </p:nvGrpSpPr>
        <p:grpSpPr>
          <a:xfrm rot="3516666">
            <a:off x="1083666" y="2853387"/>
            <a:ext cx="1201975" cy="1567649"/>
            <a:chOff x="2664127" y="3374455"/>
            <a:chExt cx="1201975" cy="1567649"/>
          </a:xfrm>
        </p:grpSpPr>
        <p:sp>
          <p:nvSpPr>
            <p:cNvPr id="5" name="二等辺三角形 4">
              <a:extLst>
                <a:ext uri="{FF2B5EF4-FFF2-40B4-BE49-F238E27FC236}">
                  <a16:creationId xmlns:a16="http://schemas.microsoft.com/office/drawing/2014/main" id="{031DCB67-E3C0-40A6-82FC-F3A99614C50C}"/>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フリーフォーム: 図形 9">
              <a:extLst>
                <a:ext uri="{FF2B5EF4-FFF2-40B4-BE49-F238E27FC236}">
                  <a16:creationId xmlns:a16="http://schemas.microsoft.com/office/drawing/2014/main" id="{8F1F7A27-5455-4318-B9EB-F5DC2E371C80}"/>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9" name="グループ化 18">
            <a:extLst>
              <a:ext uri="{FF2B5EF4-FFF2-40B4-BE49-F238E27FC236}">
                <a16:creationId xmlns:a16="http://schemas.microsoft.com/office/drawing/2014/main" id="{A84CB4AB-8E74-474F-8F79-B603B9235B46}"/>
              </a:ext>
            </a:extLst>
          </p:cNvPr>
          <p:cNvGrpSpPr/>
          <p:nvPr/>
        </p:nvGrpSpPr>
        <p:grpSpPr>
          <a:xfrm>
            <a:off x="3762700" y="2453659"/>
            <a:ext cx="851900" cy="2201196"/>
            <a:chOff x="4004187" y="2684206"/>
            <a:chExt cx="851900" cy="2201196"/>
          </a:xfrm>
        </p:grpSpPr>
        <p:sp>
          <p:nvSpPr>
            <p:cNvPr id="16" name="二等辺三角形 15">
              <a:extLst>
                <a:ext uri="{FF2B5EF4-FFF2-40B4-BE49-F238E27FC236}">
                  <a16:creationId xmlns:a16="http://schemas.microsoft.com/office/drawing/2014/main" id="{77F25128-43F7-4D7B-A506-7861040EA63C}"/>
                </a:ext>
              </a:extLst>
            </p:cNvPr>
            <p:cNvSpPr/>
            <p:nvPr/>
          </p:nvSpPr>
          <p:spPr>
            <a:xfrm>
              <a:off x="4004187" y="2684206"/>
              <a:ext cx="851900" cy="40558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二等辺三角形 16">
              <a:extLst>
                <a:ext uri="{FF2B5EF4-FFF2-40B4-BE49-F238E27FC236}">
                  <a16:creationId xmlns:a16="http://schemas.microsoft.com/office/drawing/2014/main" id="{425DA271-AEFA-45AB-AD52-737DB7EF67C8}"/>
                </a:ext>
              </a:extLst>
            </p:cNvPr>
            <p:cNvSpPr/>
            <p:nvPr/>
          </p:nvSpPr>
          <p:spPr>
            <a:xfrm rot="10800000">
              <a:off x="4172039" y="4653111"/>
              <a:ext cx="516194" cy="23229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台形 17">
              <a:extLst>
                <a:ext uri="{FF2B5EF4-FFF2-40B4-BE49-F238E27FC236}">
                  <a16:creationId xmlns:a16="http://schemas.microsoft.com/office/drawing/2014/main" id="{0BE03671-A77A-4398-9395-69D34E2C8634}"/>
                </a:ext>
              </a:extLst>
            </p:cNvPr>
            <p:cNvSpPr/>
            <p:nvPr/>
          </p:nvSpPr>
          <p:spPr>
            <a:xfrm rot="10800000">
              <a:off x="4274402" y="3082408"/>
              <a:ext cx="311469" cy="1570703"/>
            </a:xfrm>
            <a:prstGeom prst="trapezoid">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53DA5DF4-9734-4A8B-B3F2-EB432821614A}"/>
              </a:ext>
            </a:extLst>
          </p:cNvPr>
          <p:cNvGrpSpPr/>
          <p:nvPr/>
        </p:nvGrpSpPr>
        <p:grpSpPr>
          <a:xfrm>
            <a:off x="5262743" y="3209365"/>
            <a:ext cx="2359742" cy="1445491"/>
            <a:chOff x="4837472" y="2490841"/>
            <a:chExt cx="2359742" cy="1445491"/>
          </a:xfrm>
        </p:grpSpPr>
        <p:sp>
          <p:nvSpPr>
            <p:cNvPr id="20" name="四角形: 角を丸くする 19">
              <a:extLst>
                <a:ext uri="{FF2B5EF4-FFF2-40B4-BE49-F238E27FC236}">
                  <a16:creationId xmlns:a16="http://schemas.microsoft.com/office/drawing/2014/main" id="{161AF5DB-A2D8-495C-B795-7003573DFCCF}"/>
                </a:ext>
              </a:extLst>
            </p:cNvPr>
            <p:cNvSpPr/>
            <p:nvPr/>
          </p:nvSpPr>
          <p:spPr>
            <a:xfrm>
              <a:off x="4837472" y="2490841"/>
              <a:ext cx="2359742" cy="938159"/>
            </a:xfrm>
            <a:prstGeom prst="roundRect">
              <a:avLst>
                <a:gd name="adj" fmla="val 10379"/>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二等辺三角形 21">
              <a:extLst>
                <a:ext uri="{FF2B5EF4-FFF2-40B4-BE49-F238E27FC236}">
                  <a16:creationId xmlns:a16="http://schemas.microsoft.com/office/drawing/2014/main" id="{C811F06F-2D36-4904-A2A9-7CD991856DA0}"/>
                </a:ext>
              </a:extLst>
            </p:cNvPr>
            <p:cNvSpPr/>
            <p:nvPr/>
          </p:nvSpPr>
          <p:spPr>
            <a:xfrm rot="11901755">
              <a:off x="4948538" y="3335420"/>
              <a:ext cx="213186" cy="600912"/>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6" name="グループ化 25">
            <a:extLst>
              <a:ext uri="{FF2B5EF4-FFF2-40B4-BE49-F238E27FC236}">
                <a16:creationId xmlns:a16="http://schemas.microsoft.com/office/drawing/2014/main" id="{12B12945-4562-4CBA-BD30-EF9F8726FCD9}"/>
              </a:ext>
            </a:extLst>
          </p:cNvPr>
          <p:cNvGrpSpPr/>
          <p:nvPr/>
        </p:nvGrpSpPr>
        <p:grpSpPr>
          <a:xfrm>
            <a:off x="2672807" y="2453659"/>
            <a:ext cx="840658" cy="2492477"/>
            <a:chOff x="7800489" y="2818451"/>
            <a:chExt cx="840658" cy="2492477"/>
          </a:xfrm>
        </p:grpSpPr>
        <p:sp>
          <p:nvSpPr>
            <p:cNvPr id="24" name="二等辺三角形 23">
              <a:extLst>
                <a:ext uri="{FF2B5EF4-FFF2-40B4-BE49-F238E27FC236}">
                  <a16:creationId xmlns:a16="http://schemas.microsoft.com/office/drawing/2014/main" id="{5972915F-3F25-4048-8F16-22D7D6656CAA}"/>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二等辺三角形 24">
              <a:extLst>
                <a:ext uri="{FF2B5EF4-FFF2-40B4-BE49-F238E27FC236}">
                  <a16:creationId xmlns:a16="http://schemas.microsoft.com/office/drawing/2014/main" id="{FC3592AF-4DD9-481B-AE7D-C444443CA44E}"/>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31" name="直線コネクタ 30">
            <a:extLst>
              <a:ext uri="{FF2B5EF4-FFF2-40B4-BE49-F238E27FC236}">
                <a16:creationId xmlns:a16="http://schemas.microsoft.com/office/drawing/2014/main" id="{E692BBDB-6806-49B7-9241-7D2B547F185E}"/>
              </a:ext>
            </a:extLst>
          </p:cNvPr>
          <p:cNvCxnSpPr>
            <a:cxnSpLocks/>
          </p:cNvCxnSpPr>
          <p:nvPr/>
        </p:nvCxnSpPr>
        <p:spPr>
          <a:xfrm flipV="1">
            <a:off x="7466643" y="2683751"/>
            <a:ext cx="525780" cy="791898"/>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29" name="楕円 28">
            <a:extLst>
              <a:ext uri="{FF2B5EF4-FFF2-40B4-BE49-F238E27FC236}">
                <a16:creationId xmlns:a16="http://schemas.microsoft.com/office/drawing/2014/main" id="{602DA899-F613-4B35-A569-DACF6D76EEA5}"/>
              </a:ext>
            </a:extLst>
          </p:cNvPr>
          <p:cNvSpPr/>
          <p:nvPr/>
        </p:nvSpPr>
        <p:spPr>
          <a:xfrm>
            <a:off x="7831288" y="2120241"/>
            <a:ext cx="648000" cy="648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latin typeface="游ゴシック" panose="020B0400000000000000" pitchFamily="50" charset="-128"/>
                <a:ea typeface="游ゴシック" panose="020B0400000000000000" pitchFamily="50" charset="-128"/>
              </a:rPr>
              <a:t>1</a:t>
            </a:r>
            <a:endParaRPr kumimoji="1" lang="ja-JP" altLang="en-US" sz="2800" b="1" dirty="0">
              <a:latin typeface="游ゴシック" panose="020B0400000000000000" pitchFamily="50" charset="-128"/>
              <a:ea typeface="游ゴシック" panose="020B0400000000000000" pitchFamily="50" charset="-128"/>
            </a:endParaRPr>
          </a:p>
        </p:txBody>
      </p:sp>
      <p:grpSp>
        <p:nvGrpSpPr>
          <p:cNvPr id="6" name="グループ化 5">
            <a:extLst>
              <a:ext uri="{FF2B5EF4-FFF2-40B4-BE49-F238E27FC236}">
                <a16:creationId xmlns:a16="http://schemas.microsoft.com/office/drawing/2014/main" id="{D97239CB-D2F7-464C-85F9-58EE17B7D302}"/>
              </a:ext>
            </a:extLst>
          </p:cNvPr>
          <p:cNvGrpSpPr/>
          <p:nvPr/>
        </p:nvGrpSpPr>
        <p:grpSpPr>
          <a:xfrm>
            <a:off x="1308118" y="4654856"/>
            <a:ext cx="938304" cy="840658"/>
            <a:chOff x="1572269" y="4816089"/>
            <a:chExt cx="938304" cy="840658"/>
          </a:xfrm>
        </p:grpSpPr>
        <p:sp>
          <p:nvSpPr>
            <p:cNvPr id="27" name="二等辺三角形 26">
              <a:extLst>
                <a:ext uri="{FF2B5EF4-FFF2-40B4-BE49-F238E27FC236}">
                  <a16:creationId xmlns:a16="http://schemas.microsoft.com/office/drawing/2014/main" id="{3B6F705D-F04B-4DBD-8C41-9BCBF909BE34}"/>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フリーフォーム: 図形 29">
              <a:extLst>
                <a:ext uri="{FF2B5EF4-FFF2-40B4-BE49-F238E27FC236}">
                  <a16:creationId xmlns:a16="http://schemas.microsoft.com/office/drawing/2014/main" id="{3076F6E7-0F39-40A8-B28D-938F6D40299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sp>
        <p:nvSpPr>
          <p:cNvPr id="7" name="フリーフォーム: 図形 6">
            <a:extLst>
              <a:ext uri="{FF2B5EF4-FFF2-40B4-BE49-F238E27FC236}">
                <a16:creationId xmlns:a16="http://schemas.microsoft.com/office/drawing/2014/main" id="{5183F042-B05B-8313-D916-4D435BA05131}"/>
              </a:ext>
            </a:extLst>
          </p:cNvPr>
          <p:cNvSpPr/>
          <p:nvPr/>
        </p:nvSpPr>
        <p:spPr>
          <a:xfrm>
            <a:off x="1256388" y="6352685"/>
            <a:ext cx="1380066" cy="202200"/>
          </a:xfrm>
          <a:custGeom>
            <a:avLst/>
            <a:gdLst>
              <a:gd name="connsiteX0" fmla="*/ 0 w 1380066"/>
              <a:gd name="connsiteY0" fmla="*/ 202199 h 202200"/>
              <a:gd name="connsiteX1" fmla="*/ 1380066 w 1380066"/>
              <a:gd name="connsiteY1" fmla="*/ 0 h 202200"/>
            </a:gdLst>
            <a:ahLst/>
            <a:cxnLst>
              <a:cxn ang="0">
                <a:pos x="connsiteX0" y="connsiteY0"/>
              </a:cxn>
              <a:cxn ang="0">
                <a:pos x="connsiteX1" y="connsiteY1"/>
              </a:cxn>
            </a:cxnLst>
            <a:rect l="l" t="t" r="r" b="b"/>
            <a:pathLst>
              <a:path w="1380066" h="202200" extrusionOk="0">
                <a:moveTo>
                  <a:pt x="0" y="202199"/>
                </a:moveTo>
                <a:cubicBezTo>
                  <a:pt x="579868" y="55242"/>
                  <a:pt x="825186" y="128242"/>
                  <a:pt x="1380066" y="0"/>
                </a:cubicBezTo>
              </a:path>
            </a:pathLst>
          </a:custGeom>
          <a:noFill/>
          <a:ln cap="rnd">
            <a:solidFill>
              <a:schemeClr val="accent4"/>
            </a:solidFill>
            <a:round/>
            <a:headEnd type="none" w="med" len="med"/>
            <a:tailEnd type="arrow" w="lg" len="lg"/>
            <a:extLst>
              <a:ext uri="{C807C97D-BFC1-408E-A445-0C87EB9F89A2}">
                <ask:lineSketchStyleProps xmlns:ask="http://schemas.microsoft.com/office/drawing/2018/sketchyshapes" sd="697022472">
                  <a:custGeom>
                    <a:avLst/>
                    <a:gdLst>
                      <a:gd name="connsiteX0" fmla="*/ 0 w 2709333"/>
                      <a:gd name="connsiteY0" fmla="*/ 321732 h 321733"/>
                      <a:gd name="connsiteX1" fmla="*/ 1245419 w 2709333"/>
                      <a:gd name="connsiteY1" fmla="*/ 105712 h 321733"/>
                      <a:gd name="connsiteX2" fmla="*/ 2709333 w 2709333"/>
                      <a:gd name="connsiteY2" fmla="*/ 0 h 321733"/>
                      <a:gd name="connsiteX0" fmla="*/ 0 w 2709333"/>
                      <a:gd name="connsiteY0" fmla="*/ 321732 h 321732"/>
                      <a:gd name="connsiteX1" fmla="*/ 2709333 w 2709333"/>
                      <a:gd name="connsiteY1" fmla="*/ 0 h 321732"/>
                    </a:gdLst>
                    <a:ahLst/>
                    <a:cxnLst>
                      <a:cxn ang="0">
                        <a:pos x="connsiteX0" y="connsiteY0"/>
                      </a:cxn>
                      <a:cxn ang="0">
                        <a:pos x="connsiteX1" y="connsiteY1"/>
                      </a:cxn>
                    </a:cxnLst>
                    <a:rect l="l" t="t" r="r" b="b"/>
                    <a:pathLst>
                      <a:path w="2709333" h="321732" extrusionOk="0">
                        <a:moveTo>
                          <a:pt x="0" y="321732"/>
                        </a:moveTo>
                        <a:lnTo>
                          <a:pt x="2709333" y="0"/>
                        </a:ln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右大かっこ 7">
            <a:extLst>
              <a:ext uri="{FF2B5EF4-FFF2-40B4-BE49-F238E27FC236}">
                <a16:creationId xmlns:a16="http://schemas.microsoft.com/office/drawing/2014/main" id="{B56DB7F2-BBFC-B498-CF1C-E6E32288AFD5}"/>
              </a:ext>
            </a:extLst>
          </p:cNvPr>
          <p:cNvSpPr/>
          <p:nvPr/>
        </p:nvSpPr>
        <p:spPr>
          <a:xfrm>
            <a:off x="10875218" y="3429000"/>
            <a:ext cx="75875" cy="2144636"/>
          </a:xfrm>
          <a:custGeom>
            <a:avLst/>
            <a:gdLst>
              <a:gd name="connsiteX0" fmla="*/ 0 w 75875"/>
              <a:gd name="connsiteY0" fmla="*/ 0 h 2144636"/>
              <a:gd name="connsiteX1" fmla="*/ 75875 w 75875"/>
              <a:gd name="connsiteY1" fmla="*/ 6323 h 2144636"/>
              <a:gd name="connsiteX2" fmla="*/ 75875 w 75875"/>
              <a:gd name="connsiteY2" fmla="*/ 2138313 h 2144636"/>
              <a:gd name="connsiteX3" fmla="*/ 0 w 75875"/>
              <a:gd name="connsiteY3" fmla="*/ 2144636 h 2144636"/>
              <a:gd name="connsiteX4" fmla="*/ 0 w 75875"/>
              <a:gd name="connsiteY4" fmla="*/ 0 h 2144636"/>
              <a:gd name="connsiteX0" fmla="*/ 0 w 75875"/>
              <a:gd name="connsiteY0" fmla="*/ 0 h 2144636"/>
              <a:gd name="connsiteX1" fmla="*/ 75875 w 75875"/>
              <a:gd name="connsiteY1" fmla="*/ 6323 h 2144636"/>
              <a:gd name="connsiteX2" fmla="*/ 75875 w 75875"/>
              <a:gd name="connsiteY2" fmla="*/ 2138313 h 2144636"/>
              <a:gd name="connsiteX3" fmla="*/ 0 w 75875"/>
              <a:gd name="connsiteY3" fmla="*/ 2144636 h 2144636"/>
            </a:gdLst>
            <a:ahLst/>
            <a:cxnLst>
              <a:cxn ang="0">
                <a:pos x="connsiteX0" y="connsiteY0"/>
              </a:cxn>
              <a:cxn ang="0">
                <a:pos x="connsiteX1" y="connsiteY1"/>
              </a:cxn>
              <a:cxn ang="0">
                <a:pos x="connsiteX2" y="connsiteY2"/>
              </a:cxn>
              <a:cxn ang="0">
                <a:pos x="connsiteX3" y="connsiteY3"/>
              </a:cxn>
            </a:cxnLst>
            <a:rect l="l" t="t" r="r" b="b"/>
            <a:pathLst>
              <a:path w="75875" h="2144636" stroke="0" extrusionOk="0">
                <a:moveTo>
                  <a:pt x="0" y="0"/>
                </a:moveTo>
                <a:cubicBezTo>
                  <a:pt x="42231" y="260"/>
                  <a:pt x="75694" y="3473"/>
                  <a:pt x="75875" y="6323"/>
                </a:cubicBezTo>
                <a:cubicBezTo>
                  <a:pt x="36033" y="809005"/>
                  <a:pt x="117564" y="1463863"/>
                  <a:pt x="75875" y="2138313"/>
                </a:cubicBezTo>
                <a:cubicBezTo>
                  <a:pt x="75472" y="2141552"/>
                  <a:pt x="38285" y="2141821"/>
                  <a:pt x="0" y="2144636"/>
                </a:cubicBezTo>
                <a:cubicBezTo>
                  <a:pt x="132240" y="1282501"/>
                  <a:pt x="-92512" y="751834"/>
                  <a:pt x="0" y="0"/>
                </a:cubicBezTo>
                <a:close/>
              </a:path>
              <a:path w="75875" h="2144636" fill="none" extrusionOk="0">
                <a:moveTo>
                  <a:pt x="0" y="0"/>
                </a:moveTo>
                <a:cubicBezTo>
                  <a:pt x="42382" y="80"/>
                  <a:pt x="76249" y="3222"/>
                  <a:pt x="75875" y="6323"/>
                </a:cubicBezTo>
                <a:cubicBezTo>
                  <a:pt x="-24092" y="939947"/>
                  <a:pt x="-16176" y="1075997"/>
                  <a:pt x="75875" y="2138313"/>
                </a:cubicBezTo>
                <a:cubicBezTo>
                  <a:pt x="70834" y="2143479"/>
                  <a:pt x="44604" y="2144902"/>
                  <a:pt x="0" y="2144636"/>
                </a:cubicBezTo>
              </a:path>
              <a:path w="75875" h="2144636" fill="none" stroke="0" extrusionOk="0">
                <a:moveTo>
                  <a:pt x="0" y="0"/>
                </a:moveTo>
                <a:cubicBezTo>
                  <a:pt x="42098" y="-180"/>
                  <a:pt x="76088" y="3017"/>
                  <a:pt x="75875" y="6323"/>
                </a:cubicBezTo>
                <a:cubicBezTo>
                  <a:pt x="233756" y="726300"/>
                  <a:pt x="144075" y="1627586"/>
                  <a:pt x="75875" y="2138313"/>
                </a:cubicBezTo>
                <a:cubicBezTo>
                  <a:pt x="81323" y="2141035"/>
                  <a:pt x="43270" y="2142597"/>
                  <a:pt x="0" y="2144636"/>
                </a:cubicBezTo>
              </a:path>
            </a:pathLst>
          </a:custGeom>
          <a:ln w="19050">
            <a:solidFill>
              <a:schemeClr val="accent4"/>
            </a:solidFill>
            <a:extLst>
              <a:ext uri="{C807C97D-BFC1-408E-A445-0C87EB9F89A2}">
                <ask:lineSketchStyleProps xmlns:ask="http://schemas.microsoft.com/office/drawing/2018/sketchyshapes" sd="43512134">
                  <a:prstGeom prst="rightBracket">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379F5105-2867-CCBC-D635-B09EBEC74DE8}"/>
              </a:ext>
            </a:extLst>
          </p:cNvPr>
          <p:cNvSpPr txBox="1"/>
          <p:nvPr/>
        </p:nvSpPr>
        <p:spPr>
          <a:xfrm>
            <a:off x="8613397" y="3987244"/>
            <a:ext cx="1716014" cy="369332"/>
          </a:xfrm>
          <a:prstGeom prst="rect">
            <a:avLst/>
          </a:prstGeom>
          <a:solidFill>
            <a:srgbClr val="46877B"/>
          </a:solidFill>
        </p:spPr>
        <p:txBody>
          <a:bodyPr wrap="square">
            <a:spAutoFit/>
          </a:bodyPr>
          <a:lstStyle/>
          <a:p>
            <a:r>
              <a:rPr lang="en-US" altLang="ja-JP" b="1" dirty="0">
                <a:solidFill>
                  <a:schemeClr val="bg1"/>
                </a:solidFill>
                <a:latin typeface="游ゴシック" panose="020B0400000000000000" pitchFamily="50" charset="-128"/>
                <a:ea typeface="游ゴシック" panose="020B0400000000000000" pitchFamily="50" charset="-128"/>
              </a:rPr>
              <a:t> </a:t>
            </a:r>
            <a:r>
              <a:rPr lang="ja-JP" altLang="en-US" b="1" dirty="0">
                <a:solidFill>
                  <a:schemeClr val="bg1"/>
                </a:solidFill>
                <a:latin typeface="游ゴシック" panose="020B0400000000000000" pitchFamily="50" charset="-128"/>
                <a:ea typeface="游ゴシック" panose="020B0400000000000000" pitchFamily="50" charset="-128"/>
              </a:rPr>
              <a:t>何かの見出し</a:t>
            </a:r>
          </a:p>
        </p:txBody>
      </p:sp>
      <p:sp>
        <p:nvSpPr>
          <p:cNvPr id="36" name="フリーフォーム: 図形 35">
            <a:extLst>
              <a:ext uri="{FF2B5EF4-FFF2-40B4-BE49-F238E27FC236}">
                <a16:creationId xmlns:a16="http://schemas.microsoft.com/office/drawing/2014/main" id="{EFD584C9-55DF-601C-DC7A-86517FFDB48C}"/>
              </a:ext>
            </a:extLst>
          </p:cNvPr>
          <p:cNvSpPr/>
          <p:nvPr/>
        </p:nvSpPr>
        <p:spPr>
          <a:xfrm rot="2149832">
            <a:off x="1232946" y="5356494"/>
            <a:ext cx="1116215" cy="1248435"/>
          </a:xfrm>
          <a:custGeom>
            <a:avLst/>
            <a:gdLst>
              <a:gd name="connsiteX0" fmla="*/ 0 w 6381750"/>
              <a:gd name="connsiteY0" fmla="*/ 87460 h 350919"/>
              <a:gd name="connsiteX1" fmla="*/ 508000 w 6381750"/>
              <a:gd name="connsiteY1" fmla="*/ 258910 h 350919"/>
              <a:gd name="connsiteX2" fmla="*/ 908050 w 6381750"/>
              <a:gd name="connsiteY2" fmla="*/ 125560 h 350919"/>
              <a:gd name="connsiteX3" fmla="*/ 1314450 w 6381750"/>
              <a:gd name="connsiteY3" fmla="*/ 252560 h 350919"/>
              <a:gd name="connsiteX4" fmla="*/ 2032000 w 6381750"/>
              <a:gd name="connsiteY4" fmla="*/ 4910 h 350919"/>
              <a:gd name="connsiteX5" fmla="*/ 2635250 w 6381750"/>
              <a:gd name="connsiteY5" fmla="*/ 100160 h 350919"/>
              <a:gd name="connsiteX6" fmla="*/ 3943350 w 6381750"/>
              <a:gd name="connsiteY6" fmla="*/ 252560 h 350919"/>
              <a:gd name="connsiteX7" fmla="*/ 4648200 w 6381750"/>
              <a:gd name="connsiteY7" fmla="*/ 347810 h 350919"/>
              <a:gd name="connsiteX8" fmla="*/ 5308600 w 6381750"/>
              <a:gd name="connsiteY8" fmla="*/ 138260 h 350919"/>
              <a:gd name="connsiteX9" fmla="*/ 6381750 w 6381750"/>
              <a:gd name="connsiteY9" fmla="*/ 87460 h 350919"/>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84727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908050 w 6381750"/>
              <a:gd name="connsiteY1" fmla="*/ 122827 h 347987"/>
              <a:gd name="connsiteX2" fmla="*/ 1314450 w 6381750"/>
              <a:gd name="connsiteY2" fmla="*/ 249827 h 347987"/>
              <a:gd name="connsiteX3" fmla="*/ 2032000 w 6381750"/>
              <a:gd name="connsiteY3" fmla="*/ 2177 h 347987"/>
              <a:gd name="connsiteX4" fmla="*/ 2876550 w 6381750"/>
              <a:gd name="connsiteY4" fmla="*/ 135527 h 347987"/>
              <a:gd name="connsiteX5" fmla="*/ 3943350 w 6381750"/>
              <a:gd name="connsiteY5" fmla="*/ 249827 h 347987"/>
              <a:gd name="connsiteX6" fmla="*/ 4648200 w 6381750"/>
              <a:gd name="connsiteY6" fmla="*/ 345077 h 347987"/>
              <a:gd name="connsiteX7" fmla="*/ 5308600 w 6381750"/>
              <a:gd name="connsiteY7" fmla="*/ 135527 h 347987"/>
              <a:gd name="connsiteX8" fmla="*/ 6381750 w 6381750"/>
              <a:gd name="connsiteY8" fmla="*/ 143994 h 347987"/>
              <a:gd name="connsiteX0" fmla="*/ 0 w 6381750"/>
              <a:gd name="connsiteY0" fmla="*/ 84727 h 347987"/>
              <a:gd name="connsiteX1" fmla="*/ 1314450 w 6381750"/>
              <a:gd name="connsiteY1" fmla="*/ 249827 h 347987"/>
              <a:gd name="connsiteX2" fmla="*/ 2032000 w 6381750"/>
              <a:gd name="connsiteY2" fmla="*/ 2177 h 347987"/>
              <a:gd name="connsiteX3" fmla="*/ 2876550 w 6381750"/>
              <a:gd name="connsiteY3" fmla="*/ 135527 h 347987"/>
              <a:gd name="connsiteX4" fmla="*/ 3943350 w 6381750"/>
              <a:gd name="connsiteY4" fmla="*/ 249827 h 347987"/>
              <a:gd name="connsiteX5" fmla="*/ 4648200 w 6381750"/>
              <a:gd name="connsiteY5" fmla="*/ 345077 h 347987"/>
              <a:gd name="connsiteX6" fmla="*/ 5308600 w 6381750"/>
              <a:gd name="connsiteY6" fmla="*/ 135527 h 347987"/>
              <a:gd name="connsiteX7" fmla="*/ 6381750 w 6381750"/>
              <a:gd name="connsiteY7" fmla="*/ 143994 h 347987"/>
              <a:gd name="connsiteX0" fmla="*/ 0 w 6381750"/>
              <a:gd name="connsiteY0" fmla="*/ 83224 h 346484"/>
              <a:gd name="connsiteX1" fmla="*/ 2032000 w 6381750"/>
              <a:gd name="connsiteY1" fmla="*/ 674 h 346484"/>
              <a:gd name="connsiteX2" fmla="*/ 2876550 w 6381750"/>
              <a:gd name="connsiteY2" fmla="*/ 134024 h 346484"/>
              <a:gd name="connsiteX3" fmla="*/ 3943350 w 6381750"/>
              <a:gd name="connsiteY3" fmla="*/ 248324 h 346484"/>
              <a:gd name="connsiteX4" fmla="*/ 4648200 w 6381750"/>
              <a:gd name="connsiteY4" fmla="*/ 343574 h 346484"/>
              <a:gd name="connsiteX5" fmla="*/ 5308600 w 6381750"/>
              <a:gd name="connsiteY5" fmla="*/ 134024 h 346484"/>
              <a:gd name="connsiteX6" fmla="*/ 6381750 w 6381750"/>
              <a:gd name="connsiteY6" fmla="*/ 142491 h 346484"/>
              <a:gd name="connsiteX0" fmla="*/ 0 w 6381750"/>
              <a:gd name="connsiteY0" fmla="*/ 0 h 263260"/>
              <a:gd name="connsiteX1" fmla="*/ 2876550 w 6381750"/>
              <a:gd name="connsiteY1" fmla="*/ 50800 h 263260"/>
              <a:gd name="connsiteX2" fmla="*/ 3943350 w 6381750"/>
              <a:gd name="connsiteY2" fmla="*/ 165100 h 263260"/>
              <a:gd name="connsiteX3" fmla="*/ 4648200 w 6381750"/>
              <a:gd name="connsiteY3" fmla="*/ 260350 h 263260"/>
              <a:gd name="connsiteX4" fmla="*/ 5308600 w 6381750"/>
              <a:gd name="connsiteY4" fmla="*/ 50800 h 263260"/>
              <a:gd name="connsiteX5" fmla="*/ 6381750 w 6381750"/>
              <a:gd name="connsiteY5" fmla="*/ 59267 h 263260"/>
              <a:gd name="connsiteX0" fmla="*/ 0 w 6381750"/>
              <a:gd name="connsiteY0" fmla="*/ 0 h 263260"/>
              <a:gd name="connsiteX1" fmla="*/ 3943350 w 6381750"/>
              <a:gd name="connsiteY1" fmla="*/ 165100 h 263260"/>
              <a:gd name="connsiteX2" fmla="*/ 4648200 w 6381750"/>
              <a:gd name="connsiteY2" fmla="*/ 260350 h 263260"/>
              <a:gd name="connsiteX3" fmla="*/ 5308600 w 6381750"/>
              <a:gd name="connsiteY3" fmla="*/ 50800 h 263260"/>
              <a:gd name="connsiteX4" fmla="*/ 6381750 w 6381750"/>
              <a:gd name="connsiteY4" fmla="*/ 59267 h 263260"/>
              <a:gd name="connsiteX0" fmla="*/ 0 w 6381750"/>
              <a:gd name="connsiteY0" fmla="*/ 0 h 260350"/>
              <a:gd name="connsiteX1" fmla="*/ 4648200 w 6381750"/>
              <a:gd name="connsiteY1" fmla="*/ 260350 h 260350"/>
              <a:gd name="connsiteX2" fmla="*/ 5308600 w 6381750"/>
              <a:gd name="connsiteY2" fmla="*/ 50800 h 260350"/>
              <a:gd name="connsiteX3" fmla="*/ 6381750 w 6381750"/>
              <a:gd name="connsiteY3" fmla="*/ 59267 h 260350"/>
              <a:gd name="connsiteX0" fmla="*/ 0 w 6381750"/>
              <a:gd name="connsiteY0" fmla="*/ 0 h 59267"/>
              <a:gd name="connsiteX1" fmla="*/ 5308600 w 6381750"/>
              <a:gd name="connsiteY1" fmla="*/ 50800 h 59267"/>
              <a:gd name="connsiteX2" fmla="*/ 6381750 w 6381750"/>
              <a:gd name="connsiteY2" fmla="*/ 59267 h 59267"/>
              <a:gd name="connsiteX0" fmla="*/ 0 w 6381750"/>
              <a:gd name="connsiteY0" fmla="*/ 0 h 1124584"/>
              <a:gd name="connsiteX1" fmla="*/ 4528057 w 6381750"/>
              <a:gd name="connsiteY1" fmla="*/ 1124584 h 1124584"/>
              <a:gd name="connsiteX2" fmla="*/ 6381750 w 6381750"/>
              <a:gd name="connsiteY2" fmla="*/ 59267 h 1124584"/>
              <a:gd name="connsiteX0" fmla="*/ 0 w 3161177"/>
              <a:gd name="connsiteY0" fmla="*/ 2112889 h 2112889"/>
              <a:gd name="connsiteX1" fmla="*/ 1307484 w 3161177"/>
              <a:gd name="connsiteY1" fmla="*/ 1067394 h 2112889"/>
              <a:gd name="connsiteX2" fmla="*/ 3161177 w 3161177"/>
              <a:gd name="connsiteY2" fmla="*/ 2077 h 2112889"/>
              <a:gd name="connsiteX0" fmla="*/ 0 w 3161177"/>
              <a:gd name="connsiteY0" fmla="*/ 2110812 h 2110812"/>
              <a:gd name="connsiteX1" fmla="*/ 3161177 w 3161177"/>
              <a:gd name="connsiteY1" fmla="*/ 0 h 2110812"/>
              <a:gd name="connsiteX0" fmla="*/ 0 w 1482258"/>
              <a:gd name="connsiteY0" fmla="*/ 903680 h 903680"/>
              <a:gd name="connsiteX1" fmla="*/ 1482258 w 1482258"/>
              <a:gd name="connsiteY1" fmla="*/ 0 h 903680"/>
            </a:gdLst>
            <a:ahLst/>
            <a:cxnLst>
              <a:cxn ang="0">
                <a:pos x="connsiteX0" y="connsiteY0"/>
              </a:cxn>
              <a:cxn ang="0">
                <a:pos x="connsiteX1" y="connsiteY1"/>
              </a:cxn>
            </a:cxnLst>
            <a:rect l="l" t="t" r="r" b="b"/>
            <a:pathLst>
              <a:path w="1482258" h="903680">
                <a:moveTo>
                  <a:pt x="0" y="903680"/>
                </a:moveTo>
                <a:lnTo>
                  <a:pt x="1482258" y="0"/>
                </a:lnTo>
              </a:path>
            </a:pathLst>
          </a:custGeom>
          <a:noFill/>
          <a:ln w="57150">
            <a:solidFill>
              <a:schemeClr val="accent2"/>
            </a:solidFill>
            <a:tailEnd type="triangle"/>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4" name="矢印: 右 43">
            <a:extLst>
              <a:ext uri="{FF2B5EF4-FFF2-40B4-BE49-F238E27FC236}">
                <a16:creationId xmlns:a16="http://schemas.microsoft.com/office/drawing/2014/main" id="{0A2734DE-E047-CC2D-F3E2-E701DEBB69AE}"/>
              </a:ext>
            </a:extLst>
          </p:cNvPr>
          <p:cNvSpPr/>
          <p:nvPr/>
        </p:nvSpPr>
        <p:spPr>
          <a:xfrm>
            <a:off x="3724405" y="5310395"/>
            <a:ext cx="1797864" cy="1126627"/>
          </a:xfrm>
          <a:custGeom>
            <a:avLst/>
            <a:gdLst>
              <a:gd name="connsiteX0" fmla="*/ 0 w 1797864"/>
              <a:gd name="connsiteY0" fmla="*/ 281657 h 1126627"/>
              <a:gd name="connsiteX1" fmla="*/ 1234551 w 1797864"/>
              <a:gd name="connsiteY1" fmla="*/ 281657 h 1126627"/>
              <a:gd name="connsiteX2" fmla="*/ 1234551 w 1797864"/>
              <a:gd name="connsiteY2" fmla="*/ 0 h 1126627"/>
              <a:gd name="connsiteX3" fmla="*/ 1797864 w 1797864"/>
              <a:gd name="connsiteY3" fmla="*/ 563314 h 1126627"/>
              <a:gd name="connsiteX4" fmla="*/ 1234551 w 1797864"/>
              <a:gd name="connsiteY4" fmla="*/ 1126627 h 1126627"/>
              <a:gd name="connsiteX5" fmla="*/ 1234551 w 1797864"/>
              <a:gd name="connsiteY5" fmla="*/ 844970 h 1126627"/>
              <a:gd name="connsiteX6" fmla="*/ 0 w 1797864"/>
              <a:gd name="connsiteY6" fmla="*/ 844970 h 1126627"/>
              <a:gd name="connsiteX7" fmla="*/ 0 w 1797864"/>
              <a:gd name="connsiteY7" fmla="*/ 281657 h 112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7864" h="1126627" fill="none" extrusionOk="0">
                <a:moveTo>
                  <a:pt x="0" y="281657"/>
                </a:moveTo>
                <a:cubicBezTo>
                  <a:pt x="441140" y="341876"/>
                  <a:pt x="815292" y="313239"/>
                  <a:pt x="1234551" y="281657"/>
                </a:cubicBezTo>
                <a:cubicBezTo>
                  <a:pt x="1258466" y="194755"/>
                  <a:pt x="1214082" y="130057"/>
                  <a:pt x="1234551" y="0"/>
                </a:cubicBezTo>
                <a:cubicBezTo>
                  <a:pt x="1321461" y="170749"/>
                  <a:pt x="1683272" y="515097"/>
                  <a:pt x="1797864" y="563314"/>
                </a:cubicBezTo>
                <a:cubicBezTo>
                  <a:pt x="1683170" y="648249"/>
                  <a:pt x="1372263" y="1063564"/>
                  <a:pt x="1234551" y="1126627"/>
                </a:cubicBezTo>
                <a:cubicBezTo>
                  <a:pt x="1228919" y="1080683"/>
                  <a:pt x="1223293" y="925170"/>
                  <a:pt x="1234551" y="844970"/>
                </a:cubicBezTo>
                <a:cubicBezTo>
                  <a:pt x="625859" y="796345"/>
                  <a:pt x="503036" y="798970"/>
                  <a:pt x="0" y="844970"/>
                </a:cubicBezTo>
                <a:cubicBezTo>
                  <a:pt x="12149" y="711576"/>
                  <a:pt x="-34350" y="429484"/>
                  <a:pt x="0" y="281657"/>
                </a:cubicBezTo>
                <a:close/>
              </a:path>
              <a:path w="1797864" h="1126627" stroke="0" extrusionOk="0">
                <a:moveTo>
                  <a:pt x="0" y="281657"/>
                </a:moveTo>
                <a:cubicBezTo>
                  <a:pt x="501690" y="291445"/>
                  <a:pt x="664348" y="302673"/>
                  <a:pt x="1234551" y="281657"/>
                </a:cubicBezTo>
                <a:cubicBezTo>
                  <a:pt x="1244995" y="149561"/>
                  <a:pt x="1246456" y="46048"/>
                  <a:pt x="1234551" y="0"/>
                </a:cubicBezTo>
                <a:cubicBezTo>
                  <a:pt x="1416517" y="201720"/>
                  <a:pt x="1516224" y="323140"/>
                  <a:pt x="1797864" y="563314"/>
                </a:cubicBezTo>
                <a:cubicBezTo>
                  <a:pt x="1604474" y="781173"/>
                  <a:pt x="1263864" y="996785"/>
                  <a:pt x="1234551" y="1126627"/>
                </a:cubicBezTo>
                <a:cubicBezTo>
                  <a:pt x="1244859" y="1090226"/>
                  <a:pt x="1246547" y="961132"/>
                  <a:pt x="1234551" y="844970"/>
                </a:cubicBezTo>
                <a:cubicBezTo>
                  <a:pt x="826782" y="735023"/>
                  <a:pt x="170652" y="758181"/>
                  <a:pt x="0" y="844970"/>
                </a:cubicBezTo>
                <a:cubicBezTo>
                  <a:pt x="-923" y="604596"/>
                  <a:pt x="-16096" y="399535"/>
                  <a:pt x="0" y="281657"/>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リーフォーム: 図形 45">
            <a:extLst>
              <a:ext uri="{FF2B5EF4-FFF2-40B4-BE49-F238E27FC236}">
                <a16:creationId xmlns:a16="http://schemas.microsoft.com/office/drawing/2014/main" id="{6C0FD5AB-5B5F-7AA0-6FBC-206214218608}"/>
              </a:ext>
            </a:extLst>
          </p:cNvPr>
          <p:cNvSpPr/>
          <p:nvPr/>
        </p:nvSpPr>
        <p:spPr>
          <a:xfrm>
            <a:off x="529301" y="2977937"/>
            <a:ext cx="2457450" cy="553401"/>
          </a:xfrm>
          <a:custGeom>
            <a:avLst/>
            <a:gdLst>
              <a:gd name="connsiteX0" fmla="*/ 0 w 2457450"/>
              <a:gd name="connsiteY0" fmla="*/ 553401 h 553401"/>
              <a:gd name="connsiteX1" fmla="*/ 1066800 w 2457450"/>
              <a:gd name="connsiteY1" fmla="*/ 48576 h 553401"/>
              <a:gd name="connsiteX2" fmla="*/ 2457450 w 2457450"/>
              <a:gd name="connsiteY2" fmla="*/ 48576 h 553401"/>
            </a:gdLst>
            <a:ahLst/>
            <a:cxnLst>
              <a:cxn ang="0">
                <a:pos x="connsiteX0" y="connsiteY0"/>
              </a:cxn>
              <a:cxn ang="0">
                <a:pos x="connsiteX1" y="connsiteY1"/>
              </a:cxn>
              <a:cxn ang="0">
                <a:pos x="connsiteX2" y="connsiteY2"/>
              </a:cxn>
            </a:cxnLst>
            <a:rect l="l" t="t" r="r" b="b"/>
            <a:pathLst>
              <a:path w="2457450" h="553401">
                <a:moveTo>
                  <a:pt x="0" y="553401"/>
                </a:moveTo>
                <a:cubicBezTo>
                  <a:pt x="328612" y="343057"/>
                  <a:pt x="657225" y="132713"/>
                  <a:pt x="1066800" y="48576"/>
                </a:cubicBezTo>
                <a:cubicBezTo>
                  <a:pt x="1476375" y="-35561"/>
                  <a:pt x="1966912" y="6507"/>
                  <a:pt x="2457450" y="48576"/>
                </a:cubicBezTo>
              </a:path>
            </a:pathLst>
          </a:custGeom>
          <a:noFill/>
          <a:ln w="38100">
            <a:solidFill>
              <a:schemeClr val="accent4"/>
            </a:solidFill>
            <a:headEnd type="none" w="med" len="med"/>
            <a:tailEnd type="triangle" w="med" len="med"/>
          </a:ln>
          <a:effectLst>
            <a:glow rad="152400">
              <a:schemeClr val="bg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a:extLst>
              <a:ext uri="{FF2B5EF4-FFF2-40B4-BE49-F238E27FC236}">
                <a16:creationId xmlns:a16="http://schemas.microsoft.com/office/drawing/2014/main" id="{79366D17-C6F6-2F7E-0C8E-D7CA4265F094}"/>
              </a:ext>
            </a:extLst>
          </p:cNvPr>
          <p:cNvGrpSpPr/>
          <p:nvPr/>
        </p:nvGrpSpPr>
        <p:grpSpPr>
          <a:xfrm>
            <a:off x="7701975" y="5031844"/>
            <a:ext cx="866523" cy="923145"/>
            <a:chOff x="5897144" y="3284788"/>
            <a:chExt cx="866523" cy="923145"/>
          </a:xfrm>
        </p:grpSpPr>
        <p:sp>
          <p:nvSpPr>
            <p:cNvPr id="47" name="フリーフォーム: 図形 46">
              <a:extLst>
                <a:ext uri="{FF2B5EF4-FFF2-40B4-BE49-F238E27FC236}">
                  <a16:creationId xmlns:a16="http://schemas.microsoft.com/office/drawing/2014/main" id="{128A1380-4083-A4AF-A9AF-53345AAABDF1}"/>
                </a:ext>
              </a:extLst>
            </p:cNvPr>
            <p:cNvSpPr/>
            <p:nvPr/>
          </p:nvSpPr>
          <p:spPr>
            <a:xfrm>
              <a:off x="5897698" y="3332166"/>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フリーフォーム: 図形 47">
              <a:extLst>
                <a:ext uri="{FF2B5EF4-FFF2-40B4-BE49-F238E27FC236}">
                  <a16:creationId xmlns:a16="http://schemas.microsoft.com/office/drawing/2014/main" id="{0F60FF85-8B94-7CA7-28BD-EE9A8905975E}"/>
                </a:ext>
              </a:extLst>
            </p:cNvPr>
            <p:cNvSpPr/>
            <p:nvPr/>
          </p:nvSpPr>
          <p:spPr>
            <a:xfrm rot="4964407">
              <a:off x="5961743" y="3402000"/>
              <a:ext cx="777334" cy="542909"/>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リーフォーム: 図形 48">
              <a:extLst>
                <a:ext uri="{FF2B5EF4-FFF2-40B4-BE49-F238E27FC236}">
                  <a16:creationId xmlns:a16="http://schemas.microsoft.com/office/drawing/2014/main" id="{C44C3672-6F4A-8A28-B2E1-FDAAD4B9653C}"/>
                </a:ext>
              </a:extLst>
            </p:cNvPr>
            <p:cNvSpPr/>
            <p:nvPr/>
          </p:nvSpPr>
          <p:spPr>
            <a:xfrm rot="8884375">
              <a:off x="5897144" y="3395723"/>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リーフォーム: 図形 49">
              <a:extLst>
                <a:ext uri="{FF2B5EF4-FFF2-40B4-BE49-F238E27FC236}">
                  <a16:creationId xmlns:a16="http://schemas.microsoft.com/office/drawing/2014/main" id="{21E955EA-67B5-7ECC-CB8F-3C3E4686AE8A}"/>
                </a:ext>
              </a:extLst>
            </p:cNvPr>
            <p:cNvSpPr/>
            <p:nvPr/>
          </p:nvSpPr>
          <p:spPr>
            <a:xfrm rot="12451915">
              <a:off x="5920913" y="3415024"/>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図形 50">
              <a:extLst>
                <a:ext uri="{FF2B5EF4-FFF2-40B4-BE49-F238E27FC236}">
                  <a16:creationId xmlns:a16="http://schemas.microsoft.com/office/drawing/2014/main" id="{BDF494D2-1DAE-AEB3-A146-38DB5558CB4C}"/>
                </a:ext>
              </a:extLst>
            </p:cNvPr>
            <p:cNvSpPr/>
            <p:nvPr/>
          </p:nvSpPr>
          <p:spPr>
            <a:xfrm rot="15479593">
              <a:off x="5960037" y="3712865"/>
              <a:ext cx="777334" cy="212802"/>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7990791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DA62966E-E008-9DDC-DD95-31FEDECDAB7B}"/>
              </a:ext>
            </a:extLst>
          </p:cNvPr>
          <p:cNvSpPr>
            <a:spLocks noGrp="1"/>
          </p:cNvSpPr>
          <p:nvPr>
            <p:ph type="body" sz="quarter" idx="11"/>
          </p:nvPr>
        </p:nvSpPr>
        <p:spPr/>
        <p:txBody>
          <a:bodyPr>
            <a:normAutofit/>
          </a:bodyPr>
          <a:lstStyle/>
          <a:p>
            <a:r>
              <a:rPr kumimoji="1" lang="ja-JP" altLang="en-US" dirty="0"/>
              <a:t>良く使う図形パターン</a:t>
            </a:r>
          </a:p>
        </p:txBody>
      </p:sp>
      <p:grpSp>
        <p:nvGrpSpPr>
          <p:cNvPr id="24" name="グループ化 23">
            <a:extLst>
              <a:ext uri="{FF2B5EF4-FFF2-40B4-BE49-F238E27FC236}">
                <a16:creationId xmlns:a16="http://schemas.microsoft.com/office/drawing/2014/main" id="{29108725-9831-27F9-3FD3-71FC27129266}"/>
              </a:ext>
            </a:extLst>
          </p:cNvPr>
          <p:cNvGrpSpPr/>
          <p:nvPr/>
        </p:nvGrpSpPr>
        <p:grpSpPr>
          <a:xfrm>
            <a:off x="616017" y="1348268"/>
            <a:ext cx="6533120" cy="4938925"/>
            <a:chOff x="0" y="1396394"/>
            <a:chExt cx="6533120" cy="4938925"/>
          </a:xfrm>
        </p:grpSpPr>
        <p:sp>
          <p:nvSpPr>
            <p:cNvPr id="5" name="楕円 4">
              <a:extLst>
                <a:ext uri="{FF2B5EF4-FFF2-40B4-BE49-F238E27FC236}">
                  <a16:creationId xmlns:a16="http://schemas.microsoft.com/office/drawing/2014/main" id="{A0811D00-B639-7D58-D363-8290AD29E62C}"/>
                </a:ext>
              </a:extLst>
            </p:cNvPr>
            <p:cNvSpPr/>
            <p:nvPr/>
          </p:nvSpPr>
          <p:spPr>
            <a:xfrm>
              <a:off x="2173905" y="13963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CEE3C2FA-C4E2-9188-98AB-D6750654E01E}"/>
                </a:ext>
              </a:extLst>
            </p:cNvPr>
            <p:cNvSpPr txBox="1"/>
            <p:nvPr/>
          </p:nvSpPr>
          <p:spPr>
            <a:xfrm>
              <a:off x="2139601" y="1944955"/>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①</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ひとつめ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sp>
          <p:nvSpPr>
            <p:cNvPr id="7" name="楕円 6">
              <a:extLst>
                <a:ext uri="{FF2B5EF4-FFF2-40B4-BE49-F238E27FC236}">
                  <a16:creationId xmlns:a16="http://schemas.microsoft.com/office/drawing/2014/main" id="{F600B182-1E03-FE3F-38CF-BE77E0F38AC6}"/>
                </a:ext>
              </a:extLst>
            </p:cNvPr>
            <p:cNvSpPr/>
            <p:nvPr/>
          </p:nvSpPr>
          <p:spPr>
            <a:xfrm>
              <a:off x="815779" y="36664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テキスト ボックス 7">
              <a:extLst>
                <a:ext uri="{FF2B5EF4-FFF2-40B4-BE49-F238E27FC236}">
                  <a16:creationId xmlns:a16="http://schemas.microsoft.com/office/drawing/2014/main" id="{80636C0C-4196-FBC8-E6B1-2A2B6B9C99B7}"/>
                </a:ext>
              </a:extLst>
            </p:cNvPr>
            <p:cNvSpPr txBox="1"/>
            <p:nvPr/>
          </p:nvSpPr>
          <p:spPr>
            <a:xfrm>
              <a:off x="733433" y="4231597"/>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③</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みっつめ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sp>
          <p:nvSpPr>
            <p:cNvPr id="9" name="楕円 8">
              <a:extLst>
                <a:ext uri="{FF2B5EF4-FFF2-40B4-BE49-F238E27FC236}">
                  <a16:creationId xmlns:a16="http://schemas.microsoft.com/office/drawing/2014/main" id="{11B58024-0DF9-700C-3393-339C7F03622C}"/>
                </a:ext>
              </a:extLst>
            </p:cNvPr>
            <p:cNvSpPr/>
            <p:nvPr/>
          </p:nvSpPr>
          <p:spPr>
            <a:xfrm>
              <a:off x="3565643" y="36537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7E243A9B-ED86-339C-E2EB-EFDFA00CF9EF}"/>
                </a:ext>
              </a:extLst>
            </p:cNvPr>
            <p:cNvSpPr txBox="1"/>
            <p:nvPr/>
          </p:nvSpPr>
          <p:spPr>
            <a:xfrm>
              <a:off x="3511913" y="4222775"/>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➁</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ふたつめ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grpSp>
          <p:nvGrpSpPr>
            <p:cNvPr id="11" name="グループ化 10">
              <a:extLst>
                <a:ext uri="{FF2B5EF4-FFF2-40B4-BE49-F238E27FC236}">
                  <a16:creationId xmlns:a16="http://schemas.microsoft.com/office/drawing/2014/main" id="{27510278-8BCC-2772-B7D4-6900CC651828}"/>
                </a:ext>
              </a:extLst>
            </p:cNvPr>
            <p:cNvGrpSpPr/>
            <p:nvPr/>
          </p:nvGrpSpPr>
          <p:grpSpPr>
            <a:xfrm flipV="1">
              <a:off x="4488250" y="2706875"/>
              <a:ext cx="800237" cy="959619"/>
              <a:chOff x="2664127" y="3374455"/>
              <a:chExt cx="1201975" cy="1567649"/>
            </a:xfrm>
          </p:grpSpPr>
          <p:sp>
            <p:nvSpPr>
              <p:cNvPr id="12" name="二等辺三角形 11">
                <a:extLst>
                  <a:ext uri="{FF2B5EF4-FFF2-40B4-BE49-F238E27FC236}">
                    <a16:creationId xmlns:a16="http://schemas.microsoft.com/office/drawing/2014/main" id="{88C38720-FF04-C2D5-1BFB-D6E04C38989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フリーフォーム: 図形 12">
                <a:extLst>
                  <a:ext uri="{FF2B5EF4-FFF2-40B4-BE49-F238E27FC236}">
                    <a16:creationId xmlns:a16="http://schemas.microsoft.com/office/drawing/2014/main" id="{DCA25AA5-6EC2-3A91-C987-1FA6D6720F6A}"/>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4" name="グループ化 13">
              <a:extLst>
                <a:ext uri="{FF2B5EF4-FFF2-40B4-BE49-F238E27FC236}">
                  <a16:creationId xmlns:a16="http://schemas.microsoft.com/office/drawing/2014/main" id="{39545FA0-67FF-9A70-C888-13A69A398782}"/>
                </a:ext>
              </a:extLst>
            </p:cNvPr>
            <p:cNvGrpSpPr/>
            <p:nvPr/>
          </p:nvGrpSpPr>
          <p:grpSpPr>
            <a:xfrm rot="7241964" flipV="1">
              <a:off x="2843255" y="5233792"/>
              <a:ext cx="800237" cy="959619"/>
              <a:chOff x="2664127" y="3374455"/>
              <a:chExt cx="1201975" cy="1567649"/>
            </a:xfrm>
          </p:grpSpPr>
          <p:sp>
            <p:nvSpPr>
              <p:cNvPr id="15" name="二等辺三角形 14">
                <a:extLst>
                  <a:ext uri="{FF2B5EF4-FFF2-40B4-BE49-F238E27FC236}">
                    <a16:creationId xmlns:a16="http://schemas.microsoft.com/office/drawing/2014/main" id="{3767BD8E-FB78-2A44-9179-41A94C34D17A}"/>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フリーフォーム: 図形 15">
                <a:extLst>
                  <a:ext uri="{FF2B5EF4-FFF2-40B4-BE49-F238E27FC236}">
                    <a16:creationId xmlns:a16="http://schemas.microsoft.com/office/drawing/2014/main" id="{55A6798D-20C7-E00B-7A02-153B6F17D077}"/>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7" name="グループ化 16">
              <a:extLst>
                <a:ext uri="{FF2B5EF4-FFF2-40B4-BE49-F238E27FC236}">
                  <a16:creationId xmlns:a16="http://schemas.microsoft.com/office/drawing/2014/main" id="{1CC218CC-EEBC-1865-D9BB-837546C65874}"/>
                </a:ext>
              </a:extLst>
            </p:cNvPr>
            <p:cNvGrpSpPr/>
            <p:nvPr/>
          </p:nvGrpSpPr>
          <p:grpSpPr>
            <a:xfrm rot="14081671" flipV="1">
              <a:off x="1389673" y="2585074"/>
              <a:ext cx="800237" cy="959619"/>
              <a:chOff x="2664127" y="3374455"/>
              <a:chExt cx="1201975" cy="1567649"/>
            </a:xfrm>
          </p:grpSpPr>
          <p:sp>
            <p:nvSpPr>
              <p:cNvPr id="18" name="二等辺三角形 17">
                <a:extLst>
                  <a:ext uri="{FF2B5EF4-FFF2-40B4-BE49-F238E27FC236}">
                    <a16:creationId xmlns:a16="http://schemas.microsoft.com/office/drawing/2014/main" id="{F2F7520D-B9C9-EE46-43C0-1974C9EE110E}"/>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フリーフォーム: 図形 18">
                <a:extLst>
                  <a:ext uri="{FF2B5EF4-FFF2-40B4-BE49-F238E27FC236}">
                    <a16:creationId xmlns:a16="http://schemas.microsoft.com/office/drawing/2014/main" id="{91521E69-6981-7659-CD42-1242DA646433}"/>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1" name="テキスト ボックス 20">
              <a:extLst>
                <a:ext uri="{FF2B5EF4-FFF2-40B4-BE49-F238E27FC236}">
                  <a16:creationId xmlns:a16="http://schemas.microsoft.com/office/drawing/2014/main" id="{DBABD0C2-66B5-256B-4604-E348FEFAC56D}"/>
                </a:ext>
              </a:extLst>
            </p:cNvPr>
            <p:cNvSpPr txBox="1"/>
            <p:nvPr/>
          </p:nvSpPr>
          <p:spPr>
            <a:xfrm>
              <a:off x="4832338" y="2938238"/>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D3D28F20-D312-FC56-A45A-9A9DD0F018F0}"/>
                </a:ext>
              </a:extLst>
            </p:cNvPr>
            <p:cNvSpPr txBox="1"/>
            <p:nvPr/>
          </p:nvSpPr>
          <p:spPr>
            <a:xfrm>
              <a:off x="2550709" y="5935209"/>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032857B8-91F1-CA95-91BD-24CB159AB079}"/>
                </a:ext>
              </a:extLst>
            </p:cNvPr>
            <p:cNvSpPr txBox="1"/>
            <p:nvPr/>
          </p:nvSpPr>
          <p:spPr>
            <a:xfrm>
              <a:off x="0" y="2983833"/>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grpSp>
      <p:sp>
        <p:nvSpPr>
          <p:cNvPr id="25" name="楕円 24">
            <a:extLst>
              <a:ext uri="{FF2B5EF4-FFF2-40B4-BE49-F238E27FC236}">
                <a16:creationId xmlns:a16="http://schemas.microsoft.com/office/drawing/2014/main" id="{FA69373F-043A-BD62-065E-9238200A2914}"/>
              </a:ext>
            </a:extLst>
          </p:cNvPr>
          <p:cNvSpPr/>
          <p:nvPr/>
        </p:nvSpPr>
        <p:spPr>
          <a:xfrm>
            <a:off x="7462655" y="1651262"/>
            <a:ext cx="323850" cy="323850"/>
          </a:xfrm>
          <a:prstGeom prst="ellipse">
            <a:avLst/>
          </a:prstGeom>
          <a:solidFill>
            <a:schemeClr val="accent2"/>
          </a:solidFill>
          <a:ln>
            <a:solidFill>
              <a:schemeClr val="accent2"/>
            </a:solidFill>
          </a:ln>
          <a:effectLst>
            <a:glow rad="1016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47A74F06-9B64-1B4A-43BA-C938BE525936}"/>
              </a:ext>
            </a:extLst>
          </p:cNvPr>
          <p:cNvSpPr/>
          <p:nvPr/>
        </p:nvSpPr>
        <p:spPr>
          <a:xfrm>
            <a:off x="8108150" y="1651112"/>
            <a:ext cx="324000" cy="324000"/>
          </a:xfrm>
          <a:prstGeom prst="ellipse">
            <a:avLst/>
          </a:prstGeom>
          <a:solidFill>
            <a:srgbClr val="46877B"/>
          </a:solidFill>
          <a:ln>
            <a:solidFill>
              <a:srgbClr val="46877B"/>
            </a:solidFill>
          </a:ln>
          <a:effectLst>
            <a:glow rad="101600">
              <a:srgbClr val="46877B">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楕円 26">
            <a:extLst>
              <a:ext uri="{FF2B5EF4-FFF2-40B4-BE49-F238E27FC236}">
                <a16:creationId xmlns:a16="http://schemas.microsoft.com/office/drawing/2014/main" id="{804C8D84-DF1A-9E36-6B35-4F08C09A0AEE}"/>
              </a:ext>
            </a:extLst>
          </p:cNvPr>
          <p:cNvSpPr/>
          <p:nvPr/>
        </p:nvSpPr>
        <p:spPr>
          <a:xfrm>
            <a:off x="7730366" y="2165069"/>
            <a:ext cx="342900" cy="333267"/>
          </a:xfrm>
          <a:prstGeom prst="ellipse">
            <a:avLst/>
          </a:prstGeom>
          <a:solidFill>
            <a:schemeClr val="accent2"/>
          </a:solidFill>
          <a:ln>
            <a:solidFill>
              <a:schemeClr val="accent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57C0E608-BA74-F485-BAE3-702170BC32CC}"/>
              </a:ext>
            </a:extLst>
          </p:cNvPr>
          <p:cNvSpPr/>
          <p:nvPr/>
        </p:nvSpPr>
        <p:spPr>
          <a:xfrm>
            <a:off x="8528263" y="3060360"/>
            <a:ext cx="2901487" cy="1236539"/>
          </a:xfrm>
          <a:custGeom>
            <a:avLst/>
            <a:gdLst>
              <a:gd name="connsiteX0" fmla="*/ 0 w 2901487"/>
              <a:gd name="connsiteY0" fmla="*/ 618270 h 1236539"/>
              <a:gd name="connsiteX1" fmla="*/ 1450744 w 2901487"/>
              <a:gd name="connsiteY1" fmla="*/ 0 h 1236539"/>
              <a:gd name="connsiteX2" fmla="*/ 2901488 w 2901487"/>
              <a:gd name="connsiteY2" fmla="*/ 618270 h 1236539"/>
              <a:gd name="connsiteX3" fmla="*/ 1450744 w 2901487"/>
              <a:gd name="connsiteY3" fmla="*/ 1236540 h 1236539"/>
              <a:gd name="connsiteX4" fmla="*/ 0 w 2901487"/>
              <a:gd name="connsiteY4" fmla="*/ 618270 h 1236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1487" h="1236539" fill="none" extrusionOk="0">
                <a:moveTo>
                  <a:pt x="0" y="618270"/>
                </a:moveTo>
                <a:cubicBezTo>
                  <a:pt x="84712" y="196294"/>
                  <a:pt x="764269" y="7572"/>
                  <a:pt x="1450744" y="0"/>
                </a:cubicBezTo>
                <a:cubicBezTo>
                  <a:pt x="2280633" y="48997"/>
                  <a:pt x="2861081" y="275941"/>
                  <a:pt x="2901488" y="618270"/>
                </a:cubicBezTo>
                <a:cubicBezTo>
                  <a:pt x="3011552" y="975692"/>
                  <a:pt x="2166690" y="1197621"/>
                  <a:pt x="1450744" y="1236540"/>
                </a:cubicBezTo>
                <a:cubicBezTo>
                  <a:pt x="618922" y="1245671"/>
                  <a:pt x="36345" y="910461"/>
                  <a:pt x="0" y="618270"/>
                </a:cubicBezTo>
                <a:close/>
              </a:path>
              <a:path w="2901487" h="1236539" stroke="0" extrusionOk="0">
                <a:moveTo>
                  <a:pt x="0" y="618270"/>
                </a:moveTo>
                <a:cubicBezTo>
                  <a:pt x="-7565" y="290082"/>
                  <a:pt x="641644" y="-3252"/>
                  <a:pt x="1450744" y="0"/>
                </a:cubicBezTo>
                <a:cubicBezTo>
                  <a:pt x="2306126" y="-7995"/>
                  <a:pt x="2871529" y="331374"/>
                  <a:pt x="2901488" y="618270"/>
                </a:cubicBezTo>
                <a:cubicBezTo>
                  <a:pt x="2849516" y="977102"/>
                  <a:pt x="2227727" y="1265205"/>
                  <a:pt x="1450744" y="1236540"/>
                </a:cubicBezTo>
                <a:cubicBezTo>
                  <a:pt x="683291" y="1214685"/>
                  <a:pt x="-15441" y="963273"/>
                  <a:pt x="0" y="618270"/>
                </a:cubicBezTo>
                <a:close/>
              </a:path>
            </a:pathLst>
          </a:custGeom>
          <a:solidFill>
            <a:srgbClr val="D3E9E5"/>
          </a:solidFill>
          <a:ln>
            <a:solidFill>
              <a:srgbClr val="D3E9E5"/>
            </a:solidFill>
            <a:extLst>
              <a:ext uri="{C807C97D-BFC1-408E-A445-0C87EB9F89A2}">
                <ask:lineSketchStyleProps xmlns:ask="http://schemas.microsoft.com/office/drawing/2018/sketchyshapes" sd="981765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11994F12-90A6-E96A-5BE6-5E9F08D17B74}"/>
              </a:ext>
            </a:extLst>
          </p:cNvPr>
          <p:cNvSpPr/>
          <p:nvPr/>
        </p:nvSpPr>
        <p:spPr>
          <a:xfrm>
            <a:off x="9518584" y="1567812"/>
            <a:ext cx="2235127" cy="2177274"/>
          </a:xfrm>
          <a:custGeom>
            <a:avLst/>
            <a:gdLst>
              <a:gd name="connsiteX0" fmla="*/ 0 w 2235127"/>
              <a:gd name="connsiteY0" fmla="*/ 1088637 h 2177274"/>
              <a:gd name="connsiteX1" fmla="*/ 1117564 w 2235127"/>
              <a:gd name="connsiteY1" fmla="*/ 0 h 2177274"/>
              <a:gd name="connsiteX2" fmla="*/ 2235128 w 2235127"/>
              <a:gd name="connsiteY2" fmla="*/ 1088637 h 2177274"/>
              <a:gd name="connsiteX3" fmla="*/ 1117564 w 2235127"/>
              <a:gd name="connsiteY3" fmla="*/ 2177274 h 2177274"/>
              <a:gd name="connsiteX4" fmla="*/ 0 w 2235127"/>
              <a:gd name="connsiteY4" fmla="*/ 1088637 h 2177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5127" h="2177274" fill="none" extrusionOk="0">
                <a:moveTo>
                  <a:pt x="0" y="1088637"/>
                </a:moveTo>
                <a:cubicBezTo>
                  <a:pt x="-78231" y="501361"/>
                  <a:pt x="470933" y="81460"/>
                  <a:pt x="1117564" y="0"/>
                </a:cubicBezTo>
                <a:cubicBezTo>
                  <a:pt x="1655506" y="-29676"/>
                  <a:pt x="2249283" y="494351"/>
                  <a:pt x="2235128" y="1088637"/>
                </a:cubicBezTo>
                <a:cubicBezTo>
                  <a:pt x="2256564" y="1635402"/>
                  <a:pt x="1745396" y="2193472"/>
                  <a:pt x="1117564" y="2177274"/>
                </a:cubicBezTo>
                <a:cubicBezTo>
                  <a:pt x="511602" y="2187319"/>
                  <a:pt x="85868" y="1650356"/>
                  <a:pt x="0" y="1088637"/>
                </a:cubicBezTo>
                <a:close/>
              </a:path>
              <a:path w="2235127" h="2177274" stroke="0" extrusionOk="0">
                <a:moveTo>
                  <a:pt x="0" y="1088637"/>
                </a:moveTo>
                <a:cubicBezTo>
                  <a:pt x="44180" y="558178"/>
                  <a:pt x="501211" y="-92223"/>
                  <a:pt x="1117564" y="0"/>
                </a:cubicBezTo>
                <a:cubicBezTo>
                  <a:pt x="1755182" y="98031"/>
                  <a:pt x="2176597" y="447074"/>
                  <a:pt x="2235128" y="1088637"/>
                </a:cubicBezTo>
                <a:cubicBezTo>
                  <a:pt x="2248407" y="1590409"/>
                  <a:pt x="1732930" y="2112771"/>
                  <a:pt x="1117564" y="2177274"/>
                </a:cubicBezTo>
                <a:cubicBezTo>
                  <a:pt x="512908" y="2113663"/>
                  <a:pt x="14757" y="1627634"/>
                  <a:pt x="0" y="1088637"/>
                </a:cubicBezTo>
                <a:close/>
              </a:path>
            </a:pathLst>
          </a:custGeom>
          <a:solidFill>
            <a:schemeClr val="accent2"/>
          </a:solidFill>
          <a:ln>
            <a:solidFill>
              <a:schemeClr val="accent2"/>
            </a:solidFill>
            <a:extLst>
              <a:ext uri="{C807C97D-BFC1-408E-A445-0C87EB9F89A2}">
                <ask:lineSketchStyleProps xmlns:ask="http://schemas.microsoft.com/office/drawing/2018/sketchyshapes" sd="3669468432">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bg1"/>
                </a:solidFill>
                <a:latin typeface="游ゴシック" panose="020B0400000000000000" pitchFamily="50" charset="-128"/>
                <a:ea typeface="游ゴシック" panose="020B0400000000000000" pitchFamily="50" charset="-128"/>
              </a:rPr>
              <a:t> </a:t>
            </a:r>
            <a:r>
              <a:rPr lang="ja-JP" altLang="en-US" sz="2800" b="1" dirty="0">
                <a:solidFill>
                  <a:schemeClr val="bg1"/>
                </a:solidFill>
                <a:latin typeface="游ゴシック" panose="020B0400000000000000" pitchFamily="50" charset="-128"/>
                <a:ea typeface="游ゴシック" panose="020B0400000000000000" pitchFamily="50" charset="-128"/>
              </a:rPr>
              <a:t>何か</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dirty="0">
                <a:solidFill>
                  <a:schemeClr val="bg1"/>
                </a:solidFill>
                <a:latin typeface="+mn-ea"/>
              </a:rPr>
              <a:t>メッセージ</a:t>
            </a:r>
            <a:endParaRPr lang="ja-JP" altLang="en-US" sz="1200" dirty="0">
              <a:solidFill>
                <a:schemeClr val="bg1"/>
              </a:solidFill>
              <a:latin typeface="+mn-ea"/>
            </a:endParaRPr>
          </a:p>
        </p:txBody>
      </p:sp>
      <p:sp>
        <p:nvSpPr>
          <p:cNvPr id="30" name="正方形/長方形 29">
            <a:extLst>
              <a:ext uri="{FF2B5EF4-FFF2-40B4-BE49-F238E27FC236}">
                <a16:creationId xmlns:a16="http://schemas.microsoft.com/office/drawing/2014/main" id="{9B369ACC-5757-B80B-61BF-EC839E501C38}"/>
              </a:ext>
            </a:extLst>
          </p:cNvPr>
          <p:cNvSpPr/>
          <p:nvPr/>
        </p:nvSpPr>
        <p:spPr>
          <a:xfrm rot="20169432">
            <a:off x="8795580" y="3503340"/>
            <a:ext cx="3160032" cy="167421"/>
          </a:xfrm>
          <a:custGeom>
            <a:avLst/>
            <a:gdLst>
              <a:gd name="connsiteX0" fmla="*/ 0 w 3160032"/>
              <a:gd name="connsiteY0" fmla="*/ 0 h 167421"/>
              <a:gd name="connsiteX1" fmla="*/ 3160032 w 3160032"/>
              <a:gd name="connsiteY1" fmla="*/ 0 h 167421"/>
              <a:gd name="connsiteX2" fmla="*/ 3160032 w 3160032"/>
              <a:gd name="connsiteY2" fmla="*/ 167421 h 167421"/>
              <a:gd name="connsiteX3" fmla="*/ 0 w 3160032"/>
              <a:gd name="connsiteY3" fmla="*/ 167421 h 167421"/>
              <a:gd name="connsiteX4" fmla="*/ 0 w 3160032"/>
              <a:gd name="connsiteY4" fmla="*/ 0 h 167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0032" h="167421" fill="none" extrusionOk="0">
                <a:moveTo>
                  <a:pt x="0" y="0"/>
                </a:moveTo>
                <a:cubicBezTo>
                  <a:pt x="1576265" y="-130857"/>
                  <a:pt x="1695485" y="63250"/>
                  <a:pt x="3160032" y="0"/>
                </a:cubicBezTo>
                <a:cubicBezTo>
                  <a:pt x="3149888" y="54417"/>
                  <a:pt x="3161660" y="117978"/>
                  <a:pt x="3160032" y="167421"/>
                </a:cubicBezTo>
                <a:cubicBezTo>
                  <a:pt x="2559770" y="222085"/>
                  <a:pt x="1098592" y="215523"/>
                  <a:pt x="0" y="167421"/>
                </a:cubicBezTo>
                <a:cubicBezTo>
                  <a:pt x="-5" y="147243"/>
                  <a:pt x="-2866" y="55723"/>
                  <a:pt x="0" y="0"/>
                </a:cubicBezTo>
                <a:close/>
              </a:path>
              <a:path w="3160032" h="167421" stroke="0" extrusionOk="0">
                <a:moveTo>
                  <a:pt x="0" y="0"/>
                </a:moveTo>
                <a:cubicBezTo>
                  <a:pt x="1189394" y="93023"/>
                  <a:pt x="2837410" y="111448"/>
                  <a:pt x="3160032" y="0"/>
                </a:cubicBezTo>
                <a:cubicBezTo>
                  <a:pt x="3145341" y="75065"/>
                  <a:pt x="3161279" y="142728"/>
                  <a:pt x="3160032" y="167421"/>
                </a:cubicBezTo>
                <a:cubicBezTo>
                  <a:pt x="2786659" y="165537"/>
                  <a:pt x="902558" y="243552"/>
                  <a:pt x="0" y="167421"/>
                </a:cubicBezTo>
                <a:cubicBezTo>
                  <a:pt x="-7129" y="150251"/>
                  <a:pt x="4229" y="45135"/>
                  <a:pt x="0" y="0"/>
                </a:cubicBezTo>
                <a:close/>
              </a:path>
            </a:pathLst>
          </a:custGeom>
          <a:solidFill>
            <a:schemeClr val="bg1"/>
          </a:solidFill>
          <a:ln>
            <a:solidFill>
              <a:schemeClr val="bg1"/>
            </a:solidFill>
            <a:extLst>
              <a:ext uri="{C807C97D-BFC1-408E-A445-0C87EB9F89A2}">
                <ask:lineSketchStyleProps xmlns:ask="http://schemas.microsoft.com/office/drawing/2018/sketchyshapes" sd="1001808606">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十字形 30">
            <a:extLst>
              <a:ext uri="{FF2B5EF4-FFF2-40B4-BE49-F238E27FC236}">
                <a16:creationId xmlns:a16="http://schemas.microsoft.com/office/drawing/2014/main" id="{AE6B2308-93E3-CE3B-D6A4-F65B8B44608F}"/>
              </a:ext>
            </a:extLst>
          </p:cNvPr>
          <p:cNvSpPr/>
          <p:nvPr/>
        </p:nvSpPr>
        <p:spPr>
          <a:xfrm rot="2590055">
            <a:off x="8265921" y="4413059"/>
            <a:ext cx="1869719" cy="1886551"/>
          </a:xfrm>
          <a:custGeom>
            <a:avLst/>
            <a:gdLst>
              <a:gd name="connsiteX0" fmla="*/ 0 w 1869719"/>
              <a:gd name="connsiteY0" fmla="*/ 871682 h 1886551"/>
              <a:gd name="connsiteX1" fmla="*/ 871682 w 1869719"/>
              <a:gd name="connsiteY1" fmla="*/ 871682 h 1886551"/>
              <a:gd name="connsiteX2" fmla="*/ 871682 w 1869719"/>
              <a:gd name="connsiteY2" fmla="*/ 0 h 1886551"/>
              <a:gd name="connsiteX3" fmla="*/ 998037 w 1869719"/>
              <a:gd name="connsiteY3" fmla="*/ 0 h 1886551"/>
              <a:gd name="connsiteX4" fmla="*/ 998037 w 1869719"/>
              <a:gd name="connsiteY4" fmla="*/ 871682 h 1886551"/>
              <a:gd name="connsiteX5" fmla="*/ 1869719 w 1869719"/>
              <a:gd name="connsiteY5" fmla="*/ 871682 h 1886551"/>
              <a:gd name="connsiteX6" fmla="*/ 1869719 w 1869719"/>
              <a:gd name="connsiteY6" fmla="*/ 1014869 h 1886551"/>
              <a:gd name="connsiteX7" fmla="*/ 998037 w 1869719"/>
              <a:gd name="connsiteY7" fmla="*/ 1014869 h 1886551"/>
              <a:gd name="connsiteX8" fmla="*/ 998037 w 1869719"/>
              <a:gd name="connsiteY8" fmla="*/ 1886551 h 1886551"/>
              <a:gd name="connsiteX9" fmla="*/ 871682 w 1869719"/>
              <a:gd name="connsiteY9" fmla="*/ 1886551 h 1886551"/>
              <a:gd name="connsiteX10" fmla="*/ 871682 w 1869719"/>
              <a:gd name="connsiteY10" fmla="*/ 1014869 h 1886551"/>
              <a:gd name="connsiteX11" fmla="*/ 0 w 1869719"/>
              <a:gd name="connsiteY11" fmla="*/ 1014869 h 1886551"/>
              <a:gd name="connsiteX12" fmla="*/ 0 w 1869719"/>
              <a:gd name="connsiteY12" fmla="*/ 871682 h 188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69719" h="1886551" fill="none" extrusionOk="0">
                <a:moveTo>
                  <a:pt x="0" y="871682"/>
                </a:moveTo>
                <a:cubicBezTo>
                  <a:pt x="150577" y="878137"/>
                  <a:pt x="691672" y="826285"/>
                  <a:pt x="871682" y="871682"/>
                </a:cubicBezTo>
                <a:cubicBezTo>
                  <a:pt x="944600" y="699805"/>
                  <a:pt x="866968" y="165485"/>
                  <a:pt x="871682" y="0"/>
                </a:cubicBezTo>
                <a:cubicBezTo>
                  <a:pt x="917842" y="-3582"/>
                  <a:pt x="948566" y="-7301"/>
                  <a:pt x="998037" y="0"/>
                </a:cubicBezTo>
                <a:cubicBezTo>
                  <a:pt x="1034408" y="206213"/>
                  <a:pt x="958303" y="545702"/>
                  <a:pt x="998037" y="871682"/>
                </a:cubicBezTo>
                <a:cubicBezTo>
                  <a:pt x="1403914" y="918941"/>
                  <a:pt x="1768096" y="817161"/>
                  <a:pt x="1869719" y="871682"/>
                </a:cubicBezTo>
                <a:cubicBezTo>
                  <a:pt x="1862247" y="898346"/>
                  <a:pt x="1867979" y="944707"/>
                  <a:pt x="1869719" y="1014869"/>
                </a:cubicBezTo>
                <a:cubicBezTo>
                  <a:pt x="1548144" y="940983"/>
                  <a:pt x="1153210" y="1019821"/>
                  <a:pt x="998037" y="1014869"/>
                </a:cubicBezTo>
                <a:cubicBezTo>
                  <a:pt x="1038278" y="1306496"/>
                  <a:pt x="926672" y="1453007"/>
                  <a:pt x="998037" y="1886551"/>
                </a:cubicBezTo>
                <a:cubicBezTo>
                  <a:pt x="957192" y="1890993"/>
                  <a:pt x="910226" y="1892254"/>
                  <a:pt x="871682" y="1886551"/>
                </a:cubicBezTo>
                <a:cubicBezTo>
                  <a:pt x="900212" y="1470477"/>
                  <a:pt x="885227" y="1205920"/>
                  <a:pt x="871682" y="1014869"/>
                </a:cubicBezTo>
                <a:cubicBezTo>
                  <a:pt x="678222" y="1052749"/>
                  <a:pt x="371283" y="1038878"/>
                  <a:pt x="0" y="1014869"/>
                </a:cubicBezTo>
                <a:cubicBezTo>
                  <a:pt x="7573" y="960095"/>
                  <a:pt x="-108" y="893456"/>
                  <a:pt x="0" y="871682"/>
                </a:cubicBezTo>
                <a:close/>
              </a:path>
              <a:path w="1869719" h="1886551" stroke="0" extrusionOk="0">
                <a:moveTo>
                  <a:pt x="0" y="871682"/>
                </a:moveTo>
                <a:cubicBezTo>
                  <a:pt x="344289" y="885060"/>
                  <a:pt x="600800" y="905684"/>
                  <a:pt x="871682" y="871682"/>
                </a:cubicBezTo>
                <a:cubicBezTo>
                  <a:pt x="931893" y="628664"/>
                  <a:pt x="943650" y="370527"/>
                  <a:pt x="871682" y="0"/>
                </a:cubicBezTo>
                <a:cubicBezTo>
                  <a:pt x="893890" y="9838"/>
                  <a:pt x="946111" y="7517"/>
                  <a:pt x="998037" y="0"/>
                </a:cubicBezTo>
                <a:cubicBezTo>
                  <a:pt x="992055" y="159455"/>
                  <a:pt x="932820" y="532460"/>
                  <a:pt x="998037" y="871682"/>
                </a:cubicBezTo>
                <a:cubicBezTo>
                  <a:pt x="1357843" y="820993"/>
                  <a:pt x="1686362" y="905907"/>
                  <a:pt x="1869719" y="871682"/>
                </a:cubicBezTo>
                <a:cubicBezTo>
                  <a:pt x="1875174" y="925174"/>
                  <a:pt x="1873986" y="947346"/>
                  <a:pt x="1869719" y="1014869"/>
                </a:cubicBezTo>
                <a:cubicBezTo>
                  <a:pt x="1764808" y="1082825"/>
                  <a:pt x="1290886" y="1035898"/>
                  <a:pt x="998037" y="1014869"/>
                </a:cubicBezTo>
                <a:cubicBezTo>
                  <a:pt x="975473" y="1296156"/>
                  <a:pt x="935667" y="1781961"/>
                  <a:pt x="998037" y="1886551"/>
                </a:cubicBezTo>
                <a:cubicBezTo>
                  <a:pt x="962951" y="1880256"/>
                  <a:pt x="921537" y="1889798"/>
                  <a:pt x="871682" y="1886551"/>
                </a:cubicBezTo>
                <a:cubicBezTo>
                  <a:pt x="818077" y="1555126"/>
                  <a:pt x="859397" y="1130088"/>
                  <a:pt x="871682" y="1014869"/>
                </a:cubicBezTo>
                <a:cubicBezTo>
                  <a:pt x="608586" y="952921"/>
                  <a:pt x="306780" y="1005001"/>
                  <a:pt x="0" y="1014869"/>
                </a:cubicBezTo>
                <a:cubicBezTo>
                  <a:pt x="-3635" y="972697"/>
                  <a:pt x="-10926" y="894203"/>
                  <a:pt x="0" y="871682"/>
                </a:cubicBezTo>
                <a:close/>
              </a:path>
            </a:pathLst>
          </a:custGeom>
          <a:solidFill>
            <a:schemeClr val="accent2"/>
          </a:solidFill>
          <a:ln>
            <a:solidFill>
              <a:schemeClr val="accent2"/>
            </a:solidFill>
            <a:extLst>
              <a:ext uri="{C807C97D-BFC1-408E-A445-0C87EB9F89A2}">
                <ask:lineSketchStyleProps xmlns:ask="http://schemas.microsoft.com/office/drawing/2018/sketchyshapes" sd="3129110413">
                  <a:prstGeom prst="plus">
                    <a:avLst>
                      <a:gd name="adj" fmla="val 46621"/>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4548D72B-CA5C-59FC-584F-E0EF5BBB25BA}"/>
              </a:ext>
            </a:extLst>
          </p:cNvPr>
          <p:cNvSpPr/>
          <p:nvPr/>
        </p:nvSpPr>
        <p:spPr>
          <a:xfrm>
            <a:off x="7090921" y="4792728"/>
            <a:ext cx="1253486" cy="1236539"/>
          </a:xfrm>
          <a:custGeom>
            <a:avLst/>
            <a:gdLst>
              <a:gd name="connsiteX0" fmla="*/ 0 w 1253486"/>
              <a:gd name="connsiteY0" fmla="*/ 618270 h 1236539"/>
              <a:gd name="connsiteX1" fmla="*/ 626743 w 1253486"/>
              <a:gd name="connsiteY1" fmla="*/ 0 h 1236539"/>
              <a:gd name="connsiteX2" fmla="*/ 1253486 w 1253486"/>
              <a:gd name="connsiteY2" fmla="*/ 618270 h 1236539"/>
              <a:gd name="connsiteX3" fmla="*/ 626743 w 1253486"/>
              <a:gd name="connsiteY3" fmla="*/ 1236540 h 1236539"/>
              <a:gd name="connsiteX4" fmla="*/ 0 w 1253486"/>
              <a:gd name="connsiteY4" fmla="*/ 618270 h 1236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3486" h="1236539" extrusionOk="0">
                <a:moveTo>
                  <a:pt x="0" y="618270"/>
                </a:moveTo>
                <a:cubicBezTo>
                  <a:pt x="11333" y="288976"/>
                  <a:pt x="265442" y="19656"/>
                  <a:pt x="626743" y="0"/>
                </a:cubicBezTo>
                <a:cubicBezTo>
                  <a:pt x="963521" y="-49908"/>
                  <a:pt x="1223269" y="275473"/>
                  <a:pt x="1253486" y="618270"/>
                </a:cubicBezTo>
                <a:cubicBezTo>
                  <a:pt x="1256702" y="984230"/>
                  <a:pt x="1029945" y="1242942"/>
                  <a:pt x="626743" y="1236540"/>
                </a:cubicBezTo>
                <a:cubicBezTo>
                  <a:pt x="282897" y="1246744"/>
                  <a:pt x="5423" y="961932"/>
                  <a:pt x="0" y="618270"/>
                </a:cubicBezTo>
                <a:close/>
              </a:path>
            </a:pathLst>
          </a:custGeom>
          <a:noFill/>
          <a:ln w="76200">
            <a:solidFill>
              <a:schemeClr val="accent4">
                <a:lumMod val="40000"/>
                <a:lumOff val="60000"/>
              </a:schemeClr>
            </a:solidFill>
            <a:extLst>
              <a:ext uri="{C807C97D-BFC1-408E-A445-0C87EB9F89A2}">
                <ask:lineSketchStyleProps xmlns:ask="http://schemas.microsoft.com/office/drawing/2018/sketchyshapes" sd="1678478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27312343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３つあることが一目でわかる</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lang="ja-JP" altLang="en-US" dirty="0"/>
              <a:t>３</a:t>
            </a:r>
            <a:r>
              <a:rPr kumimoji="1" lang="ja-JP" altLang="en-US" dirty="0"/>
              <a:t>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471271"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A6B3703F-3442-4C13-A424-26EDC78FA83C}"/>
              </a:ext>
            </a:extLst>
          </p:cNvPr>
          <p:cNvSpPr/>
          <p:nvPr/>
        </p:nvSpPr>
        <p:spPr>
          <a:xfrm>
            <a:off x="4314710" y="198778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2938DBA-3C61-44F9-B40C-5EE6E7382AD8}"/>
              </a:ext>
            </a:extLst>
          </p:cNvPr>
          <p:cNvSpPr/>
          <p:nvPr/>
        </p:nvSpPr>
        <p:spPr>
          <a:xfrm>
            <a:off x="8131938"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531259"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4358102" y="2003704"/>
            <a:ext cx="954107" cy="369332"/>
          </a:xfrm>
          <a:prstGeom prst="rect">
            <a:avLst/>
          </a:prstGeom>
          <a:noFill/>
        </p:spPr>
        <p:txBody>
          <a:bodyPr wrap="none" rtlCol="0">
            <a:spAutoFit/>
          </a:bodyPr>
          <a:lstStyle/>
          <a:p>
            <a:r>
              <a:rPr kumimoji="1"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479700"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4333110" y="2280372"/>
            <a:ext cx="2698175" cy="523220"/>
          </a:xfrm>
          <a:prstGeom prst="rect">
            <a:avLst/>
          </a:prstGeom>
          <a:noFill/>
        </p:spPr>
        <p:txBody>
          <a:bodyPr wrap="none" rtlCol="0">
            <a:spAutoFit/>
          </a:bodyPr>
          <a:lstStyle/>
          <a:p>
            <a:r>
              <a:rPr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endParaRPr kumimoji="1" lang="ja-JP" altLang="en-US" sz="2800" b="1" dirty="0">
              <a:solidFill>
                <a:schemeClr val="accent4"/>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8202685" y="2003704"/>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814819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13524943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順序関係がある場合は並列よりこちらが良い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lang="ja-JP" altLang="en-US" dirty="0"/>
              <a:t>３</a:t>
            </a:r>
            <a:r>
              <a:rPr kumimoji="1" lang="ja-JP" altLang="en-US" dirty="0"/>
              <a:t>カードのレイアウトテンプレートのアレンジ</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471270" y="1994510"/>
            <a:ext cx="4333735" cy="3452668"/>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A6B3703F-3442-4C13-A424-26EDC78FA83C}"/>
              </a:ext>
            </a:extLst>
          </p:cNvPr>
          <p:cNvSpPr/>
          <p:nvPr/>
        </p:nvSpPr>
        <p:spPr>
          <a:xfrm>
            <a:off x="3975496" y="2474477"/>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2938DBA-3C61-44F9-B40C-5EE6E7382AD8}"/>
              </a:ext>
            </a:extLst>
          </p:cNvPr>
          <p:cNvSpPr/>
          <p:nvPr/>
        </p:nvSpPr>
        <p:spPr>
          <a:xfrm>
            <a:off x="7479722" y="2962880"/>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531259"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4018889" y="2490401"/>
            <a:ext cx="954107" cy="369332"/>
          </a:xfrm>
          <a:prstGeom prst="rect">
            <a:avLst/>
          </a:prstGeom>
          <a:noFill/>
        </p:spPr>
        <p:txBody>
          <a:bodyPr wrap="none" rtlCol="0">
            <a:spAutoFit/>
          </a:bodyPr>
          <a:lstStyle/>
          <a:p>
            <a:r>
              <a:rPr kumimoji="1"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479700"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3993897" y="2767069"/>
            <a:ext cx="2698175" cy="523220"/>
          </a:xfrm>
          <a:prstGeom prst="rect">
            <a:avLst/>
          </a:prstGeom>
          <a:noFill/>
        </p:spPr>
        <p:txBody>
          <a:bodyPr wrap="none" rtlCol="0">
            <a:spAutoFit/>
          </a:bodyPr>
          <a:lstStyle/>
          <a:p>
            <a:r>
              <a:rPr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endParaRPr kumimoji="1" lang="ja-JP" altLang="en-US" sz="2800" b="1" dirty="0">
              <a:solidFill>
                <a:schemeClr val="accent4"/>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7550470" y="2972074"/>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7495981" y="324874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grpSp>
        <p:nvGrpSpPr>
          <p:cNvPr id="14" name="グループ化 13">
            <a:extLst>
              <a:ext uri="{FF2B5EF4-FFF2-40B4-BE49-F238E27FC236}">
                <a16:creationId xmlns:a16="http://schemas.microsoft.com/office/drawing/2014/main" id="{17F509DC-624C-49A3-87E6-BBEE33EDEF3D}"/>
              </a:ext>
            </a:extLst>
          </p:cNvPr>
          <p:cNvGrpSpPr/>
          <p:nvPr/>
        </p:nvGrpSpPr>
        <p:grpSpPr>
          <a:xfrm rot="19356426" flipV="1">
            <a:off x="4678821" y="1901851"/>
            <a:ext cx="638334" cy="948153"/>
            <a:chOff x="2664127" y="3374455"/>
            <a:chExt cx="1201975" cy="1567649"/>
          </a:xfrm>
        </p:grpSpPr>
        <p:sp>
          <p:nvSpPr>
            <p:cNvPr id="15" name="二等辺三角形 14">
              <a:extLst>
                <a:ext uri="{FF2B5EF4-FFF2-40B4-BE49-F238E27FC236}">
                  <a16:creationId xmlns:a16="http://schemas.microsoft.com/office/drawing/2014/main" id="{9EEC710F-D694-4533-BCFA-E134D0A97020}"/>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フリーフォーム: 図形 15">
              <a:extLst>
                <a:ext uri="{FF2B5EF4-FFF2-40B4-BE49-F238E27FC236}">
                  <a16:creationId xmlns:a16="http://schemas.microsoft.com/office/drawing/2014/main" id="{15C81248-34D7-4734-9365-7AF9C9D6CE4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7" name="グループ化 16">
            <a:extLst>
              <a:ext uri="{FF2B5EF4-FFF2-40B4-BE49-F238E27FC236}">
                <a16:creationId xmlns:a16="http://schemas.microsoft.com/office/drawing/2014/main" id="{62916356-7E2D-4DCC-AB30-31745E58C8A8}"/>
              </a:ext>
            </a:extLst>
          </p:cNvPr>
          <p:cNvGrpSpPr/>
          <p:nvPr/>
        </p:nvGrpSpPr>
        <p:grpSpPr>
          <a:xfrm rot="19356426" flipV="1">
            <a:off x="8176087" y="2353531"/>
            <a:ext cx="638334" cy="948153"/>
            <a:chOff x="2664127" y="3374455"/>
            <a:chExt cx="1201975" cy="1567649"/>
          </a:xfrm>
        </p:grpSpPr>
        <p:sp>
          <p:nvSpPr>
            <p:cNvPr id="18" name="二等辺三角形 17">
              <a:extLst>
                <a:ext uri="{FF2B5EF4-FFF2-40B4-BE49-F238E27FC236}">
                  <a16:creationId xmlns:a16="http://schemas.microsoft.com/office/drawing/2014/main" id="{C87AD141-B943-4BC4-BD07-C571A6486C2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フリーフォーム: 図形 18">
              <a:extLst>
                <a:ext uri="{FF2B5EF4-FFF2-40B4-BE49-F238E27FC236}">
                  <a16:creationId xmlns:a16="http://schemas.microsoft.com/office/drawing/2014/main" id="{7964E781-5C13-4DB8-8006-A03F3223597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Tree>
    <p:extLst>
      <p:ext uri="{BB962C8B-B14F-4D97-AF65-F5344CB8AC3E}">
        <p14:creationId xmlns:p14="http://schemas.microsoft.com/office/powerpoint/2010/main" val="34353251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カードの間隔やアスペクト比は適宜調整</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kumimoji="1" lang="ja-JP" altLang="en-US" dirty="0"/>
              <a:t>４カードのレイアウトテンプレート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640876"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00865"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64930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4" name="正方形/長方形 13">
            <a:extLst>
              <a:ext uri="{FF2B5EF4-FFF2-40B4-BE49-F238E27FC236}">
                <a16:creationId xmlns:a16="http://schemas.microsoft.com/office/drawing/2014/main" id="{5232DDF0-95D5-460E-AA94-DC8D8DD0F064}"/>
              </a:ext>
            </a:extLst>
          </p:cNvPr>
          <p:cNvSpPr/>
          <p:nvPr/>
        </p:nvSpPr>
        <p:spPr>
          <a:xfrm>
            <a:off x="640876"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700865"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lang="ja-JP" altLang="en-US" b="1" dirty="0">
                <a:solidFill>
                  <a:schemeClr val="tx2"/>
                </a:solidFill>
                <a:latin typeface="游ゴシック" panose="020B0400000000000000" pitchFamily="50" charset="-128"/>
                <a:ea typeface="游ゴシック" panose="020B0400000000000000" pitchFamily="50" charset="-128"/>
              </a:rPr>
              <a:t>②</a:t>
            </a:r>
            <a:endParaRPr kumimoji="1" lang="ja-JP" altLang="en-US"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649306"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7" name="正方形/長方形 16">
            <a:extLst>
              <a:ext uri="{FF2B5EF4-FFF2-40B4-BE49-F238E27FC236}">
                <a16:creationId xmlns:a16="http://schemas.microsoft.com/office/drawing/2014/main" id="{9F1A11E8-9C9F-4A77-8B31-57D3139B4012}"/>
              </a:ext>
            </a:extLst>
          </p:cNvPr>
          <p:cNvSpPr/>
          <p:nvPr/>
        </p:nvSpPr>
        <p:spPr>
          <a:xfrm>
            <a:off x="6201018"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6261007"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6209448"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20" name="正方形/長方形 19">
            <a:extLst>
              <a:ext uri="{FF2B5EF4-FFF2-40B4-BE49-F238E27FC236}">
                <a16:creationId xmlns:a16="http://schemas.microsoft.com/office/drawing/2014/main" id="{4ACBC013-96B2-409F-A562-B589C1D0B1BD}"/>
              </a:ext>
            </a:extLst>
          </p:cNvPr>
          <p:cNvSpPr/>
          <p:nvPr/>
        </p:nvSpPr>
        <p:spPr>
          <a:xfrm>
            <a:off x="6201018"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6261007"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6209448"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38382897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9F1A11E8-9C9F-4A77-8B31-57D3139B4012}"/>
              </a:ext>
            </a:extLst>
          </p:cNvPr>
          <p:cNvSpPr/>
          <p:nvPr/>
        </p:nvSpPr>
        <p:spPr>
          <a:xfrm>
            <a:off x="6201018"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4ACBC013-96B2-409F-A562-B589C1D0B1BD}"/>
              </a:ext>
            </a:extLst>
          </p:cNvPr>
          <p:cNvSpPr/>
          <p:nvPr/>
        </p:nvSpPr>
        <p:spPr>
          <a:xfrm>
            <a:off x="6201018"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5232DDF0-95D5-460E-AA94-DC8D8DD0F064}"/>
              </a:ext>
            </a:extLst>
          </p:cNvPr>
          <p:cNvSpPr/>
          <p:nvPr/>
        </p:nvSpPr>
        <p:spPr>
          <a:xfrm>
            <a:off x="640876"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39C0D132-2F4B-4006-8549-232F72C8420E}"/>
              </a:ext>
            </a:extLst>
          </p:cNvPr>
          <p:cNvSpPr/>
          <p:nvPr/>
        </p:nvSpPr>
        <p:spPr>
          <a:xfrm>
            <a:off x="640876"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循環がある場合はこんな感じが良い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kumimoji="1" lang="ja-JP" altLang="en-US" dirty="0"/>
              <a:t>４カードのレイアウトテンプレートのアレンジ</a:t>
            </a:r>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00865"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64930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700865"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lang="ja-JP" altLang="en-US" b="1" dirty="0">
                <a:solidFill>
                  <a:schemeClr val="tx2"/>
                </a:solidFill>
                <a:latin typeface="游ゴシック" panose="020B0400000000000000" pitchFamily="50" charset="-128"/>
                <a:ea typeface="游ゴシック" panose="020B0400000000000000" pitchFamily="50" charset="-128"/>
              </a:rPr>
              <a:t>②</a:t>
            </a:r>
            <a:endParaRPr kumimoji="1" lang="ja-JP" altLang="en-US"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649306"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6261007"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6209448"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6261007"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6209448"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grpSp>
        <p:nvGrpSpPr>
          <p:cNvPr id="38" name="グループ化 37">
            <a:extLst>
              <a:ext uri="{FF2B5EF4-FFF2-40B4-BE49-F238E27FC236}">
                <a16:creationId xmlns:a16="http://schemas.microsoft.com/office/drawing/2014/main" id="{F763E3EA-C838-48BF-92C8-FD155CD72C61}"/>
              </a:ext>
            </a:extLst>
          </p:cNvPr>
          <p:cNvGrpSpPr/>
          <p:nvPr/>
        </p:nvGrpSpPr>
        <p:grpSpPr>
          <a:xfrm>
            <a:off x="5963376" y="5058404"/>
            <a:ext cx="595261" cy="523221"/>
            <a:chOff x="1572269" y="4816089"/>
            <a:chExt cx="938304" cy="840658"/>
          </a:xfrm>
        </p:grpSpPr>
        <p:sp>
          <p:nvSpPr>
            <p:cNvPr id="39" name="二等辺三角形 38">
              <a:extLst>
                <a:ext uri="{FF2B5EF4-FFF2-40B4-BE49-F238E27FC236}">
                  <a16:creationId xmlns:a16="http://schemas.microsoft.com/office/drawing/2014/main" id="{857E573D-CBEA-4840-BB8D-12A43C05AF2C}"/>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0" name="フリーフォーム: 図形 39">
              <a:extLst>
                <a:ext uri="{FF2B5EF4-FFF2-40B4-BE49-F238E27FC236}">
                  <a16:creationId xmlns:a16="http://schemas.microsoft.com/office/drawing/2014/main" id="{5EF6E50A-F8C0-4A0B-828C-3A1574F01379}"/>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1" name="グループ化 40">
            <a:extLst>
              <a:ext uri="{FF2B5EF4-FFF2-40B4-BE49-F238E27FC236}">
                <a16:creationId xmlns:a16="http://schemas.microsoft.com/office/drawing/2014/main" id="{98959377-C979-4DBC-91B0-EE8A4B495524}"/>
              </a:ext>
            </a:extLst>
          </p:cNvPr>
          <p:cNvGrpSpPr/>
          <p:nvPr/>
        </p:nvGrpSpPr>
        <p:grpSpPr>
          <a:xfrm rot="16200000">
            <a:off x="6871061" y="3852436"/>
            <a:ext cx="595261" cy="523221"/>
            <a:chOff x="1572269" y="4816089"/>
            <a:chExt cx="938304" cy="840658"/>
          </a:xfrm>
        </p:grpSpPr>
        <p:sp>
          <p:nvSpPr>
            <p:cNvPr id="42" name="二等辺三角形 41">
              <a:extLst>
                <a:ext uri="{FF2B5EF4-FFF2-40B4-BE49-F238E27FC236}">
                  <a16:creationId xmlns:a16="http://schemas.microsoft.com/office/drawing/2014/main" id="{D24E386F-2924-40CC-9E36-E7C432F87F61}"/>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3" name="フリーフォーム: 図形 42">
              <a:extLst>
                <a:ext uri="{FF2B5EF4-FFF2-40B4-BE49-F238E27FC236}">
                  <a16:creationId xmlns:a16="http://schemas.microsoft.com/office/drawing/2014/main" id="{01947CE4-9925-438C-87B9-4BD670E28BB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4" name="グループ化 43">
            <a:extLst>
              <a:ext uri="{FF2B5EF4-FFF2-40B4-BE49-F238E27FC236}">
                <a16:creationId xmlns:a16="http://schemas.microsoft.com/office/drawing/2014/main" id="{3F72FAD5-5227-424C-B040-A021696E413C}"/>
              </a:ext>
            </a:extLst>
          </p:cNvPr>
          <p:cNvGrpSpPr/>
          <p:nvPr/>
        </p:nvGrpSpPr>
        <p:grpSpPr>
          <a:xfrm rot="10800000">
            <a:off x="5622654" y="3077138"/>
            <a:ext cx="595261" cy="523221"/>
            <a:chOff x="1572269" y="4816089"/>
            <a:chExt cx="938304" cy="840658"/>
          </a:xfrm>
        </p:grpSpPr>
        <p:sp>
          <p:nvSpPr>
            <p:cNvPr id="45" name="二等辺三角形 44">
              <a:extLst>
                <a:ext uri="{FF2B5EF4-FFF2-40B4-BE49-F238E27FC236}">
                  <a16:creationId xmlns:a16="http://schemas.microsoft.com/office/drawing/2014/main" id="{CC9CF80C-33A0-4CD9-A492-0F5FE96D7E9F}"/>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フリーフォーム: 図形 45">
              <a:extLst>
                <a:ext uri="{FF2B5EF4-FFF2-40B4-BE49-F238E27FC236}">
                  <a16:creationId xmlns:a16="http://schemas.microsoft.com/office/drawing/2014/main" id="{464BB2E2-722B-44B5-98C5-2E999D1E52E1}"/>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7" name="グループ化 46">
            <a:extLst>
              <a:ext uri="{FF2B5EF4-FFF2-40B4-BE49-F238E27FC236}">
                <a16:creationId xmlns:a16="http://schemas.microsoft.com/office/drawing/2014/main" id="{DF776DC2-B0C8-4C4B-870E-11E5094A648C}"/>
              </a:ext>
            </a:extLst>
          </p:cNvPr>
          <p:cNvGrpSpPr/>
          <p:nvPr/>
        </p:nvGrpSpPr>
        <p:grpSpPr>
          <a:xfrm rot="5400000">
            <a:off x="4798844" y="4214160"/>
            <a:ext cx="595261" cy="523221"/>
            <a:chOff x="1572269" y="4816089"/>
            <a:chExt cx="938304" cy="840658"/>
          </a:xfrm>
        </p:grpSpPr>
        <p:sp>
          <p:nvSpPr>
            <p:cNvPr id="48" name="二等辺三角形 47">
              <a:extLst>
                <a:ext uri="{FF2B5EF4-FFF2-40B4-BE49-F238E27FC236}">
                  <a16:creationId xmlns:a16="http://schemas.microsoft.com/office/drawing/2014/main" id="{B73EA7B5-2C86-4BC2-927B-676AE8EE2F83}"/>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フリーフォーム: 図形 48">
              <a:extLst>
                <a:ext uri="{FF2B5EF4-FFF2-40B4-BE49-F238E27FC236}">
                  <a16:creationId xmlns:a16="http://schemas.microsoft.com/office/drawing/2014/main" id="{6394FB25-B87E-4AD3-80ED-6FD1473CADC2}"/>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spTree>
    <p:extLst>
      <p:ext uri="{BB962C8B-B14F-4D97-AF65-F5344CB8AC3E}">
        <p14:creationId xmlns:p14="http://schemas.microsoft.com/office/powerpoint/2010/main" val="1994194877"/>
      </p:ext>
    </p:extLst>
  </p:cSld>
  <p:clrMapOvr>
    <a:masterClrMapping/>
  </p:clrMapOvr>
</p:sld>
</file>

<file path=ppt/theme/theme1.xml><?xml version="1.0" encoding="utf-8"?>
<a:theme xmlns:a="http://schemas.openxmlformats.org/drawingml/2006/main" name="研究発表スライドマスタ">
  <a:themeElements>
    <a:clrScheme name="ユーザー定義 8">
      <a:dk1>
        <a:srgbClr val="4D4D4D"/>
      </a:dk1>
      <a:lt1>
        <a:srgbClr val="F8F8F8"/>
      </a:lt1>
      <a:dk2>
        <a:srgbClr val="7F7F7F"/>
      </a:dk2>
      <a:lt2>
        <a:srgbClr val="B2B2B2"/>
      </a:lt2>
      <a:accent1>
        <a:srgbClr val="2E5B96"/>
      </a:accent1>
      <a:accent2>
        <a:srgbClr val="C03936"/>
      </a:accent2>
      <a:accent3>
        <a:srgbClr val="ED7D31"/>
      </a:accent3>
      <a:accent4>
        <a:srgbClr val="3E9288"/>
      </a:accent4>
      <a:accent5>
        <a:srgbClr val="4747C1"/>
      </a:accent5>
      <a:accent6>
        <a:srgbClr val="70AD47"/>
      </a:accent6>
      <a:hlink>
        <a:srgbClr val="0563C1"/>
      </a:hlink>
      <a:folHlink>
        <a:srgbClr val="954F72"/>
      </a:folHlink>
    </a:clrScheme>
    <a:fontScheme name="ユーザー定義 2">
      <a:majorFont>
        <a:latin typeface="Segoe UI"/>
        <a:ea typeface="游ゴシック Medium"/>
        <a:cs typeface=""/>
      </a:majorFont>
      <a:minorFont>
        <a:latin typeface="Segoe UI"/>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テンプレート" id="{ACC8EFA2-AA32-1E4C-A176-341B3E3A7DFF}" vid="{67216827-7FA1-9742-9C45-2C865B12E41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E7783413B678BA4F83764129A5DB4607" ma:contentTypeVersion="0" ma:contentTypeDescription="新しいドキュメントを作成します。" ma:contentTypeScope="" ma:versionID="36bbfa3e05015206d9e02241ed477da6">
  <xsd:schema xmlns:xsd="http://www.w3.org/2001/XMLSchema" xmlns:xs="http://www.w3.org/2001/XMLSchema" xmlns:p="http://schemas.microsoft.com/office/2006/metadata/properties" targetNamespace="http://schemas.microsoft.com/office/2006/metadata/properties" ma:root="true" ma:fieldsID="bfa5fc393d419cfd9816b88a984ff78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EFD21F3-24CC-4605-A5CE-D678D2531AFB}">
  <ds:schemaRefs>
    <ds:schemaRef ds:uri="http://schemas.microsoft.com/sharepoint/v3/contenttype/forms"/>
  </ds:schemaRefs>
</ds:datastoreItem>
</file>

<file path=customXml/itemProps2.xml><?xml version="1.0" encoding="utf-8"?>
<ds:datastoreItem xmlns:ds="http://schemas.openxmlformats.org/officeDocument/2006/customXml" ds:itemID="{2B33ED81-A378-482E-B710-0D21A32023B2}">
  <ds:schemaRefs>
    <ds:schemaRef ds:uri="http://www.w3.org/XML/1998/namespace"/>
    <ds:schemaRef ds:uri="http://purl.org/dc/terms/"/>
    <ds:schemaRef ds:uri="http://schemas.microsoft.com/office/2006/metadata/properties"/>
    <ds:schemaRef ds:uri="http://schemas.microsoft.com/office/2006/documentManagement/types"/>
    <ds:schemaRef ds:uri="http://purl.org/dc/dcmitype/"/>
    <ds:schemaRef ds:uri="http://purl.org/dc/elements/1.1/"/>
    <ds:schemaRef ds:uri="http://schemas.openxmlformats.org/package/2006/metadata/core-properties"/>
    <ds:schemaRef ds:uri="http://schemas.microsoft.com/office/infopath/2007/PartnerControls"/>
  </ds:schemaRefs>
</ds:datastoreItem>
</file>

<file path=customXml/itemProps3.xml><?xml version="1.0" encoding="utf-8"?>
<ds:datastoreItem xmlns:ds="http://schemas.openxmlformats.org/officeDocument/2006/customXml" ds:itemID="{BE74453E-F96D-478A-A3EE-1788D5BE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研究発表スライドマスタ</Template>
  <TotalTime>9108</TotalTime>
  <Words>4831</Words>
  <Application>Microsoft Macintosh PowerPoint</Application>
  <PresentationFormat>ワイド画面</PresentationFormat>
  <Paragraphs>726</Paragraphs>
  <Slides>38</Slides>
  <Notes>21</Notes>
  <HiddenSlides>18</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38</vt:i4>
      </vt:variant>
    </vt:vector>
  </HeadingPairs>
  <TitlesOfParts>
    <vt:vector size="46" baseType="lpstr">
      <vt:lpstr>Yu Gothic</vt:lpstr>
      <vt:lpstr>Yu Gothic</vt:lpstr>
      <vt:lpstr>游ゴシック Medium</vt:lpstr>
      <vt:lpstr>Arial</vt:lpstr>
      <vt:lpstr>Cambria Math</vt:lpstr>
      <vt:lpstr>Segoe UI</vt:lpstr>
      <vt:lpstr>Wingdings</vt:lpstr>
      <vt:lpstr>研究発表スライドマスタ</vt:lpstr>
      <vt:lpstr>Lucレポーター遺伝子発現系を使ったTGR5アゴニストペプチドの探索</vt:lpstr>
      <vt:lpstr>TGR5に特異的に結合するアゴニストが必要</vt:lpstr>
      <vt:lpstr>PowerPoint プレゼンテーション</vt:lpstr>
      <vt:lpstr>目的：TGR5に結合して活性化する作用をもつ生理活性ペプチドの探索</vt:lpstr>
      <vt:lpstr>PowerPoint プレゼンテーション</vt:lpstr>
      <vt:lpstr>一部の再現は取れたが結果のばらつきが大きかった</vt:lpstr>
      <vt:lpstr>60mmdishでのトランスフェクションを採用</vt:lpstr>
      <vt:lpstr>PowerPoint プレゼンテーション</vt:lpstr>
      <vt:lpstr>DCAの反応時間は2時間に決定</vt:lpstr>
      <vt:lpstr>DCAの濃度は2µMに決定</vt:lpstr>
      <vt:lpstr>評価系の改善が完了</vt:lpstr>
      <vt:lpstr>新しい評価系でペプチドのTGR5活性を有位に評価できることを確認</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目的：TGR5に結合して活性化する作用を持つ生理活性ペプチドの探索</vt:lpstr>
      <vt:lpstr>PowerPoint プレゼンテーション</vt:lpstr>
      <vt:lpstr>コラーゲン濃度は1/60希釈、プレートは24wellに決定</vt:lpstr>
      <vt:lpstr>PowerPoint プレゼンテーション</vt:lpstr>
      <vt:lpstr>PowerPoint プレゼンテーション</vt:lpstr>
      <vt:lpstr>寸法や色は場合に応じて調整しましょう</vt:lpstr>
      <vt:lpstr>PowerPoint プレゼンテーション</vt:lpstr>
      <vt:lpstr>３つあることが一目でわかる</vt:lpstr>
      <vt:lpstr>順序関係がある場合は並列よりこちらが良い</vt:lpstr>
      <vt:lpstr>カードの間隔やアスペクト比は適宜調整</vt:lpstr>
      <vt:lpstr>循環がある場合はこんな感じが良い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NAKAMURA Yusaku</dc:creator>
  <cp:lastModifiedBy>NAKAMURA Yusaku</cp:lastModifiedBy>
  <cp:revision>14</cp:revision>
  <dcterms:created xsi:type="dcterms:W3CDTF">2024-07-04T01:32:47Z</dcterms:created>
  <dcterms:modified xsi:type="dcterms:W3CDTF">2024-07-12T08:35:00Z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0x010100E7783413B678BA4F83764129A5DB4607</vt:lpwstr>
  </property>
</Properties>
</file>