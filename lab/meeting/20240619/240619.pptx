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2"/>
  </p:notesMasterIdLst>
  <p:handoutMasterIdLst>
    <p:handoutMasterId r:id="rId23"/>
  </p:handoutMasterIdLst>
  <p:sldIdLst>
    <p:sldId id="327" r:id="rId5"/>
    <p:sldId id="335" r:id="rId6"/>
    <p:sldId id="323" r:id="rId7"/>
    <p:sldId id="328" r:id="rId8"/>
    <p:sldId id="333" r:id="rId9"/>
    <p:sldId id="330" r:id="rId10"/>
    <p:sldId id="326" r:id="rId11"/>
    <p:sldId id="314" r:id="rId12"/>
    <p:sldId id="332" r:id="rId13"/>
    <p:sldId id="310" r:id="rId14"/>
    <p:sldId id="295" r:id="rId15"/>
    <p:sldId id="298" r:id="rId16"/>
    <p:sldId id="304" r:id="rId17"/>
    <p:sldId id="300" r:id="rId18"/>
    <p:sldId id="302" r:id="rId19"/>
    <p:sldId id="301" r:id="rId20"/>
    <p:sldId id="303" r:id="rId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8F8F8"/>
    <a:srgbClr val="3B6FBB"/>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50" autoAdjust="0"/>
    <p:restoredTop sz="94660"/>
  </p:normalViewPr>
  <p:slideViewPr>
    <p:cSldViewPr snapToGrid="0">
      <p:cViewPr varScale="1">
        <p:scale>
          <a:sx n="157" d="100"/>
          <a:sy n="157" d="100"/>
        </p:scale>
        <p:origin x="1184" y="168"/>
      </p:cViewPr>
      <p:guideLst/>
    </p:cSldViewPr>
  </p:slideViewPr>
  <p:notesTextViewPr>
    <p:cViewPr>
      <p:scale>
        <a:sx n="1" d="1"/>
        <a:sy n="1" d="1"/>
      </p:scale>
      <p:origin x="0" y="0"/>
    </p:cViewPr>
  </p:notesTextViewPr>
  <p:notesViewPr>
    <p:cSldViewPr snapToGrid="0">
      <p:cViewPr varScale="1">
        <p:scale>
          <a:sx n="49" d="100"/>
          <a:sy n="49" d="100"/>
        </p:scale>
        <p:origin x="2733" y="3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Users/yutteee/univ/latex/&#30740;&#31350;/5/20240607_resul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yutteee/univ/latex/&#30740;&#31350;/5/20240607_resul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yutteee/univ/latex/&#30740;&#31350;/6/20240614_result.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luc!$C$25:$D$25</c:f>
                <c:numCache>
                  <c:formatCode>General</c:formatCode>
                  <c:ptCount val="2"/>
                  <c:pt idx="0">
                    <c:v>366939.25496811338</c:v>
                  </c:pt>
                  <c:pt idx="1">
                    <c:v>209866.37534055626</c:v>
                  </c:pt>
                </c:numCache>
              </c:numRef>
            </c:plus>
            <c:minus>
              <c:numRef>
                <c:f>luc!$C$25:$D$25</c:f>
                <c:numCache>
                  <c:formatCode>General</c:formatCode>
                  <c:ptCount val="2"/>
                  <c:pt idx="0">
                    <c:v>366939.25496811338</c:v>
                  </c:pt>
                  <c:pt idx="1">
                    <c:v>209866.37534055626</c:v>
                  </c:pt>
                </c:numCache>
              </c:numRef>
            </c:minus>
            <c:spPr>
              <a:noFill/>
              <a:ln w="25400" cap="flat" cmpd="sng" algn="ctr">
                <a:solidFill>
                  <a:schemeClr val="tx1"/>
                </a:solidFill>
                <a:round/>
              </a:ln>
              <a:effectLst/>
            </c:spPr>
          </c:errBars>
          <c:cat>
            <c:strRef>
              <c:f>luc!$C$26:$D$26</c:f>
              <c:strCache>
                <c:ptCount val="2"/>
                <c:pt idx="0">
                  <c:v>24well</c:v>
                </c:pt>
                <c:pt idx="1">
                  <c:v>60mmdish</c:v>
                </c:pt>
              </c:strCache>
            </c:strRef>
          </c:cat>
          <c:val>
            <c:numRef>
              <c:f>luc!$C$24:$D$24</c:f>
              <c:numCache>
                <c:formatCode>General</c:formatCode>
                <c:ptCount val="2"/>
                <c:pt idx="0">
                  <c:v>763871.00364674663</c:v>
                </c:pt>
                <c:pt idx="1">
                  <c:v>2171196.4717701166</c:v>
                </c:pt>
              </c:numCache>
            </c:numRef>
          </c:val>
          <c:extLst>
            <c:ext xmlns:c16="http://schemas.microsoft.com/office/drawing/2014/chart" uri="{C3380CC4-5D6E-409C-BE32-E72D297353CC}">
              <c16:uniqueId val="{00000000-41E5-6E42-8016-0F272A070481}"/>
            </c:ext>
          </c:extLst>
        </c:ser>
        <c:dLbls>
          <c:showLegendKey val="0"/>
          <c:showVal val="0"/>
          <c:showCatName val="0"/>
          <c:showSerName val="0"/>
          <c:showPercent val="0"/>
          <c:showBubbleSize val="0"/>
        </c:dLbls>
        <c:gapWidth val="219"/>
        <c:overlap val="-27"/>
        <c:axId val="62271183"/>
        <c:axId val="643815680"/>
      </c:barChart>
      <c:catAx>
        <c:axId val="6227118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643815680"/>
        <c:crosses val="autoZero"/>
        <c:auto val="1"/>
        <c:lblAlgn val="ctr"/>
        <c:lblOffset val="100"/>
        <c:noMultiLvlLbl val="0"/>
      </c:catAx>
      <c:valAx>
        <c:axId val="643815680"/>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altLang="ja-JP" dirty="0"/>
                  <a:t>Luc</a:t>
                </a:r>
                <a:r>
                  <a:rPr lang="en-US" altLang="ja-JP" baseline="0" dirty="0"/>
                  <a:t> activity [-]</a:t>
                </a:r>
                <a:endParaRPr lang="ja-JP" altLang="en-US"/>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622711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1-1485-5343-9B58-E0D1B8DE9B81}"/>
              </c:ext>
            </c:extLst>
          </c:dPt>
          <c:dPt>
            <c:idx val="1"/>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3-1485-5343-9B58-E0D1B8DE9B81}"/>
              </c:ext>
            </c:extLst>
          </c:dPt>
          <c:errBars>
            <c:errBarType val="both"/>
            <c:errValType val="cust"/>
            <c:noEndCap val="0"/>
            <c:plus>
              <c:numRef>
                <c:f>過去結果比較!$J$33:$K$33</c:f>
                <c:numCache>
                  <c:formatCode>General</c:formatCode>
                  <c:ptCount val="2"/>
                  <c:pt idx="0">
                    <c:v>35830.679882686403</c:v>
                  </c:pt>
                  <c:pt idx="1">
                    <c:v>222690.0750350758</c:v>
                  </c:pt>
                </c:numCache>
              </c:numRef>
            </c:plus>
            <c:minus>
              <c:numRef>
                <c:f>過去結果比較!$J$33:$K$33</c:f>
                <c:numCache>
                  <c:formatCode>General</c:formatCode>
                  <c:ptCount val="2"/>
                  <c:pt idx="0">
                    <c:v>35830.679882686403</c:v>
                  </c:pt>
                  <c:pt idx="1">
                    <c:v>222690.0750350758</c:v>
                  </c:pt>
                </c:numCache>
              </c:numRef>
            </c:minus>
            <c:spPr>
              <a:noFill/>
              <a:ln w="25400" cap="flat" cmpd="sng" algn="ctr">
                <a:solidFill>
                  <a:schemeClr val="tx1"/>
                </a:solidFill>
                <a:round/>
              </a:ln>
              <a:effectLst/>
            </c:spPr>
          </c:errBars>
          <c:cat>
            <c:strRef>
              <c:f>過去結果比較!$J$27:$K$27</c:f>
              <c:strCache>
                <c:ptCount val="2"/>
                <c:pt idx="0">
                  <c:v>24h</c:v>
                </c:pt>
                <c:pt idx="1">
                  <c:v>4h</c:v>
                </c:pt>
              </c:strCache>
            </c:strRef>
          </c:cat>
          <c:val>
            <c:numRef>
              <c:f>過去結果比較!$J$32:$K$32</c:f>
              <c:numCache>
                <c:formatCode>General</c:formatCode>
                <c:ptCount val="2"/>
                <c:pt idx="0">
                  <c:v>459924.25387088669</c:v>
                </c:pt>
                <c:pt idx="1">
                  <c:v>881018.91733700328</c:v>
                </c:pt>
              </c:numCache>
            </c:numRef>
          </c:val>
          <c:extLst>
            <c:ext xmlns:c16="http://schemas.microsoft.com/office/drawing/2014/chart" uri="{C3380CC4-5D6E-409C-BE32-E72D297353CC}">
              <c16:uniqueId val="{00000004-1485-5343-9B58-E0D1B8DE9B81}"/>
            </c:ext>
          </c:extLst>
        </c:ser>
        <c:dLbls>
          <c:showLegendKey val="0"/>
          <c:showVal val="0"/>
          <c:showCatName val="0"/>
          <c:showSerName val="0"/>
          <c:showPercent val="0"/>
          <c:showBubbleSize val="0"/>
        </c:dLbls>
        <c:gapWidth val="219"/>
        <c:overlap val="-27"/>
        <c:axId val="2048995328"/>
        <c:axId val="2049676272"/>
      </c:barChart>
      <c:catAx>
        <c:axId val="204899532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2049676272"/>
        <c:crosses val="autoZero"/>
        <c:auto val="1"/>
        <c:lblAlgn val="ctr"/>
        <c:lblOffset val="100"/>
        <c:noMultiLvlLbl val="0"/>
      </c:catAx>
      <c:valAx>
        <c:axId val="2049676272"/>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a:t>Luc activity [-]</a:t>
                </a:r>
                <a:endParaRPr lang="ja-JP"/>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20489953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chemeClr val="accent4"/>
              </a:solidFill>
              <a:round/>
            </a:ln>
            <a:effectLst/>
          </c:spPr>
          <c:marker>
            <c:symbol val="none"/>
          </c:marker>
          <c:errBars>
            <c:errDir val="y"/>
            <c:errBarType val="both"/>
            <c:errValType val="cust"/>
            <c:noEndCap val="0"/>
            <c:plus>
              <c:numRef>
                <c:f>Sheet1!$B$20:$E$20</c:f>
                <c:numCache>
                  <c:formatCode>General</c:formatCode>
                  <c:ptCount val="4"/>
                  <c:pt idx="0">
                    <c:v>46744.179498309568</c:v>
                  </c:pt>
                  <c:pt idx="1">
                    <c:v>49615.405629628236</c:v>
                  </c:pt>
                  <c:pt idx="2">
                    <c:v>31034.044792404162</c:v>
                  </c:pt>
                  <c:pt idx="3">
                    <c:v>136691.77663598795</c:v>
                  </c:pt>
                </c:numCache>
              </c:numRef>
            </c:plus>
            <c:minus>
              <c:numRef>
                <c:f>Sheet1!$B$20:$E$20</c:f>
                <c:numCache>
                  <c:formatCode>General</c:formatCode>
                  <c:ptCount val="4"/>
                  <c:pt idx="0">
                    <c:v>46744.179498309568</c:v>
                  </c:pt>
                  <c:pt idx="1">
                    <c:v>49615.405629628236</c:v>
                  </c:pt>
                  <c:pt idx="2">
                    <c:v>31034.044792404162</c:v>
                  </c:pt>
                  <c:pt idx="3">
                    <c:v>136691.77663598795</c:v>
                  </c:pt>
                </c:numCache>
              </c:numRef>
            </c:minus>
            <c:spPr>
              <a:noFill/>
              <a:ln w="22225" cap="flat" cmpd="sng" algn="ctr">
                <a:solidFill>
                  <a:schemeClr val="tx1"/>
                </a:solidFill>
                <a:round/>
              </a:ln>
              <a:effectLst/>
            </c:spPr>
          </c:errBars>
          <c:cat>
            <c:numRef>
              <c:f>Sheet1!$Q$22:$T$22</c:f>
              <c:numCache>
                <c:formatCode>General</c:formatCode>
                <c:ptCount val="4"/>
                <c:pt idx="0">
                  <c:v>1</c:v>
                </c:pt>
                <c:pt idx="1">
                  <c:v>2</c:v>
                </c:pt>
                <c:pt idx="2">
                  <c:v>3</c:v>
                </c:pt>
                <c:pt idx="3">
                  <c:v>5</c:v>
                </c:pt>
              </c:numCache>
            </c:numRef>
          </c:cat>
          <c:val>
            <c:numRef>
              <c:f>Sheet1!$B$19:$E$19</c:f>
              <c:numCache>
                <c:formatCode>General</c:formatCode>
                <c:ptCount val="4"/>
                <c:pt idx="0">
                  <c:v>308885.19701443746</c:v>
                </c:pt>
                <c:pt idx="1">
                  <c:v>758237.16409640771</c:v>
                </c:pt>
                <c:pt idx="2">
                  <c:v>1110500.1418742521</c:v>
                </c:pt>
                <c:pt idx="3">
                  <c:v>1374964.1813554734</c:v>
                </c:pt>
              </c:numCache>
            </c:numRef>
          </c:val>
          <c:smooth val="0"/>
          <c:extLst>
            <c:ext xmlns:c16="http://schemas.microsoft.com/office/drawing/2014/chart" uri="{C3380CC4-5D6E-409C-BE32-E72D297353CC}">
              <c16:uniqueId val="{00000000-DC08-5943-9A3D-21AEDAE24602}"/>
            </c:ext>
          </c:extLst>
        </c:ser>
        <c:dLbls>
          <c:showLegendKey val="0"/>
          <c:showVal val="0"/>
          <c:showCatName val="0"/>
          <c:showSerName val="0"/>
          <c:showPercent val="0"/>
          <c:showBubbleSize val="0"/>
        </c:dLbls>
        <c:smooth val="0"/>
        <c:axId val="1606203312"/>
        <c:axId val="2081170384"/>
      </c:lineChart>
      <c:dateAx>
        <c:axId val="1606203312"/>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altLang="ja-JP" dirty="0"/>
                  <a:t>DCA</a:t>
                </a:r>
                <a:r>
                  <a:rPr lang="ja-JP" altLang="en-US"/>
                  <a:t>反応時間</a:t>
                </a:r>
                <a:r>
                  <a:rPr lang="en-US" altLang="ja-JP" dirty="0"/>
                  <a:t> [h]</a:t>
                </a:r>
                <a:endParaRPr lang="ja-JP" altLang="en-US"/>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2081170384"/>
        <c:crosses val="autoZero"/>
        <c:auto val="0"/>
        <c:lblOffset val="100"/>
        <c:baseTimeUnit val="days"/>
      </c:dateAx>
      <c:valAx>
        <c:axId val="2081170384"/>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altLang="ja-JP"/>
                  <a:t>Luc</a:t>
                </a:r>
                <a:r>
                  <a:rPr lang="en-US" altLang="ja-JP" baseline="0"/>
                  <a:t> activity [-]</a:t>
                </a:r>
                <a:endParaRPr lang="ja-JP" altLang="en-US"/>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1606203312"/>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64B9691-87D6-48EF-9BFD-698344D045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286BE10E-3BBD-4023-B684-892AE173FF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02328F-004D-4D3A-9F80-6B7A705D1367}" type="datetimeFigureOut">
              <a:rPr kumimoji="1" lang="ja-JP" altLang="en-US" smtClean="0"/>
              <a:t>2024/7/8</a:t>
            </a:fld>
            <a:endParaRPr kumimoji="1" lang="ja-JP" altLang="en-US"/>
          </a:p>
        </p:txBody>
      </p:sp>
      <p:sp>
        <p:nvSpPr>
          <p:cNvPr id="4" name="フッター プレースホルダー 3">
            <a:extLst>
              <a:ext uri="{FF2B5EF4-FFF2-40B4-BE49-F238E27FC236}">
                <a16:creationId xmlns:a16="http://schemas.microsoft.com/office/drawing/2014/main" id="{F6367B9F-A0B4-4348-9C4B-89D15EDCB2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42CC2C2F-D89E-474B-9003-7069E7D90C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DCC25F-5D23-455B-B707-89EC30CA97BB}" type="slidenum">
              <a:rPr kumimoji="1" lang="ja-JP" altLang="en-US" smtClean="0"/>
              <a:t>‹#›</a:t>
            </a:fld>
            <a:endParaRPr kumimoji="1" lang="ja-JP" altLang="en-US"/>
          </a:p>
        </p:txBody>
      </p:sp>
    </p:spTree>
    <p:extLst>
      <p:ext uri="{BB962C8B-B14F-4D97-AF65-F5344CB8AC3E}">
        <p14:creationId xmlns:p14="http://schemas.microsoft.com/office/powerpoint/2010/main" val="34457490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00887C-0EF1-4AC1-9E9B-79863B12620D}" type="datetimeFigureOut">
              <a:rPr kumimoji="1" lang="ja-JP" altLang="en-US" smtClean="0"/>
              <a:t>2024/7/8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A420A-BDF0-4775-9670-07D3BFB5E94B}" type="slidenum">
              <a:rPr kumimoji="1" lang="ja-JP" altLang="en-US" smtClean="0"/>
              <a:t>‹#›</a:t>
            </a:fld>
            <a:endParaRPr kumimoji="1" lang="ja-JP" altLang="en-US"/>
          </a:p>
        </p:txBody>
      </p:sp>
    </p:spTree>
    <p:extLst>
      <p:ext uri="{BB962C8B-B14F-4D97-AF65-F5344CB8AC3E}">
        <p14:creationId xmlns:p14="http://schemas.microsoft.com/office/powerpoint/2010/main" val="17996778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524000" y="2570163"/>
            <a:ext cx="9144000" cy="2387600"/>
          </a:xfrm>
        </p:spPr>
        <p:txBody>
          <a:bodyPr anchor="b">
            <a:noAutofit/>
          </a:bodyPr>
          <a:lstStyle>
            <a:lvl1pPr algn="l">
              <a:defRPr sz="48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発表の内容と構成が想像できる</a:t>
            </a:r>
            <a:br>
              <a:rPr kumimoji="1" lang="en-US" altLang="ja-JP" dirty="0"/>
            </a:br>
            <a:r>
              <a:rPr kumimoji="1" lang="ja-JP" altLang="en-US" dirty="0"/>
              <a:t>発表題目をここに書く．</a:t>
            </a:r>
            <a:br>
              <a:rPr kumimoji="1" lang="en-US" altLang="ja-JP" dirty="0"/>
            </a:br>
            <a:r>
              <a:rPr kumimoji="1" lang="ja-JP" altLang="en-US" dirty="0"/>
              <a:t>単語の途中で改行しない．</a:t>
            </a:r>
          </a:p>
        </p:txBody>
      </p:sp>
      <p:sp>
        <p:nvSpPr>
          <p:cNvPr id="3" name="サブタイトル 2"/>
          <p:cNvSpPr>
            <a:spLocks noGrp="1"/>
          </p:cNvSpPr>
          <p:nvPr>
            <p:ph type="subTitle" idx="1" hasCustomPrompt="1"/>
          </p:nvPr>
        </p:nvSpPr>
        <p:spPr>
          <a:xfrm>
            <a:off x="1524000" y="5110163"/>
            <a:ext cx="9144000" cy="561975"/>
          </a:xfrm>
        </p:spPr>
        <p:txBody>
          <a:bodyPr>
            <a:noAutofit/>
          </a:bodyPr>
          <a:lstStyle>
            <a:lvl1pPr marL="0" indent="0" algn="l">
              <a:buNone/>
              <a:defRPr sz="3600">
                <a:latin typeface="游ゴシック" panose="020B0400000000000000" pitchFamily="50" charset="-128"/>
                <a:ea typeface="游ゴシック" panose="020B0400000000000000"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発表者名</a:t>
            </a:r>
            <a:endParaRPr kumimoji="1" lang="en-US" altLang="ja-JP" dirty="0"/>
          </a:p>
        </p:txBody>
      </p:sp>
      <p:sp>
        <p:nvSpPr>
          <p:cNvPr id="11" name="テキスト プレースホルダー 10"/>
          <p:cNvSpPr>
            <a:spLocks noGrp="1"/>
          </p:cNvSpPr>
          <p:nvPr>
            <p:ph type="body" sz="quarter" idx="11" hasCustomPrompt="1"/>
          </p:nvPr>
        </p:nvSpPr>
        <p:spPr>
          <a:xfrm>
            <a:off x="1524000" y="5740400"/>
            <a:ext cx="9144000" cy="469900"/>
          </a:xfrm>
        </p:spPr>
        <p:txBody>
          <a:bodyPr/>
          <a:lstStyle>
            <a:lvl1pPr marL="0" indent="0" algn="l">
              <a:buNone/>
              <a:defRPr>
                <a:latin typeface="游ゴシック Medium" panose="020B0500000000000000" pitchFamily="50" charset="-128"/>
                <a:ea typeface="游ゴシック Medium" panose="020B0500000000000000" pitchFamily="50" charset="-128"/>
              </a:defRPr>
            </a:lvl1pPr>
          </a:lstStyle>
          <a:p>
            <a:pPr lvl="0"/>
            <a:r>
              <a:rPr kumimoji="1" lang="ja-JP" altLang="en-US" dirty="0"/>
              <a:t>身分や所属など．関連する</a:t>
            </a:r>
            <a:r>
              <a:rPr kumimoji="1" lang="en-US" altLang="ja-JP" dirty="0"/>
              <a:t>SNS</a:t>
            </a:r>
            <a:r>
              <a:rPr kumimoji="1" lang="ja-JP" altLang="en-US" dirty="0"/>
              <a:t>アカウントなども．</a:t>
            </a:r>
          </a:p>
        </p:txBody>
      </p:sp>
      <p:cxnSp>
        <p:nvCxnSpPr>
          <p:cNvPr id="13" name="直線コネクタ 12"/>
          <p:cNvCxnSpPr/>
          <p:nvPr userDrawn="1"/>
        </p:nvCxnSpPr>
        <p:spPr>
          <a:xfrm flipV="1">
            <a:off x="0" y="5029200"/>
            <a:ext cx="121920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テキスト プレースホルダー 14"/>
          <p:cNvSpPr>
            <a:spLocks noGrp="1"/>
          </p:cNvSpPr>
          <p:nvPr>
            <p:ph type="body" sz="quarter" idx="12" hasCustomPrompt="1"/>
          </p:nvPr>
        </p:nvSpPr>
        <p:spPr>
          <a:xfrm>
            <a:off x="8420098" y="152399"/>
            <a:ext cx="3594101" cy="378541"/>
          </a:xfrm>
          <a:ln>
            <a:noFill/>
          </a:ln>
        </p:spPr>
        <p:txBody>
          <a:bodyPr>
            <a:noAutofit/>
          </a:bodyPr>
          <a:lstStyle>
            <a:lvl1pPr marL="0" indent="0">
              <a:buNone/>
              <a:defRPr sz="2000">
                <a:solidFill>
                  <a:schemeClr val="tx2"/>
                </a:solidFill>
                <a:latin typeface="游ゴシック Medium" panose="020B0500000000000000" pitchFamily="50" charset="-128"/>
                <a:ea typeface="游ゴシック Medium" panose="020B0500000000000000" pitchFamily="50" charset="-128"/>
              </a:defRPr>
            </a:lvl1pPr>
          </a:lstStyle>
          <a:p>
            <a:pPr lvl="0"/>
            <a:r>
              <a:rPr kumimoji="1" lang="ja-JP" altLang="en-US" dirty="0"/>
              <a:t>会議名と日程を書いておく</a:t>
            </a:r>
          </a:p>
        </p:txBody>
      </p:sp>
      <p:sp>
        <p:nvSpPr>
          <p:cNvPr id="17" name="図プレースホルダー 16"/>
          <p:cNvSpPr>
            <a:spLocks noGrp="1"/>
          </p:cNvSpPr>
          <p:nvPr>
            <p:ph type="pic" sz="quarter" idx="13" hasCustomPrompt="1"/>
          </p:nvPr>
        </p:nvSpPr>
        <p:spPr>
          <a:xfrm>
            <a:off x="1523999" y="647700"/>
            <a:ext cx="9144000" cy="1841500"/>
          </a:xfrm>
        </p:spPr>
        <p:txBody>
          <a:bodyPr/>
          <a:lstStyle>
            <a:lvl1pPr marL="0" indent="0">
              <a:buNone/>
              <a:defRPr>
                <a:solidFill>
                  <a:schemeClr val="bg2"/>
                </a:solidFill>
                <a:latin typeface="游ゴシック Medium" panose="020B0500000000000000" pitchFamily="50" charset="-128"/>
                <a:ea typeface="游ゴシック Medium" panose="020B0500000000000000" pitchFamily="50" charset="-128"/>
              </a:defRPr>
            </a:lvl1pPr>
          </a:lstStyle>
          <a:p>
            <a:r>
              <a:rPr kumimoji="1" lang="ja-JP" altLang="en-US" dirty="0"/>
              <a:t>題目の説明の助けになる図や動画があれば載せる．</a:t>
            </a:r>
            <a:endParaRPr kumimoji="1" lang="en-US" altLang="ja-JP" dirty="0"/>
          </a:p>
        </p:txBody>
      </p:sp>
    </p:spTree>
    <p:extLst>
      <p:ext uri="{BB962C8B-B14F-4D97-AF65-F5344CB8AC3E}">
        <p14:creationId xmlns:p14="http://schemas.microsoft.com/office/powerpoint/2010/main" val="421259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パラグラフスライド">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546100" y="6021647"/>
            <a:ext cx="11099800" cy="725176"/>
          </a:xfrm>
        </p:spPr>
        <p:txBody>
          <a:bodyPr>
            <a:noAutofit/>
          </a:bodyPr>
          <a:lstStyle>
            <a:lvl1pPr algn="ctr">
              <a:defRPr sz="2400" b="1" u="sng">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話題について伝えるべきメッセージ（問いの答え）</a:t>
            </a:r>
          </a:p>
        </p:txBody>
      </p:sp>
      <p:sp>
        <p:nvSpPr>
          <p:cNvPr id="3" name="コンテンツ プレースホルダー 2"/>
          <p:cNvSpPr>
            <a:spLocks noGrp="1"/>
          </p:cNvSpPr>
          <p:nvPr>
            <p:ph idx="1" hasCustomPrompt="1"/>
          </p:nvPr>
        </p:nvSpPr>
        <p:spPr>
          <a:xfrm>
            <a:off x="546100" y="1038484"/>
            <a:ext cx="11099800" cy="4797052"/>
          </a:xfrm>
        </p:spPr>
        <p:txBody>
          <a:bodyPr/>
          <a:lstStyle>
            <a:lvl1pPr marL="457200" indent="-457200">
              <a:buFont typeface="Wingdings" panose="05000000000000000000" pitchFamily="2" charset="2"/>
              <a:buChar char="l"/>
              <a:defRPr>
                <a:solidFill>
                  <a:schemeClr val="tx1"/>
                </a:solidFill>
                <a:latin typeface="游ゴシック" panose="020B0400000000000000" pitchFamily="50" charset="-128"/>
                <a:ea typeface="游ゴシック" panose="020B0400000000000000" pitchFamily="50" charset="-128"/>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solidFill>
                  <a:schemeClr val="tx1"/>
                </a:solidFill>
                <a:latin typeface="游ゴシック Medium" panose="020B0500000000000000" pitchFamily="50" charset="-128"/>
                <a:ea typeface="游ゴシック Medium" panose="020B0500000000000000" pitchFamily="50" charset="-128"/>
              </a:defRPr>
            </a:lvl2pPr>
            <a:lvl3pPr>
              <a:defRPr>
                <a:solidFill>
                  <a:schemeClr val="tx1"/>
                </a:solidFill>
              </a:defRPr>
            </a:lvl3pPr>
            <a:lvl4pPr>
              <a:defRPr>
                <a:solidFill>
                  <a:schemeClr val="tx1"/>
                </a:solidFill>
              </a:defRPr>
            </a:lvl4pPr>
            <a:lvl5pPr>
              <a:defRPr>
                <a:solidFill>
                  <a:schemeClr val="tx1"/>
                </a:solidFill>
              </a:defRPr>
            </a:lvl5pPr>
          </a:lstStyle>
          <a:p>
            <a:pPr lvl="0"/>
            <a:r>
              <a:rPr kumimoji="1" lang="ja-JP" altLang="en-US" dirty="0"/>
              <a:t>メッセージの補足説明（根拠／解説／具体例）</a:t>
            </a:r>
            <a:endParaRPr kumimoji="1" lang="en-US" altLang="ja-JP" dirty="0"/>
          </a:p>
          <a:p>
            <a:pPr lvl="1"/>
            <a:r>
              <a:rPr kumimoji="1" lang="ja-JP" altLang="en-US" dirty="0"/>
              <a:t>第２段</a:t>
            </a:r>
            <a:endParaRPr kumimoji="1" lang="en-US" altLang="ja-JP" dirty="0"/>
          </a:p>
          <a:p>
            <a:pPr lvl="2"/>
            <a:r>
              <a:rPr kumimoji="1" lang="ja-JP" altLang="en-US" dirty="0"/>
              <a:t>第３段</a:t>
            </a:r>
            <a:endParaRPr kumimoji="1" lang="en-US" altLang="ja-JP" dirty="0"/>
          </a:p>
          <a:p>
            <a:pPr lvl="3"/>
            <a:r>
              <a:rPr kumimoji="1" lang="ja-JP" altLang="en-US" dirty="0"/>
              <a:t>第４段</a:t>
            </a:r>
            <a:endParaRPr kumimoji="1" lang="en-US" altLang="ja-JP" dirty="0"/>
          </a:p>
          <a:p>
            <a:pPr lvl="4"/>
            <a:r>
              <a:rPr kumimoji="1" lang="ja-JP" altLang="en-US"/>
              <a:t>第５弾</a:t>
            </a:r>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210574" y="348226"/>
            <a:ext cx="11455400" cy="469900"/>
          </a:xfrm>
        </p:spPr>
        <p:txBody>
          <a:bodyPr/>
          <a:lstStyle>
            <a:lvl1pPr marL="0" indent="0">
              <a:buNone/>
              <a:defRPr b="0">
                <a:latin typeface="游ゴシック Medium" panose="020B0500000000000000" pitchFamily="50" charset="-128"/>
                <a:ea typeface="游ゴシック Medium" panose="020B0500000000000000"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スライドの話題＝問い</a:t>
            </a:r>
            <a:r>
              <a:rPr kumimoji="1" lang="en-US" altLang="ja-JP" dirty="0"/>
              <a:t>=</a:t>
            </a:r>
            <a:r>
              <a:rPr kumimoji="1" lang="ja-JP" altLang="en-US" dirty="0"/>
              <a:t>論点</a:t>
            </a:r>
            <a:endParaRPr kumimoji="1" lang="en-US" altLang="ja-JP" dirty="0"/>
          </a:p>
        </p:txBody>
      </p:sp>
      <p:sp>
        <p:nvSpPr>
          <p:cNvPr id="23" name="テキスト ボックス 22"/>
          <p:cNvSpPr txBox="1"/>
          <p:nvPr userDrawn="1"/>
        </p:nvSpPr>
        <p:spPr>
          <a:xfrm>
            <a:off x="11183256" y="340852"/>
            <a:ext cx="1015021" cy="461665"/>
          </a:xfrm>
          <a:prstGeom prst="rect">
            <a:avLst/>
          </a:prstGeom>
          <a:noFill/>
        </p:spPr>
        <p:txBody>
          <a:bodyPr wrap="none" rtlCol="0">
            <a:spAutoFit/>
          </a:bodyPr>
          <a:lstStyle/>
          <a:p>
            <a:fld id="{F8A53700-8F90-3442-A47C-78139B6BC0ED}" type="slidenum">
              <a:rPr kumimoji="1" lang="ja-JP" altLang="en-US" sz="2400" smtClean="0">
                <a:solidFill>
                  <a:schemeClr val="tx1"/>
                </a:solidFill>
                <a:latin typeface="+mn-lt"/>
                <a:ea typeface="游ゴシック Medium" panose="020B0500000000000000" pitchFamily="50" charset="-128"/>
              </a:rPr>
              <a:t>‹#›</a:t>
            </a:fld>
            <a:r>
              <a:rPr kumimoji="1" lang="en-US" altLang="ja-JP" sz="2400" dirty="0">
                <a:solidFill>
                  <a:schemeClr val="tx1"/>
                </a:solidFill>
                <a:latin typeface="+mn-lt"/>
                <a:ea typeface="游ゴシック Medium" panose="020B0500000000000000" pitchFamily="50" charset="-128"/>
              </a:rPr>
              <a:t>/10</a:t>
            </a:r>
            <a:endParaRPr kumimoji="1" lang="ja-JP" altLang="en-US" sz="24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D7D2CC37-C29C-5AF5-729A-0EBB71A29FD5}"/>
              </a:ext>
            </a:extLst>
          </p:cNvPr>
          <p:cNvSpPr txBox="1"/>
          <p:nvPr userDrawn="1"/>
        </p:nvSpPr>
        <p:spPr>
          <a:xfrm>
            <a:off x="11096828" y="16042"/>
            <a:ext cx="1095172" cy="307777"/>
          </a:xfrm>
          <a:prstGeom prst="rect">
            <a:avLst/>
          </a:prstGeom>
          <a:noFill/>
        </p:spPr>
        <p:txBody>
          <a:bodyPr wrap="none" rtlCol="0">
            <a:spAutoFit/>
          </a:bodyPr>
          <a:lstStyle/>
          <a:p>
            <a:r>
              <a:rPr kumimoji="1" lang="en-US" altLang="ja-JP" sz="1400" dirty="0">
                <a:solidFill>
                  <a:schemeClr val="tx1">
                    <a:lumMod val="60000"/>
                    <a:lumOff val="40000"/>
                  </a:schemeClr>
                </a:solidFill>
              </a:rPr>
              <a:t>2024/06/19</a:t>
            </a:r>
            <a:endParaRPr kumimoji="1" lang="ja-JP" altLang="en-US" sz="1400">
              <a:solidFill>
                <a:schemeClr val="tx1">
                  <a:lumMod val="60000"/>
                  <a:lumOff val="40000"/>
                </a:schemeClr>
              </a:solidFill>
            </a:endParaRPr>
          </a:p>
        </p:txBody>
      </p:sp>
    </p:spTree>
    <p:extLst>
      <p:ext uri="{BB962C8B-B14F-4D97-AF65-F5344CB8AC3E}">
        <p14:creationId xmlns:p14="http://schemas.microsoft.com/office/powerpoint/2010/main" val="1622984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カー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6383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4FF1A3-6826-0345-B39D-CE4D91B68582}" type="datetime1">
              <a:rPr kumimoji="1" lang="ja-JP" altLang="en-US" smtClean="0"/>
              <a:t>2024/7/8</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1B92D0-3845-473E-8E13-C70357A36CF6}" type="slidenum">
              <a:rPr kumimoji="1" lang="ja-JP" altLang="en-US" smtClean="0"/>
              <a:t>‹#›</a:t>
            </a:fld>
            <a:endParaRPr kumimoji="1" lang="ja-JP" altLang="en-US"/>
          </a:p>
        </p:txBody>
      </p:sp>
    </p:spTree>
    <p:extLst>
      <p:ext uri="{BB962C8B-B14F-4D97-AF65-F5344CB8AC3E}">
        <p14:creationId xmlns:p14="http://schemas.microsoft.com/office/powerpoint/2010/main" val="306934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chart" Target="../charts/char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png"/><Relationship Id="rId4" Type="http://schemas.openxmlformats.org/officeDocument/2006/relationships/image" Target="../media/image14.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FD98EC-8D25-482F-8132-04421A268D61}"/>
              </a:ext>
            </a:extLst>
          </p:cNvPr>
          <p:cNvSpPr>
            <a:spLocks noGrp="1"/>
          </p:cNvSpPr>
          <p:nvPr>
            <p:ph type="title"/>
          </p:nvPr>
        </p:nvSpPr>
        <p:spPr/>
        <p:txBody>
          <a:bodyPr/>
          <a:lstStyle/>
          <a:p>
            <a:r>
              <a:rPr kumimoji="1" lang="ja-JP" altLang="en-US"/>
              <a:t>目的：</a:t>
            </a:r>
            <a:r>
              <a:rPr kumimoji="1" lang="en-US" altLang="ja-JP" dirty="0"/>
              <a:t>TGR5</a:t>
            </a:r>
            <a:r>
              <a:rPr kumimoji="1" lang="ja-JP" altLang="en-US"/>
              <a:t>に結合して活性化する作用を持つ生理活性ペプチドの探索</a:t>
            </a:r>
            <a:endParaRPr kumimoji="1" lang="ja-JP" altLang="en-US" dirty="0"/>
          </a:p>
        </p:txBody>
      </p:sp>
      <p:sp>
        <p:nvSpPr>
          <p:cNvPr id="3" name="コンテンツ プレースホルダー 2">
            <a:extLst>
              <a:ext uri="{FF2B5EF4-FFF2-40B4-BE49-F238E27FC236}">
                <a16:creationId xmlns:a16="http://schemas.microsoft.com/office/drawing/2014/main" id="{51CDB890-8D30-437B-8CC3-08166F8C7210}"/>
              </a:ext>
            </a:extLst>
          </p:cNvPr>
          <p:cNvSpPr>
            <a:spLocks noGrp="1"/>
          </p:cNvSpPr>
          <p:nvPr>
            <p:ph idx="1"/>
          </p:nvPr>
        </p:nvSpPr>
        <p:spPr>
          <a:xfrm>
            <a:off x="546100" y="1038484"/>
            <a:ext cx="5549900" cy="4797052"/>
          </a:xfrm>
        </p:spPr>
        <p:txBody>
          <a:bodyPr/>
          <a:lstStyle/>
          <a:p>
            <a:pPr marL="0" indent="0">
              <a:buNone/>
            </a:pPr>
            <a:r>
              <a:rPr kumimoji="1" lang="ja-JP" altLang="en-US">
                <a:solidFill>
                  <a:schemeClr val="accent4"/>
                </a:solidFill>
              </a:rPr>
              <a:t>背景</a:t>
            </a:r>
            <a:endParaRPr kumimoji="1" lang="en-US" altLang="ja-JP" dirty="0">
              <a:solidFill>
                <a:schemeClr val="accent4"/>
              </a:solidFill>
            </a:endParaRPr>
          </a:p>
          <a:p>
            <a:r>
              <a:rPr kumimoji="1" lang="en-US" altLang="ja-JP" sz="1800" b="0" dirty="0"/>
              <a:t>TGR</a:t>
            </a:r>
            <a:r>
              <a:rPr lang="en-US" altLang="ja-JP" sz="1800" b="0" dirty="0"/>
              <a:t>5</a:t>
            </a:r>
            <a:r>
              <a:rPr kumimoji="1" lang="ja-JP" altLang="en-US" sz="1800" b="0"/>
              <a:t>は肝臓、褐色脂肪細胞、骨格筋などで発現している胆汁酸受容体</a:t>
            </a:r>
            <a:endParaRPr kumimoji="1" lang="en-US" altLang="ja-JP" sz="1800" b="0" dirty="0"/>
          </a:p>
          <a:p>
            <a:r>
              <a:rPr lang="ja-JP" altLang="en-US" sz="1800" b="0"/>
              <a:t>腸管</a:t>
            </a:r>
            <a:r>
              <a:rPr lang="en" altLang="ja-JP" sz="1800" b="0" dirty="0"/>
              <a:t>L</a:t>
            </a:r>
            <a:r>
              <a:rPr lang="ja-JP" altLang="en-US" sz="1800" b="0"/>
              <a:t>細胞で、</a:t>
            </a:r>
            <a:r>
              <a:rPr lang="en" altLang="ja-JP" sz="1800" b="0" dirty="0"/>
              <a:t>TGR5</a:t>
            </a:r>
            <a:r>
              <a:rPr lang="ja-JP" altLang="en-US" sz="1800" b="0"/>
              <a:t>は</a:t>
            </a:r>
            <a:r>
              <a:rPr lang="en" altLang="ja-JP" sz="1800" b="0" dirty="0"/>
              <a:t>TGR5</a:t>
            </a:r>
            <a:r>
              <a:rPr lang="ja-JP" altLang="en-US" sz="1800" b="0"/>
              <a:t>アゴニストによって</a:t>
            </a:r>
            <a:r>
              <a:rPr lang="en" altLang="ja-JP" sz="1800" b="0" dirty="0"/>
              <a:t>GLP-1</a:t>
            </a:r>
            <a:r>
              <a:rPr lang="ja-JP" altLang="en-US" sz="1800" b="0"/>
              <a:t>分泌を亢進する</a:t>
            </a:r>
            <a:endParaRPr lang="en-US" altLang="ja-JP" sz="1800" b="0" dirty="0"/>
          </a:p>
          <a:p>
            <a:r>
              <a:rPr lang="en" altLang="ja-JP" sz="1800" b="0" dirty="0"/>
              <a:t>GLP-1</a:t>
            </a:r>
            <a:r>
              <a:rPr lang="ja-JP" altLang="en-US" sz="1800" b="0"/>
              <a:t>は膵</a:t>
            </a:r>
            <a:r>
              <a:rPr lang="en-US" altLang="ja-JP" sz="1800" b="0" dirty="0"/>
              <a:t>β</a:t>
            </a:r>
            <a:r>
              <a:rPr lang="ja-JP" altLang="en-US" sz="1800" b="0"/>
              <a:t>細胞におけるインスリン分泌を促進し、抗肥満</a:t>
            </a:r>
            <a:r>
              <a:rPr lang="en-US" altLang="ja-JP" sz="1800" b="0" dirty="0"/>
              <a:t>, </a:t>
            </a:r>
            <a:r>
              <a:rPr lang="ja-JP" altLang="en-US" sz="1800" b="0"/>
              <a:t>血糖降下作用をもたらす</a:t>
            </a:r>
            <a:endParaRPr lang="en-US" altLang="ja-JP" sz="1800" b="0" dirty="0"/>
          </a:p>
          <a:p>
            <a:pPr marL="0" indent="0" algn="ctr">
              <a:buNone/>
            </a:pPr>
            <a:endParaRPr lang="en-US" altLang="ja-JP" u="sng" dirty="0"/>
          </a:p>
          <a:p>
            <a:pPr marL="0" indent="0" algn="ctr">
              <a:buNone/>
            </a:pPr>
            <a:r>
              <a:rPr lang="ja-JP" altLang="en-US" u="sng"/>
              <a:t>糖尿病治療に有益</a:t>
            </a:r>
            <a:endParaRPr lang="en-US" altLang="ja-JP" u="sng" dirty="0"/>
          </a:p>
          <a:p>
            <a:pPr marL="0" indent="0">
              <a:buNone/>
            </a:pPr>
            <a:endParaRPr lang="en-US" altLang="ja-JP" dirty="0"/>
          </a:p>
        </p:txBody>
      </p:sp>
      <p:sp>
        <p:nvSpPr>
          <p:cNvPr id="4" name="テキスト プレースホルダー 3">
            <a:extLst>
              <a:ext uri="{FF2B5EF4-FFF2-40B4-BE49-F238E27FC236}">
                <a16:creationId xmlns:a16="http://schemas.microsoft.com/office/drawing/2014/main" id="{7573968E-BF17-4017-AA59-5326CD607CE0}"/>
              </a:ext>
            </a:extLst>
          </p:cNvPr>
          <p:cNvSpPr>
            <a:spLocks noGrp="1"/>
          </p:cNvSpPr>
          <p:nvPr>
            <p:ph type="body" sz="quarter" idx="11"/>
          </p:nvPr>
        </p:nvSpPr>
        <p:spPr/>
        <p:txBody>
          <a:bodyPr>
            <a:normAutofit/>
          </a:bodyPr>
          <a:lstStyle/>
          <a:p>
            <a:r>
              <a:rPr kumimoji="1" lang="ja-JP" altLang="en-US"/>
              <a:t>研究内容について</a:t>
            </a:r>
          </a:p>
        </p:txBody>
      </p:sp>
      <p:pic>
        <p:nvPicPr>
          <p:cNvPr id="6" name="図 5" descr="ダイアグラム&#10;&#10;自動的に生成された説明">
            <a:extLst>
              <a:ext uri="{FF2B5EF4-FFF2-40B4-BE49-F238E27FC236}">
                <a16:creationId xmlns:a16="http://schemas.microsoft.com/office/drawing/2014/main" id="{7DE73FBD-8BBA-D42D-1823-06E86157BB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1035" y="1548053"/>
            <a:ext cx="5354865" cy="3743667"/>
          </a:xfrm>
          <a:prstGeom prst="rect">
            <a:avLst/>
          </a:prstGeom>
        </p:spPr>
      </p:pic>
      <p:sp>
        <p:nvSpPr>
          <p:cNvPr id="8" name="矢印: 右 43">
            <a:extLst>
              <a:ext uri="{FF2B5EF4-FFF2-40B4-BE49-F238E27FC236}">
                <a16:creationId xmlns:a16="http://schemas.microsoft.com/office/drawing/2014/main" id="{AE349380-FE7B-C12C-93D5-398105AD1057}"/>
              </a:ext>
            </a:extLst>
          </p:cNvPr>
          <p:cNvSpPr/>
          <p:nvPr/>
        </p:nvSpPr>
        <p:spPr>
          <a:xfrm>
            <a:off x="1586974" y="4596810"/>
            <a:ext cx="498929" cy="522369"/>
          </a:xfrm>
          <a:custGeom>
            <a:avLst/>
            <a:gdLst>
              <a:gd name="connsiteX0" fmla="*/ 0 w 498929"/>
              <a:gd name="connsiteY0" fmla="*/ 130592 h 522369"/>
              <a:gd name="connsiteX1" fmla="*/ 249465 w 498929"/>
              <a:gd name="connsiteY1" fmla="*/ 130592 h 522369"/>
              <a:gd name="connsiteX2" fmla="*/ 249465 w 498929"/>
              <a:gd name="connsiteY2" fmla="*/ 0 h 522369"/>
              <a:gd name="connsiteX3" fmla="*/ 498929 w 498929"/>
              <a:gd name="connsiteY3" fmla="*/ 261185 h 522369"/>
              <a:gd name="connsiteX4" fmla="*/ 249465 w 498929"/>
              <a:gd name="connsiteY4" fmla="*/ 522369 h 522369"/>
              <a:gd name="connsiteX5" fmla="*/ 249465 w 498929"/>
              <a:gd name="connsiteY5" fmla="*/ 391777 h 522369"/>
              <a:gd name="connsiteX6" fmla="*/ 0 w 498929"/>
              <a:gd name="connsiteY6" fmla="*/ 391777 h 522369"/>
              <a:gd name="connsiteX7" fmla="*/ 0 w 498929"/>
              <a:gd name="connsiteY7" fmla="*/ 130592 h 52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8929" h="522369" fill="none" extrusionOk="0">
                <a:moveTo>
                  <a:pt x="0" y="130592"/>
                </a:moveTo>
                <a:cubicBezTo>
                  <a:pt x="58281" y="110792"/>
                  <a:pt x="216793" y="137704"/>
                  <a:pt x="249465" y="130592"/>
                </a:cubicBezTo>
                <a:cubicBezTo>
                  <a:pt x="244161" y="95101"/>
                  <a:pt x="256580" y="25222"/>
                  <a:pt x="249465" y="0"/>
                </a:cubicBezTo>
                <a:cubicBezTo>
                  <a:pt x="344950" y="124713"/>
                  <a:pt x="443456" y="238460"/>
                  <a:pt x="498929" y="261185"/>
                </a:cubicBezTo>
                <a:cubicBezTo>
                  <a:pt x="470940" y="333259"/>
                  <a:pt x="369056" y="411150"/>
                  <a:pt x="249465" y="522369"/>
                </a:cubicBezTo>
                <a:cubicBezTo>
                  <a:pt x="239601" y="468735"/>
                  <a:pt x="259018" y="409973"/>
                  <a:pt x="249465" y="391777"/>
                </a:cubicBezTo>
                <a:cubicBezTo>
                  <a:pt x="222764" y="407238"/>
                  <a:pt x="39990" y="385987"/>
                  <a:pt x="0" y="391777"/>
                </a:cubicBezTo>
                <a:cubicBezTo>
                  <a:pt x="1799" y="347423"/>
                  <a:pt x="-8568" y="224152"/>
                  <a:pt x="0" y="130592"/>
                </a:cubicBezTo>
                <a:close/>
              </a:path>
              <a:path w="498929" h="522369" stroke="0" extrusionOk="0">
                <a:moveTo>
                  <a:pt x="0" y="130592"/>
                </a:moveTo>
                <a:cubicBezTo>
                  <a:pt x="27971" y="139355"/>
                  <a:pt x="156677" y="151221"/>
                  <a:pt x="249465" y="130592"/>
                </a:cubicBezTo>
                <a:cubicBezTo>
                  <a:pt x="253428" y="100803"/>
                  <a:pt x="246703" y="13629"/>
                  <a:pt x="249465" y="0"/>
                </a:cubicBezTo>
                <a:cubicBezTo>
                  <a:pt x="281200" y="77888"/>
                  <a:pt x="468262" y="187695"/>
                  <a:pt x="498929" y="261185"/>
                </a:cubicBezTo>
                <a:cubicBezTo>
                  <a:pt x="479908" y="295024"/>
                  <a:pt x="317340" y="450265"/>
                  <a:pt x="249465" y="522369"/>
                </a:cubicBezTo>
                <a:cubicBezTo>
                  <a:pt x="239478" y="494807"/>
                  <a:pt x="244607" y="438750"/>
                  <a:pt x="249465" y="391777"/>
                </a:cubicBezTo>
                <a:cubicBezTo>
                  <a:pt x="206012" y="398113"/>
                  <a:pt x="95558" y="406906"/>
                  <a:pt x="0" y="391777"/>
                </a:cubicBezTo>
                <a:cubicBezTo>
                  <a:pt x="180" y="281764"/>
                  <a:pt x="-23212" y="208737"/>
                  <a:pt x="0" y="130592"/>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60193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A78705-8946-0D98-0FDC-7CF061A94B50}"/>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8EF0D329-6AE7-51D2-8326-A4416AB6619C}"/>
              </a:ext>
            </a:extLst>
          </p:cNvPr>
          <p:cNvSpPr>
            <a:spLocks noGrp="1"/>
          </p:cNvSpPr>
          <p:nvPr>
            <p:ph idx="1"/>
          </p:nvPr>
        </p:nvSpPr>
        <p:spPr/>
        <p:txBody>
          <a:bodyPr/>
          <a:lstStyle/>
          <a:p>
            <a:pPr marL="0" indent="0">
              <a:buNone/>
            </a:pPr>
            <a:r>
              <a:rPr lang="ja-JP" altLang="en-US"/>
              <a:t>可食性タンパク質の</a:t>
            </a:r>
            <a:r>
              <a:rPr kumimoji="1" lang="ja-JP" altLang="en-US"/>
              <a:t>加水分解物に帰着させる</a:t>
            </a:r>
            <a:endParaRPr kumimoji="1" lang="en-US" altLang="ja-JP" dirty="0"/>
          </a:p>
          <a:p>
            <a:r>
              <a:rPr kumimoji="1" lang="ja-JP" altLang="en-US" sz="1800" b="0"/>
              <a:t>胆汁酸や報告されている</a:t>
            </a:r>
            <a:r>
              <a:rPr kumimoji="1" lang="en-US" altLang="ja-JP" sz="1800" b="0" dirty="0"/>
              <a:t>TGR5</a:t>
            </a:r>
            <a:r>
              <a:rPr kumimoji="1" lang="ja-JP" altLang="en-US" sz="1800" b="0"/>
              <a:t>アゴニストの分子サイズ的に、ペプチドアゴニスト</a:t>
            </a:r>
            <a:r>
              <a:rPr lang="ja-JP" altLang="en-US" sz="1800" b="0"/>
              <a:t>を探索する場合、</a:t>
            </a:r>
            <a:r>
              <a:rPr lang="en-US" altLang="ja-JP" sz="1800" b="0" dirty="0"/>
              <a:t>3</a:t>
            </a:r>
            <a:r>
              <a:rPr lang="ja-JP" altLang="en-US" sz="1800" b="0"/>
              <a:t>残基程度の配列が妥当</a:t>
            </a:r>
            <a:endParaRPr kumimoji="1" lang="en-US" altLang="ja-JP" sz="1800" b="0" dirty="0"/>
          </a:p>
          <a:p>
            <a:r>
              <a:rPr lang="en-US" altLang="ja-JP" sz="1800" b="0" dirty="0"/>
              <a:t>3</a:t>
            </a:r>
            <a:r>
              <a:rPr lang="ja-JP" altLang="en-US" sz="1800" b="0"/>
              <a:t>残基程の配列であれば、大豆などの天然の食品に含まれるタンパク質のアミノ酸配列に、ペプチドアゴニストと同じ配列がある可能性が高い</a:t>
            </a:r>
            <a:endParaRPr lang="en-US" altLang="ja-JP" sz="1800" b="0" dirty="0"/>
          </a:p>
          <a:p>
            <a:r>
              <a:rPr kumimoji="1" lang="ja-JP" altLang="en-US" sz="1800" b="0"/>
              <a:t>その配列を切り出すことで、天然由来の生理活性ペプチドを取得できる</a:t>
            </a:r>
            <a:endParaRPr kumimoji="1" lang="en-US" altLang="ja-JP" sz="1800" b="0" dirty="0"/>
          </a:p>
          <a:p>
            <a:r>
              <a:rPr lang="ja-JP" altLang="en-US" sz="1800" b="0"/>
              <a:t>糖尿病、肥満予防に効く機能性食品への応用が期待できる</a:t>
            </a:r>
            <a:endParaRPr kumimoji="1" lang="ja-JP" altLang="en-US" sz="1800" b="0"/>
          </a:p>
        </p:txBody>
      </p:sp>
      <p:sp>
        <p:nvSpPr>
          <p:cNvPr id="4" name="テキスト プレースホルダー 3">
            <a:extLst>
              <a:ext uri="{FF2B5EF4-FFF2-40B4-BE49-F238E27FC236}">
                <a16:creationId xmlns:a16="http://schemas.microsoft.com/office/drawing/2014/main" id="{CC2DD4CA-19F2-0AEB-0AAB-6CA3D41258A0}"/>
              </a:ext>
            </a:extLst>
          </p:cNvPr>
          <p:cNvSpPr>
            <a:spLocks noGrp="1"/>
          </p:cNvSpPr>
          <p:nvPr>
            <p:ph type="body" sz="quarter" idx="11"/>
          </p:nvPr>
        </p:nvSpPr>
        <p:spPr/>
        <p:txBody>
          <a:bodyPr/>
          <a:lstStyle/>
          <a:p>
            <a:r>
              <a:rPr kumimoji="1" lang="ja-JP" altLang="en-US"/>
              <a:t>研究内容について：なぜペプチドでやるのか</a:t>
            </a:r>
            <a:r>
              <a:rPr kumimoji="1" lang="en-US" altLang="ja-JP" dirty="0"/>
              <a:t> </a:t>
            </a:r>
            <a:endParaRPr kumimoji="1" lang="ja-JP" altLang="en-US"/>
          </a:p>
        </p:txBody>
      </p:sp>
    </p:spTree>
    <p:extLst>
      <p:ext uri="{BB962C8B-B14F-4D97-AF65-F5344CB8AC3E}">
        <p14:creationId xmlns:p14="http://schemas.microsoft.com/office/powerpoint/2010/main" val="1127758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C8F5410E-37F1-F568-79FE-4157C5EC0F67}"/>
              </a:ext>
            </a:extLst>
          </p:cNvPr>
          <p:cNvSpPr>
            <a:spLocks noGrp="1"/>
          </p:cNvSpPr>
          <p:nvPr>
            <p:ph type="body" sz="quarter" idx="11"/>
          </p:nvPr>
        </p:nvSpPr>
        <p:spPr/>
        <p:txBody>
          <a:bodyPr/>
          <a:lstStyle/>
          <a:p>
            <a:r>
              <a:rPr lang="ja-JP" altLang="en-US"/>
              <a:t>トピック</a:t>
            </a:r>
            <a:endParaRPr kumimoji="1" lang="ja-JP" altLang="en-US"/>
          </a:p>
        </p:txBody>
      </p:sp>
      <p:grpSp>
        <p:nvGrpSpPr>
          <p:cNvPr id="9" name="グループ化 8">
            <a:extLst>
              <a:ext uri="{FF2B5EF4-FFF2-40B4-BE49-F238E27FC236}">
                <a16:creationId xmlns:a16="http://schemas.microsoft.com/office/drawing/2014/main" id="{AE78148A-2EC5-B4DA-81A9-5574F953E282}"/>
              </a:ext>
            </a:extLst>
          </p:cNvPr>
          <p:cNvGrpSpPr/>
          <p:nvPr/>
        </p:nvGrpSpPr>
        <p:grpSpPr>
          <a:xfrm>
            <a:off x="2891500" y="2622140"/>
            <a:ext cx="6408999" cy="1613720"/>
            <a:chOff x="3212342" y="2940079"/>
            <a:chExt cx="6408999" cy="1613720"/>
          </a:xfrm>
        </p:grpSpPr>
        <p:sp>
          <p:nvSpPr>
            <p:cNvPr id="7" name="テキスト ボックス 6">
              <a:extLst>
                <a:ext uri="{FF2B5EF4-FFF2-40B4-BE49-F238E27FC236}">
                  <a16:creationId xmlns:a16="http://schemas.microsoft.com/office/drawing/2014/main" id="{AD970EA2-D8D6-C88C-90D5-50A2A75A5331}"/>
                </a:ext>
              </a:extLst>
            </p:cNvPr>
            <p:cNvSpPr txBox="1"/>
            <p:nvPr/>
          </p:nvSpPr>
          <p:spPr>
            <a:xfrm>
              <a:off x="3212342" y="2940079"/>
              <a:ext cx="4254563" cy="523220"/>
            </a:xfrm>
            <a:prstGeom prst="rect">
              <a:avLst/>
            </a:prstGeom>
            <a:noFill/>
          </p:spPr>
          <p:txBody>
            <a:bodyPr wrap="none" rtlCol="0">
              <a:spAutoFit/>
            </a:bodyPr>
            <a:lstStyle/>
            <a:p>
              <a:r>
                <a:rPr kumimoji="1" lang="en-US" altLang="ja-JP" sz="2800" u="sng" dirty="0"/>
                <a:t>1. TGR5</a:t>
              </a:r>
              <a:r>
                <a:rPr kumimoji="1" lang="ja-JP" altLang="en-US" sz="2800" u="sng"/>
                <a:t>活性評価系の改善</a:t>
              </a:r>
            </a:p>
          </p:txBody>
        </p:sp>
        <p:sp>
          <p:nvSpPr>
            <p:cNvPr id="8" name="テキスト ボックス 7">
              <a:extLst>
                <a:ext uri="{FF2B5EF4-FFF2-40B4-BE49-F238E27FC236}">
                  <a16:creationId xmlns:a16="http://schemas.microsoft.com/office/drawing/2014/main" id="{D069B13F-41CF-DC6B-6CEB-AF79023C36A9}"/>
                </a:ext>
              </a:extLst>
            </p:cNvPr>
            <p:cNvSpPr txBox="1"/>
            <p:nvPr/>
          </p:nvSpPr>
          <p:spPr>
            <a:xfrm>
              <a:off x="3212342" y="4030579"/>
              <a:ext cx="6408999" cy="523220"/>
            </a:xfrm>
            <a:prstGeom prst="rect">
              <a:avLst/>
            </a:prstGeom>
            <a:noFill/>
          </p:spPr>
          <p:txBody>
            <a:bodyPr wrap="none" rtlCol="0">
              <a:spAutoFit/>
            </a:bodyPr>
            <a:lstStyle/>
            <a:p>
              <a:r>
                <a:rPr lang="en-US" altLang="ja-JP" sz="2800" dirty="0">
                  <a:solidFill>
                    <a:schemeClr val="tx1">
                      <a:lumMod val="60000"/>
                      <a:lumOff val="40000"/>
                    </a:schemeClr>
                  </a:solidFill>
                </a:rPr>
                <a:t>2. TGR5</a:t>
              </a:r>
              <a:r>
                <a:rPr lang="ja-JP" altLang="en-US" sz="2800">
                  <a:solidFill>
                    <a:schemeClr val="tx1">
                      <a:lumMod val="60000"/>
                      <a:lumOff val="40000"/>
                    </a:schemeClr>
                  </a:solidFill>
                </a:rPr>
                <a:t>アゴニスト類似ペプチドの探索</a:t>
              </a:r>
              <a:endParaRPr kumimoji="1" lang="ja-JP" altLang="en-US" sz="2800">
                <a:solidFill>
                  <a:schemeClr val="tx1">
                    <a:lumMod val="60000"/>
                    <a:lumOff val="40000"/>
                  </a:schemeClr>
                </a:solidFill>
              </a:endParaRPr>
            </a:p>
          </p:txBody>
        </p:sp>
      </p:grpSp>
    </p:spTree>
    <p:extLst>
      <p:ext uri="{BB962C8B-B14F-4D97-AF65-F5344CB8AC3E}">
        <p14:creationId xmlns:p14="http://schemas.microsoft.com/office/powerpoint/2010/main" val="22300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正方形/長方形 48">
            <a:extLst>
              <a:ext uri="{FF2B5EF4-FFF2-40B4-BE49-F238E27FC236}">
                <a16:creationId xmlns:a16="http://schemas.microsoft.com/office/drawing/2014/main" id="{4CA6DF7D-B94D-4BC5-3BB1-6490E7690F20}"/>
              </a:ext>
            </a:extLst>
          </p:cNvPr>
          <p:cNvSpPr/>
          <p:nvPr/>
        </p:nvSpPr>
        <p:spPr>
          <a:xfrm>
            <a:off x="0" y="834715"/>
            <a:ext cx="12188742" cy="250763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49A27628-1B5D-8CA4-A310-73664AD6D2FF}"/>
              </a:ext>
            </a:extLst>
          </p:cNvPr>
          <p:cNvSpPr>
            <a:spLocks noGrp="1"/>
          </p:cNvSpPr>
          <p:nvPr>
            <p:ph type="title"/>
          </p:nvPr>
        </p:nvSpPr>
        <p:spPr/>
        <p:txBody>
          <a:bodyPr/>
          <a:lstStyle/>
          <a:p>
            <a:r>
              <a:rPr kumimoji="1" lang="en-US" altLang="ja-JP" dirty="0"/>
              <a:t>dish</a:t>
            </a:r>
            <a:r>
              <a:rPr lang="ja-JP" altLang="en-US"/>
              <a:t>でのトランスフェクションを採用</a:t>
            </a:r>
            <a:endParaRPr kumimoji="1" lang="ja-JP" altLang="en-US"/>
          </a:p>
        </p:txBody>
      </p:sp>
      <p:sp>
        <p:nvSpPr>
          <p:cNvPr id="3" name="コンテンツ プレースホルダー 2">
            <a:extLst>
              <a:ext uri="{FF2B5EF4-FFF2-40B4-BE49-F238E27FC236}">
                <a16:creationId xmlns:a16="http://schemas.microsoft.com/office/drawing/2014/main" id="{B97C6627-A80B-103B-B8DF-13AFFD473547}"/>
              </a:ext>
            </a:extLst>
          </p:cNvPr>
          <p:cNvSpPr>
            <a:spLocks noGrp="1"/>
          </p:cNvSpPr>
          <p:nvPr>
            <p:ph idx="1"/>
          </p:nvPr>
        </p:nvSpPr>
        <p:spPr>
          <a:xfrm>
            <a:off x="546101" y="1038484"/>
            <a:ext cx="5036238" cy="2411702"/>
          </a:xfrm>
        </p:spPr>
        <p:txBody>
          <a:bodyPr>
            <a:normAutofit/>
          </a:bodyPr>
          <a:lstStyle/>
          <a:p>
            <a:pPr marL="0" indent="0">
              <a:buNone/>
            </a:pPr>
            <a:r>
              <a:rPr lang="ja-JP" altLang="en-US"/>
              <a:t>目的と方法</a:t>
            </a:r>
            <a:endParaRPr lang="en-US" altLang="ja-JP" dirty="0"/>
          </a:p>
          <a:p>
            <a:r>
              <a:rPr lang="ja-JP" altLang="en-US" sz="1800" b="0"/>
              <a:t>トランスフェクション時に細胞の剥がれによる結果のばらつきを抑制する</a:t>
            </a:r>
            <a:endParaRPr lang="en-US" altLang="ja-JP" sz="1800" b="0" dirty="0"/>
          </a:p>
          <a:p>
            <a:r>
              <a:rPr lang="en-US" altLang="ja-JP" sz="1800" b="0" dirty="0"/>
              <a:t>2</a:t>
            </a:r>
            <a:r>
              <a:rPr lang="ja-JP" altLang="en-US" sz="1800" b="0"/>
              <a:t>つの手法を検討する</a:t>
            </a:r>
            <a:endParaRPr lang="en-US" altLang="ja-JP" sz="1800" b="0" dirty="0"/>
          </a:p>
          <a:p>
            <a:pPr marL="0" indent="0">
              <a:buNone/>
            </a:pPr>
            <a:endParaRPr lang="en-US" altLang="ja-JP" dirty="0"/>
          </a:p>
        </p:txBody>
      </p:sp>
      <p:sp>
        <p:nvSpPr>
          <p:cNvPr id="4" name="テキスト プレースホルダー 3">
            <a:extLst>
              <a:ext uri="{FF2B5EF4-FFF2-40B4-BE49-F238E27FC236}">
                <a16:creationId xmlns:a16="http://schemas.microsoft.com/office/drawing/2014/main" id="{7B1752D7-312D-512A-9C55-168BF375C2B8}"/>
              </a:ext>
            </a:extLst>
          </p:cNvPr>
          <p:cNvSpPr>
            <a:spLocks noGrp="1"/>
          </p:cNvSpPr>
          <p:nvPr>
            <p:ph type="body" sz="quarter" idx="11"/>
          </p:nvPr>
        </p:nvSpPr>
        <p:spPr/>
        <p:txBody>
          <a:bodyPr/>
          <a:lstStyle/>
          <a:p>
            <a:r>
              <a:rPr kumimoji="1" lang="ja-JP" altLang="en-US"/>
              <a:t>評価系改善実験</a:t>
            </a:r>
            <a:r>
              <a:rPr lang="en-US" altLang="ja-JP" dirty="0"/>
              <a:t>1</a:t>
            </a:r>
            <a:r>
              <a:rPr lang="ja-JP" altLang="en-US"/>
              <a:t>：トランスフェクション手法の検討</a:t>
            </a:r>
            <a:endParaRPr kumimoji="1" lang="en-US" altLang="ja-JP" dirty="0"/>
          </a:p>
        </p:txBody>
      </p:sp>
      <p:grpSp>
        <p:nvGrpSpPr>
          <p:cNvPr id="43" name="グループ化 42">
            <a:extLst>
              <a:ext uri="{FF2B5EF4-FFF2-40B4-BE49-F238E27FC236}">
                <a16:creationId xmlns:a16="http://schemas.microsoft.com/office/drawing/2014/main" id="{BE79C5E5-2CC2-79BC-2C09-6AD844937629}"/>
              </a:ext>
            </a:extLst>
          </p:cNvPr>
          <p:cNvGrpSpPr/>
          <p:nvPr/>
        </p:nvGrpSpPr>
        <p:grpSpPr>
          <a:xfrm>
            <a:off x="5540541" y="1390876"/>
            <a:ext cx="6105359" cy="1793319"/>
            <a:chOff x="1058760" y="1572113"/>
            <a:chExt cx="6105359" cy="1793319"/>
          </a:xfrm>
        </p:grpSpPr>
        <p:pic>
          <p:nvPicPr>
            <p:cNvPr id="6" name="図 5" descr="図形, 円&#10;&#10;自動的に生成された説明">
              <a:extLst>
                <a:ext uri="{FF2B5EF4-FFF2-40B4-BE49-F238E27FC236}">
                  <a16:creationId xmlns:a16="http://schemas.microsoft.com/office/drawing/2014/main" id="{B01DF2AC-A66D-267E-6DDA-194F1A9CB006}"/>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718565" y="2473627"/>
              <a:ext cx="714420" cy="517559"/>
            </a:xfrm>
            <a:prstGeom prst="rect">
              <a:avLst/>
            </a:prstGeom>
          </p:spPr>
        </p:pic>
        <p:sp>
          <p:nvSpPr>
            <p:cNvPr id="15" name="山形 14">
              <a:extLst>
                <a:ext uri="{FF2B5EF4-FFF2-40B4-BE49-F238E27FC236}">
                  <a16:creationId xmlns:a16="http://schemas.microsoft.com/office/drawing/2014/main" id="{D4338AC7-8BFC-82F8-3DE4-D9B85BF3E4D1}"/>
                </a:ext>
              </a:extLst>
            </p:cNvPr>
            <p:cNvSpPr/>
            <p:nvPr/>
          </p:nvSpPr>
          <p:spPr>
            <a:xfrm>
              <a:off x="4774365" y="2516709"/>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19" name="図 18" descr="図形, 矢印&#10;&#10;自動的に生成された説明">
              <a:extLst>
                <a:ext uri="{FF2B5EF4-FFF2-40B4-BE49-F238E27FC236}">
                  <a16:creationId xmlns:a16="http://schemas.microsoft.com/office/drawing/2014/main" id="{7E028332-E3C9-502F-8D0A-F990BCBBCDA1}"/>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01168" y="1572113"/>
              <a:ext cx="249353" cy="239876"/>
            </a:xfrm>
            <a:prstGeom prst="rect">
              <a:avLst/>
            </a:prstGeom>
          </p:spPr>
        </p:pic>
        <p:pic>
          <p:nvPicPr>
            <p:cNvPr id="20" name="図 19" descr="洗面道具 が含まれている画像&#10;&#10;自動的に生成された説明">
              <a:extLst>
                <a:ext uri="{FF2B5EF4-FFF2-40B4-BE49-F238E27FC236}">
                  <a16:creationId xmlns:a16="http://schemas.microsoft.com/office/drawing/2014/main" id="{1E48141B-A397-040A-A02E-F0D78AAC8085}"/>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10961" y="1692051"/>
              <a:ext cx="922099" cy="649984"/>
            </a:xfrm>
            <a:prstGeom prst="rect">
              <a:avLst/>
            </a:prstGeom>
          </p:spPr>
        </p:pic>
        <p:sp>
          <p:nvSpPr>
            <p:cNvPr id="21" name="山形 20">
              <a:extLst>
                <a:ext uri="{FF2B5EF4-FFF2-40B4-BE49-F238E27FC236}">
                  <a16:creationId xmlns:a16="http://schemas.microsoft.com/office/drawing/2014/main" id="{25792FCE-3243-D736-177A-10AF081A48FB}"/>
                </a:ext>
              </a:extLst>
            </p:cNvPr>
            <p:cNvSpPr/>
            <p:nvPr/>
          </p:nvSpPr>
          <p:spPr>
            <a:xfrm>
              <a:off x="2943389" y="1760243"/>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山形 23">
              <a:extLst>
                <a:ext uri="{FF2B5EF4-FFF2-40B4-BE49-F238E27FC236}">
                  <a16:creationId xmlns:a16="http://schemas.microsoft.com/office/drawing/2014/main" id="{EB0EE6C6-F785-0B83-7BEF-551B6444A395}"/>
                </a:ext>
              </a:extLst>
            </p:cNvPr>
            <p:cNvSpPr/>
            <p:nvPr/>
          </p:nvSpPr>
          <p:spPr>
            <a:xfrm>
              <a:off x="4774365" y="1760243"/>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26" name="図 25" descr="洗面道具 が含まれている画像&#10;&#10;自動的に生成された説明">
              <a:extLst>
                <a:ext uri="{FF2B5EF4-FFF2-40B4-BE49-F238E27FC236}">
                  <a16:creationId xmlns:a16="http://schemas.microsoft.com/office/drawing/2014/main" id="{9D51FF43-D743-C06E-1969-F72253FE4A92}"/>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29519" y="1627737"/>
              <a:ext cx="922099" cy="649984"/>
            </a:xfrm>
            <a:prstGeom prst="rect">
              <a:avLst/>
            </a:prstGeom>
          </p:spPr>
        </p:pic>
        <p:pic>
          <p:nvPicPr>
            <p:cNvPr id="27" name="図 26" descr="図形, 矢印&#10;&#10;自動的に生成された説明">
              <a:extLst>
                <a:ext uri="{FF2B5EF4-FFF2-40B4-BE49-F238E27FC236}">
                  <a16:creationId xmlns:a16="http://schemas.microsoft.com/office/drawing/2014/main" id="{81B4FBC0-E31A-BE6D-984A-2716272A87CB}"/>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32985" y="2277721"/>
              <a:ext cx="249353" cy="239876"/>
            </a:xfrm>
            <a:prstGeom prst="rect">
              <a:avLst/>
            </a:prstGeom>
          </p:spPr>
        </p:pic>
        <p:sp>
          <p:nvSpPr>
            <p:cNvPr id="28" name="山形 27">
              <a:extLst>
                <a:ext uri="{FF2B5EF4-FFF2-40B4-BE49-F238E27FC236}">
                  <a16:creationId xmlns:a16="http://schemas.microsoft.com/office/drawing/2014/main" id="{EB7FA15D-751B-63B7-E47A-6BAF0429B88B}"/>
                </a:ext>
              </a:extLst>
            </p:cNvPr>
            <p:cNvSpPr/>
            <p:nvPr/>
          </p:nvSpPr>
          <p:spPr>
            <a:xfrm>
              <a:off x="2943389" y="2516709"/>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30" name="図 29" descr="図形, 円&#10;&#10;自動的に生成された説明">
              <a:extLst>
                <a:ext uri="{FF2B5EF4-FFF2-40B4-BE49-F238E27FC236}">
                  <a16:creationId xmlns:a16="http://schemas.microsoft.com/office/drawing/2014/main" id="{1DDC00FB-D2B9-3C57-8C0F-357B28C11931}"/>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639500" y="2473627"/>
              <a:ext cx="714420" cy="517559"/>
            </a:xfrm>
            <a:prstGeom prst="rect">
              <a:avLst/>
            </a:prstGeom>
          </p:spPr>
        </p:pic>
        <p:pic>
          <p:nvPicPr>
            <p:cNvPr id="31" name="図 30" descr="洗面道具 が含まれている画像&#10;&#10;自動的に生成された説明">
              <a:extLst>
                <a:ext uri="{FF2B5EF4-FFF2-40B4-BE49-F238E27FC236}">
                  <a16:creationId xmlns:a16="http://schemas.microsoft.com/office/drawing/2014/main" id="{359BF643-F610-8EA9-19F7-212491785E31}"/>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92934" y="2351404"/>
              <a:ext cx="922099" cy="649983"/>
            </a:xfrm>
            <a:prstGeom prst="rect">
              <a:avLst/>
            </a:prstGeom>
          </p:spPr>
        </p:pic>
        <p:sp>
          <p:nvSpPr>
            <p:cNvPr id="32" name="山形 31">
              <a:extLst>
                <a:ext uri="{FF2B5EF4-FFF2-40B4-BE49-F238E27FC236}">
                  <a16:creationId xmlns:a16="http://schemas.microsoft.com/office/drawing/2014/main" id="{C1C0A856-BDC3-2F9F-96E0-FFF63DC3296F}"/>
                </a:ext>
              </a:extLst>
            </p:cNvPr>
            <p:cNvSpPr/>
            <p:nvPr/>
          </p:nvSpPr>
          <p:spPr>
            <a:xfrm>
              <a:off x="6703745" y="2516712"/>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4" name="テキスト ボックス 33">
              <a:extLst>
                <a:ext uri="{FF2B5EF4-FFF2-40B4-BE49-F238E27FC236}">
                  <a16:creationId xmlns:a16="http://schemas.microsoft.com/office/drawing/2014/main" id="{985F714D-A597-F962-097E-34E98A271FDE}"/>
                </a:ext>
              </a:extLst>
            </p:cNvPr>
            <p:cNvSpPr txBox="1"/>
            <p:nvPr/>
          </p:nvSpPr>
          <p:spPr>
            <a:xfrm>
              <a:off x="1058760" y="3035072"/>
              <a:ext cx="2026499" cy="307777"/>
            </a:xfrm>
            <a:prstGeom prst="rect">
              <a:avLst/>
            </a:prstGeom>
            <a:noFill/>
          </p:spPr>
          <p:txBody>
            <a:bodyPr wrap="square" rtlCol="0">
              <a:spAutoFit/>
            </a:bodyPr>
            <a:lstStyle/>
            <a:p>
              <a:pPr algn="ctr"/>
              <a:r>
                <a:rPr kumimoji="1" lang="ja-JP" altLang="en-US" sz="1400"/>
                <a:t>トランスフェクション</a:t>
              </a:r>
            </a:p>
          </p:txBody>
        </p:sp>
        <p:sp>
          <p:nvSpPr>
            <p:cNvPr id="36" name="テキスト ボックス 35">
              <a:extLst>
                <a:ext uri="{FF2B5EF4-FFF2-40B4-BE49-F238E27FC236}">
                  <a16:creationId xmlns:a16="http://schemas.microsoft.com/office/drawing/2014/main" id="{7A7498A8-9E06-663C-3183-87789F2B7B04}"/>
                </a:ext>
              </a:extLst>
            </p:cNvPr>
            <p:cNvSpPr txBox="1"/>
            <p:nvPr/>
          </p:nvSpPr>
          <p:spPr>
            <a:xfrm>
              <a:off x="3535660" y="3057655"/>
              <a:ext cx="922099" cy="307777"/>
            </a:xfrm>
            <a:prstGeom prst="rect">
              <a:avLst/>
            </a:prstGeom>
            <a:noFill/>
          </p:spPr>
          <p:txBody>
            <a:bodyPr wrap="square" rtlCol="0">
              <a:spAutoFit/>
            </a:bodyPr>
            <a:lstStyle/>
            <a:p>
              <a:pPr algn="ctr"/>
              <a:r>
                <a:rPr kumimoji="1" lang="ja-JP" altLang="en-US" sz="1400"/>
                <a:t>培地交換</a:t>
              </a:r>
            </a:p>
          </p:txBody>
        </p:sp>
        <p:sp>
          <p:nvSpPr>
            <p:cNvPr id="37" name="テキスト ボックス 36">
              <a:extLst>
                <a:ext uri="{FF2B5EF4-FFF2-40B4-BE49-F238E27FC236}">
                  <a16:creationId xmlns:a16="http://schemas.microsoft.com/office/drawing/2014/main" id="{7E062910-C2E2-F5CC-41A1-07A10799CCA9}"/>
                </a:ext>
              </a:extLst>
            </p:cNvPr>
            <p:cNvSpPr txBox="1"/>
            <p:nvPr/>
          </p:nvSpPr>
          <p:spPr>
            <a:xfrm>
              <a:off x="5392934" y="3052921"/>
              <a:ext cx="922099" cy="307777"/>
            </a:xfrm>
            <a:prstGeom prst="rect">
              <a:avLst/>
            </a:prstGeom>
            <a:noFill/>
          </p:spPr>
          <p:txBody>
            <a:bodyPr wrap="square" rtlCol="0">
              <a:spAutoFit/>
            </a:bodyPr>
            <a:lstStyle/>
            <a:p>
              <a:pPr algn="ctr"/>
              <a:r>
                <a:rPr kumimoji="1" lang="ja-JP" altLang="en-US" sz="1400"/>
                <a:t>継代</a:t>
              </a:r>
            </a:p>
          </p:txBody>
        </p:sp>
        <p:sp>
          <p:nvSpPr>
            <p:cNvPr id="38" name="テキスト ボックス 37">
              <a:extLst>
                <a:ext uri="{FF2B5EF4-FFF2-40B4-BE49-F238E27FC236}">
                  <a16:creationId xmlns:a16="http://schemas.microsoft.com/office/drawing/2014/main" id="{AB26BAD2-2926-B7A2-977B-4E826215CBEB}"/>
                </a:ext>
              </a:extLst>
            </p:cNvPr>
            <p:cNvSpPr txBox="1"/>
            <p:nvPr/>
          </p:nvSpPr>
          <p:spPr>
            <a:xfrm>
              <a:off x="2850590" y="1772480"/>
              <a:ext cx="438029" cy="307777"/>
            </a:xfrm>
            <a:prstGeom prst="rect">
              <a:avLst/>
            </a:prstGeom>
            <a:noFill/>
          </p:spPr>
          <p:txBody>
            <a:bodyPr wrap="square" rtlCol="0">
              <a:spAutoFit/>
            </a:bodyPr>
            <a:lstStyle/>
            <a:p>
              <a:pPr algn="ctr"/>
              <a:r>
                <a:rPr kumimoji="1" lang="en-US" altLang="ja-JP" sz="1400" dirty="0"/>
                <a:t>4h</a:t>
              </a:r>
              <a:endParaRPr kumimoji="1" lang="ja-JP" altLang="en-US" sz="1400"/>
            </a:p>
          </p:txBody>
        </p:sp>
        <p:sp>
          <p:nvSpPr>
            <p:cNvPr id="39" name="テキスト ボックス 38">
              <a:extLst>
                <a:ext uri="{FF2B5EF4-FFF2-40B4-BE49-F238E27FC236}">
                  <a16:creationId xmlns:a16="http://schemas.microsoft.com/office/drawing/2014/main" id="{415F8FC7-EA27-364E-60F4-BB4F67C1886D}"/>
                </a:ext>
              </a:extLst>
            </p:cNvPr>
            <p:cNvSpPr txBox="1"/>
            <p:nvPr/>
          </p:nvSpPr>
          <p:spPr>
            <a:xfrm>
              <a:off x="2850590" y="2528945"/>
              <a:ext cx="438029" cy="307777"/>
            </a:xfrm>
            <a:prstGeom prst="rect">
              <a:avLst/>
            </a:prstGeom>
            <a:noFill/>
          </p:spPr>
          <p:txBody>
            <a:bodyPr wrap="square" rtlCol="0">
              <a:spAutoFit/>
            </a:bodyPr>
            <a:lstStyle/>
            <a:p>
              <a:pPr algn="ctr"/>
              <a:r>
                <a:rPr kumimoji="1" lang="en-US" altLang="ja-JP" sz="1400" dirty="0"/>
                <a:t>4h</a:t>
              </a:r>
              <a:endParaRPr kumimoji="1" lang="ja-JP" altLang="en-US" sz="1400"/>
            </a:p>
          </p:txBody>
        </p:sp>
        <p:sp>
          <p:nvSpPr>
            <p:cNvPr id="40" name="テキスト ボックス 39">
              <a:extLst>
                <a:ext uri="{FF2B5EF4-FFF2-40B4-BE49-F238E27FC236}">
                  <a16:creationId xmlns:a16="http://schemas.microsoft.com/office/drawing/2014/main" id="{E601DAD0-384C-B92F-746A-801934CE8C9D}"/>
                </a:ext>
              </a:extLst>
            </p:cNvPr>
            <p:cNvSpPr txBox="1"/>
            <p:nvPr/>
          </p:nvSpPr>
          <p:spPr>
            <a:xfrm>
              <a:off x="4609452" y="1784718"/>
              <a:ext cx="593210" cy="307777"/>
            </a:xfrm>
            <a:prstGeom prst="rect">
              <a:avLst/>
            </a:prstGeom>
            <a:noFill/>
          </p:spPr>
          <p:txBody>
            <a:bodyPr wrap="square" rtlCol="0">
              <a:spAutoFit/>
            </a:bodyPr>
            <a:lstStyle/>
            <a:p>
              <a:pPr algn="ctr"/>
              <a:r>
                <a:rPr lang="en-US" altLang="ja-JP" sz="1400" dirty="0"/>
                <a:t>20</a:t>
              </a:r>
              <a:r>
                <a:rPr kumimoji="1" lang="en-US" altLang="ja-JP" sz="1400" dirty="0"/>
                <a:t>h</a:t>
              </a:r>
              <a:endParaRPr kumimoji="1" lang="ja-JP" altLang="en-US" sz="1400"/>
            </a:p>
          </p:txBody>
        </p:sp>
        <p:sp>
          <p:nvSpPr>
            <p:cNvPr id="41" name="テキスト ボックス 40">
              <a:extLst>
                <a:ext uri="{FF2B5EF4-FFF2-40B4-BE49-F238E27FC236}">
                  <a16:creationId xmlns:a16="http://schemas.microsoft.com/office/drawing/2014/main" id="{EAFA4375-8C91-9D94-89FE-52F1C745CDF1}"/>
                </a:ext>
              </a:extLst>
            </p:cNvPr>
            <p:cNvSpPr txBox="1"/>
            <p:nvPr/>
          </p:nvSpPr>
          <p:spPr>
            <a:xfrm>
              <a:off x="4609452" y="2532754"/>
              <a:ext cx="593210" cy="307777"/>
            </a:xfrm>
            <a:prstGeom prst="rect">
              <a:avLst/>
            </a:prstGeom>
            <a:noFill/>
          </p:spPr>
          <p:txBody>
            <a:bodyPr wrap="square" rtlCol="0">
              <a:spAutoFit/>
            </a:bodyPr>
            <a:lstStyle/>
            <a:p>
              <a:pPr algn="ctr"/>
              <a:r>
                <a:rPr kumimoji="1" lang="en-US" altLang="ja-JP" sz="1400" dirty="0"/>
                <a:t>4h</a:t>
              </a:r>
              <a:endParaRPr kumimoji="1" lang="ja-JP" altLang="en-US" sz="1400"/>
            </a:p>
          </p:txBody>
        </p:sp>
        <p:sp>
          <p:nvSpPr>
            <p:cNvPr id="42" name="テキスト ボックス 41">
              <a:extLst>
                <a:ext uri="{FF2B5EF4-FFF2-40B4-BE49-F238E27FC236}">
                  <a16:creationId xmlns:a16="http://schemas.microsoft.com/office/drawing/2014/main" id="{52CC5EC2-4E1C-C287-C2C5-6110B547C6E2}"/>
                </a:ext>
              </a:extLst>
            </p:cNvPr>
            <p:cNvSpPr txBox="1"/>
            <p:nvPr/>
          </p:nvSpPr>
          <p:spPr>
            <a:xfrm>
              <a:off x="6570909" y="2516709"/>
              <a:ext cx="593210" cy="307777"/>
            </a:xfrm>
            <a:prstGeom prst="rect">
              <a:avLst/>
            </a:prstGeom>
            <a:noFill/>
          </p:spPr>
          <p:txBody>
            <a:bodyPr wrap="square" rtlCol="0">
              <a:spAutoFit/>
            </a:bodyPr>
            <a:lstStyle/>
            <a:p>
              <a:pPr algn="ctr"/>
              <a:r>
                <a:rPr lang="en-US" altLang="ja-JP" sz="1400" dirty="0"/>
                <a:t>20</a:t>
              </a:r>
              <a:r>
                <a:rPr kumimoji="1" lang="en-US" altLang="ja-JP" sz="1400" dirty="0"/>
                <a:t>h</a:t>
              </a:r>
              <a:endParaRPr kumimoji="1" lang="ja-JP" altLang="en-US" sz="1400"/>
            </a:p>
          </p:txBody>
        </p:sp>
      </p:grpSp>
      <p:graphicFrame>
        <p:nvGraphicFramePr>
          <p:cNvPr id="44" name="グラフ 43">
            <a:extLst>
              <a:ext uri="{FF2B5EF4-FFF2-40B4-BE49-F238E27FC236}">
                <a16:creationId xmlns:a16="http://schemas.microsoft.com/office/drawing/2014/main" id="{2C629134-454B-1AFB-7D6B-3E60972BE91B}"/>
              </a:ext>
            </a:extLst>
          </p:cNvPr>
          <p:cNvGraphicFramePr>
            <a:graphicFrameLocks/>
          </p:cNvGraphicFramePr>
          <p:nvPr>
            <p:extLst>
              <p:ext uri="{D42A27DB-BD31-4B8C-83A1-F6EECF244321}">
                <p14:modId xmlns:p14="http://schemas.microsoft.com/office/powerpoint/2010/main" val="190220061"/>
              </p:ext>
            </p:extLst>
          </p:nvPr>
        </p:nvGraphicFramePr>
        <p:xfrm>
          <a:off x="7029496" y="3532239"/>
          <a:ext cx="4821332" cy="2200108"/>
        </p:xfrm>
        <a:graphic>
          <a:graphicData uri="http://schemas.openxmlformats.org/drawingml/2006/chart">
            <c:chart xmlns:c="http://schemas.openxmlformats.org/drawingml/2006/chart" xmlns:r="http://schemas.openxmlformats.org/officeDocument/2006/relationships" r:id="rId5"/>
          </a:graphicData>
        </a:graphic>
      </p:graphicFrame>
      <p:sp>
        <p:nvSpPr>
          <p:cNvPr id="45" name="コンテンツ プレースホルダー 2">
            <a:extLst>
              <a:ext uri="{FF2B5EF4-FFF2-40B4-BE49-F238E27FC236}">
                <a16:creationId xmlns:a16="http://schemas.microsoft.com/office/drawing/2014/main" id="{714FCA20-6166-9ABA-30FF-5D3A8176C2FA}"/>
              </a:ext>
            </a:extLst>
          </p:cNvPr>
          <p:cNvSpPr txBox="1">
            <a:spLocks/>
          </p:cNvSpPr>
          <p:nvPr/>
        </p:nvSpPr>
        <p:spPr>
          <a:xfrm>
            <a:off x="546100" y="3532239"/>
            <a:ext cx="6483396" cy="2489408"/>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結果</a:t>
            </a:r>
            <a:endParaRPr lang="en-US" altLang="ja-JP" dirty="0"/>
          </a:p>
          <a:p>
            <a:r>
              <a:rPr lang="en-US" altLang="ja-JP" sz="1800" b="0" dirty="0"/>
              <a:t>24well</a:t>
            </a:r>
            <a:r>
              <a:rPr lang="ja-JP" altLang="en-US" sz="1800" b="0"/>
              <a:t>でのトランスフェクションでは細胞が剥がれてしまう</a:t>
            </a:r>
            <a:r>
              <a:rPr lang="en-US" altLang="ja-JP" sz="1800" b="0" dirty="0"/>
              <a:t>well</a:t>
            </a:r>
            <a:r>
              <a:rPr lang="ja-JP" altLang="en-US" sz="1800" b="0"/>
              <a:t>があった</a:t>
            </a:r>
            <a:endParaRPr lang="en-US" altLang="ja-JP" sz="1800" b="0" dirty="0"/>
          </a:p>
          <a:p>
            <a:r>
              <a:rPr lang="en-US" altLang="ja-JP" sz="1800" b="0" dirty="0"/>
              <a:t>Luc activity</a:t>
            </a:r>
            <a:r>
              <a:rPr lang="ja-JP" altLang="en-US" sz="1800" b="0"/>
              <a:t>の結果も</a:t>
            </a:r>
            <a:r>
              <a:rPr lang="en-US" altLang="ja-JP" sz="1800" b="0" dirty="0"/>
              <a:t>well</a:t>
            </a:r>
            <a:r>
              <a:rPr lang="ja-JP" altLang="en-US" sz="1800" b="0"/>
              <a:t>の手法の方がばらつきが大きい</a:t>
            </a:r>
            <a:endParaRPr lang="en-US" altLang="ja-JP" sz="1800" b="0" dirty="0"/>
          </a:p>
          <a:p>
            <a:r>
              <a:rPr lang="en-US" altLang="ja-JP" sz="1800" b="0" dirty="0"/>
              <a:t>60mmdish</a:t>
            </a:r>
            <a:r>
              <a:rPr lang="ja-JP" altLang="en-US" sz="1800" b="0"/>
              <a:t>で細胞のばらつきを抑制できた</a:t>
            </a:r>
            <a:endParaRPr lang="en-US" altLang="ja-JP" sz="1800" b="0" dirty="0"/>
          </a:p>
        </p:txBody>
      </p:sp>
      <p:sp>
        <p:nvSpPr>
          <p:cNvPr id="48" name="テキスト ボックス 47">
            <a:extLst>
              <a:ext uri="{FF2B5EF4-FFF2-40B4-BE49-F238E27FC236}">
                <a16:creationId xmlns:a16="http://schemas.microsoft.com/office/drawing/2014/main" id="{B5167E13-B097-8A40-9605-EA416036AE4B}"/>
              </a:ext>
            </a:extLst>
          </p:cNvPr>
          <p:cNvSpPr txBox="1"/>
          <p:nvPr/>
        </p:nvSpPr>
        <p:spPr>
          <a:xfrm>
            <a:off x="7515211" y="5713870"/>
            <a:ext cx="3849902" cy="307777"/>
          </a:xfrm>
          <a:prstGeom prst="rect">
            <a:avLst/>
          </a:prstGeom>
          <a:noFill/>
        </p:spPr>
        <p:txBody>
          <a:bodyPr wrap="square" rtlCol="0">
            <a:spAutoFit/>
          </a:bodyPr>
          <a:lstStyle/>
          <a:p>
            <a:pPr algn="ctr"/>
            <a:r>
              <a:rPr lang="ja-JP" altLang="en-US" sz="1400"/>
              <a:t>各トランスフェクション手法での</a:t>
            </a:r>
            <a:r>
              <a:rPr lang="en-US" altLang="ja-JP" sz="1400" dirty="0"/>
              <a:t>Luc activity</a:t>
            </a:r>
            <a:endParaRPr kumimoji="1" lang="ja-JP" altLang="en-US" sz="1400"/>
          </a:p>
        </p:txBody>
      </p:sp>
    </p:spTree>
    <p:extLst>
      <p:ext uri="{BB962C8B-B14F-4D97-AF65-F5344CB8AC3E}">
        <p14:creationId xmlns:p14="http://schemas.microsoft.com/office/powerpoint/2010/main" val="981105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D8C95D6E-B0F5-9F95-57BF-EE7311D12A67}"/>
              </a:ext>
            </a:extLst>
          </p:cNvPr>
          <p:cNvSpPr/>
          <p:nvPr/>
        </p:nvSpPr>
        <p:spPr>
          <a:xfrm>
            <a:off x="0" y="834716"/>
            <a:ext cx="12188742" cy="220273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プレースホルダー 3">
            <a:extLst>
              <a:ext uri="{FF2B5EF4-FFF2-40B4-BE49-F238E27FC236}">
                <a16:creationId xmlns:a16="http://schemas.microsoft.com/office/drawing/2014/main" id="{9BBBCBDE-3117-F672-80DE-7B73B762988E}"/>
              </a:ext>
            </a:extLst>
          </p:cNvPr>
          <p:cNvSpPr>
            <a:spLocks noGrp="1"/>
          </p:cNvSpPr>
          <p:nvPr>
            <p:ph type="body" sz="quarter" idx="11"/>
          </p:nvPr>
        </p:nvSpPr>
        <p:spPr/>
        <p:txBody>
          <a:bodyPr/>
          <a:lstStyle/>
          <a:p>
            <a:r>
              <a:rPr kumimoji="1" lang="ja-JP" altLang="en-US"/>
              <a:t>前回の訂正：トランスフェクション時間に関して</a:t>
            </a:r>
          </a:p>
        </p:txBody>
      </p:sp>
      <p:graphicFrame>
        <p:nvGraphicFramePr>
          <p:cNvPr id="6" name="コンテンツ プレースホルダー 4">
            <a:extLst>
              <a:ext uri="{FF2B5EF4-FFF2-40B4-BE49-F238E27FC236}">
                <a16:creationId xmlns:a16="http://schemas.microsoft.com/office/drawing/2014/main" id="{B36A05DC-A0D3-9809-EF22-1174ADBBFF80}"/>
              </a:ext>
            </a:extLst>
          </p:cNvPr>
          <p:cNvGraphicFramePr>
            <a:graphicFrameLocks/>
          </p:cNvGraphicFramePr>
          <p:nvPr>
            <p:extLst>
              <p:ext uri="{D42A27DB-BD31-4B8C-83A1-F6EECF244321}">
                <p14:modId xmlns:p14="http://schemas.microsoft.com/office/powerpoint/2010/main" val="3092476113"/>
              </p:ext>
            </p:extLst>
          </p:nvPr>
        </p:nvGraphicFramePr>
        <p:xfrm>
          <a:off x="6781225" y="3490058"/>
          <a:ext cx="4884749" cy="1402080"/>
        </p:xfrm>
        <a:graphic>
          <a:graphicData uri="http://schemas.openxmlformats.org/drawingml/2006/table">
            <a:tbl>
              <a:tblPr firstRow="1">
                <a:tableStyleId>{5C22544A-7EE6-4342-B048-85BDC9FD1C3A}</a:tableStyleId>
              </a:tblPr>
              <a:tblGrid>
                <a:gridCol w="892841">
                  <a:extLst>
                    <a:ext uri="{9D8B030D-6E8A-4147-A177-3AD203B41FA5}">
                      <a16:colId xmlns:a16="http://schemas.microsoft.com/office/drawing/2014/main" val="3776233085"/>
                    </a:ext>
                  </a:extLst>
                </a:gridCol>
                <a:gridCol w="2278343">
                  <a:extLst>
                    <a:ext uri="{9D8B030D-6E8A-4147-A177-3AD203B41FA5}">
                      <a16:colId xmlns:a16="http://schemas.microsoft.com/office/drawing/2014/main" val="197989292"/>
                    </a:ext>
                  </a:extLst>
                </a:gridCol>
                <a:gridCol w="1713565">
                  <a:extLst>
                    <a:ext uri="{9D8B030D-6E8A-4147-A177-3AD203B41FA5}">
                      <a16:colId xmlns:a16="http://schemas.microsoft.com/office/drawing/2014/main" val="1064099103"/>
                    </a:ext>
                  </a:extLst>
                </a:gridCol>
              </a:tblGrid>
              <a:tr h="292281">
                <a:tc>
                  <a:txBody>
                    <a:bodyPr/>
                    <a:lstStyle/>
                    <a:p>
                      <a:endParaRPr kumimoji="1" lang="ja-JP" altLang="en-US" sz="1400">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ja-JP" altLang="en-US" sz="1400" b="1">
                          <a:latin typeface="+mj-ea"/>
                          <a:ea typeface="+mj-ea"/>
                        </a:rPr>
                        <a:t>ルシフェラーゼ活性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en-US" altLang="ja-JP" sz="1400" b="1" dirty="0">
                          <a:latin typeface="+mj-ea"/>
                          <a:ea typeface="+mj-ea"/>
                        </a:rPr>
                        <a:t>β-gal</a:t>
                      </a:r>
                      <a:r>
                        <a:rPr kumimoji="1" lang="ja-JP" altLang="en-US" sz="1400" b="1">
                          <a:latin typeface="+mj-ea"/>
                          <a:ea typeface="+mj-ea"/>
                        </a:rPr>
                        <a:t>活性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833150340"/>
                  </a:ext>
                </a:extLst>
              </a:tr>
              <a:tr h="263053">
                <a:tc>
                  <a:txBody>
                    <a:bodyPr/>
                    <a:lstStyle/>
                    <a:p>
                      <a:pPr algn="ctr"/>
                      <a:r>
                        <a:rPr kumimoji="1" lang="en-US" altLang="ja-JP" sz="1200" b="0" dirty="0">
                          <a:solidFill>
                            <a:schemeClr val="tx1"/>
                          </a:solidFill>
                          <a:latin typeface="+mj-ea"/>
                          <a:ea typeface="+mj-ea"/>
                        </a:rPr>
                        <a:t>N1</a:t>
                      </a:r>
                      <a:endParaRPr kumimoji="1" lang="ja-JP" altLang="en-US" sz="1200" b="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dirty="0">
                          <a:solidFill>
                            <a:srgbClr val="000000"/>
                          </a:solidFill>
                          <a:effectLst/>
                          <a:latin typeface="游ゴシック" panose="020B0400000000000000" pitchFamily="34" charset="-128"/>
                          <a:ea typeface="游ゴシック" panose="020B0400000000000000" pitchFamily="34" charset="-128"/>
                        </a:rPr>
                        <a:t>130885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a:solidFill>
                            <a:srgbClr val="000000"/>
                          </a:solidFill>
                          <a:effectLst/>
                          <a:latin typeface="游ゴシック" panose="020B0400000000000000" pitchFamily="34" charset="-128"/>
                          <a:ea typeface="游ゴシック" panose="020B0400000000000000" pitchFamily="34" charset="-128"/>
                        </a:rPr>
                        <a:t>0.134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827669"/>
                  </a:ext>
                </a:extLst>
              </a:tr>
              <a:tr h="263053">
                <a:tc>
                  <a:txBody>
                    <a:bodyPr/>
                    <a:lstStyle/>
                    <a:p>
                      <a:pPr algn="ctr"/>
                      <a:r>
                        <a:rPr kumimoji="1" lang="en-US" altLang="ja-JP" sz="1200" b="0" dirty="0">
                          <a:solidFill>
                            <a:schemeClr val="tx1"/>
                          </a:solidFill>
                          <a:latin typeface="+mj-ea"/>
                          <a:ea typeface="+mj-ea"/>
                        </a:rPr>
                        <a:t>N2</a:t>
                      </a:r>
                      <a:endParaRPr kumimoji="1" lang="ja-JP" altLang="en-US" sz="1200" b="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dirty="0">
                          <a:solidFill>
                            <a:srgbClr val="000000"/>
                          </a:solidFill>
                          <a:effectLst/>
                          <a:latin typeface="游ゴシック" panose="020B0400000000000000" pitchFamily="34" charset="-128"/>
                          <a:ea typeface="游ゴシック" panose="020B0400000000000000" pitchFamily="34" charset="-128"/>
                        </a:rPr>
                        <a:t>192369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dirty="0">
                          <a:solidFill>
                            <a:srgbClr val="000000"/>
                          </a:solidFill>
                          <a:effectLst/>
                          <a:latin typeface="游ゴシック" panose="020B0400000000000000" pitchFamily="34" charset="-128"/>
                          <a:ea typeface="游ゴシック" panose="020B0400000000000000" pitchFamily="34" charset="-128"/>
                        </a:rPr>
                        <a:t>0.185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5661351"/>
                  </a:ext>
                </a:extLst>
              </a:tr>
              <a:tr h="263053">
                <a:tc>
                  <a:txBody>
                    <a:bodyPr/>
                    <a:lstStyle/>
                    <a:p>
                      <a:pPr algn="ctr"/>
                      <a:r>
                        <a:rPr kumimoji="1" lang="en-US" altLang="ja-JP" sz="1200" b="0" dirty="0">
                          <a:solidFill>
                            <a:schemeClr val="tx1"/>
                          </a:solidFill>
                          <a:latin typeface="+mj-ea"/>
                          <a:ea typeface="+mj-ea"/>
                        </a:rPr>
                        <a:t>N3</a:t>
                      </a:r>
                      <a:endParaRPr kumimoji="1" lang="ja-JP" altLang="en-US" sz="1200" b="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dirty="0">
                          <a:solidFill>
                            <a:srgbClr val="000000"/>
                          </a:solidFill>
                          <a:effectLst/>
                          <a:latin typeface="游ゴシック" panose="020B0400000000000000" pitchFamily="34" charset="-128"/>
                          <a:ea typeface="游ゴシック" panose="020B0400000000000000" pitchFamily="34" charset="-128"/>
                        </a:rPr>
                        <a:t>53250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dirty="0">
                          <a:solidFill>
                            <a:srgbClr val="000000"/>
                          </a:solidFill>
                          <a:effectLst/>
                          <a:latin typeface="游ゴシック" panose="020B0400000000000000" pitchFamily="34" charset="-128"/>
                          <a:ea typeface="游ゴシック" panose="020B0400000000000000" pitchFamily="34" charset="-128"/>
                        </a:rPr>
                        <a:t>0.085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1408743"/>
                  </a:ext>
                </a:extLst>
              </a:tr>
              <a:tr h="263053">
                <a:tc>
                  <a:txBody>
                    <a:bodyPr/>
                    <a:lstStyle/>
                    <a:p>
                      <a:pPr algn="ctr"/>
                      <a:r>
                        <a:rPr kumimoji="1" lang="ja-JP" altLang="en-US" sz="1200" b="0">
                          <a:solidFill>
                            <a:schemeClr val="tx1"/>
                          </a:solidFill>
                          <a:latin typeface="+mj-ea"/>
                          <a:ea typeface="+mj-ea"/>
                        </a:rPr>
                        <a:t>平均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dirty="0">
                          <a:solidFill>
                            <a:srgbClr val="000000"/>
                          </a:solidFill>
                          <a:effectLst/>
                          <a:latin typeface="游ゴシック" panose="020B0400000000000000" pitchFamily="34" charset="-128"/>
                          <a:ea typeface="游ゴシック" panose="020B0400000000000000" pitchFamily="34" charset="-128"/>
                        </a:rPr>
                        <a:t>125501.3333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200" b="1" i="0" u="none" strike="noStrike" dirty="0">
                          <a:solidFill>
                            <a:schemeClr val="accent4"/>
                          </a:solidFill>
                          <a:effectLst/>
                          <a:latin typeface="游ゴシック" panose="020B0400000000000000" pitchFamily="34" charset="-128"/>
                          <a:ea typeface="游ゴシック" panose="020B0400000000000000" pitchFamily="34" charset="-128"/>
                        </a:rPr>
                        <a:t>0.134666667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3525260"/>
                  </a:ext>
                </a:extLst>
              </a:tr>
            </a:tbl>
          </a:graphicData>
        </a:graphic>
      </p:graphicFrame>
      <p:graphicFrame>
        <p:nvGraphicFramePr>
          <p:cNvPr id="7" name="グラフ 6">
            <a:extLst>
              <a:ext uri="{FF2B5EF4-FFF2-40B4-BE49-F238E27FC236}">
                <a16:creationId xmlns:a16="http://schemas.microsoft.com/office/drawing/2014/main" id="{59CEC0FA-8B9A-2F12-F1EF-75C739C07542}"/>
              </a:ext>
            </a:extLst>
          </p:cNvPr>
          <p:cNvGraphicFramePr>
            <a:graphicFrameLocks/>
          </p:cNvGraphicFramePr>
          <p:nvPr>
            <p:extLst>
              <p:ext uri="{D42A27DB-BD31-4B8C-83A1-F6EECF244321}">
                <p14:modId xmlns:p14="http://schemas.microsoft.com/office/powerpoint/2010/main" val="3459170857"/>
              </p:ext>
            </p:extLst>
          </p:nvPr>
        </p:nvGraphicFramePr>
        <p:xfrm>
          <a:off x="6940955" y="936322"/>
          <a:ext cx="4565287" cy="1835838"/>
        </p:xfrm>
        <a:graphic>
          <a:graphicData uri="http://schemas.openxmlformats.org/drawingml/2006/chart">
            <c:chart xmlns:c="http://schemas.openxmlformats.org/drawingml/2006/chart" xmlns:r="http://schemas.openxmlformats.org/officeDocument/2006/relationships" r:id="rId2"/>
          </a:graphicData>
        </a:graphic>
      </p:graphicFrame>
      <p:sp>
        <p:nvSpPr>
          <p:cNvPr id="10" name="コンテンツ プレースホルダー 9">
            <a:extLst>
              <a:ext uri="{FF2B5EF4-FFF2-40B4-BE49-F238E27FC236}">
                <a16:creationId xmlns:a16="http://schemas.microsoft.com/office/drawing/2014/main" id="{39395DDB-495E-4651-57B2-60C19B1D908F}"/>
              </a:ext>
            </a:extLst>
          </p:cNvPr>
          <p:cNvSpPr>
            <a:spLocks noGrp="1"/>
          </p:cNvSpPr>
          <p:nvPr>
            <p:ph idx="1"/>
          </p:nvPr>
        </p:nvSpPr>
        <p:spPr>
          <a:xfrm>
            <a:off x="546100" y="1038484"/>
            <a:ext cx="5950116" cy="1998970"/>
          </a:xfrm>
        </p:spPr>
        <p:txBody>
          <a:bodyPr>
            <a:normAutofit fontScale="85000" lnSpcReduction="10000"/>
          </a:bodyPr>
          <a:lstStyle/>
          <a:p>
            <a:pPr marL="0" indent="0">
              <a:buNone/>
            </a:pPr>
            <a:r>
              <a:rPr lang="ja-JP" altLang="en-US" sz="2400"/>
              <a:t>前回の報告</a:t>
            </a:r>
            <a:endParaRPr lang="en-US" altLang="ja-JP" sz="2400" dirty="0"/>
          </a:p>
          <a:p>
            <a:r>
              <a:rPr lang="en-US" altLang="ja-JP" sz="2100" b="0" dirty="0"/>
              <a:t>24h</a:t>
            </a:r>
            <a:r>
              <a:rPr lang="ja-JP" altLang="en-US" sz="2100" b="0"/>
              <a:t>トランスフェクションで</a:t>
            </a:r>
            <a:r>
              <a:rPr lang="en-US" altLang="ja-JP" sz="2100" b="0" dirty="0"/>
              <a:t>Luc activity</a:t>
            </a:r>
            <a:r>
              <a:rPr lang="ja-JP" altLang="en-US" sz="2100" b="0"/>
              <a:t>が低下した</a:t>
            </a:r>
            <a:endParaRPr lang="en-US" altLang="ja-JP" sz="2100" b="0" dirty="0"/>
          </a:p>
          <a:p>
            <a:pPr lvl="1"/>
            <a:r>
              <a:rPr lang="ja-JP" altLang="en-US" sz="1900" b="0"/>
              <a:t>長時間のトランスフェクションによる発現量の低下</a:t>
            </a:r>
          </a:p>
          <a:p>
            <a:r>
              <a:rPr lang="ja-JP" altLang="en-US" sz="2100" b="0" u="sng"/>
              <a:t>トランスフェクションは</a:t>
            </a:r>
            <a:r>
              <a:rPr lang="en-US" altLang="ja-JP" sz="2100" b="0" u="sng" dirty="0"/>
              <a:t>4</a:t>
            </a:r>
            <a:r>
              <a:rPr lang="ja-JP" altLang="en-US" sz="2100" b="0" u="sng"/>
              <a:t>時間で行う</a:t>
            </a:r>
          </a:p>
        </p:txBody>
      </p:sp>
      <p:graphicFrame>
        <p:nvGraphicFramePr>
          <p:cNvPr id="11" name="コンテンツ プレースホルダー 4">
            <a:extLst>
              <a:ext uri="{FF2B5EF4-FFF2-40B4-BE49-F238E27FC236}">
                <a16:creationId xmlns:a16="http://schemas.microsoft.com/office/drawing/2014/main" id="{0B1EBFF3-CFED-1DE7-3AED-23019E85E959}"/>
              </a:ext>
            </a:extLst>
          </p:cNvPr>
          <p:cNvGraphicFramePr>
            <a:graphicFrameLocks/>
          </p:cNvGraphicFramePr>
          <p:nvPr>
            <p:extLst>
              <p:ext uri="{D42A27DB-BD31-4B8C-83A1-F6EECF244321}">
                <p14:modId xmlns:p14="http://schemas.microsoft.com/office/powerpoint/2010/main" val="240618541"/>
              </p:ext>
            </p:extLst>
          </p:nvPr>
        </p:nvGraphicFramePr>
        <p:xfrm>
          <a:off x="6781225" y="5344743"/>
          <a:ext cx="4884749" cy="1402080"/>
        </p:xfrm>
        <a:graphic>
          <a:graphicData uri="http://schemas.openxmlformats.org/drawingml/2006/table">
            <a:tbl>
              <a:tblPr firstRow="1">
                <a:tableStyleId>{5C22544A-7EE6-4342-B048-85BDC9FD1C3A}</a:tableStyleId>
              </a:tblPr>
              <a:tblGrid>
                <a:gridCol w="892841">
                  <a:extLst>
                    <a:ext uri="{9D8B030D-6E8A-4147-A177-3AD203B41FA5}">
                      <a16:colId xmlns:a16="http://schemas.microsoft.com/office/drawing/2014/main" val="3776233085"/>
                    </a:ext>
                  </a:extLst>
                </a:gridCol>
                <a:gridCol w="2278343">
                  <a:extLst>
                    <a:ext uri="{9D8B030D-6E8A-4147-A177-3AD203B41FA5}">
                      <a16:colId xmlns:a16="http://schemas.microsoft.com/office/drawing/2014/main" val="197989292"/>
                    </a:ext>
                  </a:extLst>
                </a:gridCol>
                <a:gridCol w="1713565">
                  <a:extLst>
                    <a:ext uri="{9D8B030D-6E8A-4147-A177-3AD203B41FA5}">
                      <a16:colId xmlns:a16="http://schemas.microsoft.com/office/drawing/2014/main" val="1064099103"/>
                    </a:ext>
                  </a:extLst>
                </a:gridCol>
              </a:tblGrid>
              <a:tr h="292281">
                <a:tc>
                  <a:txBody>
                    <a:bodyPr/>
                    <a:lstStyle/>
                    <a:p>
                      <a:endParaRPr kumimoji="1" lang="ja-JP" altLang="en-US" sz="1400">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ja-JP" altLang="en-US" sz="1400" b="1">
                          <a:latin typeface="+mj-ea"/>
                          <a:ea typeface="+mj-ea"/>
                        </a:rPr>
                        <a:t>ルシフェラーゼ活性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en-US" altLang="ja-JP" sz="1400" b="1" dirty="0">
                          <a:latin typeface="+mj-ea"/>
                          <a:ea typeface="+mj-ea"/>
                        </a:rPr>
                        <a:t>β-gal</a:t>
                      </a:r>
                      <a:r>
                        <a:rPr kumimoji="1" lang="ja-JP" altLang="en-US" sz="1400" b="1">
                          <a:latin typeface="+mj-ea"/>
                          <a:ea typeface="+mj-ea"/>
                        </a:rPr>
                        <a:t>活性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833150340"/>
                  </a:ext>
                </a:extLst>
              </a:tr>
              <a:tr h="263053">
                <a:tc>
                  <a:txBody>
                    <a:bodyPr/>
                    <a:lstStyle/>
                    <a:p>
                      <a:pPr algn="ctr"/>
                      <a:r>
                        <a:rPr kumimoji="1" lang="en-US" altLang="ja-JP" sz="1200" b="0" dirty="0">
                          <a:solidFill>
                            <a:schemeClr val="tx1"/>
                          </a:solidFill>
                          <a:latin typeface="+mj-ea"/>
                          <a:ea typeface="+mj-ea"/>
                        </a:rPr>
                        <a:t>N1</a:t>
                      </a:r>
                      <a:endParaRPr kumimoji="1" lang="ja-JP" altLang="en-US" sz="1200" b="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dirty="0">
                          <a:solidFill>
                            <a:schemeClr val="tx1"/>
                          </a:solidFill>
                          <a:effectLst/>
                          <a:latin typeface="+mj-ea"/>
                          <a:ea typeface="+mj-ea"/>
                        </a:rPr>
                        <a:t>107097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dirty="0">
                          <a:solidFill>
                            <a:schemeClr val="tx1"/>
                          </a:solidFill>
                          <a:effectLst/>
                          <a:latin typeface="+mj-ea"/>
                          <a:ea typeface="+mj-ea"/>
                        </a:rPr>
                        <a:t>0.222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827669"/>
                  </a:ext>
                </a:extLst>
              </a:tr>
              <a:tr h="263053">
                <a:tc>
                  <a:txBody>
                    <a:bodyPr/>
                    <a:lstStyle/>
                    <a:p>
                      <a:pPr algn="ctr"/>
                      <a:r>
                        <a:rPr kumimoji="1" lang="en-US" altLang="ja-JP" sz="1200" b="0" dirty="0">
                          <a:solidFill>
                            <a:schemeClr val="tx1"/>
                          </a:solidFill>
                          <a:latin typeface="+mj-ea"/>
                          <a:ea typeface="+mj-ea"/>
                        </a:rPr>
                        <a:t>N2</a:t>
                      </a:r>
                      <a:endParaRPr kumimoji="1" lang="ja-JP" altLang="en-US" sz="1200" b="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dirty="0">
                          <a:solidFill>
                            <a:schemeClr val="tx1"/>
                          </a:solidFill>
                          <a:effectLst/>
                          <a:latin typeface="+mj-ea"/>
                          <a:ea typeface="+mj-ea"/>
                        </a:rPr>
                        <a:t>120166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dirty="0">
                          <a:solidFill>
                            <a:schemeClr val="tx1"/>
                          </a:solidFill>
                          <a:effectLst/>
                          <a:latin typeface="+mj-ea"/>
                          <a:ea typeface="+mj-ea"/>
                        </a:rPr>
                        <a:t>0.251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5661351"/>
                  </a:ext>
                </a:extLst>
              </a:tr>
              <a:tr h="263053">
                <a:tc>
                  <a:txBody>
                    <a:bodyPr/>
                    <a:lstStyle/>
                    <a:p>
                      <a:pPr algn="ctr"/>
                      <a:r>
                        <a:rPr kumimoji="1" lang="en-US" altLang="ja-JP" sz="1200" b="0" dirty="0">
                          <a:solidFill>
                            <a:schemeClr val="tx1"/>
                          </a:solidFill>
                          <a:latin typeface="+mj-ea"/>
                          <a:ea typeface="+mj-ea"/>
                        </a:rPr>
                        <a:t>N3</a:t>
                      </a:r>
                      <a:endParaRPr kumimoji="1" lang="ja-JP" altLang="en-US" sz="1200" b="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dirty="0">
                          <a:solidFill>
                            <a:schemeClr val="tx1"/>
                          </a:solidFill>
                          <a:effectLst/>
                          <a:latin typeface="+mj-ea"/>
                          <a:ea typeface="+mj-ea"/>
                        </a:rPr>
                        <a:t>103814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dirty="0">
                          <a:solidFill>
                            <a:schemeClr val="tx1"/>
                          </a:solidFill>
                          <a:effectLst/>
                          <a:latin typeface="+mj-ea"/>
                          <a:ea typeface="+mj-ea"/>
                        </a:rPr>
                        <a:t>0.248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1408743"/>
                  </a:ext>
                </a:extLst>
              </a:tr>
              <a:tr h="263053">
                <a:tc>
                  <a:txBody>
                    <a:bodyPr/>
                    <a:lstStyle/>
                    <a:p>
                      <a:pPr algn="ctr"/>
                      <a:r>
                        <a:rPr kumimoji="1" lang="ja-JP" altLang="en-US" sz="1200" b="0">
                          <a:solidFill>
                            <a:schemeClr val="tx1"/>
                          </a:solidFill>
                          <a:latin typeface="+mj-ea"/>
                          <a:ea typeface="+mj-ea"/>
                        </a:rPr>
                        <a:t>平均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200" b="0" i="0" u="none" strike="noStrike" dirty="0">
                          <a:solidFill>
                            <a:schemeClr val="tx1"/>
                          </a:solidFill>
                          <a:effectLst/>
                          <a:latin typeface="+mj-ea"/>
                          <a:ea typeface="+mj-ea"/>
                        </a:rPr>
                        <a:t>110359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200" b="1" i="0" u="none" strike="noStrike" dirty="0">
                          <a:solidFill>
                            <a:schemeClr val="accent4"/>
                          </a:solidFill>
                          <a:effectLst/>
                          <a:latin typeface="+mj-ea"/>
                          <a:ea typeface="+mj-ea"/>
                        </a:rPr>
                        <a:t>0.240333333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3525260"/>
                  </a:ext>
                </a:extLst>
              </a:tr>
            </a:tbl>
          </a:graphicData>
        </a:graphic>
      </p:graphicFrame>
      <p:sp>
        <p:nvSpPr>
          <p:cNvPr id="12" name="テキスト ボックス 11">
            <a:extLst>
              <a:ext uri="{FF2B5EF4-FFF2-40B4-BE49-F238E27FC236}">
                <a16:creationId xmlns:a16="http://schemas.microsoft.com/office/drawing/2014/main" id="{04407576-7714-31A1-02B0-48103C334A22}"/>
              </a:ext>
            </a:extLst>
          </p:cNvPr>
          <p:cNvSpPr txBox="1"/>
          <p:nvPr/>
        </p:nvSpPr>
        <p:spPr>
          <a:xfrm>
            <a:off x="7723723" y="3155999"/>
            <a:ext cx="2999752" cy="307777"/>
          </a:xfrm>
          <a:prstGeom prst="rect">
            <a:avLst/>
          </a:prstGeom>
          <a:noFill/>
        </p:spPr>
        <p:txBody>
          <a:bodyPr wrap="square" rtlCol="0">
            <a:spAutoFit/>
          </a:bodyPr>
          <a:lstStyle/>
          <a:p>
            <a:pPr algn="ctr"/>
            <a:r>
              <a:rPr kumimoji="1" lang="en-US" altLang="ja-JP" sz="1400" dirty="0"/>
              <a:t>4h</a:t>
            </a:r>
            <a:r>
              <a:rPr kumimoji="1" lang="ja-JP" altLang="en-US" sz="1400"/>
              <a:t>トランスフェクションでの活性</a:t>
            </a:r>
          </a:p>
        </p:txBody>
      </p:sp>
      <p:sp>
        <p:nvSpPr>
          <p:cNvPr id="13" name="テキスト ボックス 12">
            <a:extLst>
              <a:ext uri="{FF2B5EF4-FFF2-40B4-BE49-F238E27FC236}">
                <a16:creationId xmlns:a16="http://schemas.microsoft.com/office/drawing/2014/main" id="{E9BA35F0-6402-F07A-3119-E91762E5A531}"/>
              </a:ext>
            </a:extLst>
          </p:cNvPr>
          <p:cNvSpPr txBox="1"/>
          <p:nvPr/>
        </p:nvSpPr>
        <p:spPr>
          <a:xfrm>
            <a:off x="7723723" y="5026631"/>
            <a:ext cx="2999752" cy="307777"/>
          </a:xfrm>
          <a:prstGeom prst="rect">
            <a:avLst/>
          </a:prstGeom>
          <a:noFill/>
        </p:spPr>
        <p:txBody>
          <a:bodyPr wrap="square" rtlCol="0">
            <a:spAutoFit/>
          </a:bodyPr>
          <a:lstStyle/>
          <a:p>
            <a:pPr algn="ctr"/>
            <a:r>
              <a:rPr kumimoji="1" lang="en-US" altLang="ja-JP" sz="1400" dirty="0"/>
              <a:t>24h</a:t>
            </a:r>
            <a:r>
              <a:rPr kumimoji="1" lang="ja-JP" altLang="en-US" sz="1400"/>
              <a:t>トランスフェクションでの活性</a:t>
            </a:r>
          </a:p>
        </p:txBody>
      </p:sp>
      <p:sp>
        <p:nvSpPr>
          <p:cNvPr id="14" name="テキスト ボックス 13">
            <a:extLst>
              <a:ext uri="{FF2B5EF4-FFF2-40B4-BE49-F238E27FC236}">
                <a16:creationId xmlns:a16="http://schemas.microsoft.com/office/drawing/2014/main" id="{CF54606C-9856-F930-3EBB-4D92EE8832DB}"/>
              </a:ext>
            </a:extLst>
          </p:cNvPr>
          <p:cNvSpPr txBox="1"/>
          <p:nvPr/>
        </p:nvSpPr>
        <p:spPr>
          <a:xfrm>
            <a:off x="7169689" y="2693963"/>
            <a:ext cx="4107818" cy="307777"/>
          </a:xfrm>
          <a:prstGeom prst="rect">
            <a:avLst/>
          </a:prstGeom>
          <a:noFill/>
        </p:spPr>
        <p:txBody>
          <a:bodyPr wrap="square" rtlCol="0">
            <a:spAutoFit/>
          </a:bodyPr>
          <a:lstStyle/>
          <a:p>
            <a:pPr algn="ctr"/>
            <a:r>
              <a:rPr kumimoji="1" lang="ja-JP" altLang="en-US" sz="1400"/>
              <a:t>各トランスフェクション時間での</a:t>
            </a:r>
            <a:r>
              <a:rPr kumimoji="1" lang="en-US" altLang="ja-JP" sz="1400" dirty="0"/>
              <a:t>Luc activity</a:t>
            </a:r>
            <a:endParaRPr kumimoji="1" lang="ja-JP" altLang="en-US" sz="1400"/>
          </a:p>
        </p:txBody>
      </p:sp>
      <mc:AlternateContent xmlns:mc="http://schemas.openxmlformats.org/markup-compatibility/2006" xmlns:a14="http://schemas.microsoft.com/office/drawing/2010/main">
        <mc:Choice Requires="a14">
          <p:sp>
            <p:nvSpPr>
              <p:cNvPr id="16" name="コンテンツ プレースホルダー 9">
                <a:extLst>
                  <a:ext uri="{FF2B5EF4-FFF2-40B4-BE49-F238E27FC236}">
                    <a16:creationId xmlns:a16="http://schemas.microsoft.com/office/drawing/2014/main" id="{CCB6E7EC-BA14-BEA3-6152-2C74F9FB14CE}"/>
                  </a:ext>
                </a:extLst>
              </p:cNvPr>
              <p:cNvSpPr txBox="1">
                <a:spLocks/>
              </p:cNvSpPr>
              <p:nvPr/>
            </p:nvSpPr>
            <p:spPr>
              <a:xfrm>
                <a:off x="546100" y="3241221"/>
                <a:ext cx="5950116" cy="3505601"/>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データ比較の結果</a:t>
                </a:r>
                <a:endParaRPr lang="en-US" altLang="ja-JP" dirty="0"/>
              </a:p>
              <a:p>
                <a:r>
                  <a:rPr lang="ja-JP" altLang="en-US" sz="1800" b="0"/>
                  <a:t>ルシフェラーゼの発現量に対して、</a:t>
                </a:r>
                <a:r>
                  <a:rPr lang="en-US" altLang="ja-JP" sz="1800" b="0" dirty="0"/>
                  <a:t>β-gal</a:t>
                </a:r>
                <a:r>
                  <a:rPr lang="ja-JP" altLang="en-US" sz="1800" b="0"/>
                  <a:t>の発現量が</a:t>
                </a:r>
                <a:r>
                  <a:rPr lang="en-US" altLang="ja-JP" sz="1800" b="0" dirty="0"/>
                  <a:t>24h</a:t>
                </a:r>
                <a:r>
                  <a:rPr lang="ja-JP" altLang="en-US" sz="1800" b="0"/>
                  <a:t>で大きくなっている</a:t>
                </a:r>
                <a:endParaRPr lang="en-US" altLang="ja-JP" sz="1800" b="0" dirty="0"/>
              </a:p>
              <a:p>
                <a:pPr lvl="1"/>
                <a:r>
                  <a:rPr lang="ja-JP" altLang="en-US" sz="1600"/>
                  <a:t>このため</a:t>
                </a:r>
                <a:r>
                  <a:rPr lang="en-US" altLang="ja-JP" sz="1600" dirty="0"/>
                  <a:t>Luc activity</a:t>
                </a:r>
                <a:r>
                  <a:rPr lang="ja-JP" altLang="en-US" sz="1600"/>
                  <a:t>が大きくなっていた</a:t>
                </a:r>
                <a:endParaRPr lang="en-US" altLang="ja-JP" sz="1600" dirty="0"/>
              </a:p>
              <a:p>
                <a:pPr marL="457200" lvl="1" indent="0">
                  <a:buNone/>
                </a:pPr>
                <a14:m>
                  <m:oMathPara xmlns:m="http://schemas.openxmlformats.org/officeDocument/2006/math">
                    <m:oMathParaPr>
                      <m:jc m:val="center"/>
                    </m:oMathParaPr>
                    <m:oMath xmlns:m="http://schemas.openxmlformats.org/officeDocument/2006/math">
                      <m:r>
                        <a:rPr lang="en-US" altLang="ja-JP" sz="1400" b="0" i="1" smtClean="0">
                          <a:latin typeface="Cambria Math" panose="02040503050406030204" pitchFamily="18" charset="0"/>
                        </a:rPr>
                        <m:t>𝐿𝑢𝑐</m:t>
                      </m:r>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𝑎𝑐𝑡𝑖𝑣𝑖𝑡𝑦</m:t>
                      </m:r>
                      <m:r>
                        <a:rPr lang="en-US" altLang="ja-JP" sz="1400" b="0" i="1" smtClean="0">
                          <a:latin typeface="Cambria Math" panose="02040503050406030204" pitchFamily="18" charset="0"/>
                        </a:rPr>
                        <m:t>= </m:t>
                      </m:r>
                      <m:f>
                        <m:fPr>
                          <m:ctrlPr>
                            <a:rPr lang="en-US" altLang="ja-JP" sz="1400" b="0" i="1" smtClean="0">
                              <a:latin typeface="Cambria Math" panose="02040503050406030204" pitchFamily="18" charset="0"/>
                            </a:rPr>
                          </m:ctrlPr>
                        </m:fPr>
                        <m:num>
                          <m:r>
                            <a:rPr lang="ja-JP" altLang="en-US" sz="1400" i="1">
                              <a:latin typeface="Cambria Math" panose="02040503050406030204" pitchFamily="18" charset="0"/>
                            </a:rPr>
                            <m:t>ホタル</m:t>
                          </m:r>
                          <m:r>
                            <a:rPr lang="ja-JP" altLang="en-US" sz="1400" i="1" smtClean="0">
                              <a:latin typeface="Cambria Math" panose="02040503050406030204" pitchFamily="18" charset="0"/>
                            </a:rPr>
                            <m:t>ルシフェラーゼ</m:t>
                          </m:r>
                          <m:r>
                            <a:rPr lang="ja-JP" altLang="en-US" sz="1400" i="1">
                              <a:latin typeface="Cambria Math" panose="02040503050406030204" pitchFamily="18" charset="0"/>
                            </a:rPr>
                            <m:t>活性</m:t>
                          </m:r>
                        </m:num>
                        <m:den>
                          <m:r>
                            <m:rPr>
                              <m:sty m:val="p"/>
                            </m:rPr>
                            <a:rPr lang="en-US" altLang="ja-JP" sz="1400" i="1">
                              <a:latin typeface="Cambria Math" panose="02040503050406030204" pitchFamily="18" charset="0"/>
                            </a:rPr>
                            <m:t>β</m:t>
                          </m:r>
                          <m:r>
                            <a:rPr lang="en-US" altLang="ja-JP" sz="1400" b="0" i="1" smtClean="0">
                              <a:latin typeface="Cambria Math" panose="02040503050406030204" pitchFamily="18" charset="0"/>
                            </a:rPr>
                            <m:t>𝑔𝑎𝑙</m:t>
                          </m:r>
                          <m:r>
                            <a:rPr lang="ja-JP" altLang="en-US" sz="1400" i="1">
                              <a:latin typeface="Cambria Math" panose="02040503050406030204" pitchFamily="18" charset="0"/>
                            </a:rPr>
                            <m:t>活性</m:t>
                          </m:r>
                        </m:den>
                      </m:f>
                      <m:r>
                        <a:rPr lang="en-US" altLang="ja-JP" sz="1400" b="0" i="1" smtClean="0">
                          <a:latin typeface="Cambria Math" panose="02040503050406030204" pitchFamily="18" charset="0"/>
                        </a:rPr>
                        <m:t> </m:t>
                      </m:r>
                    </m:oMath>
                  </m:oMathPara>
                </a14:m>
                <a:endParaRPr lang="en-US" altLang="ja-JP" sz="1400" b="0" dirty="0"/>
              </a:p>
              <a:p>
                <a:r>
                  <a:rPr lang="ja-JP" altLang="en-US" sz="1800" b="0"/>
                  <a:t>ルシフェラーゼの発現量に影響はない</a:t>
                </a:r>
                <a:endParaRPr lang="en-US" altLang="ja-JP" sz="1800" b="0" dirty="0"/>
              </a:p>
              <a:p>
                <a:r>
                  <a:rPr lang="ja-JP" altLang="en-US" sz="1800" u="sng"/>
                  <a:t>トランスフェクションは</a:t>
                </a:r>
                <a:r>
                  <a:rPr lang="en-US" altLang="ja-JP" sz="1800" u="sng" dirty="0"/>
                  <a:t>4h</a:t>
                </a:r>
                <a:r>
                  <a:rPr lang="ja-JP" altLang="en-US" sz="1800" u="sng"/>
                  <a:t>でも</a:t>
                </a:r>
                <a:r>
                  <a:rPr lang="en-US" altLang="ja-JP" sz="1800" u="sng" dirty="0"/>
                  <a:t>24h</a:t>
                </a:r>
                <a:r>
                  <a:rPr lang="ja-JP" altLang="en-US" sz="1800" u="sng"/>
                  <a:t>でもどちらでも良い</a:t>
                </a:r>
                <a:endParaRPr lang="en-US" altLang="ja-JP" sz="1800" u="sng" dirty="0"/>
              </a:p>
              <a:p>
                <a:pPr marL="0" indent="0">
                  <a:buNone/>
                </a:pPr>
                <a:endParaRPr lang="en-US" altLang="ja-JP" sz="1600" b="0" dirty="0"/>
              </a:p>
              <a:p>
                <a:endParaRPr lang="ja-JP" altLang="en-US" sz="1800" b="0"/>
              </a:p>
              <a:p>
                <a:pPr marL="0" indent="0">
                  <a:buNone/>
                </a:pPr>
                <a:endParaRPr lang="en-US" altLang="ja-JP" sz="2100" b="0" dirty="0"/>
              </a:p>
            </p:txBody>
          </p:sp>
        </mc:Choice>
        <mc:Fallback xmlns="">
          <p:sp>
            <p:nvSpPr>
              <p:cNvPr id="16" name="コンテンツ プレースホルダー 9">
                <a:extLst>
                  <a:ext uri="{FF2B5EF4-FFF2-40B4-BE49-F238E27FC236}">
                    <a16:creationId xmlns:a16="http://schemas.microsoft.com/office/drawing/2014/main" id="{CCB6E7EC-BA14-BEA3-6152-2C74F9FB14CE}"/>
                  </a:ext>
                </a:extLst>
              </p:cNvPr>
              <p:cNvSpPr txBox="1">
                <a:spLocks noRot="1" noChangeAspect="1" noMove="1" noResize="1" noEditPoints="1" noAdjustHandles="1" noChangeArrowheads="1" noChangeShapeType="1" noTextEdit="1"/>
              </p:cNvSpPr>
              <p:nvPr/>
            </p:nvSpPr>
            <p:spPr>
              <a:xfrm>
                <a:off x="546100" y="3241221"/>
                <a:ext cx="5950116" cy="3505601"/>
              </a:xfrm>
              <a:prstGeom prst="rect">
                <a:avLst/>
              </a:prstGeom>
              <a:blipFill>
                <a:blip r:embed="rId3"/>
                <a:stretch>
                  <a:fillRect l="-1279" t="-36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311995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正方形/長方形 48">
            <a:extLst>
              <a:ext uri="{FF2B5EF4-FFF2-40B4-BE49-F238E27FC236}">
                <a16:creationId xmlns:a16="http://schemas.microsoft.com/office/drawing/2014/main" id="{4CA6DF7D-B94D-4BC5-3BB1-6490E7690F20}"/>
              </a:ext>
            </a:extLst>
          </p:cNvPr>
          <p:cNvSpPr/>
          <p:nvPr/>
        </p:nvSpPr>
        <p:spPr>
          <a:xfrm>
            <a:off x="0" y="834716"/>
            <a:ext cx="12192000" cy="197234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B97C6627-A80B-103B-B8DF-13AFFD473547}"/>
              </a:ext>
            </a:extLst>
          </p:cNvPr>
          <p:cNvSpPr>
            <a:spLocks noGrp="1"/>
          </p:cNvSpPr>
          <p:nvPr>
            <p:ph idx="1"/>
          </p:nvPr>
        </p:nvSpPr>
        <p:spPr>
          <a:xfrm>
            <a:off x="546100" y="1038484"/>
            <a:ext cx="11099799" cy="1768579"/>
          </a:xfrm>
        </p:spPr>
        <p:txBody>
          <a:bodyPr>
            <a:normAutofit/>
          </a:bodyPr>
          <a:lstStyle/>
          <a:p>
            <a:pPr marL="0" indent="0">
              <a:buNone/>
            </a:pPr>
            <a:r>
              <a:rPr lang="ja-JP" altLang="en-US"/>
              <a:t>目的と方法</a:t>
            </a:r>
            <a:endParaRPr lang="en-US" altLang="ja-JP" dirty="0"/>
          </a:p>
          <a:p>
            <a:r>
              <a:rPr lang="ja-JP" altLang="en-US" sz="1800" b="0"/>
              <a:t>反応時間を短くして早く実験を終わらせれるようにする</a:t>
            </a:r>
            <a:endParaRPr lang="en-US" altLang="ja-JP" sz="1800" b="0" dirty="0"/>
          </a:p>
          <a:p>
            <a:r>
              <a:rPr lang="en-US" altLang="ja-JP" sz="1800" b="0" dirty="0"/>
              <a:t>DCA</a:t>
            </a:r>
            <a:r>
              <a:rPr lang="ja-JP" altLang="en-US" sz="1800" b="0"/>
              <a:t>を添加し、</a:t>
            </a:r>
            <a:r>
              <a:rPr lang="en-US" altLang="ja-JP" sz="1800" b="0" dirty="0"/>
              <a:t>1, 2, 3, 5h</a:t>
            </a:r>
            <a:r>
              <a:rPr lang="ja-JP" altLang="en-US" sz="1800" b="0"/>
              <a:t>反応させ、それぞれについて発光測定</a:t>
            </a:r>
            <a:endParaRPr lang="en-US" altLang="ja-JP" sz="1800" b="0" dirty="0"/>
          </a:p>
          <a:p>
            <a:pPr marL="0" indent="0">
              <a:buNone/>
            </a:pPr>
            <a:endParaRPr lang="en-US" altLang="ja-JP" dirty="0"/>
          </a:p>
        </p:txBody>
      </p:sp>
      <p:sp>
        <p:nvSpPr>
          <p:cNvPr id="4" name="テキスト プレースホルダー 3">
            <a:extLst>
              <a:ext uri="{FF2B5EF4-FFF2-40B4-BE49-F238E27FC236}">
                <a16:creationId xmlns:a16="http://schemas.microsoft.com/office/drawing/2014/main" id="{7B1752D7-312D-512A-9C55-168BF375C2B8}"/>
              </a:ext>
            </a:extLst>
          </p:cNvPr>
          <p:cNvSpPr>
            <a:spLocks noGrp="1"/>
          </p:cNvSpPr>
          <p:nvPr>
            <p:ph type="body" sz="quarter" idx="11"/>
          </p:nvPr>
        </p:nvSpPr>
        <p:spPr/>
        <p:txBody>
          <a:bodyPr/>
          <a:lstStyle/>
          <a:p>
            <a:r>
              <a:rPr kumimoji="1" lang="ja-JP" altLang="en-US"/>
              <a:t>評価系改善実験</a:t>
            </a:r>
            <a:r>
              <a:rPr kumimoji="1" lang="en-US" altLang="ja-JP" dirty="0"/>
              <a:t>2</a:t>
            </a:r>
            <a:r>
              <a:rPr lang="ja-JP" altLang="en-US"/>
              <a:t>：</a:t>
            </a:r>
            <a:r>
              <a:rPr lang="en-US" altLang="ja-JP" dirty="0"/>
              <a:t>DCA</a:t>
            </a:r>
            <a:r>
              <a:rPr lang="ja-JP" altLang="en-US"/>
              <a:t>反応時間の検討</a:t>
            </a:r>
            <a:endParaRPr kumimoji="1" lang="en-US" altLang="ja-JP" dirty="0"/>
          </a:p>
        </p:txBody>
      </p:sp>
      <p:sp>
        <p:nvSpPr>
          <p:cNvPr id="45" name="コンテンツ プレースホルダー 2">
            <a:extLst>
              <a:ext uri="{FF2B5EF4-FFF2-40B4-BE49-F238E27FC236}">
                <a16:creationId xmlns:a16="http://schemas.microsoft.com/office/drawing/2014/main" id="{714FCA20-6166-9ABA-30FF-5D3A8176C2FA}"/>
              </a:ext>
            </a:extLst>
          </p:cNvPr>
          <p:cNvSpPr txBox="1">
            <a:spLocks/>
          </p:cNvSpPr>
          <p:nvPr/>
        </p:nvSpPr>
        <p:spPr>
          <a:xfrm>
            <a:off x="546100" y="3010830"/>
            <a:ext cx="6323827" cy="3612607"/>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結果と考察</a:t>
            </a:r>
            <a:endParaRPr lang="en-US" altLang="ja-JP" dirty="0"/>
          </a:p>
          <a:p>
            <a:r>
              <a:rPr lang="ja-JP" altLang="en-US" sz="1800" b="0"/>
              <a:t>時間に依存してルシフェラーゼの発現量が増加</a:t>
            </a:r>
            <a:endParaRPr lang="en-US" altLang="ja-JP" sz="1800" b="0" dirty="0"/>
          </a:p>
          <a:p>
            <a:pPr lvl="1"/>
            <a:r>
              <a:rPr lang="ja-JP" altLang="en-US" sz="1600" b="0"/>
              <a:t>ルシフェラーゼの発現量が上限に達している場合、ペプチドを共添加してもさらなる活性が望めない可能性</a:t>
            </a:r>
            <a:endParaRPr lang="en-US" altLang="ja-JP" sz="1600" dirty="0"/>
          </a:p>
          <a:p>
            <a:pPr lvl="1"/>
            <a:r>
              <a:rPr lang="en-US" altLang="ja-JP" sz="1600" b="0" dirty="0"/>
              <a:t>2</a:t>
            </a:r>
            <a:r>
              <a:rPr lang="ja-JP" altLang="en-US" sz="1600" b="0"/>
              <a:t>時間でも</a:t>
            </a:r>
            <a:r>
              <a:rPr lang="en-US" altLang="ja-JP" sz="1600" dirty="0"/>
              <a:t>DCA</a:t>
            </a:r>
            <a:r>
              <a:rPr lang="ja-JP" altLang="en-US" sz="1600"/>
              <a:t>を添加しない場合と比べて、</a:t>
            </a:r>
            <a:r>
              <a:rPr lang="en-US" altLang="ja-JP" sz="1600" dirty="0"/>
              <a:t>Luc activity</a:t>
            </a:r>
            <a:r>
              <a:rPr lang="ja-JP" altLang="en-US" sz="1600"/>
              <a:t>には有意差がでるため、</a:t>
            </a:r>
            <a:r>
              <a:rPr lang="en-US" altLang="ja-JP" sz="1600" dirty="0"/>
              <a:t>2</a:t>
            </a:r>
            <a:r>
              <a:rPr lang="ja-JP" altLang="en-US" sz="1600"/>
              <a:t>時間で行う</a:t>
            </a:r>
            <a:endParaRPr lang="en-US" altLang="ja-JP" sz="1600" b="0" dirty="0"/>
          </a:p>
          <a:p>
            <a:r>
              <a:rPr lang="en-US" altLang="ja-JP" sz="1800" b="0" dirty="0"/>
              <a:t>DCA</a:t>
            </a:r>
            <a:r>
              <a:rPr lang="ja-JP" altLang="en-US" sz="1800" b="0"/>
              <a:t>濃度は</a:t>
            </a:r>
            <a:r>
              <a:rPr lang="en-US" altLang="ja-JP" sz="1800" b="0" dirty="0"/>
              <a:t>20µM</a:t>
            </a:r>
            <a:r>
              <a:rPr lang="ja-JP" altLang="en-US" sz="1800" b="0"/>
              <a:t>で行っている</a:t>
            </a:r>
            <a:endParaRPr lang="en-US" altLang="ja-JP" sz="1800" b="0" dirty="0"/>
          </a:p>
          <a:p>
            <a:pPr lvl="1"/>
            <a:r>
              <a:rPr lang="en-US" altLang="ja-JP" sz="1600" dirty="0"/>
              <a:t>DCA</a:t>
            </a:r>
            <a:r>
              <a:rPr lang="ja-JP" altLang="en-US" sz="1600"/>
              <a:t>の</a:t>
            </a:r>
            <a:r>
              <a:rPr lang="en-US" altLang="ja-JP" sz="1600" dirty="0"/>
              <a:t>TGR5</a:t>
            </a:r>
            <a:r>
              <a:rPr lang="ja-JP" altLang="en-US" sz="1600"/>
              <a:t>に対する</a:t>
            </a:r>
            <a:r>
              <a:rPr lang="en-US" altLang="ja-JP" sz="1600" dirty="0"/>
              <a:t>EC50</a:t>
            </a:r>
            <a:r>
              <a:rPr lang="ja-JP" altLang="en-US" sz="1600"/>
              <a:t>は</a:t>
            </a:r>
            <a:r>
              <a:rPr lang="en-US" altLang="ja-JP" sz="1600" dirty="0"/>
              <a:t>1.01µM</a:t>
            </a:r>
            <a:r>
              <a:rPr lang="ja-JP" altLang="en-US" sz="1600"/>
              <a:t>と報告されており、高い濃度で行っている</a:t>
            </a:r>
            <a:endParaRPr lang="en-US" altLang="ja-JP" sz="1600" dirty="0"/>
          </a:p>
          <a:p>
            <a:pPr lvl="1"/>
            <a:r>
              <a:rPr lang="en-US" altLang="ja-JP" sz="1600" b="0" dirty="0"/>
              <a:t>DCA</a:t>
            </a:r>
            <a:r>
              <a:rPr lang="ja-JP" altLang="en-US" sz="1600" b="0"/>
              <a:t>濃度に対する検討も行う</a:t>
            </a:r>
          </a:p>
          <a:p>
            <a:pPr marL="0" indent="0">
              <a:buNone/>
            </a:pPr>
            <a:endParaRPr lang="en-US" altLang="ja-JP" sz="1800" b="0" dirty="0"/>
          </a:p>
        </p:txBody>
      </p:sp>
      <p:sp>
        <p:nvSpPr>
          <p:cNvPr id="48" name="テキスト ボックス 47">
            <a:extLst>
              <a:ext uri="{FF2B5EF4-FFF2-40B4-BE49-F238E27FC236}">
                <a16:creationId xmlns:a16="http://schemas.microsoft.com/office/drawing/2014/main" id="{B5167E13-B097-8A40-9605-EA416036AE4B}"/>
              </a:ext>
            </a:extLst>
          </p:cNvPr>
          <p:cNvSpPr txBox="1"/>
          <p:nvPr/>
        </p:nvSpPr>
        <p:spPr>
          <a:xfrm>
            <a:off x="7424380" y="6005883"/>
            <a:ext cx="3849902" cy="307777"/>
          </a:xfrm>
          <a:prstGeom prst="rect">
            <a:avLst/>
          </a:prstGeom>
          <a:noFill/>
        </p:spPr>
        <p:txBody>
          <a:bodyPr wrap="square" rtlCol="0">
            <a:spAutoFit/>
          </a:bodyPr>
          <a:lstStyle/>
          <a:p>
            <a:pPr algn="ctr"/>
            <a:r>
              <a:rPr lang="ja-JP" altLang="en-US" sz="1400"/>
              <a:t>各反応時間での</a:t>
            </a:r>
            <a:r>
              <a:rPr lang="en-US" altLang="ja-JP" sz="1400" dirty="0"/>
              <a:t>Luc activity</a:t>
            </a:r>
            <a:endParaRPr kumimoji="1" lang="ja-JP" altLang="en-US" sz="1400"/>
          </a:p>
        </p:txBody>
      </p:sp>
      <p:graphicFrame>
        <p:nvGraphicFramePr>
          <p:cNvPr id="5" name="グラフ 4">
            <a:extLst>
              <a:ext uri="{FF2B5EF4-FFF2-40B4-BE49-F238E27FC236}">
                <a16:creationId xmlns:a16="http://schemas.microsoft.com/office/drawing/2014/main" id="{DF7EA9EE-9364-2342-BC69-84DF61146E15}"/>
              </a:ext>
            </a:extLst>
          </p:cNvPr>
          <p:cNvGraphicFramePr>
            <a:graphicFrameLocks/>
          </p:cNvGraphicFramePr>
          <p:nvPr>
            <p:extLst>
              <p:ext uri="{D42A27DB-BD31-4B8C-83A1-F6EECF244321}">
                <p14:modId xmlns:p14="http://schemas.microsoft.com/office/powerpoint/2010/main" val="4270567780"/>
              </p:ext>
            </p:extLst>
          </p:nvPr>
        </p:nvGraphicFramePr>
        <p:xfrm>
          <a:off x="6869927" y="3429000"/>
          <a:ext cx="4958808" cy="27307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87367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C8F5410E-37F1-F568-79FE-4157C5EC0F67}"/>
              </a:ext>
            </a:extLst>
          </p:cNvPr>
          <p:cNvSpPr>
            <a:spLocks noGrp="1"/>
          </p:cNvSpPr>
          <p:nvPr>
            <p:ph type="body" sz="quarter" idx="11"/>
          </p:nvPr>
        </p:nvSpPr>
        <p:spPr/>
        <p:txBody>
          <a:bodyPr/>
          <a:lstStyle/>
          <a:p>
            <a:r>
              <a:rPr lang="ja-JP" altLang="en-US"/>
              <a:t>トピック</a:t>
            </a:r>
            <a:endParaRPr kumimoji="1" lang="ja-JP" altLang="en-US"/>
          </a:p>
        </p:txBody>
      </p:sp>
      <p:grpSp>
        <p:nvGrpSpPr>
          <p:cNvPr id="2" name="グループ化 1">
            <a:extLst>
              <a:ext uri="{FF2B5EF4-FFF2-40B4-BE49-F238E27FC236}">
                <a16:creationId xmlns:a16="http://schemas.microsoft.com/office/drawing/2014/main" id="{315D6790-7B84-54B6-1F74-EC5317CFC401}"/>
              </a:ext>
            </a:extLst>
          </p:cNvPr>
          <p:cNvGrpSpPr/>
          <p:nvPr/>
        </p:nvGrpSpPr>
        <p:grpSpPr>
          <a:xfrm>
            <a:off x="2796763" y="2622140"/>
            <a:ext cx="6598473" cy="1613720"/>
            <a:chOff x="3252448" y="2811742"/>
            <a:chExt cx="6598473" cy="1613720"/>
          </a:xfrm>
        </p:grpSpPr>
        <p:sp>
          <p:nvSpPr>
            <p:cNvPr id="7" name="テキスト ボックス 6">
              <a:extLst>
                <a:ext uri="{FF2B5EF4-FFF2-40B4-BE49-F238E27FC236}">
                  <a16:creationId xmlns:a16="http://schemas.microsoft.com/office/drawing/2014/main" id="{AD970EA2-D8D6-C88C-90D5-50A2A75A5331}"/>
                </a:ext>
              </a:extLst>
            </p:cNvPr>
            <p:cNvSpPr txBox="1"/>
            <p:nvPr/>
          </p:nvSpPr>
          <p:spPr>
            <a:xfrm>
              <a:off x="3252448" y="2811742"/>
              <a:ext cx="4254563" cy="523220"/>
            </a:xfrm>
            <a:prstGeom prst="rect">
              <a:avLst/>
            </a:prstGeom>
            <a:noFill/>
          </p:spPr>
          <p:txBody>
            <a:bodyPr wrap="none" rtlCol="0">
              <a:spAutoFit/>
            </a:bodyPr>
            <a:lstStyle/>
            <a:p>
              <a:r>
                <a:rPr kumimoji="1" lang="en-US" altLang="ja-JP" sz="2800" dirty="0">
                  <a:solidFill>
                    <a:schemeClr val="tx1">
                      <a:lumMod val="60000"/>
                      <a:lumOff val="40000"/>
                    </a:schemeClr>
                  </a:solidFill>
                </a:rPr>
                <a:t>1. TGR5</a:t>
              </a:r>
              <a:r>
                <a:rPr kumimoji="1" lang="ja-JP" altLang="en-US" sz="2800">
                  <a:solidFill>
                    <a:schemeClr val="tx1">
                      <a:lumMod val="60000"/>
                      <a:lumOff val="40000"/>
                    </a:schemeClr>
                  </a:solidFill>
                </a:rPr>
                <a:t>活性評価系の改善</a:t>
              </a:r>
            </a:p>
          </p:txBody>
        </p:sp>
        <p:sp>
          <p:nvSpPr>
            <p:cNvPr id="8" name="テキスト ボックス 7">
              <a:extLst>
                <a:ext uri="{FF2B5EF4-FFF2-40B4-BE49-F238E27FC236}">
                  <a16:creationId xmlns:a16="http://schemas.microsoft.com/office/drawing/2014/main" id="{D069B13F-41CF-DC6B-6CEB-AF79023C36A9}"/>
                </a:ext>
              </a:extLst>
            </p:cNvPr>
            <p:cNvSpPr txBox="1"/>
            <p:nvPr/>
          </p:nvSpPr>
          <p:spPr>
            <a:xfrm>
              <a:off x="3252448" y="3902242"/>
              <a:ext cx="6598473" cy="523220"/>
            </a:xfrm>
            <a:prstGeom prst="rect">
              <a:avLst/>
            </a:prstGeom>
            <a:noFill/>
          </p:spPr>
          <p:txBody>
            <a:bodyPr wrap="none" rtlCol="0">
              <a:spAutoFit/>
            </a:bodyPr>
            <a:lstStyle/>
            <a:p>
              <a:r>
                <a:rPr lang="en-US" altLang="ja-JP" sz="2800" u="sng" dirty="0"/>
                <a:t>2. TGR5</a:t>
              </a:r>
              <a:r>
                <a:rPr lang="ja-JP" altLang="en-US" sz="2800" u="sng"/>
                <a:t>アゴニスト類似ペプチドの探索</a:t>
              </a:r>
              <a:endParaRPr kumimoji="1" lang="ja-JP" altLang="en-US" sz="2800" u="sng"/>
            </a:p>
          </p:txBody>
        </p:sp>
      </p:grpSp>
    </p:spTree>
    <p:extLst>
      <p:ext uri="{BB962C8B-B14F-4D97-AF65-F5344CB8AC3E}">
        <p14:creationId xmlns:p14="http://schemas.microsoft.com/office/powerpoint/2010/main" val="3258850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00150F0-C833-40E6-6353-CD6FEAFE142A}"/>
              </a:ext>
            </a:extLst>
          </p:cNvPr>
          <p:cNvSpPr>
            <a:spLocks noGrp="1"/>
          </p:cNvSpPr>
          <p:nvPr>
            <p:ph idx="1"/>
          </p:nvPr>
        </p:nvSpPr>
        <p:spPr>
          <a:xfrm>
            <a:off x="546100" y="1038484"/>
            <a:ext cx="6218842" cy="469900"/>
          </a:xfrm>
        </p:spPr>
        <p:txBody>
          <a:bodyPr/>
          <a:lstStyle/>
          <a:p>
            <a:pPr marL="0" indent="0">
              <a:buNone/>
            </a:pPr>
            <a:r>
              <a:rPr kumimoji="1" lang="ja-JP" altLang="en-US">
                <a:solidFill>
                  <a:schemeClr val="accent4"/>
                </a:solidFill>
              </a:rPr>
              <a:t>フィンガープリント</a:t>
            </a:r>
            <a:r>
              <a:rPr kumimoji="1" lang="ja-JP" altLang="en-US"/>
              <a:t>：化学構造の特徴ベクトル表現</a:t>
            </a:r>
            <a:endParaRPr kumimoji="1" lang="en-US" altLang="ja-JP" dirty="0"/>
          </a:p>
        </p:txBody>
      </p:sp>
      <p:sp>
        <p:nvSpPr>
          <p:cNvPr id="4" name="テキスト プレースホルダー 3">
            <a:extLst>
              <a:ext uri="{FF2B5EF4-FFF2-40B4-BE49-F238E27FC236}">
                <a16:creationId xmlns:a16="http://schemas.microsoft.com/office/drawing/2014/main" id="{60D01359-DA9B-4D88-5535-86FA9C52D90F}"/>
              </a:ext>
            </a:extLst>
          </p:cNvPr>
          <p:cNvSpPr>
            <a:spLocks noGrp="1"/>
          </p:cNvSpPr>
          <p:nvPr>
            <p:ph type="body" sz="quarter" idx="11"/>
          </p:nvPr>
        </p:nvSpPr>
        <p:spPr/>
        <p:txBody>
          <a:bodyPr/>
          <a:lstStyle/>
          <a:p>
            <a:r>
              <a:rPr kumimoji="1" lang="ja-JP" altLang="en-US"/>
              <a:t>フィンガープリントについて</a:t>
            </a:r>
          </a:p>
        </p:txBody>
      </p:sp>
      <p:sp>
        <p:nvSpPr>
          <p:cNvPr id="6" name="コンテンツ プレースホルダー 2">
            <a:extLst>
              <a:ext uri="{FF2B5EF4-FFF2-40B4-BE49-F238E27FC236}">
                <a16:creationId xmlns:a16="http://schemas.microsoft.com/office/drawing/2014/main" id="{40055A9F-4A53-B2CC-F04E-3189E6CB560E}"/>
              </a:ext>
            </a:extLst>
          </p:cNvPr>
          <p:cNvSpPr txBox="1">
            <a:spLocks/>
          </p:cNvSpPr>
          <p:nvPr/>
        </p:nvSpPr>
        <p:spPr>
          <a:xfrm>
            <a:off x="546099" y="1652337"/>
            <a:ext cx="10967389" cy="1654258"/>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化合物の構造の中で特徴的な部分構造を構造フラグメントとしてあらかじめ定義</a:t>
            </a:r>
          </a:p>
          <a:p>
            <a:r>
              <a:rPr lang="ja-JP" altLang="en-US" sz="1800" b="0"/>
              <a:t>注目している化合物が、各フラグメントを持つか持たないかの情報をビット</a:t>
            </a:r>
            <a:r>
              <a:rPr lang="en-US" altLang="ja-JP" sz="1800" b="0" dirty="0"/>
              <a:t>(0</a:t>
            </a:r>
            <a:r>
              <a:rPr lang="ja-JP" altLang="en-US" sz="1800" b="0"/>
              <a:t>か</a:t>
            </a:r>
            <a:r>
              <a:rPr lang="en-US" altLang="ja-JP" sz="1800" b="0" dirty="0"/>
              <a:t>1</a:t>
            </a:r>
            <a:r>
              <a:rPr lang="ja-JP" altLang="en-US" sz="1800" b="0"/>
              <a:t>か</a:t>
            </a:r>
            <a:r>
              <a:rPr lang="en-US" altLang="ja-JP" sz="1800" b="0" dirty="0"/>
              <a:t>)</a:t>
            </a:r>
            <a:r>
              <a:rPr lang="ja-JP" altLang="en-US" sz="1800" b="0"/>
              <a:t>として羅列</a:t>
            </a:r>
          </a:p>
        </p:txBody>
      </p:sp>
      <p:sp>
        <p:nvSpPr>
          <p:cNvPr id="9" name="コンテンツ プレースホルダー 2">
            <a:extLst>
              <a:ext uri="{FF2B5EF4-FFF2-40B4-BE49-F238E27FC236}">
                <a16:creationId xmlns:a16="http://schemas.microsoft.com/office/drawing/2014/main" id="{3055E563-A171-B5EF-DECB-5016C913AB7C}"/>
              </a:ext>
            </a:extLst>
          </p:cNvPr>
          <p:cNvSpPr txBox="1">
            <a:spLocks/>
          </p:cNvSpPr>
          <p:nvPr/>
        </p:nvSpPr>
        <p:spPr>
          <a:xfrm>
            <a:off x="546100" y="3341283"/>
            <a:ext cx="11119874" cy="469900"/>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en-US" altLang="ja-JP" dirty="0" err="1">
                <a:solidFill>
                  <a:schemeClr val="accent4"/>
                </a:solidFill>
              </a:rPr>
              <a:t>Tanimoto</a:t>
            </a:r>
            <a:r>
              <a:rPr lang="ja-JP" altLang="en-US">
                <a:solidFill>
                  <a:schemeClr val="accent4"/>
                </a:solidFill>
              </a:rPr>
              <a:t>係数</a:t>
            </a:r>
            <a:r>
              <a:rPr lang="ja-JP" altLang="en-US"/>
              <a:t>：フィンガープリントに基づく類似度評価法</a:t>
            </a:r>
            <a:endParaRPr lang="en-US" altLang="ja-JP" dirty="0"/>
          </a:p>
        </p:txBody>
      </p:sp>
      <p:pic>
        <p:nvPicPr>
          <p:cNvPr id="13" name="図 12" descr="テーブル, カレンダー&#10;&#10;自動的に生成された説明">
            <a:extLst>
              <a:ext uri="{FF2B5EF4-FFF2-40B4-BE49-F238E27FC236}">
                <a16:creationId xmlns:a16="http://schemas.microsoft.com/office/drawing/2014/main" id="{2BEA04EC-A2B3-32B5-22E3-5A4370590B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312" y="5226319"/>
            <a:ext cx="4723008" cy="1007112"/>
          </a:xfrm>
          <a:prstGeom prst="rect">
            <a:avLst/>
          </a:prstGeom>
        </p:spPr>
      </p:pic>
      <mc:AlternateContent xmlns:mc="http://schemas.openxmlformats.org/markup-compatibility/2006" xmlns:a14="http://schemas.microsoft.com/office/drawing/2010/main">
        <mc:Choice Requires="a14">
          <p:sp>
            <p:nvSpPr>
              <p:cNvPr id="14" name="コンテンツ プレースホルダー 2">
                <a:extLst>
                  <a:ext uri="{FF2B5EF4-FFF2-40B4-BE49-F238E27FC236}">
                    <a16:creationId xmlns:a16="http://schemas.microsoft.com/office/drawing/2014/main" id="{17A20AF2-7BBB-1E32-82C8-EF3973245CD1}"/>
                  </a:ext>
                </a:extLst>
              </p:cNvPr>
              <p:cNvSpPr txBox="1">
                <a:spLocks/>
              </p:cNvSpPr>
              <p:nvPr/>
            </p:nvSpPr>
            <p:spPr>
              <a:xfrm>
                <a:off x="546100" y="4014502"/>
                <a:ext cx="6777192" cy="837266"/>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ja-JP" b="1" i="1" smtClean="0">
                          <a:latin typeface="Cambria Math" panose="02040503050406030204" pitchFamily="18" charset="0"/>
                        </a:rPr>
                        <m:t>𝑻</m:t>
                      </m:r>
                      <m:d>
                        <m:dPr>
                          <m:ctrlPr>
                            <a:rPr lang="en-US" altLang="ja-JP" i="1" smtClean="0">
                              <a:latin typeface="Cambria Math" panose="02040503050406030204" pitchFamily="18" charset="0"/>
                            </a:rPr>
                          </m:ctrlPr>
                        </m:dPr>
                        <m:e>
                          <m:r>
                            <a:rPr lang="en-US" altLang="ja-JP" b="1" i="1" smtClean="0">
                              <a:latin typeface="Cambria Math" panose="02040503050406030204" pitchFamily="18" charset="0"/>
                            </a:rPr>
                            <m:t>𝑨</m:t>
                          </m:r>
                          <m:r>
                            <a:rPr lang="en-US" altLang="ja-JP" b="1" i="1" smtClean="0">
                              <a:latin typeface="Cambria Math" panose="02040503050406030204" pitchFamily="18" charset="0"/>
                            </a:rPr>
                            <m:t>, </m:t>
                          </m:r>
                          <m:r>
                            <a:rPr lang="en-US" altLang="ja-JP" b="1" i="1" smtClean="0">
                              <a:latin typeface="Cambria Math" panose="02040503050406030204" pitchFamily="18" charset="0"/>
                            </a:rPr>
                            <m:t>𝑩</m:t>
                          </m:r>
                        </m:e>
                      </m:d>
                      <m:r>
                        <a:rPr lang="en-US" altLang="ja-JP" b="1" i="1" smtClean="0">
                          <a:latin typeface="Cambria Math" panose="02040503050406030204" pitchFamily="18" charset="0"/>
                        </a:rPr>
                        <m:t>= </m:t>
                      </m:r>
                      <m:f>
                        <m:fPr>
                          <m:ctrlPr>
                            <a:rPr lang="en-US" altLang="ja-JP" i="1" smtClean="0">
                              <a:latin typeface="Cambria Math" panose="02040503050406030204" pitchFamily="18" charset="0"/>
                            </a:rPr>
                          </m:ctrlPr>
                        </m:fPr>
                        <m:num>
                          <m:r>
                            <a:rPr lang="en-US" altLang="ja-JP" b="1" i="1" smtClean="0">
                              <a:latin typeface="Cambria Math" panose="02040503050406030204" pitchFamily="18" charset="0"/>
                            </a:rPr>
                            <m:t>|</m:t>
                          </m:r>
                          <m:r>
                            <a:rPr lang="en-US" altLang="ja-JP" b="1" i="1" smtClean="0">
                              <a:latin typeface="Cambria Math" panose="02040503050406030204" pitchFamily="18" charset="0"/>
                            </a:rPr>
                            <m:t>𝑨</m:t>
                          </m:r>
                          <m:r>
                            <a:rPr lang="en-US" altLang="ja-JP" b="1" i="1" smtClean="0">
                              <a:latin typeface="Cambria Math" panose="02040503050406030204" pitchFamily="18" charset="0"/>
                              <a:ea typeface="Cambria Math" panose="02040503050406030204" pitchFamily="18" charset="0"/>
                            </a:rPr>
                            <m:t>∩</m:t>
                          </m:r>
                          <m:r>
                            <a:rPr lang="en-US" altLang="ja-JP" b="1" i="1" smtClean="0">
                              <a:latin typeface="Cambria Math" panose="02040503050406030204" pitchFamily="18" charset="0"/>
                              <a:ea typeface="Cambria Math" panose="02040503050406030204" pitchFamily="18" charset="0"/>
                            </a:rPr>
                            <m:t>𝑩</m:t>
                          </m:r>
                          <m:r>
                            <a:rPr lang="en-US" altLang="ja-JP" b="1" i="1" smtClean="0">
                              <a:latin typeface="Cambria Math" panose="02040503050406030204" pitchFamily="18" charset="0"/>
                            </a:rPr>
                            <m:t>|</m:t>
                          </m:r>
                        </m:num>
                        <m:den>
                          <m:r>
                            <a:rPr lang="en-US" altLang="ja-JP" b="1" i="1" smtClean="0">
                              <a:latin typeface="Cambria Math" panose="02040503050406030204" pitchFamily="18" charset="0"/>
                            </a:rPr>
                            <m:t>|</m:t>
                          </m:r>
                          <m:r>
                            <a:rPr lang="en-US" altLang="ja-JP" b="1" i="1" smtClean="0">
                              <a:latin typeface="Cambria Math" panose="02040503050406030204" pitchFamily="18" charset="0"/>
                            </a:rPr>
                            <m:t>𝑨</m:t>
                          </m:r>
                          <m:r>
                            <a:rPr lang="en-US" altLang="ja-JP" b="1" i="1" smtClean="0">
                              <a:latin typeface="Cambria Math" panose="02040503050406030204" pitchFamily="18" charset="0"/>
                              <a:ea typeface="Cambria Math" panose="02040503050406030204" pitchFamily="18" charset="0"/>
                            </a:rPr>
                            <m:t>∪</m:t>
                          </m:r>
                          <m:r>
                            <a:rPr lang="en-US" altLang="ja-JP" b="1" i="1" smtClean="0">
                              <a:latin typeface="Cambria Math" panose="02040503050406030204" pitchFamily="18" charset="0"/>
                              <a:ea typeface="Cambria Math" panose="02040503050406030204" pitchFamily="18" charset="0"/>
                            </a:rPr>
                            <m:t>𝑩</m:t>
                          </m:r>
                          <m:r>
                            <a:rPr lang="en-US" altLang="ja-JP" b="1" i="1" smtClean="0">
                              <a:latin typeface="Cambria Math" panose="02040503050406030204" pitchFamily="18" charset="0"/>
                            </a:rPr>
                            <m:t>|</m:t>
                          </m:r>
                        </m:den>
                      </m:f>
                    </m:oMath>
                  </m:oMathPara>
                </a14:m>
                <a:endParaRPr lang="ja-JP" altLang="en-US" sz="1800"/>
              </a:p>
              <a:p>
                <a:pPr marL="0" indent="0">
                  <a:buNone/>
                </a:pPr>
                <a:endParaRPr lang="ja-JP" altLang="en-US" b="0"/>
              </a:p>
            </p:txBody>
          </p:sp>
        </mc:Choice>
        <mc:Fallback xmlns="">
          <p:sp>
            <p:nvSpPr>
              <p:cNvPr id="14" name="コンテンツ プレースホルダー 2">
                <a:extLst>
                  <a:ext uri="{FF2B5EF4-FFF2-40B4-BE49-F238E27FC236}">
                    <a16:creationId xmlns:a16="http://schemas.microsoft.com/office/drawing/2014/main" id="{17A20AF2-7BBB-1E32-82C8-EF3973245CD1}"/>
                  </a:ext>
                </a:extLst>
              </p:cNvPr>
              <p:cNvSpPr txBox="1">
                <a:spLocks noRot="1" noChangeAspect="1" noMove="1" noResize="1" noEditPoints="1" noAdjustHandles="1" noChangeArrowheads="1" noChangeShapeType="1" noTextEdit="1"/>
              </p:cNvSpPr>
              <p:nvPr/>
            </p:nvSpPr>
            <p:spPr>
              <a:xfrm>
                <a:off x="546100" y="4014502"/>
                <a:ext cx="6777192" cy="837266"/>
              </a:xfrm>
              <a:prstGeom prst="rect">
                <a:avLst/>
              </a:prstGeom>
              <a:blipFill>
                <a:blip r:embed="rId3"/>
                <a:stretch>
                  <a:fillRect b="-149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コンテンツ プレースホルダー 2">
                <a:extLst>
                  <a:ext uri="{FF2B5EF4-FFF2-40B4-BE49-F238E27FC236}">
                    <a16:creationId xmlns:a16="http://schemas.microsoft.com/office/drawing/2014/main" id="{169DAF86-D122-05B2-BBAA-480A8A3E54C2}"/>
                  </a:ext>
                </a:extLst>
              </p:cNvPr>
              <p:cNvSpPr txBox="1">
                <a:spLocks/>
              </p:cNvSpPr>
              <p:nvPr/>
            </p:nvSpPr>
            <p:spPr>
              <a:xfrm>
                <a:off x="5478308" y="4018806"/>
                <a:ext cx="6167592" cy="837266"/>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14:m>
                  <m:oMath xmlns:m="http://schemas.openxmlformats.org/officeDocument/2006/math">
                    <m:d>
                      <m:dPr>
                        <m:begChr m:val="|"/>
                        <m:endChr m:val="|"/>
                        <m:ctrlPr>
                          <a:rPr lang="en-US" altLang="ja-JP" sz="1600" b="0" i="1">
                            <a:latin typeface="Cambria Math" panose="02040503050406030204" pitchFamily="18" charset="0"/>
                          </a:rPr>
                        </m:ctrlPr>
                      </m:dPr>
                      <m:e>
                        <m:r>
                          <a:rPr lang="en-US" altLang="ja-JP" sz="1600" b="0" i="1">
                            <a:latin typeface="Cambria Math" panose="02040503050406030204" pitchFamily="18" charset="0"/>
                          </a:rPr>
                          <m:t>𝐴</m:t>
                        </m:r>
                        <m:r>
                          <a:rPr lang="en-US" altLang="ja-JP" sz="1600" b="0" i="1">
                            <a:latin typeface="Cambria Math" panose="02040503050406030204" pitchFamily="18" charset="0"/>
                            <a:ea typeface="Cambria Math" panose="02040503050406030204" pitchFamily="18" charset="0"/>
                          </a:rPr>
                          <m:t>∩</m:t>
                        </m:r>
                        <m:r>
                          <a:rPr lang="en-US" altLang="ja-JP" sz="1600" b="0" i="1">
                            <a:latin typeface="Cambria Math" panose="02040503050406030204" pitchFamily="18" charset="0"/>
                            <a:ea typeface="Cambria Math" panose="02040503050406030204" pitchFamily="18" charset="0"/>
                          </a:rPr>
                          <m:t>𝐵</m:t>
                        </m:r>
                      </m:e>
                    </m:d>
                  </m:oMath>
                </a14:m>
                <a:r>
                  <a:rPr lang="ja-JP" altLang="en-US" sz="1600" b="0"/>
                  <a:t>：</a:t>
                </a:r>
                <a:r>
                  <a:rPr lang="en-US" altLang="ja-JP" sz="1600" b="0" dirty="0"/>
                  <a:t>A</a:t>
                </a:r>
                <a:r>
                  <a:rPr lang="ja-JP" altLang="en-US" sz="1600" b="0"/>
                  <a:t>と</a:t>
                </a:r>
                <a:r>
                  <a:rPr lang="en-US" altLang="ja-JP" sz="1600" b="0" dirty="0"/>
                  <a:t>B</a:t>
                </a:r>
                <a:r>
                  <a:rPr lang="ja-JP" altLang="en-US" sz="1600" b="0"/>
                  <a:t>で共通する特徴の数</a:t>
                </a:r>
                <a:endParaRPr lang="en-US" altLang="ja-JP" sz="1600" b="0" dirty="0"/>
              </a:p>
              <a:p>
                <a:pPr marL="0" indent="0">
                  <a:lnSpc>
                    <a:spcPct val="100000"/>
                  </a:lnSpc>
                  <a:buNone/>
                </a:pPr>
                <a14:m>
                  <m:oMath xmlns:m="http://schemas.openxmlformats.org/officeDocument/2006/math">
                    <m:d>
                      <m:dPr>
                        <m:begChr m:val="|"/>
                        <m:endChr m:val="|"/>
                        <m:ctrlPr>
                          <a:rPr lang="en-US" altLang="ja-JP" sz="1600" b="0" i="1" smtClean="0">
                            <a:latin typeface="Cambria Math" panose="02040503050406030204" pitchFamily="18" charset="0"/>
                          </a:rPr>
                        </m:ctrlPr>
                      </m:dPr>
                      <m:e>
                        <m:r>
                          <a:rPr lang="en-US" altLang="ja-JP" sz="1600" b="0" i="1">
                            <a:latin typeface="Cambria Math" panose="02040503050406030204" pitchFamily="18" charset="0"/>
                          </a:rPr>
                          <m:t>𝐴</m:t>
                        </m:r>
                        <m:r>
                          <a:rPr lang="en-US" altLang="ja-JP" sz="1600" b="0" i="1">
                            <a:latin typeface="Cambria Math" panose="02040503050406030204" pitchFamily="18" charset="0"/>
                            <a:ea typeface="Cambria Math" panose="02040503050406030204" pitchFamily="18" charset="0"/>
                          </a:rPr>
                          <m:t>∪</m:t>
                        </m:r>
                        <m:r>
                          <a:rPr lang="en-US" altLang="ja-JP" sz="1600" b="0" i="1">
                            <a:latin typeface="Cambria Math" panose="02040503050406030204" pitchFamily="18" charset="0"/>
                            <a:ea typeface="Cambria Math" panose="02040503050406030204" pitchFamily="18" charset="0"/>
                          </a:rPr>
                          <m:t>𝐵</m:t>
                        </m:r>
                      </m:e>
                    </m:d>
                  </m:oMath>
                </a14:m>
                <a:r>
                  <a:rPr lang="ja-JP" altLang="en-US" sz="1600" b="0"/>
                  <a:t>：</a:t>
                </a:r>
                <a:r>
                  <a:rPr lang="en-US" altLang="ja-JP" sz="1600" b="0" dirty="0"/>
                  <a:t>A</a:t>
                </a:r>
                <a:r>
                  <a:rPr lang="ja-JP" altLang="en-US" sz="1600" b="0"/>
                  <a:t>と</a:t>
                </a:r>
                <a:r>
                  <a:rPr lang="en-US" altLang="ja-JP" sz="1600" b="0" dirty="0"/>
                  <a:t>B</a:t>
                </a:r>
                <a:r>
                  <a:rPr lang="ja-JP" altLang="en-US" sz="1600" b="0"/>
                  <a:t>のいずれかに含まれる特徴の数</a:t>
                </a:r>
              </a:p>
              <a:p>
                <a:pPr marL="0" indent="0">
                  <a:lnSpc>
                    <a:spcPct val="100000"/>
                  </a:lnSpc>
                  <a:buNone/>
                </a:pPr>
                <a:endParaRPr lang="ja-JP" altLang="en-US" sz="1600" b="0"/>
              </a:p>
            </p:txBody>
          </p:sp>
        </mc:Choice>
        <mc:Fallback xmlns="">
          <p:sp>
            <p:nvSpPr>
              <p:cNvPr id="16" name="コンテンツ プレースホルダー 2">
                <a:extLst>
                  <a:ext uri="{FF2B5EF4-FFF2-40B4-BE49-F238E27FC236}">
                    <a16:creationId xmlns:a16="http://schemas.microsoft.com/office/drawing/2014/main" id="{169DAF86-D122-05B2-BBAA-480A8A3E54C2}"/>
                  </a:ext>
                </a:extLst>
              </p:cNvPr>
              <p:cNvSpPr txBox="1">
                <a:spLocks noRot="1" noChangeAspect="1" noMove="1" noResize="1" noEditPoints="1" noAdjustHandles="1" noChangeArrowheads="1" noChangeShapeType="1" noTextEdit="1"/>
              </p:cNvSpPr>
              <p:nvPr/>
            </p:nvSpPr>
            <p:spPr>
              <a:xfrm>
                <a:off x="5478308" y="4018806"/>
                <a:ext cx="6167592" cy="837266"/>
              </a:xfrm>
              <a:prstGeom prst="rect">
                <a:avLst/>
              </a:prstGeom>
              <a:blipFill>
                <a:blip r:embed="rId4"/>
                <a:stretch>
                  <a:fillRect t="-2985" b="-5970"/>
                </a:stretch>
              </a:blipFill>
            </p:spPr>
            <p:txBody>
              <a:bodyPr/>
              <a:lstStyle/>
              <a:p>
                <a:r>
                  <a:rPr lang="ja-JP" altLang="en-US">
                    <a:noFill/>
                  </a:rPr>
                  <a:t> </a:t>
                </a:r>
              </a:p>
            </p:txBody>
          </p:sp>
        </mc:Fallback>
      </mc:AlternateContent>
      <p:sp>
        <p:nvSpPr>
          <p:cNvPr id="17" name="テキスト ボックス 16">
            <a:extLst>
              <a:ext uri="{FF2B5EF4-FFF2-40B4-BE49-F238E27FC236}">
                <a16:creationId xmlns:a16="http://schemas.microsoft.com/office/drawing/2014/main" id="{6DD104E8-8309-F7AE-3E24-98E9A49B78D0}"/>
              </a:ext>
            </a:extLst>
          </p:cNvPr>
          <p:cNvSpPr txBox="1"/>
          <p:nvPr/>
        </p:nvSpPr>
        <p:spPr>
          <a:xfrm>
            <a:off x="481363" y="5541219"/>
            <a:ext cx="655949" cy="369332"/>
          </a:xfrm>
          <a:prstGeom prst="rect">
            <a:avLst/>
          </a:prstGeom>
          <a:noFill/>
        </p:spPr>
        <p:txBody>
          <a:bodyPr wrap="none" rtlCol="0">
            <a:spAutoFit/>
          </a:bodyPr>
          <a:lstStyle/>
          <a:p>
            <a:r>
              <a:rPr kumimoji="1" lang="ja-JP" altLang="en-US" b="1"/>
              <a:t>例：</a:t>
            </a:r>
          </a:p>
        </p:txBody>
      </p:sp>
      <mc:AlternateContent xmlns:mc="http://schemas.openxmlformats.org/markup-compatibility/2006" xmlns:a14="http://schemas.microsoft.com/office/drawing/2010/main">
        <mc:Choice Requires="a14">
          <p:sp>
            <p:nvSpPr>
              <p:cNvPr id="18" name="コンテンツ プレースホルダー 2">
                <a:extLst>
                  <a:ext uri="{FF2B5EF4-FFF2-40B4-BE49-F238E27FC236}">
                    <a16:creationId xmlns:a16="http://schemas.microsoft.com/office/drawing/2014/main" id="{89E32356-68A9-9371-8EF2-DBBE0A9A8A62}"/>
                  </a:ext>
                </a:extLst>
              </p:cNvPr>
              <p:cNvSpPr txBox="1">
                <a:spLocks/>
              </p:cNvSpPr>
              <p:nvPr/>
            </p:nvSpPr>
            <p:spPr>
              <a:xfrm>
                <a:off x="5860320" y="5311242"/>
                <a:ext cx="3923444" cy="837266"/>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𝑇</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𝐴</m:t>
                          </m:r>
                          <m:r>
                            <a:rPr lang="en-US" altLang="ja-JP" b="0" i="1" smtClean="0">
                              <a:latin typeface="Cambria Math" panose="02040503050406030204" pitchFamily="18" charset="0"/>
                            </a:rPr>
                            <m:t>, </m:t>
                          </m:r>
                          <m:r>
                            <a:rPr lang="en-US" altLang="ja-JP" b="0" i="1" smtClean="0">
                              <a:latin typeface="Cambria Math" panose="02040503050406030204" pitchFamily="18" charset="0"/>
                            </a:rPr>
                            <m:t>𝐵</m:t>
                          </m:r>
                        </m:e>
                      </m:d>
                      <m:r>
                        <a:rPr lang="en-US" altLang="ja-JP" b="0" i="1" smtClean="0">
                          <a:latin typeface="Cambria Math" panose="02040503050406030204" pitchFamily="18" charset="0"/>
                        </a:rPr>
                        <m:t>= </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5</m:t>
                          </m:r>
                        </m:num>
                        <m:den>
                          <m:r>
                            <a:rPr lang="en-US" altLang="ja-JP" b="0" i="1" smtClean="0">
                              <a:latin typeface="Cambria Math" panose="02040503050406030204" pitchFamily="18" charset="0"/>
                            </a:rPr>
                            <m:t>8+6−5</m:t>
                          </m:r>
                        </m:den>
                      </m:f>
                      <m:r>
                        <a:rPr lang="en-US" altLang="ja-JP" b="0" i="1" smtClean="0">
                          <a:latin typeface="Cambria Math" panose="02040503050406030204" pitchFamily="18" charset="0"/>
                        </a:rPr>
                        <m:t>=0.56</m:t>
                      </m:r>
                    </m:oMath>
                  </m:oMathPara>
                </a14:m>
                <a:endParaRPr lang="en-US" altLang="ja-JP" b="0" dirty="0"/>
              </a:p>
              <a:p>
                <a:pPr marL="0" indent="0">
                  <a:buNone/>
                </a:pPr>
                <a:endParaRPr lang="ja-JP" altLang="en-US" sz="1800" b="0"/>
              </a:p>
              <a:p>
                <a:pPr marL="0" indent="0">
                  <a:buNone/>
                </a:pPr>
                <a:endParaRPr lang="ja-JP" altLang="en-US" b="0"/>
              </a:p>
            </p:txBody>
          </p:sp>
        </mc:Choice>
        <mc:Fallback xmlns="">
          <p:sp>
            <p:nvSpPr>
              <p:cNvPr id="18" name="コンテンツ プレースホルダー 2">
                <a:extLst>
                  <a:ext uri="{FF2B5EF4-FFF2-40B4-BE49-F238E27FC236}">
                    <a16:creationId xmlns:a16="http://schemas.microsoft.com/office/drawing/2014/main" id="{89E32356-68A9-9371-8EF2-DBBE0A9A8A62}"/>
                  </a:ext>
                </a:extLst>
              </p:cNvPr>
              <p:cNvSpPr txBox="1">
                <a:spLocks noRot="1" noChangeAspect="1" noMove="1" noResize="1" noEditPoints="1" noAdjustHandles="1" noChangeArrowheads="1" noChangeShapeType="1" noTextEdit="1"/>
              </p:cNvSpPr>
              <p:nvPr/>
            </p:nvSpPr>
            <p:spPr>
              <a:xfrm>
                <a:off x="5860320" y="5311242"/>
                <a:ext cx="3923444" cy="837266"/>
              </a:xfrm>
              <a:prstGeom prst="rect">
                <a:avLst/>
              </a:prstGeom>
              <a:blipFill>
                <a:blip r:embed="rId5"/>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68772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正方形/長方形 48">
            <a:extLst>
              <a:ext uri="{FF2B5EF4-FFF2-40B4-BE49-F238E27FC236}">
                <a16:creationId xmlns:a16="http://schemas.microsoft.com/office/drawing/2014/main" id="{4CA6DF7D-B94D-4BC5-3BB1-6490E7690F20}"/>
              </a:ext>
            </a:extLst>
          </p:cNvPr>
          <p:cNvSpPr/>
          <p:nvPr/>
        </p:nvSpPr>
        <p:spPr>
          <a:xfrm>
            <a:off x="0" y="834715"/>
            <a:ext cx="12188742" cy="239351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B97C6627-A80B-103B-B8DF-13AFFD473547}"/>
              </a:ext>
            </a:extLst>
          </p:cNvPr>
          <p:cNvSpPr>
            <a:spLocks noGrp="1"/>
          </p:cNvSpPr>
          <p:nvPr>
            <p:ph idx="1"/>
          </p:nvPr>
        </p:nvSpPr>
        <p:spPr>
          <a:xfrm>
            <a:off x="546101" y="1038484"/>
            <a:ext cx="6483396" cy="1961273"/>
          </a:xfrm>
        </p:spPr>
        <p:txBody>
          <a:bodyPr>
            <a:normAutofit lnSpcReduction="10000"/>
          </a:bodyPr>
          <a:lstStyle/>
          <a:p>
            <a:pPr marL="0" indent="0">
              <a:buNone/>
            </a:pPr>
            <a:r>
              <a:rPr lang="ja-JP" altLang="en-US"/>
              <a:t>背景</a:t>
            </a:r>
            <a:endParaRPr lang="en-US" altLang="ja-JP" dirty="0"/>
          </a:p>
          <a:p>
            <a:r>
              <a:rPr lang="en-US" altLang="ja-JP" sz="1800" b="0" dirty="0"/>
              <a:t>MACCS Keys</a:t>
            </a:r>
            <a:r>
              <a:rPr lang="ja-JP" altLang="en-US" sz="1800" b="0"/>
              <a:t>を用いた類似度評価の結果、あまり類似していなそうな化合物が得られた</a:t>
            </a:r>
            <a:endParaRPr lang="en-US" altLang="ja-JP" sz="1800" b="0" dirty="0"/>
          </a:p>
          <a:p>
            <a:r>
              <a:rPr lang="ja-JP" altLang="en-US" sz="1800" b="0"/>
              <a:t>情報学研究科の山西先生にフィンガープリントの手法について相談</a:t>
            </a:r>
            <a:endParaRPr lang="en-US" altLang="ja-JP" sz="1800" b="0" dirty="0"/>
          </a:p>
          <a:p>
            <a:pPr marL="0" indent="0">
              <a:buNone/>
            </a:pPr>
            <a:endParaRPr lang="en-US" altLang="ja-JP" dirty="0"/>
          </a:p>
        </p:txBody>
      </p:sp>
      <p:sp>
        <p:nvSpPr>
          <p:cNvPr id="4" name="テキスト プレースホルダー 3">
            <a:extLst>
              <a:ext uri="{FF2B5EF4-FFF2-40B4-BE49-F238E27FC236}">
                <a16:creationId xmlns:a16="http://schemas.microsoft.com/office/drawing/2014/main" id="{7B1752D7-312D-512A-9C55-168BF375C2B8}"/>
              </a:ext>
            </a:extLst>
          </p:cNvPr>
          <p:cNvSpPr>
            <a:spLocks noGrp="1"/>
          </p:cNvSpPr>
          <p:nvPr>
            <p:ph type="body" sz="quarter" idx="11"/>
          </p:nvPr>
        </p:nvSpPr>
        <p:spPr/>
        <p:txBody>
          <a:bodyPr/>
          <a:lstStyle/>
          <a:p>
            <a:r>
              <a:rPr kumimoji="1" lang="ja-JP" altLang="en-US"/>
              <a:t>山西先生との相談結果</a:t>
            </a:r>
            <a:endParaRPr kumimoji="1" lang="en-US" altLang="ja-JP" dirty="0"/>
          </a:p>
        </p:txBody>
      </p:sp>
      <p:sp>
        <p:nvSpPr>
          <p:cNvPr id="45" name="コンテンツ プレースホルダー 2">
            <a:extLst>
              <a:ext uri="{FF2B5EF4-FFF2-40B4-BE49-F238E27FC236}">
                <a16:creationId xmlns:a16="http://schemas.microsoft.com/office/drawing/2014/main" id="{714FCA20-6166-9ABA-30FF-5D3A8176C2FA}"/>
              </a:ext>
            </a:extLst>
          </p:cNvPr>
          <p:cNvSpPr txBox="1">
            <a:spLocks/>
          </p:cNvSpPr>
          <p:nvPr/>
        </p:nvSpPr>
        <p:spPr>
          <a:xfrm>
            <a:off x="546100" y="3346549"/>
            <a:ext cx="11119874" cy="2671641"/>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結果</a:t>
            </a:r>
            <a:endParaRPr lang="en-US" altLang="ja-JP" dirty="0"/>
          </a:p>
          <a:p>
            <a:r>
              <a:rPr lang="en-US" altLang="ja-JP" sz="1800" b="0" dirty="0"/>
              <a:t>MACCS Keys</a:t>
            </a:r>
            <a:r>
              <a:rPr lang="ja-JP" altLang="en-US" sz="1800" b="0"/>
              <a:t>は</a:t>
            </a:r>
            <a:r>
              <a:rPr lang="en-US" altLang="ja-JP" sz="1800" b="0" dirty="0"/>
              <a:t>166</a:t>
            </a:r>
            <a:r>
              <a:rPr lang="ja-JP" altLang="en-US" sz="1800" b="0"/>
              <a:t>個の部分構造しか見ておらず、精度は低め</a:t>
            </a:r>
            <a:endParaRPr lang="en-US" altLang="ja-JP" sz="1800" b="0" dirty="0"/>
          </a:p>
          <a:p>
            <a:pPr lvl="1"/>
            <a:r>
              <a:rPr lang="ja-JP" altLang="en-US" sz="1600"/>
              <a:t>部分構造の有無のみを表し、部分構造の数は考慮されない</a:t>
            </a:r>
            <a:endParaRPr lang="en-US" altLang="ja-JP" sz="1600" dirty="0"/>
          </a:p>
          <a:p>
            <a:pPr lvl="1"/>
            <a:r>
              <a:rPr lang="ja-JP" altLang="en-US" sz="1600" b="0"/>
              <a:t>官能基を識別することができず、反応性の違いなどの観点からは異なる</a:t>
            </a:r>
            <a:endParaRPr lang="en-US" altLang="ja-JP" sz="1600" b="0" dirty="0"/>
          </a:p>
          <a:p>
            <a:r>
              <a:rPr lang="ja-JP" altLang="en-US" sz="1800" b="0"/>
              <a:t>上記の問題を解決した</a:t>
            </a:r>
            <a:r>
              <a:rPr lang="en-US" altLang="ja-JP" sz="1800" b="0" dirty="0"/>
              <a:t>KCF-S</a:t>
            </a:r>
            <a:r>
              <a:rPr lang="ja-JP" altLang="en-US" sz="1800" b="0"/>
              <a:t>を山西先生は基本的に使っている</a:t>
            </a:r>
            <a:endParaRPr lang="en-US" altLang="ja-JP" sz="1800" b="0" dirty="0"/>
          </a:p>
          <a:p>
            <a:r>
              <a:rPr lang="ja-JP" altLang="en-US" sz="1800" b="0"/>
              <a:t>部分構造の数も考慮できる一般化タニモト係数を用いた類似度の評価も検討すると良い</a:t>
            </a:r>
            <a:endParaRPr lang="en-US" altLang="ja-JP" sz="1800" b="0" dirty="0"/>
          </a:p>
          <a:p>
            <a:endParaRPr lang="en-US" altLang="ja-JP" b="0" dirty="0"/>
          </a:p>
          <a:p>
            <a:endParaRPr lang="en-US" altLang="ja-JP" sz="1800" b="0" dirty="0"/>
          </a:p>
          <a:p>
            <a:endParaRPr lang="en-US" altLang="ja-JP" sz="1800" b="0" dirty="0"/>
          </a:p>
          <a:p>
            <a:endParaRPr lang="en-US" altLang="ja-JP" dirty="0"/>
          </a:p>
        </p:txBody>
      </p:sp>
      <p:pic>
        <p:nvPicPr>
          <p:cNvPr id="5" name="コンテンツ プレースホルダー 5" descr="図形&#10;&#10;自動的に生成された説明">
            <a:extLst>
              <a:ext uri="{FF2B5EF4-FFF2-40B4-BE49-F238E27FC236}">
                <a16:creationId xmlns:a16="http://schemas.microsoft.com/office/drawing/2014/main" id="{41877CB4-B2ED-BED0-06E8-050D66C717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5791" y="886775"/>
            <a:ext cx="1335818" cy="941510"/>
          </a:xfrm>
          <a:prstGeom prst="rect">
            <a:avLst/>
          </a:prstGeom>
        </p:spPr>
      </p:pic>
      <p:sp>
        <p:nvSpPr>
          <p:cNvPr id="7" name="テキスト ボックス 6">
            <a:extLst>
              <a:ext uri="{FF2B5EF4-FFF2-40B4-BE49-F238E27FC236}">
                <a16:creationId xmlns:a16="http://schemas.microsoft.com/office/drawing/2014/main" id="{A683433C-9A45-9636-5F1E-89D41E99D9B4}"/>
              </a:ext>
            </a:extLst>
          </p:cNvPr>
          <p:cNvSpPr txBox="1"/>
          <p:nvPr/>
        </p:nvSpPr>
        <p:spPr>
          <a:xfrm>
            <a:off x="9111609" y="1058748"/>
            <a:ext cx="2658332" cy="646331"/>
          </a:xfrm>
          <a:prstGeom prst="rect">
            <a:avLst/>
          </a:prstGeom>
          <a:noFill/>
        </p:spPr>
        <p:txBody>
          <a:bodyPr wrap="square">
            <a:spAutoFit/>
          </a:bodyPr>
          <a:lstStyle/>
          <a:p>
            <a:r>
              <a:rPr lang="ja-JP" altLang="en-US" sz="1200" b="0">
                <a:latin typeface="+mn-ea"/>
              </a:rPr>
              <a:t>ターゲット：</a:t>
            </a:r>
            <a:endParaRPr lang="en-US" altLang="ja-JP" sz="1200" b="0" dirty="0">
              <a:latin typeface="+mn-ea"/>
            </a:endParaRPr>
          </a:p>
          <a:p>
            <a:r>
              <a:rPr lang="en-US" altLang="ja-JP" sz="1200" b="0" dirty="0">
                <a:latin typeface="+mn-ea"/>
              </a:rPr>
              <a:t>3-</a:t>
            </a:r>
            <a:r>
              <a:rPr lang="ja-JP" altLang="en-US" sz="1200" b="0">
                <a:latin typeface="+mn-ea"/>
              </a:rPr>
              <a:t>アリール</a:t>
            </a:r>
            <a:r>
              <a:rPr lang="en-US" altLang="ja-JP" sz="1200" b="0" dirty="0">
                <a:latin typeface="+mn-ea"/>
              </a:rPr>
              <a:t>-4-</a:t>
            </a:r>
            <a:r>
              <a:rPr lang="ja-JP" altLang="en-US" sz="1200" b="0">
                <a:latin typeface="+mn-ea"/>
              </a:rPr>
              <a:t>イソオキサゾールカルボキサミド</a:t>
            </a:r>
            <a:endParaRPr lang="ja-JP" altLang="en-US" sz="1200">
              <a:latin typeface="+mn-ea"/>
            </a:endParaRPr>
          </a:p>
        </p:txBody>
      </p:sp>
      <p:pic>
        <p:nvPicPr>
          <p:cNvPr id="11" name="図 10" descr="ダイアグラム, 概略図&#10;&#10;自動的に生成された説明">
            <a:extLst>
              <a:ext uri="{FF2B5EF4-FFF2-40B4-BE49-F238E27FC236}">
                <a16:creationId xmlns:a16="http://schemas.microsoft.com/office/drawing/2014/main" id="{356E634D-2980-477F-7ED2-E9209EC756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5791" y="2113292"/>
            <a:ext cx="3890183" cy="1111481"/>
          </a:xfrm>
          <a:prstGeom prst="rect">
            <a:avLst/>
          </a:prstGeom>
        </p:spPr>
      </p:pic>
      <p:sp>
        <p:nvSpPr>
          <p:cNvPr id="12" name="テキスト ボックス 11">
            <a:extLst>
              <a:ext uri="{FF2B5EF4-FFF2-40B4-BE49-F238E27FC236}">
                <a16:creationId xmlns:a16="http://schemas.microsoft.com/office/drawing/2014/main" id="{2BC69A45-6EC9-9423-9881-D51213B64876}"/>
              </a:ext>
            </a:extLst>
          </p:cNvPr>
          <p:cNvSpPr txBox="1"/>
          <p:nvPr/>
        </p:nvSpPr>
        <p:spPr>
          <a:xfrm>
            <a:off x="8054849" y="1906621"/>
            <a:ext cx="3205721" cy="276999"/>
          </a:xfrm>
          <a:prstGeom prst="rect">
            <a:avLst/>
          </a:prstGeom>
          <a:noFill/>
        </p:spPr>
        <p:txBody>
          <a:bodyPr wrap="square">
            <a:spAutoFit/>
          </a:bodyPr>
          <a:lstStyle/>
          <a:p>
            <a:pPr algn="ctr"/>
            <a:r>
              <a:rPr lang="ja-JP" altLang="en-US" sz="1200" b="0">
                <a:latin typeface="+mn-ea"/>
              </a:rPr>
              <a:t>類似度が高かった上位</a:t>
            </a:r>
            <a:r>
              <a:rPr lang="en-US" altLang="ja-JP" sz="1200" dirty="0">
                <a:latin typeface="+mn-ea"/>
              </a:rPr>
              <a:t>3</a:t>
            </a:r>
            <a:r>
              <a:rPr lang="ja-JP" altLang="en-US" sz="1200" b="0">
                <a:latin typeface="+mn-ea"/>
              </a:rPr>
              <a:t>つのペプチド</a:t>
            </a:r>
            <a:endParaRPr lang="en-US" altLang="ja-JP" sz="1200" b="0" dirty="0">
              <a:latin typeface="+mn-ea"/>
            </a:endParaRPr>
          </a:p>
        </p:txBody>
      </p:sp>
      <p:sp>
        <p:nvSpPr>
          <p:cNvPr id="16" name="タイトル 1">
            <a:extLst>
              <a:ext uri="{FF2B5EF4-FFF2-40B4-BE49-F238E27FC236}">
                <a16:creationId xmlns:a16="http://schemas.microsoft.com/office/drawing/2014/main" id="{A76B8161-B525-2DD2-730C-93F43548DF16}"/>
              </a:ext>
            </a:extLst>
          </p:cNvPr>
          <p:cNvSpPr>
            <a:spLocks noGrp="1"/>
          </p:cNvSpPr>
          <p:nvPr>
            <p:ph type="title"/>
          </p:nvPr>
        </p:nvSpPr>
        <p:spPr>
          <a:xfrm>
            <a:off x="546100" y="6021647"/>
            <a:ext cx="11099800" cy="725176"/>
          </a:xfrm>
        </p:spPr>
        <p:txBody>
          <a:bodyPr/>
          <a:lstStyle/>
          <a:p>
            <a:r>
              <a:rPr kumimoji="1" lang="en-US" altLang="ja-JP" dirty="0"/>
              <a:t>KCF-S, </a:t>
            </a:r>
            <a:r>
              <a:rPr kumimoji="1" lang="ja-JP" altLang="en-US"/>
              <a:t>一般化タニモト係数について調査する</a:t>
            </a:r>
          </a:p>
        </p:txBody>
      </p:sp>
      <p:pic>
        <p:nvPicPr>
          <p:cNvPr id="6" name="図 5" descr="ダイアグラム&#10;&#10;自動的に生成された説明">
            <a:extLst>
              <a:ext uri="{FF2B5EF4-FFF2-40B4-BE49-F238E27FC236}">
                <a16:creationId xmlns:a16="http://schemas.microsoft.com/office/drawing/2014/main" id="{4EFD3565-8288-F56A-AA20-BF25A51016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5300" y="2952750"/>
            <a:ext cx="1041400" cy="952500"/>
          </a:xfrm>
          <a:prstGeom prst="rect">
            <a:avLst/>
          </a:prstGeom>
        </p:spPr>
      </p:pic>
    </p:spTree>
    <p:extLst>
      <p:ext uri="{BB962C8B-B14F-4D97-AF65-F5344CB8AC3E}">
        <p14:creationId xmlns:p14="http://schemas.microsoft.com/office/powerpoint/2010/main" val="898035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93B5946-ED6D-089E-C48F-A17D118D04CB}"/>
              </a:ext>
            </a:extLst>
          </p:cNvPr>
          <p:cNvSpPr>
            <a:spLocks noGrp="1"/>
          </p:cNvSpPr>
          <p:nvPr>
            <p:ph idx="1"/>
          </p:nvPr>
        </p:nvSpPr>
        <p:spPr>
          <a:xfrm>
            <a:off x="546100" y="1038484"/>
            <a:ext cx="11099800" cy="469900"/>
          </a:xfrm>
        </p:spPr>
        <p:txBody>
          <a:bodyPr/>
          <a:lstStyle/>
          <a:p>
            <a:pPr marL="0" indent="0">
              <a:buNone/>
            </a:pPr>
            <a:r>
              <a:rPr kumimoji="1" lang="ja-JP" altLang="en-US"/>
              <a:t>短期予定</a:t>
            </a:r>
          </a:p>
        </p:txBody>
      </p:sp>
      <p:sp>
        <p:nvSpPr>
          <p:cNvPr id="4" name="テキスト プレースホルダー 3">
            <a:extLst>
              <a:ext uri="{FF2B5EF4-FFF2-40B4-BE49-F238E27FC236}">
                <a16:creationId xmlns:a16="http://schemas.microsoft.com/office/drawing/2014/main" id="{91CE3F74-8A89-FDDF-93AC-6086F7A6ED20}"/>
              </a:ext>
            </a:extLst>
          </p:cNvPr>
          <p:cNvSpPr>
            <a:spLocks noGrp="1"/>
          </p:cNvSpPr>
          <p:nvPr>
            <p:ph type="body" sz="quarter" idx="11"/>
          </p:nvPr>
        </p:nvSpPr>
        <p:spPr/>
        <p:txBody>
          <a:bodyPr/>
          <a:lstStyle/>
          <a:p>
            <a:r>
              <a:rPr kumimoji="1" lang="ja-JP" altLang="en-US"/>
              <a:t>今後の予定</a:t>
            </a:r>
          </a:p>
        </p:txBody>
      </p:sp>
      <p:graphicFrame>
        <p:nvGraphicFramePr>
          <p:cNvPr id="5" name="表 4">
            <a:extLst>
              <a:ext uri="{FF2B5EF4-FFF2-40B4-BE49-F238E27FC236}">
                <a16:creationId xmlns:a16="http://schemas.microsoft.com/office/drawing/2014/main" id="{DB6E4A7A-31E8-F7AB-957A-38C0F4677A92}"/>
              </a:ext>
            </a:extLst>
          </p:cNvPr>
          <p:cNvGraphicFramePr>
            <a:graphicFrameLocks noGrp="1"/>
          </p:cNvGraphicFramePr>
          <p:nvPr>
            <p:extLst>
              <p:ext uri="{D42A27DB-BD31-4B8C-83A1-F6EECF244321}">
                <p14:modId xmlns:p14="http://schemas.microsoft.com/office/powerpoint/2010/main" val="2970590518"/>
              </p:ext>
            </p:extLst>
          </p:nvPr>
        </p:nvGraphicFramePr>
        <p:xfrm>
          <a:off x="546100" y="1480103"/>
          <a:ext cx="11119874" cy="2475393"/>
        </p:xfrm>
        <a:graphic>
          <a:graphicData uri="http://schemas.openxmlformats.org/drawingml/2006/table">
            <a:tbl>
              <a:tblPr firstRow="1">
                <a:tableStyleId>{5C22544A-7EE6-4342-B048-85BDC9FD1C3A}</a:tableStyleId>
              </a:tblPr>
              <a:tblGrid>
                <a:gridCol w="5128836">
                  <a:extLst>
                    <a:ext uri="{9D8B030D-6E8A-4147-A177-3AD203B41FA5}">
                      <a16:colId xmlns:a16="http://schemas.microsoft.com/office/drawing/2014/main" val="3371328493"/>
                    </a:ext>
                  </a:extLst>
                </a:gridCol>
                <a:gridCol w="2111604">
                  <a:extLst>
                    <a:ext uri="{9D8B030D-6E8A-4147-A177-3AD203B41FA5}">
                      <a16:colId xmlns:a16="http://schemas.microsoft.com/office/drawing/2014/main" val="2336952824"/>
                    </a:ext>
                  </a:extLst>
                </a:gridCol>
                <a:gridCol w="2055044">
                  <a:extLst>
                    <a:ext uri="{9D8B030D-6E8A-4147-A177-3AD203B41FA5}">
                      <a16:colId xmlns:a16="http://schemas.microsoft.com/office/drawing/2014/main" val="3322159680"/>
                    </a:ext>
                  </a:extLst>
                </a:gridCol>
                <a:gridCol w="1824390">
                  <a:extLst>
                    <a:ext uri="{9D8B030D-6E8A-4147-A177-3AD203B41FA5}">
                      <a16:colId xmlns:a16="http://schemas.microsoft.com/office/drawing/2014/main" val="1025667938"/>
                    </a:ext>
                  </a:extLst>
                </a:gridCol>
              </a:tblGrid>
              <a:tr h="400465">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kumimoji="1" lang="en-US" altLang="ja-JP" dirty="0"/>
                        <a:t>〜6/21</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kumimoji="1" lang="en-US" altLang="ja-JP" dirty="0"/>
                        <a:t>6/24〜6/28</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en-US" altLang="ja-JP" dirty="0"/>
                        <a:t>7/1〜7/5</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642672014"/>
                  </a:ext>
                </a:extLst>
              </a:tr>
              <a:tr h="482018">
                <a:tc>
                  <a:txBody>
                    <a:bodyPr/>
                    <a:lstStyle/>
                    <a:p>
                      <a:pPr algn="l"/>
                      <a:r>
                        <a:rPr kumimoji="1" lang="en-US" altLang="ja-JP" dirty="0"/>
                        <a:t>DEA</a:t>
                      </a:r>
                      <a:r>
                        <a:rPr kumimoji="1" lang="ja-JP" altLang="en-US"/>
                        <a:t>濃度の検討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8361630"/>
                  </a:ext>
                </a:extLst>
              </a:tr>
              <a:tr h="530970">
                <a:tc>
                  <a:txBody>
                    <a:bodyPr/>
                    <a:lstStyle/>
                    <a:p>
                      <a:pPr algn="l"/>
                      <a:r>
                        <a:rPr kumimoji="1" lang="ja-JP" altLang="en-US"/>
                        <a:t>自動合成した</a:t>
                      </a:r>
                      <a:r>
                        <a:rPr kumimoji="1" lang="en-US" altLang="ja-JP" dirty="0"/>
                        <a:t>5</a:t>
                      </a:r>
                      <a:r>
                        <a:rPr kumimoji="1" lang="ja-JP" altLang="en-US"/>
                        <a:t>配列について評価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5393681"/>
                  </a:ext>
                </a:extLst>
              </a:tr>
              <a:tr h="530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KCF-S</a:t>
                      </a:r>
                      <a:r>
                        <a:rPr kumimoji="1" lang="ja-JP" altLang="en-US"/>
                        <a:t>を用いた類似度評価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35299942"/>
                  </a:ext>
                </a:extLst>
              </a:tr>
              <a:tr h="530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類似度が高いペプチドの合成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5908248"/>
                  </a:ext>
                </a:extLst>
              </a:tr>
            </a:tbl>
          </a:graphicData>
        </a:graphic>
      </p:graphicFrame>
      <p:sp>
        <p:nvSpPr>
          <p:cNvPr id="15" name="コンテンツ プレースホルダー 2">
            <a:extLst>
              <a:ext uri="{FF2B5EF4-FFF2-40B4-BE49-F238E27FC236}">
                <a16:creationId xmlns:a16="http://schemas.microsoft.com/office/drawing/2014/main" id="{D0B811FE-8E4F-9370-B4A4-9EF0C74C17BB}"/>
              </a:ext>
            </a:extLst>
          </p:cNvPr>
          <p:cNvSpPr txBox="1">
            <a:spLocks/>
          </p:cNvSpPr>
          <p:nvPr/>
        </p:nvSpPr>
        <p:spPr>
          <a:xfrm>
            <a:off x="546100" y="4123876"/>
            <a:ext cx="11099800" cy="2597434"/>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長期予定</a:t>
            </a:r>
            <a:endParaRPr lang="en-US" altLang="ja-JP" dirty="0"/>
          </a:p>
          <a:p>
            <a:r>
              <a:rPr lang="ja-JP" altLang="en-US" b="0"/>
              <a:t>各フィンガープリント手法で高い類似度を示したペプチドの検証</a:t>
            </a:r>
            <a:endParaRPr lang="en-US" altLang="ja-JP" b="0" dirty="0"/>
          </a:p>
          <a:p>
            <a:endParaRPr lang="en-US" altLang="ja-JP" b="0" dirty="0"/>
          </a:p>
        </p:txBody>
      </p:sp>
      <p:grpSp>
        <p:nvGrpSpPr>
          <p:cNvPr id="16" name="グループ化 15">
            <a:extLst>
              <a:ext uri="{FF2B5EF4-FFF2-40B4-BE49-F238E27FC236}">
                <a16:creationId xmlns:a16="http://schemas.microsoft.com/office/drawing/2014/main" id="{95B5B3D5-8931-E5D6-5DA7-65DBB2E90259}"/>
              </a:ext>
            </a:extLst>
          </p:cNvPr>
          <p:cNvGrpSpPr/>
          <p:nvPr/>
        </p:nvGrpSpPr>
        <p:grpSpPr>
          <a:xfrm rot="5400000">
            <a:off x="7996110" y="1028524"/>
            <a:ext cx="353858" cy="3205114"/>
            <a:chOff x="7800489" y="2818451"/>
            <a:chExt cx="840658" cy="2492477"/>
          </a:xfrm>
        </p:grpSpPr>
        <p:sp>
          <p:nvSpPr>
            <p:cNvPr id="17" name="二等辺三角形 23">
              <a:extLst>
                <a:ext uri="{FF2B5EF4-FFF2-40B4-BE49-F238E27FC236}">
                  <a16:creationId xmlns:a16="http://schemas.microsoft.com/office/drawing/2014/main" id="{4D638BC3-D6EB-C369-8F06-41F31AB1094A}"/>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二等辺三角形 24">
              <a:extLst>
                <a:ext uri="{FF2B5EF4-FFF2-40B4-BE49-F238E27FC236}">
                  <a16:creationId xmlns:a16="http://schemas.microsoft.com/office/drawing/2014/main" id="{6720C1A0-8C65-0CED-28FD-57BEF7172545}"/>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 name="グループ化 18">
            <a:extLst>
              <a:ext uri="{FF2B5EF4-FFF2-40B4-BE49-F238E27FC236}">
                <a16:creationId xmlns:a16="http://schemas.microsoft.com/office/drawing/2014/main" id="{45DF8A0C-F77F-DA00-250B-88A0BEF26505}"/>
              </a:ext>
            </a:extLst>
          </p:cNvPr>
          <p:cNvGrpSpPr/>
          <p:nvPr/>
        </p:nvGrpSpPr>
        <p:grpSpPr>
          <a:xfrm rot="5400000">
            <a:off x="6534010" y="1110263"/>
            <a:ext cx="339565" cy="2033518"/>
            <a:chOff x="7800489" y="2818451"/>
            <a:chExt cx="840658" cy="2492477"/>
          </a:xfrm>
        </p:grpSpPr>
        <p:sp>
          <p:nvSpPr>
            <p:cNvPr id="20" name="二等辺三角形 23">
              <a:extLst>
                <a:ext uri="{FF2B5EF4-FFF2-40B4-BE49-F238E27FC236}">
                  <a16:creationId xmlns:a16="http://schemas.microsoft.com/office/drawing/2014/main" id="{345C67FD-E417-F7FB-EA5B-16E93B85B8BD}"/>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二等辺三角形 24">
              <a:extLst>
                <a:ext uri="{FF2B5EF4-FFF2-40B4-BE49-F238E27FC236}">
                  <a16:creationId xmlns:a16="http://schemas.microsoft.com/office/drawing/2014/main" id="{A9A971C1-C327-1B98-1A22-2167D02D163F}"/>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2" name="グループ化 21">
            <a:extLst>
              <a:ext uri="{FF2B5EF4-FFF2-40B4-BE49-F238E27FC236}">
                <a16:creationId xmlns:a16="http://schemas.microsoft.com/office/drawing/2014/main" id="{E6025408-6E19-1D4F-5E28-4A0798C7C1EA}"/>
              </a:ext>
            </a:extLst>
          </p:cNvPr>
          <p:cNvGrpSpPr/>
          <p:nvPr/>
        </p:nvGrpSpPr>
        <p:grpSpPr>
          <a:xfrm rot="5400000">
            <a:off x="7578111" y="1074553"/>
            <a:ext cx="353857" cy="4157540"/>
            <a:chOff x="7800489" y="2818451"/>
            <a:chExt cx="840658" cy="2492477"/>
          </a:xfrm>
        </p:grpSpPr>
        <p:sp>
          <p:nvSpPr>
            <p:cNvPr id="23" name="二等辺三角形 23">
              <a:extLst>
                <a:ext uri="{FF2B5EF4-FFF2-40B4-BE49-F238E27FC236}">
                  <a16:creationId xmlns:a16="http://schemas.microsoft.com/office/drawing/2014/main" id="{2DE3125C-DB43-7B86-4ABD-5EAD1EF631D3}"/>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二等辺三角形 24">
              <a:extLst>
                <a:ext uri="{FF2B5EF4-FFF2-40B4-BE49-F238E27FC236}">
                  <a16:creationId xmlns:a16="http://schemas.microsoft.com/office/drawing/2014/main" id="{AB5866F8-5695-9758-EF88-F74CD4CEA10D}"/>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1C1A0F65-DDFC-B078-108B-08C001AA03CD}"/>
              </a:ext>
            </a:extLst>
          </p:cNvPr>
          <p:cNvGrpSpPr/>
          <p:nvPr/>
        </p:nvGrpSpPr>
        <p:grpSpPr>
          <a:xfrm rot="5400000">
            <a:off x="10504903" y="2781760"/>
            <a:ext cx="469902" cy="1812089"/>
            <a:chOff x="7800489" y="2818451"/>
            <a:chExt cx="840658" cy="2492477"/>
          </a:xfrm>
        </p:grpSpPr>
        <p:sp>
          <p:nvSpPr>
            <p:cNvPr id="9" name="二等辺三角形 23">
              <a:extLst>
                <a:ext uri="{FF2B5EF4-FFF2-40B4-BE49-F238E27FC236}">
                  <a16:creationId xmlns:a16="http://schemas.microsoft.com/office/drawing/2014/main" id="{B6EFE796-1410-58EC-C8EF-F600F38F1C91}"/>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24">
              <a:extLst>
                <a:ext uri="{FF2B5EF4-FFF2-40B4-BE49-F238E27FC236}">
                  <a16:creationId xmlns:a16="http://schemas.microsoft.com/office/drawing/2014/main" id="{2F86B09B-540E-CD9D-3347-5B9F36C29CE0}"/>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053781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7573968E-BF17-4017-AA59-5326CD607CE0}"/>
              </a:ext>
            </a:extLst>
          </p:cNvPr>
          <p:cNvSpPr>
            <a:spLocks noGrp="1"/>
          </p:cNvSpPr>
          <p:nvPr>
            <p:ph type="body" sz="quarter" idx="11"/>
          </p:nvPr>
        </p:nvSpPr>
        <p:spPr/>
        <p:txBody>
          <a:bodyPr>
            <a:normAutofit/>
          </a:bodyPr>
          <a:lstStyle/>
          <a:p>
            <a:r>
              <a:rPr kumimoji="1" lang="ja-JP" altLang="en-US"/>
              <a:t>素材集</a:t>
            </a:r>
          </a:p>
        </p:txBody>
      </p:sp>
      <p:pic>
        <p:nvPicPr>
          <p:cNvPr id="16" name="図 15" descr="巣蜜, 建物, ミラー が含まれている画像&#10;&#10;自動的に生成された説明">
            <a:extLst>
              <a:ext uri="{FF2B5EF4-FFF2-40B4-BE49-F238E27FC236}">
                <a16:creationId xmlns:a16="http://schemas.microsoft.com/office/drawing/2014/main" id="{1D2721EE-CDF6-2723-5F42-7A778A6E52AC}"/>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676222" y="1459222"/>
            <a:ext cx="1587500" cy="939800"/>
          </a:xfrm>
          <a:prstGeom prst="rect">
            <a:avLst/>
          </a:prstGeom>
        </p:spPr>
      </p:pic>
      <p:pic>
        <p:nvPicPr>
          <p:cNvPr id="18" name="図 17" descr="図形, 矢印&#10;&#10;自動的に生成された説明">
            <a:extLst>
              <a:ext uri="{FF2B5EF4-FFF2-40B4-BE49-F238E27FC236}">
                <a16:creationId xmlns:a16="http://schemas.microsoft.com/office/drawing/2014/main" id="{EC0A1FA9-5D5B-58B5-1E97-DE2015A4BF81}"/>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57611" y="2466286"/>
            <a:ext cx="492637" cy="469900"/>
          </a:xfrm>
          <a:prstGeom prst="rect">
            <a:avLst/>
          </a:prstGeom>
        </p:spPr>
      </p:pic>
      <p:pic>
        <p:nvPicPr>
          <p:cNvPr id="20" name="図 19">
            <a:extLst>
              <a:ext uri="{FF2B5EF4-FFF2-40B4-BE49-F238E27FC236}">
                <a16:creationId xmlns:a16="http://schemas.microsoft.com/office/drawing/2014/main" id="{C5FF0AA2-CB5C-D0DD-F01B-9F662F522922}"/>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01227" y="2914574"/>
            <a:ext cx="513124" cy="1026247"/>
          </a:xfrm>
          <a:prstGeom prst="rect">
            <a:avLst/>
          </a:prstGeom>
        </p:spPr>
      </p:pic>
      <p:pic>
        <p:nvPicPr>
          <p:cNvPr id="22" name="図 21" descr="背景パターン&#10;&#10;自動的に生成された説明">
            <a:extLst>
              <a:ext uri="{FF2B5EF4-FFF2-40B4-BE49-F238E27FC236}">
                <a16:creationId xmlns:a16="http://schemas.microsoft.com/office/drawing/2014/main" id="{5434239A-8B98-543D-152A-8C832CF2FE6F}"/>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10182" y="1876690"/>
            <a:ext cx="676214" cy="1983054"/>
          </a:xfrm>
          <a:prstGeom prst="rect">
            <a:avLst/>
          </a:prstGeom>
        </p:spPr>
      </p:pic>
      <p:pic>
        <p:nvPicPr>
          <p:cNvPr id="26" name="図 25" descr="ダイアグラム&#10;&#10;低い精度で自動的に生成された説明">
            <a:extLst>
              <a:ext uri="{FF2B5EF4-FFF2-40B4-BE49-F238E27FC236}">
                <a16:creationId xmlns:a16="http://schemas.microsoft.com/office/drawing/2014/main" id="{A51E6FAD-F4B6-D44D-3059-D5006F095FA9}"/>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86564" y="1067113"/>
            <a:ext cx="2305783" cy="1611569"/>
          </a:xfrm>
          <a:prstGeom prst="rect">
            <a:avLst/>
          </a:prstGeom>
        </p:spPr>
      </p:pic>
      <p:pic>
        <p:nvPicPr>
          <p:cNvPr id="28" name="図 27" descr="洗面道具 が含まれている画像&#10;&#10;自動的に生成された説明">
            <a:extLst>
              <a:ext uri="{FF2B5EF4-FFF2-40B4-BE49-F238E27FC236}">
                <a16:creationId xmlns:a16="http://schemas.microsoft.com/office/drawing/2014/main" id="{B4245E6D-394C-C910-C428-32CB856ED7C4}"/>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817433" y="1157008"/>
            <a:ext cx="2209434" cy="1544228"/>
          </a:xfrm>
          <a:prstGeom prst="rect">
            <a:avLst/>
          </a:prstGeom>
        </p:spPr>
      </p:pic>
      <p:pic>
        <p:nvPicPr>
          <p:cNvPr id="30" name="図 29" descr="ダイアグラム&#10;&#10;自動的に生成された説明">
            <a:extLst>
              <a:ext uri="{FF2B5EF4-FFF2-40B4-BE49-F238E27FC236}">
                <a16:creationId xmlns:a16="http://schemas.microsoft.com/office/drawing/2014/main" id="{F7BB396B-089F-6019-752C-C7EF107744DD}"/>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4374" y="2914574"/>
            <a:ext cx="2391961" cy="1802276"/>
          </a:xfrm>
          <a:prstGeom prst="rect">
            <a:avLst/>
          </a:prstGeom>
        </p:spPr>
      </p:pic>
      <p:pic>
        <p:nvPicPr>
          <p:cNvPr id="32" name="図 31" descr="洗面道具 が含まれている画像&#10;&#10;自動的に生成された説明">
            <a:extLst>
              <a:ext uri="{FF2B5EF4-FFF2-40B4-BE49-F238E27FC236}">
                <a16:creationId xmlns:a16="http://schemas.microsoft.com/office/drawing/2014/main" id="{983C9901-2A7E-0A6B-4270-306CF53D1F17}"/>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962806" y="2630557"/>
            <a:ext cx="2391961" cy="1802276"/>
          </a:xfrm>
          <a:prstGeom prst="rect">
            <a:avLst/>
          </a:prstGeom>
        </p:spPr>
      </p:pic>
      <p:pic>
        <p:nvPicPr>
          <p:cNvPr id="3" name="図 2" descr="図形, 円&#10;&#10;自動的に生成された説明">
            <a:extLst>
              <a:ext uri="{FF2B5EF4-FFF2-40B4-BE49-F238E27FC236}">
                <a16:creationId xmlns:a16="http://schemas.microsoft.com/office/drawing/2014/main" id="{AE5E1DC3-04D7-8A10-2314-17AE2BED30F6}"/>
              </a:ext>
            </a:extLst>
          </p:cNvPr>
          <p:cNvPicPr>
            <a:picLocks noChangeAspect="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69972" y="5369457"/>
            <a:ext cx="1587500" cy="1140317"/>
          </a:xfrm>
          <a:prstGeom prst="rect">
            <a:avLst/>
          </a:prstGeom>
        </p:spPr>
      </p:pic>
    </p:spTree>
    <p:extLst>
      <p:ext uri="{BB962C8B-B14F-4D97-AF65-F5344CB8AC3E}">
        <p14:creationId xmlns:p14="http://schemas.microsoft.com/office/powerpoint/2010/main" val="38856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BAE509-1F5F-44D7-895B-AADA5EB0124C}"/>
              </a:ext>
            </a:extLst>
          </p:cNvPr>
          <p:cNvSpPr>
            <a:spLocks noGrp="1"/>
          </p:cNvSpPr>
          <p:nvPr>
            <p:ph type="title"/>
          </p:nvPr>
        </p:nvSpPr>
        <p:spPr/>
        <p:txBody>
          <a:bodyPr/>
          <a:lstStyle/>
          <a:p>
            <a:r>
              <a:rPr kumimoji="1" lang="ja-JP" altLang="en-US" dirty="0"/>
              <a:t>寸法や色は場合に応じて調整しましょう</a:t>
            </a:r>
          </a:p>
        </p:txBody>
      </p:sp>
      <p:sp>
        <p:nvSpPr>
          <p:cNvPr id="4" name="テキスト プレースホルダー 3">
            <a:extLst>
              <a:ext uri="{FF2B5EF4-FFF2-40B4-BE49-F238E27FC236}">
                <a16:creationId xmlns:a16="http://schemas.microsoft.com/office/drawing/2014/main" id="{5DCA4200-D082-429B-A7B9-20EDE7036BD0}"/>
              </a:ext>
            </a:extLst>
          </p:cNvPr>
          <p:cNvSpPr>
            <a:spLocks noGrp="1"/>
          </p:cNvSpPr>
          <p:nvPr>
            <p:ph type="body" sz="quarter" idx="11"/>
          </p:nvPr>
        </p:nvSpPr>
        <p:spPr/>
        <p:txBody>
          <a:bodyPr>
            <a:normAutofit/>
          </a:bodyPr>
          <a:lstStyle/>
          <a:p>
            <a:r>
              <a:rPr kumimoji="1" lang="ja-JP" altLang="en-US" dirty="0"/>
              <a:t>よく使う図形のパターン</a:t>
            </a:r>
          </a:p>
        </p:txBody>
      </p:sp>
      <p:grpSp>
        <p:nvGrpSpPr>
          <p:cNvPr id="11" name="グループ化 10">
            <a:extLst>
              <a:ext uri="{FF2B5EF4-FFF2-40B4-BE49-F238E27FC236}">
                <a16:creationId xmlns:a16="http://schemas.microsoft.com/office/drawing/2014/main" id="{1600F27F-842D-4A09-9876-4F4D6FED49D4}"/>
              </a:ext>
            </a:extLst>
          </p:cNvPr>
          <p:cNvGrpSpPr/>
          <p:nvPr/>
        </p:nvGrpSpPr>
        <p:grpSpPr>
          <a:xfrm rot="3516666">
            <a:off x="1083666" y="2853387"/>
            <a:ext cx="1201975" cy="1567649"/>
            <a:chOff x="2664127" y="3374455"/>
            <a:chExt cx="1201975" cy="1567649"/>
          </a:xfrm>
        </p:grpSpPr>
        <p:sp>
          <p:nvSpPr>
            <p:cNvPr id="5" name="二等辺三角形 4">
              <a:extLst>
                <a:ext uri="{FF2B5EF4-FFF2-40B4-BE49-F238E27FC236}">
                  <a16:creationId xmlns:a16="http://schemas.microsoft.com/office/drawing/2014/main" id="{031DCB67-E3C0-40A6-82FC-F3A99614C50C}"/>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フリーフォーム: 図形 9">
              <a:extLst>
                <a:ext uri="{FF2B5EF4-FFF2-40B4-BE49-F238E27FC236}">
                  <a16:creationId xmlns:a16="http://schemas.microsoft.com/office/drawing/2014/main" id="{8F1F7A27-5455-4318-B9EB-F5DC2E371C80}"/>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9" name="グループ化 18">
            <a:extLst>
              <a:ext uri="{FF2B5EF4-FFF2-40B4-BE49-F238E27FC236}">
                <a16:creationId xmlns:a16="http://schemas.microsoft.com/office/drawing/2014/main" id="{A84CB4AB-8E74-474F-8F79-B603B9235B46}"/>
              </a:ext>
            </a:extLst>
          </p:cNvPr>
          <p:cNvGrpSpPr/>
          <p:nvPr/>
        </p:nvGrpSpPr>
        <p:grpSpPr>
          <a:xfrm>
            <a:off x="3762700" y="2453659"/>
            <a:ext cx="851900" cy="2201196"/>
            <a:chOff x="4004187" y="2684206"/>
            <a:chExt cx="851900" cy="2201196"/>
          </a:xfrm>
        </p:grpSpPr>
        <p:sp>
          <p:nvSpPr>
            <p:cNvPr id="16" name="二等辺三角形 15">
              <a:extLst>
                <a:ext uri="{FF2B5EF4-FFF2-40B4-BE49-F238E27FC236}">
                  <a16:creationId xmlns:a16="http://schemas.microsoft.com/office/drawing/2014/main" id="{77F25128-43F7-4D7B-A506-7861040EA63C}"/>
                </a:ext>
              </a:extLst>
            </p:cNvPr>
            <p:cNvSpPr/>
            <p:nvPr/>
          </p:nvSpPr>
          <p:spPr>
            <a:xfrm>
              <a:off x="4004187" y="2684206"/>
              <a:ext cx="851900" cy="40558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二等辺三角形 16">
              <a:extLst>
                <a:ext uri="{FF2B5EF4-FFF2-40B4-BE49-F238E27FC236}">
                  <a16:creationId xmlns:a16="http://schemas.microsoft.com/office/drawing/2014/main" id="{425DA271-AEFA-45AB-AD52-737DB7EF67C8}"/>
                </a:ext>
              </a:extLst>
            </p:cNvPr>
            <p:cNvSpPr/>
            <p:nvPr/>
          </p:nvSpPr>
          <p:spPr>
            <a:xfrm rot="10800000">
              <a:off x="4172039" y="4653111"/>
              <a:ext cx="516194" cy="23229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台形 17">
              <a:extLst>
                <a:ext uri="{FF2B5EF4-FFF2-40B4-BE49-F238E27FC236}">
                  <a16:creationId xmlns:a16="http://schemas.microsoft.com/office/drawing/2014/main" id="{0BE03671-A77A-4398-9395-69D34E2C8634}"/>
                </a:ext>
              </a:extLst>
            </p:cNvPr>
            <p:cNvSpPr/>
            <p:nvPr/>
          </p:nvSpPr>
          <p:spPr>
            <a:xfrm rot="10800000">
              <a:off x="4274402" y="3082408"/>
              <a:ext cx="311469" cy="1570703"/>
            </a:xfrm>
            <a:prstGeom prst="trapezoid">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53DA5DF4-9734-4A8B-B3F2-EB432821614A}"/>
              </a:ext>
            </a:extLst>
          </p:cNvPr>
          <p:cNvGrpSpPr/>
          <p:nvPr/>
        </p:nvGrpSpPr>
        <p:grpSpPr>
          <a:xfrm>
            <a:off x="5262743" y="3209365"/>
            <a:ext cx="2359742" cy="1445491"/>
            <a:chOff x="4837472" y="2490841"/>
            <a:chExt cx="2359742" cy="1445491"/>
          </a:xfrm>
        </p:grpSpPr>
        <p:sp>
          <p:nvSpPr>
            <p:cNvPr id="20" name="四角形: 角を丸くする 19">
              <a:extLst>
                <a:ext uri="{FF2B5EF4-FFF2-40B4-BE49-F238E27FC236}">
                  <a16:creationId xmlns:a16="http://schemas.microsoft.com/office/drawing/2014/main" id="{161AF5DB-A2D8-495C-B795-7003573DFCCF}"/>
                </a:ext>
              </a:extLst>
            </p:cNvPr>
            <p:cNvSpPr/>
            <p:nvPr/>
          </p:nvSpPr>
          <p:spPr>
            <a:xfrm>
              <a:off x="4837472" y="2490841"/>
              <a:ext cx="2359742" cy="938159"/>
            </a:xfrm>
            <a:prstGeom prst="roundRect">
              <a:avLst>
                <a:gd name="adj" fmla="val 10379"/>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二等辺三角形 21">
              <a:extLst>
                <a:ext uri="{FF2B5EF4-FFF2-40B4-BE49-F238E27FC236}">
                  <a16:creationId xmlns:a16="http://schemas.microsoft.com/office/drawing/2014/main" id="{C811F06F-2D36-4904-A2A9-7CD991856DA0}"/>
                </a:ext>
              </a:extLst>
            </p:cNvPr>
            <p:cNvSpPr/>
            <p:nvPr/>
          </p:nvSpPr>
          <p:spPr>
            <a:xfrm rot="11901755">
              <a:off x="4948538" y="3335420"/>
              <a:ext cx="213186" cy="600912"/>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6" name="グループ化 25">
            <a:extLst>
              <a:ext uri="{FF2B5EF4-FFF2-40B4-BE49-F238E27FC236}">
                <a16:creationId xmlns:a16="http://schemas.microsoft.com/office/drawing/2014/main" id="{12B12945-4562-4CBA-BD30-EF9F8726FCD9}"/>
              </a:ext>
            </a:extLst>
          </p:cNvPr>
          <p:cNvGrpSpPr/>
          <p:nvPr/>
        </p:nvGrpSpPr>
        <p:grpSpPr>
          <a:xfrm>
            <a:off x="2672807" y="2453659"/>
            <a:ext cx="840658" cy="2492477"/>
            <a:chOff x="7800489" y="2818451"/>
            <a:chExt cx="840658" cy="2492477"/>
          </a:xfrm>
        </p:grpSpPr>
        <p:sp>
          <p:nvSpPr>
            <p:cNvPr id="24" name="二等辺三角形 23">
              <a:extLst>
                <a:ext uri="{FF2B5EF4-FFF2-40B4-BE49-F238E27FC236}">
                  <a16:creationId xmlns:a16="http://schemas.microsoft.com/office/drawing/2014/main" id="{5972915F-3F25-4048-8F16-22D7D6656CAA}"/>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二等辺三角形 24">
              <a:extLst>
                <a:ext uri="{FF2B5EF4-FFF2-40B4-BE49-F238E27FC236}">
                  <a16:creationId xmlns:a16="http://schemas.microsoft.com/office/drawing/2014/main" id="{FC3592AF-4DD9-481B-AE7D-C444443CA44E}"/>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31" name="直線コネクタ 30">
            <a:extLst>
              <a:ext uri="{FF2B5EF4-FFF2-40B4-BE49-F238E27FC236}">
                <a16:creationId xmlns:a16="http://schemas.microsoft.com/office/drawing/2014/main" id="{E692BBDB-6806-49B7-9241-7D2B547F185E}"/>
              </a:ext>
            </a:extLst>
          </p:cNvPr>
          <p:cNvCxnSpPr>
            <a:cxnSpLocks/>
          </p:cNvCxnSpPr>
          <p:nvPr/>
        </p:nvCxnSpPr>
        <p:spPr>
          <a:xfrm flipV="1">
            <a:off x="7466643" y="2683751"/>
            <a:ext cx="525780" cy="791898"/>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29" name="楕円 28">
            <a:extLst>
              <a:ext uri="{FF2B5EF4-FFF2-40B4-BE49-F238E27FC236}">
                <a16:creationId xmlns:a16="http://schemas.microsoft.com/office/drawing/2014/main" id="{602DA899-F613-4B35-A569-DACF6D76EEA5}"/>
              </a:ext>
            </a:extLst>
          </p:cNvPr>
          <p:cNvSpPr/>
          <p:nvPr/>
        </p:nvSpPr>
        <p:spPr>
          <a:xfrm>
            <a:off x="7831288" y="2120241"/>
            <a:ext cx="648000" cy="648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latin typeface="游ゴシック" panose="020B0400000000000000" pitchFamily="50" charset="-128"/>
                <a:ea typeface="游ゴシック" panose="020B0400000000000000" pitchFamily="50" charset="-128"/>
              </a:rPr>
              <a:t>1</a:t>
            </a:r>
            <a:endParaRPr kumimoji="1" lang="ja-JP" altLang="en-US" sz="2800" b="1" dirty="0">
              <a:latin typeface="游ゴシック" panose="020B0400000000000000" pitchFamily="50" charset="-128"/>
              <a:ea typeface="游ゴシック" panose="020B0400000000000000" pitchFamily="50" charset="-128"/>
            </a:endParaRPr>
          </a:p>
        </p:txBody>
      </p:sp>
      <p:grpSp>
        <p:nvGrpSpPr>
          <p:cNvPr id="6" name="グループ化 5">
            <a:extLst>
              <a:ext uri="{FF2B5EF4-FFF2-40B4-BE49-F238E27FC236}">
                <a16:creationId xmlns:a16="http://schemas.microsoft.com/office/drawing/2014/main" id="{D97239CB-D2F7-464C-85F9-58EE17B7D302}"/>
              </a:ext>
            </a:extLst>
          </p:cNvPr>
          <p:cNvGrpSpPr/>
          <p:nvPr/>
        </p:nvGrpSpPr>
        <p:grpSpPr>
          <a:xfrm>
            <a:off x="1308118" y="4654856"/>
            <a:ext cx="938304" cy="840658"/>
            <a:chOff x="1572269" y="4816089"/>
            <a:chExt cx="938304" cy="840658"/>
          </a:xfrm>
        </p:grpSpPr>
        <p:sp>
          <p:nvSpPr>
            <p:cNvPr id="27" name="二等辺三角形 26">
              <a:extLst>
                <a:ext uri="{FF2B5EF4-FFF2-40B4-BE49-F238E27FC236}">
                  <a16:creationId xmlns:a16="http://schemas.microsoft.com/office/drawing/2014/main" id="{3B6F705D-F04B-4DBD-8C41-9BCBF909BE34}"/>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フリーフォーム: 図形 29">
              <a:extLst>
                <a:ext uri="{FF2B5EF4-FFF2-40B4-BE49-F238E27FC236}">
                  <a16:creationId xmlns:a16="http://schemas.microsoft.com/office/drawing/2014/main" id="{3076F6E7-0F39-40A8-B28D-938F6D40299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sp>
        <p:nvSpPr>
          <p:cNvPr id="7" name="フリーフォーム: 図形 6">
            <a:extLst>
              <a:ext uri="{FF2B5EF4-FFF2-40B4-BE49-F238E27FC236}">
                <a16:creationId xmlns:a16="http://schemas.microsoft.com/office/drawing/2014/main" id="{5183F042-B05B-8313-D916-4D435BA05131}"/>
              </a:ext>
            </a:extLst>
          </p:cNvPr>
          <p:cNvSpPr/>
          <p:nvPr/>
        </p:nvSpPr>
        <p:spPr>
          <a:xfrm>
            <a:off x="1256388" y="6352685"/>
            <a:ext cx="1380066" cy="202200"/>
          </a:xfrm>
          <a:custGeom>
            <a:avLst/>
            <a:gdLst>
              <a:gd name="connsiteX0" fmla="*/ 0 w 1380066"/>
              <a:gd name="connsiteY0" fmla="*/ 202199 h 202200"/>
              <a:gd name="connsiteX1" fmla="*/ 1380066 w 1380066"/>
              <a:gd name="connsiteY1" fmla="*/ 0 h 202200"/>
            </a:gdLst>
            <a:ahLst/>
            <a:cxnLst>
              <a:cxn ang="0">
                <a:pos x="connsiteX0" y="connsiteY0"/>
              </a:cxn>
              <a:cxn ang="0">
                <a:pos x="connsiteX1" y="connsiteY1"/>
              </a:cxn>
            </a:cxnLst>
            <a:rect l="l" t="t" r="r" b="b"/>
            <a:pathLst>
              <a:path w="1380066" h="202200" extrusionOk="0">
                <a:moveTo>
                  <a:pt x="0" y="202199"/>
                </a:moveTo>
                <a:cubicBezTo>
                  <a:pt x="579868" y="55242"/>
                  <a:pt x="825186" y="128242"/>
                  <a:pt x="1380066" y="0"/>
                </a:cubicBezTo>
              </a:path>
            </a:pathLst>
          </a:custGeom>
          <a:noFill/>
          <a:ln cap="rnd">
            <a:solidFill>
              <a:schemeClr val="accent4"/>
            </a:solidFill>
            <a:round/>
            <a:headEnd type="none" w="med" len="med"/>
            <a:tailEnd type="arrow" w="lg" len="lg"/>
            <a:extLst>
              <a:ext uri="{C807C97D-BFC1-408E-A445-0C87EB9F89A2}">
                <ask:lineSketchStyleProps xmlns:ask="http://schemas.microsoft.com/office/drawing/2018/sketchyshapes" sd="697022472">
                  <a:custGeom>
                    <a:avLst/>
                    <a:gdLst>
                      <a:gd name="connsiteX0" fmla="*/ 0 w 2709333"/>
                      <a:gd name="connsiteY0" fmla="*/ 321732 h 321733"/>
                      <a:gd name="connsiteX1" fmla="*/ 1245419 w 2709333"/>
                      <a:gd name="connsiteY1" fmla="*/ 105712 h 321733"/>
                      <a:gd name="connsiteX2" fmla="*/ 2709333 w 2709333"/>
                      <a:gd name="connsiteY2" fmla="*/ 0 h 321733"/>
                      <a:gd name="connsiteX0" fmla="*/ 0 w 2709333"/>
                      <a:gd name="connsiteY0" fmla="*/ 321732 h 321732"/>
                      <a:gd name="connsiteX1" fmla="*/ 2709333 w 2709333"/>
                      <a:gd name="connsiteY1" fmla="*/ 0 h 321732"/>
                    </a:gdLst>
                    <a:ahLst/>
                    <a:cxnLst>
                      <a:cxn ang="0">
                        <a:pos x="connsiteX0" y="connsiteY0"/>
                      </a:cxn>
                      <a:cxn ang="0">
                        <a:pos x="connsiteX1" y="connsiteY1"/>
                      </a:cxn>
                    </a:cxnLst>
                    <a:rect l="l" t="t" r="r" b="b"/>
                    <a:pathLst>
                      <a:path w="2709333" h="321732" extrusionOk="0">
                        <a:moveTo>
                          <a:pt x="0" y="321732"/>
                        </a:moveTo>
                        <a:lnTo>
                          <a:pt x="2709333" y="0"/>
                        </a:ln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右大かっこ 7">
            <a:extLst>
              <a:ext uri="{FF2B5EF4-FFF2-40B4-BE49-F238E27FC236}">
                <a16:creationId xmlns:a16="http://schemas.microsoft.com/office/drawing/2014/main" id="{B56DB7F2-BBFC-B498-CF1C-E6E32288AFD5}"/>
              </a:ext>
            </a:extLst>
          </p:cNvPr>
          <p:cNvSpPr/>
          <p:nvPr/>
        </p:nvSpPr>
        <p:spPr>
          <a:xfrm>
            <a:off x="10875218" y="3429000"/>
            <a:ext cx="75875" cy="2144636"/>
          </a:xfrm>
          <a:custGeom>
            <a:avLst/>
            <a:gdLst>
              <a:gd name="connsiteX0" fmla="*/ 0 w 75875"/>
              <a:gd name="connsiteY0" fmla="*/ 0 h 2144636"/>
              <a:gd name="connsiteX1" fmla="*/ 75875 w 75875"/>
              <a:gd name="connsiteY1" fmla="*/ 6323 h 2144636"/>
              <a:gd name="connsiteX2" fmla="*/ 75875 w 75875"/>
              <a:gd name="connsiteY2" fmla="*/ 2138313 h 2144636"/>
              <a:gd name="connsiteX3" fmla="*/ 0 w 75875"/>
              <a:gd name="connsiteY3" fmla="*/ 2144636 h 2144636"/>
              <a:gd name="connsiteX4" fmla="*/ 0 w 75875"/>
              <a:gd name="connsiteY4" fmla="*/ 0 h 2144636"/>
              <a:gd name="connsiteX0" fmla="*/ 0 w 75875"/>
              <a:gd name="connsiteY0" fmla="*/ 0 h 2144636"/>
              <a:gd name="connsiteX1" fmla="*/ 75875 w 75875"/>
              <a:gd name="connsiteY1" fmla="*/ 6323 h 2144636"/>
              <a:gd name="connsiteX2" fmla="*/ 75875 w 75875"/>
              <a:gd name="connsiteY2" fmla="*/ 2138313 h 2144636"/>
              <a:gd name="connsiteX3" fmla="*/ 0 w 75875"/>
              <a:gd name="connsiteY3" fmla="*/ 2144636 h 2144636"/>
            </a:gdLst>
            <a:ahLst/>
            <a:cxnLst>
              <a:cxn ang="0">
                <a:pos x="connsiteX0" y="connsiteY0"/>
              </a:cxn>
              <a:cxn ang="0">
                <a:pos x="connsiteX1" y="connsiteY1"/>
              </a:cxn>
              <a:cxn ang="0">
                <a:pos x="connsiteX2" y="connsiteY2"/>
              </a:cxn>
              <a:cxn ang="0">
                <a:pos x="connsiteX3" y="connsiteY3"/>
              </a:cxn>
            </a:cxnLst>
            <a:rect l="l" t="t" r="r" b="b"/>
            <a:pathLst>
              <a:path w="75875" h="2144636" stroke="0" extrusionOk="0">
                <a:moveTo>
                  <a:pt x="0" y="0"/>
                </a:moveTo>
                <a:cubicBezTo>
                  <a:pt x="42231" y="260"/>
                  <a:pt x="75694" y="3473"/>
                  <a:pt x="75875" y="6323"/>
                </a:cubicBezTo>
                <a:cubicBezTo>
                  <a:pt x="36033" y="809005"/>
                  <a:pt x="117564" y="1463863"/>
                  <a:pt x="75875" y="2138313"/>
                </a:cubicBezTo>
                <a:cubicBezTo>
                  <a:pt x="75472" y="2141552"/>
                  <a:pt x="38285" y="2141821"/>
                  <a:pt x="0" y="2144636"/>
                </a:cubicBezTo>
                <a:cubicBezTo>
                  <a:pt x="132240" y="1282501"/>
                  <a:pt x="-92512" y="751834"/>
                  <a:pt x="0" y="0"/>
                </a:cubicBezTo>
                <a:close/>
              </a:path>
              <a:path w="75875" h="2144636" fill="none" extrusionOk="0">
                <a:moveTo>
                  <a:pt x="0" y="0"/>
                </a:moveTo>
                <a:cubicBezTo>
                  <a:pt x="42382" y="80"/>
                  <a:pt x="76249" y="3222"/>
                  <a:pt x="75875" y="6323"/>
                </a:cubicBezTo>
                <a:cubicBezTo>
                  <a:pt x="-24092" y="939947"/>
                  <a:pt x="-16176" y="1075997"/>
                  <a:pt x="75875" y="2138313"/>
                </a:cubicBezTo>
                <a:cubicBezTo>
                  <a:pt x="70834" y="2143479"/>
                  <a:pt x="44604" y="2144902"/>
                  <a:pt x="0" y="2144636"/>
                </a:cubicBezTo>
              </a:path>
              <a:path w="75875" h="2144636" fill="none" stroke="0" extrusionOk="0">
                <a:moveTo>
                  <a:pt x="0" y="0"/>
                </a:moveTo>
                <a:cubicBezTo>
                  <a:pt x="42098" y="-180"/>
                  <a:pt x="76088" y="3017"/>
                  <a:pt x="75875" y="6323"/>
                </a:cubicBezTo>
                <a:cubicBezTo>
                  <a:pt x="233756" y="726300"/>
                  <a:pt x="144075" y="1627586"/>
                  <a:pt x="75875" y="2138313"/>
                </a:cubicBezTo>
                <a:cubicBezTo>
                  <a:pt x="81323" y="2141035"/>
                  <a:pt x="43270" y="2142597"/>
                  <a:pt x="0" y="2144636"/>
                </a:cubicBezTo>
              </a:path>
            </a:pathLst>
          </a:custGeom>
          <a:ln w="19050">
            <a:solidFill>
              <a:schemeClr val="accent4"/>
            </a:solidFill>
            <a:extLst>
              <a:ext uri="{C807C97D-BFC1-408E-A445-0C87EB9F89A2}">
                <ask:lineSketchStyleProps xmlns:ask="http://schemas.microsoft.com/office/drawing/2018/sketchyshapes" sd="43512134">
                  <a:prstGeom prst="rightBracket">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379F5105-2867-CCBC-D635-B09EBEC74DE8}"/>
              </a:ext>
            </a:extLst>
          </p:cNvPr>
          <p:cNvSpPr txBox="1"/>
          <p:nvPr/>
        </p:nvSpPr>
        <p:spPr>
          <a:xfrm>
            <a:off x="8613397" y="3987244"/>
            <a:ext cx="1716014" cy="369332"/>
          </a:xfrm>
          <a:prstGeom prst="rect">
            <a:avLst/>
          </a:prstGeom>
          <a:solidFill>
            <a:srgbClr val="46877B"/>
          </a:solidFill>
        </p:spPr>
        <p:txBody>
          <a:bodyPr wrap="square">
            <a:spAutoFit/>
          </a:bodyPr>
          <a:lstStyle/>
          <a:p>
            <a:r>
              <a:rPr lang="en-US" altLang="ja-JP" b="1" dirty="0">
                <a:solidFill>
                  <a:schemeClr val="bg1"/>
                </a:solidFill>
                <a:latin typeface="游ゴシック" panose="020B0400000000000000" pitchFamily="50" charset="-128"/>
                <a:ea typeface="游ゴシック" panose="020B0400000000000000" pitchFamily="50" charset="-128"/>
              </a:rPr>
              <a:t> </a:t>
            </a:r>
            <a:r>
              <a:rPr lang="ja-JP" altLang="en-US" b="1" dirty="0">
                <a:solidFill>
                  <a:schemeClr val="bg1"/>
                </a:solidFill>
                <a:latin typeface="游ゴシック" panose="020B0400000000000000" pitchFamily="50" charset="-128"/>
                <a:ea typeface="游ゴシック" panose="020B0400000000000000" pitchFamily="50" charset="-128"/>
              </a:rPr>
              <a:t>何かの見出し</a:t>
            </a:r>
          </a:p>
        </p:txBody>
      </p:sp>
      <p:sp>
        <p:nvSpPr>
          <p:cNvPr id="36" name="フリーフォーム: 図形 35">
            <a:extLst>
              <a:ext uri="{FF2B5EF4-FFF2-40B4-BE49-F238E27FC236}">
                <a16:creationId xmlns:a16="http://schemas.microsoft.com/office/drawing/2014/main" id="{EFD584C9-55DF-601C-DC7A-86517FFDB48C}"/>
              </a:ext>
            </a:extLst>
          </p:cNvPr>
          <p:cNvSpPr/>
          <p:nvPr/>
        </p:nvSpPr>
        <p:spPr>
          <a:xfrm rot="2149832">
            <a:off x="1232946" y="5356494"/>
            <a:ext cx="1116215" cy="1248435"/>
          </a:xfrm>
          <a:custGeom>
            <a:avLst/>
            <a:gdLst>
              <a:gd name="connsiteX0" fmla="*/ 0 w 6381750"/>
              <a:gd name="connsiteY0" fmla="*/ 87460 h 350919"/>
              <a:gd name="connsiteX1" fmla="*/ 508000 w 6381750"/>
              <a:gd name="connsiteY1" fmla="*/ 258910 h 350919"/>
              <a:gd name="connsiteX2" fmla="*/ 908050 w 6381750"/>
              <a:gd name="connsiteY2" fmla="*/ 125560 h 350919"/>
              <a:gd name="connsiteX3" fmla="*/ 1314450 w 6381750"/>
              <a:gd name="connsiteY3" fmla="*/ 252560 h 350919"/>
              <a:gd name="connsiteX4" fmla="*/ 2032000 w 6381750"/>
              <a:gd name="connsiteY4" fmla="*/ 4910 h 350919"/>
              <a:gd name="connsiteX5" fmla="*/ 2635250 w 6381750"/>
              <a:gd name="connsiteY5" fmla="*/ 100160 h 350919"/>
              <a:gd name="connsiteX6" fmla="*/ 3943350 w 6381750"/>
              <a:gd name="connsiteY6" fmla="*/ 252560 h 350919"/>
              <a:gd name="connsiteX7" fmla="*/ 4648200 w 6381750"/>
              <a:gd name="connsiteY7" fmla="*/ 347810 h 350919"/>
              <a:gd name="connsiteX8" fmla="*/ 5308600 w 6381750"/>
              <a:gd name="connsiteY8" fmla="*/ 138260 h 350919"/>
              <a:gd name="connsiteX9" fmla="*/ 6381750 w 6381750"/>
              <a:gd name="connsiteY9" fmla="*/ 87460 h 350919"/>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84727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908050 w 6381750"/>
              <a:gd name="connsiteY1" fmla="*/ 122827 h 347987"/>
              <a:gd name="connsiteX2" fmla="*/ 1314450 w 6381750"/>
              <a:gd name="connsiteY2" fmla="*/ 249827 h 347987"/>
              <a:gd name="connsiteX3" fmla="*/ 2032000 w 6381750"/>
              <a:gd name="connsiteY3" fmla="*/ 2177 h 347987"/>
              <a:gd name="connsiteX4" fmla="*/ 2876550 w 6381750"/>
              <a:gd name="connsiteY4" fmla="*/ 135527 h 347987"/>
              <a:gd name="connsiteX5" fmla="*/ 3943350 w 6381750"/>
              <a:gd name="connsiteY5" fmla="*/ 249827 h 347987"/>
              <a:gd name="connsiteX6" fmla="*/ 4648200 w 6381750"/>
              <a:gd name="connsiteY6" fmla="*/ 345077 h 347987"/>
              <a:gd name="connsiteX7" fmla="*/ 5308600 w 6381750"/>
              <a:gd name="connsiteY7" fmla="*/ 135527 h 347987"/>
              <a:gd name="connsiteX8" fmla="*/ 6381750 w 6381750"/>
              <a:gd name="connsiteY8" fmla="*/ 143994 h 347987"/>
              <a:gd name="connsiteX0" fmla="*/ 0 w 6381750"/>
              <a:gd name="connsiteY0" fmla="*/ 84727 h 347987"/>
              <a:gd name="connsiteX1" fmla="*/ 1314450 w 6381750"/>
              <a:gd name="connsiteY1" fmla="*/ 249827 h 347987"/>
              <a:gd name="connsiteX2" fmla="*/ 2032000 w 6381750"/>
              <a:gd name="connsiteY2" fmla="*/ 2177 h 347987"/>
              <a:gd name="connsiteX3" fmla="*/ 2876550 w 6381750"/>
              <a:gd name="connsiteY3" fmla="*/ 135527 h 347987"/>
              <a:gd name="connsiteX4" fmla="*/ 3943350 w 6381750"/>
              <a:gd name="connsiteY4" fmla="*/ 249827 h 347987"/>
              <a:gd name="connsiteX5" fmla="*/ 4648200 w 6381750"/>
              <a:gd name="connsiteY5" fmla="*/ 345077 h 347987"/>
              <a:gd name="connsiteX6" fmla="*/ 5308600 w 6381750"/>
              <a:gd name="connsiteY6" fmla="*/ 135527 h 347987"/>
              <a:gd name="connsiteX7" fmla="*/ 6381750 w 6381750"/>
              <a:gd name="connsiteY7" fmla="*/ 143994 h 347987"/>
              <a:gd name="connsiteX0" fmla="*/ 0 w 6381750"/>
              <a:gd name="connsiteY0" fmla="*/ 83224 h 346484"/>
              <a:gd name="connsiteX1" fmla="*/ 2032000 w 6381750"/>
              <a:gd name="connsiteY1" fmla="*/ 674 h 346484"/>
              <a:gd name="connsiteX2" fmla="*/ 2876550 w 6381750"/>
              <a:gd name="connsiteY2" fmla="*/ 134024 h 346484"/>
              <a:gd name="connsiteX3" fmla="*/ 3943350 w 6381750"/>
              <a:gd name="connsiteY3" fmla="*/ 248324 h 346484"/>
              <a:gd name="connsiteX4" fmla="*/ 4648200 w 6381750"/>
              <a:gd name="connsiteY4" fmla="*/ 343574 h 346484"/>
              <a:gd name="connsiteX5" fmla="*/ 5308600 w 6381750"/>
              <a:gd name="connsiteY5" fmla="*/ 134024 h 346484"/>
              <a:gd name="connsiteX6" fmla="*/ 6381750 w 6381750"/>
              <a:gd name="connsiteY6" fmla="*/ 142491 h 346484"/>
              <a:gd name="connsiteX0" fmla="*/ 0 w 6381750"/>
              <a:gd name="connsiteY0" fmla="*/ 0 h 263260"/>
              <a:gd name="connsiteX1" fmla="*/ 2876550 w 6381750"/>
              <a:gd name="connsiteY1" fmla="*/ 50800 h 263260"/>
              <a:gd name="connsiteX2" fmla="*/ 3943350 w 6381750"/>
              <a:gd name="connsiteY2" fmla="*/ 165100 h 263260"/>
              <a:gd name="connsiteX3" fmla="*/ 4648200 w 6381750"/>
              <a:gd name="connsiteY3" fmla="*/ 260350 h 263260"/>
              <a:gd name="connsiteX4" fmla="*/ 5308600 w 6381750"/>
              <a:gd name="connsiteY4" fmla="*/ 50800 h 263260"/>
              <a:gd name="connsiteX5" fmla="*/ 6381750 w 6381750"/>
              <a:gd name="connsiteY5" fmla="*/ 59267 h 263260"/>
              <a:gd name="connsiteX0" fmla="*/ 0 w 6381750"/>
              <a:gd name="connsiteY0" fmla="*/ 0 h 263260"/>
              <a:gd name="connsiteX1" fmla="*/ 3943350 w 6381750"/>
              <a:gd name="connsiteY1" fmla="*/ 165100 h 263260"/>
              <a:gd name="connsiteX2" fmla="*/ 4648200 w 6381750"/>
              <a:gd name="connsiteY2" fmla="*/ 260350 h 263260"/>
              <a:gd name="connsiteX3" fmla="*/ 5308600 w 6381750"/>
              <a:gd name="connsiteY3" fmla="*/ 50800 h 263260"/>
              <a:gd name="connsiteX4" fmla="*/ 6381750 w 6381750"/>
              <a:gd name="connsiteY4" fmla="*/ 59267 h 263260"/>
              <a:gd name="connsiteX0" fmla="*/ 0 w 6381750"/>
              <a:gd name="connsiteY0" fmla="*/ 0 h 260350"/>
              <a:gd name="connsiteX1" fmla="*/ 4648200 w 6381750"/>
              <a:gd name="connsiteY1" fmla="*/ 260350 h 260350"/>
              <a:gd name="connsiteX2" fmla="*/ 5308600 w 6381750"/>
              <a:gd name="connsiteY2" fmla="*/ 50800 h 260350"/>
              <a:gd name="connsiteX3" fmla="*/ 6381750 w 6381750"/>
              <a:gd name="connsiteY3" fmla="*/ 59267 h 260350"/>
              <a:gd name="connsiteX0" fmla="*/ 0 w 6381750"/>
              <a:gd name="connsiteY0" fmla="*/ 0 h 59267"/>
              <a:gd name="connsiteX1" fmla="*/ 5308600 w 6381750"/>
              <a:gd name="connsiteY1" fmla="*/ 50800 h 59267"/>
              <a:gd name="connsiteX2" fmla="*/ 6381750 w 6381750"/>
              <a:gd name="connsiteY2" fmla="*/ 59267 h 59267"/>
              <a:gd name="connsiteX0" fmla="*/ 0 w 6381750"/>
              <a:gd name="connsiteY0" fmla="*/ 0 h 1124584"/>
              <a:gd name="connsiteX1" fmla="*/ 4528057 w 6381750"/>
              <a:gd name="connsiteY1" fmla="*/ 1124584 h 1124584"/>
              <a:gd name="connsiteX2" fmla="*/ 6381750 w 6381750"/>
              <a:gd name="connsiteY2" fmla="*/ 59267 h 1124584"/>
              <a:gd name="connsiteX0" fmla="*/ 0 w 3161177"/>
              <a:gd name="connsiteY0" fmla="*/ 2112889 h 2112889"/>
              <a:gd name="connsiteX1" fmla="*/ 1307484 w 3161177"/>
              <a:gd name="connsiteY1" fmla="*/ 1067394 h 2112889"/>
              <a:gd name="connsiteX2" fmla="*/ 3161177 w 3161177"/>
              <a:gd name="connsiteY2" fmla="*/ 2077 h 2112889"/>
              <a:gd name="connsiteX0" fmla="*/ 0 w 3161177"/>
              <a:gd name="connsiteY0" fmla="*/ 2110812 h 2110812"/>
              <a:gd name="connsiteX1" fmla="*/ 3161177 w 3161177"/>
              <a:gd name="connsiteY1" fmla="*/ 0 h 2110812"/>
              <a:gd name="connsiteX0" fmla="*/ 0 w 1482258"/>
              <a:gd name="connsiteY0" fmla="*/ 903680 h 903680"/>
              <a:gd name="connsiteX1" fmla="*/ 1482258 w 1482258"/>
              <a:gd name="connsiteY1" fmla="*/ 0 h 903680"/>
            </a:gdLst>
            <a:ahLst/>
            <a:cxnLst>
              <a:cxn ang="0">
                <a:pos x="connsiteX0" y="connsiteY0"/>
              </a:cxn>
              <a:cxn ang="0">
                <a:pos x="connsiteX1" y="connsiteY1"/>
              </a:cxn>
            </a:cxnLst>
            <a:rect l="l" t="t" r="r" b="b"/>
            <a:pathLst>
              <a:path w="1482258" h="903680">
                <a:moveTo>
                  <a:pt x="0" y="903680"/>
                </a:moveTo>
                <a:lnTo>
                  <a:pt x="1482258" y="0"/>
                </a:lnTo>
              </a:path>
            </a:pathLst>
          </a:custGeom>
          <a:noFill/>
          <a:ln w="57150">
            <a:solidFill>
              <a:schemeClr val="accent2"/>
            </a:solidFill>
            <a:tailEnd type="triangle"/>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4" name="矢印: 右 43">
            <a:extLst>
              <a:ext uri="{FF2B5EF4-FFF2-40B4-BE49-F238E27FC236}">
                <a16:creationId xmlns:a16="http://schemas.microsoft.com/office/drawing/2014/main" id="{0A2734DE-E047-CC2D-F3E2-E701DEBB69AE}"/>
              </a:ext>
            </a:extLst>
          </p:cNvPr>
          <p:cNvSpPr/>
          <p:nvPr/>
        </p:nvSpPr>
        <p:spPr>
          <a:xfrm>
            <a:off x="3724405" y="5310395"/>
            <a:ext cx="1797864" cy="1126627"/>
          </a:xfrm>
          <a:custGeom>
            <a:avLst/>
            <a:gdLst>
              <a:gd name="connsiteX0" fmla="*/ 0 w 1797864"/>
              <a:gd name="connsiteY0" fmla="*/ 281657 h 1126627"/>
              <a:gd name="connsiteX1" fmla="*/ 1234551 w 1797864"/>
              <a:gd name="connsiteY1" fmla="*/ 281657 h 1126627"/>
              <a:gd name="connsiteX2" fmla="*/ 1234551 w 1797864"/>
              <a:gd name="connsiteY2" fmla="*/ 0 h 1126627"/>
              <a:gd name="connsiteX3" fmla="*/ 1797864 w 1797864"/>
              <a:gd name="connsiteY3" fmla="*/ 563314 h 1126627"/>
              <a:gd name="connsiteX4" fmla="*/ 1234551 w 1797864"/>
              <a:gd name="connsiteY4" fmla="*/ 1126627 h 1126627"/>
              <a:gd name="connsiteX5" fmla="*/ 1234551 w 1797864"/>
              <a:gd name="connsiteY5" fmla="*/ 844970 h 1126627"/>
              <a:gd name="connsiteX6" fmla="*/ 0 w 1797864"/>
              <a:gd name="connsiteY6" fmla="*/ 844970 h 1126627"/>
              <a:gd name="connsiteX7" fmla="*/ 0 w 1797864"/>
              <a:gd name="connsiteY7" fmla="*/ 281657 h 112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7864" h="1126627" fill="none" extrusionOk="0">
                <a:moveTo>
                  <a:pt x="0" y="281657"/>
                </a:moveTo>
                <a:cubicBezTo>
                  <a:pt x="441140" y="341876"/>
                  <a:pt x="815292" y="313239"/>
                  <a:pt x="1234551" y="281657"/>
                </a:cubicBezTo>
                <a:cubicBezTo>
                  <a:pt x="1258466" y="194755"/>
                  <a:pt x="1214082" y="130057"/>
                  <a:pt x="1234551" y="0"/>
                </a:cubicBezTo>
                <a:cubicBezTo>
                  <a:pt x="1321461" y="170749"/>
                  <a:pt x="1683272" y="515097"/>
                  <a:pt x="1797864" y="563314"/>
                </a:cubicBezTo>
                <a:cubicBezTo>
                  <a:pt x="1683170" y="648249"/>
                  <a:pt x="1372263" y="1063564"/>
                  <a:pt x="1234551" y="1126627"/>
                </a:cubicBezTo>
                <a:cubicBezTo>
                  <a:pt x="1228919" y="1080683"/>
                  <a:pt x="1223293" y="925170"/>
                  <a:pt x="1234551" y="844970"/>
                </a:cubicBezTo>
                <a:cubicBezTo>
                  <a:pt x="625859" y="796345"/>
                  <a:pt x="503036" y="798970"/>
                  <a:pt x="0" y="844970"/>
                </a:cubicBezTo>
                <a:cubicBezTo>
                  <a:pt x="12149" y="711576"/>
                  <a:pt x="-34350" y="429484"/>
                  <a:pt x="0" y="281657"/>
                </a:cubicBezTo>
                <a:close/>
              </a:path>
              <a:path w="1797864" h="1126627" stroke="0" extrusionOk="0">
                <a:moveTo>
                  <a:pt x="0" y="281657"/>
                </a:moveTo>
                <a:cubicBezTo>
                  <a:pt x="501690" y="291445"/>
                  <a:pt x="664348" y="302673"/>
                  <a:pt x="1234551" y="281657"/>
                </a:cubicBezTo>
                <a:cubicBezTo>
                  <a:pt x="1244995" y="149561"/>
                  <a:pt x="1246456" y="46048"/>
                  <a:pt x="1234551" y="0"/>
                </a:cubicBezTo>
                <a:cubicBezTo>
                  <a:pt x="1416517" y="201720"/>
                  <a:pt x="1516224" y="323140"/>
                  <a:pt x="1797864" y="563314"/>
                </a:cubicBezTo>
                <a:cubicBezTo>
                  <a:pt x="1604474" y="781173"/>
                  <a:pt x="1263864" y="996785"/>
                  <a:pt x="1234551" y="1126627"/>
                </a:cubicBezTo>
                <a:cubicBezTo>
                  <a:pt x="1244859" y="1090226"/>
                  <a:pt x="1246547" y="961132"/>
                  <a:pt x="1234551" y="844970"/>
                </a:cubicBezTo>
                <a:cubicBezTo>
                  <a:pt x="826782" y="735023"/>
                  <a:pt x="170652" y="758181"/>
                  <a:pt x="0" y="844970"/>
                </a:cubicBezTo>
                <a:cubicBezTo>
                  <a:pt x="-923" y="604596"/>
                  <a:pt x="-16096" y="399535"/>
                  <a:pt x="0" y="281657"/>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リーフォーム: 図形 45">
            <a:extLst>
              <a:ext uri="{FF2B5EF4-FFF2-40B4-BE49-F238E27FC236}">
                <a16:creationId xmlns:a16="http://schemas.microsoft.com/office/drawing/2014/main" id="{6C0FD5AB-5B5F-7AA0-6FBC-206214218608}"/>
              </a:ext>
            </a:extLst>
          </p:cNvPr>
          <p:cNvSpPr/>
          <p:nvPr/>
        </p:nvSpPr>
        <p:spPr>
          <a:xfrm>
            <a:off x="529301" y="2977937"/>
            <a:ext cx="2457450" cy="553401"/>
          </a:xfrm>
          <a:custGeom>
            <a:avLst/>
            <a:gdLst>
              <a:gd name="connsiteX0" fmla="*/ 0 w 2457450"/>
              <a:gd name="connsiteY0" fmla="*/ 553401 h 553401"/>
              <a:gd name="connsiteX1" fmla="*/ 1066800 w 2457450"/>
              <a:gd name="connsiteY1" fmla="*/ 48576 h 553401"/>
              <a:gd name="connsiteX2" fmla="*/ 2457450 w 2457450"/>
              <a:gd name="connsiteY2" fmla="*/ 48576 h 553401"/>
            </a:gdLst>
            <a:ahLst/>
            <a:cxnLst>
              <a:cxn ang="0">
                <a:pos x="connsiteX0" y="connsiteY0"/>
              </a:cxn>
              <a:cxn ang="0">
                <a:pos x="connsiteX1" y="connsiteY1"/>
              </a:cxn>
              <a:cxn ang="0">
                <a:pos x="connsiteX2" y="connsiteY2"/>
              </a:cxn>
            </a:cxnLst>
            <a:rect l="l" t="t" r="r" b="b"/>
            <a:pathLst>
              <a:path w="2457450" h="553401">
                <a:moveTo>
                  <a:pt x="0" y="553401"/>
                </a:moveTo>
                <a:cubicBezTo>
                  <a:pt x="328612" y="343057"/>
                  <a:pt x="657225" y="132713"/>
                  <a:pt x="1066800" y="48576"/>
                </a:cubicBezTo>
                <a:cubicBezTo>
                  <a:pt x="1476375" y="-35561"/>
                  <a:pt x="1966912" y="6507"/>
                  <a:pt x="2457450" y="48576"/>
                </a:cubicBezTo>
              </a:path>
            </a:pathLst>
          </a:custGeom>
          <a:noFill/>
          <a:ln w="38100">
            <a:solidFill>
              <a:schemeClr val="accent4"/>
            </a:solidFill>
            <a:headEnd type="none" w="med" len="med"/>
            <a:tailEnd type="triangle" w="med" len="med"/>
          </a:ln>
          <a:effectLst>
            <a:glow rad="152400">
              <a:schemeClr val="bg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a:extLst>
              <a:ext uri="{FF2B5EF4-FFF2-40B4-BE49-F238E27FC236}">
                <a16:creationId xmlns:a16="http://schemas.microsoft.com/office/drawing/2014/main" id="{79366D17-C6F6-2F7E-0C8E-D7CA4265F094}"/>
              </a:ext>
            </a:extLst>
          </p:cNvPr>
          <p:cNvGrpSpPr/>
          <p:nvPr/>
        </p:nvGrpSpPr>
        <p:grpSpPr>
          <a:xfrm>
            <a:off x="7701975" y="5031844"/>
            <a:ext cx="866523" cy="923145"/>
            <a:chOff x="5897144" y="3284788"/>
            <a:chExt cx="866523" cy="923145"/>
          </a:xfrm>
        </p:grpSpPr>
        <p:sp>
          <p:nvSpPr>
            <p:cNvPr id="47" name="フリーフォーム: 図形 46">
              <a:extLst>
                <a:ext uri="{FF2B5EF4-FFF2-40B4-BE49-F238E27FC236}">
                  <a16:creationId xmlns:a16="http://schemas.microsoft.com/office/drawing/2014/main" id="{128A1380-4083-A4AF-A9AF-53345AAABDF1}"/>
                </a:ext>
              </a:extLst>
            </p:cNvPr>
            <p:cNvSpPr/>
            <p:nvPr/>
          </p:nvSpPr>
          <p:spPr>
            <a:xfrm>
              <a:off x="5897698" y="3332166"/>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フリーフォーム: 図形 47">
              <a:extLst>
                <a:ext uri="{FF2B5EF4-FFF2-40B4-BE49-F238E27FC236}">
                  <a16:creationId xmlns:a16="http://schemas.microsoft.com/office/drawing/2014/main" id="{0F60FF85-8B94-7CA7-28BD-EE9A8905975E}"/>
                </a:ext>
              </a:extLst>
            </p:cNvPr>
            <p:cNvSpPr/>
            <p:nvPr/>
          </p:nvSpPr>
          <p:spPr>
            <a:xfrm rot="4964407">
              <a:off x="5961743" y="3402000"/>
              <a:ext cx="777334" cy="542909"/>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リーフォーム: 図形 48">
              <a:extLst>
                <a:ext uri="{FF2B5EF4-FFF2-40B4-BE49-F238E27FC236}">
                  <a16:creationId xmlns:a16="http://schemas.microsoft.com/office/drawing/2014/main" id="{C44C3672-6F4A-8A28-B2E1-FDAAD4B9653C}"/>
                </a:ext>
              </a:extLst>
            </p:cNvPr>
            <p:cNvSpPr/>
            <p:nvPr/>
          </p:nvSpPr>
          <p:spPr>
            <a:xfrm rot="8884375">
              <a:off x="5897144" y="3395723"/>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リーフォーム: 図形 49">
              <a:extLst>
                <a:ext uri="{FF2B5EF4-FFF2-40B4-BE49-F238E27FC236}">
                  <a16:creationId xmlns:a16="http://schemas.microsoft.com/office/drawing/2014/main" id="{21E955EA-67B5-7ECC-CB8F-3C3E4686AE8A}"/>
                </a:ext>
              </a:extLst>
            </p:cNvPr>
            <p:cNvSpPr/>
            <p:nvPr/>
          </p:nvSpPr>
          <p:spPr>
            <a:xfrm rot="12451915">
              <a:off x="5920913" y="3415024"/>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図形 50">
              <a:extLst>
                <a:ext uri="{FF2B5EF4-FFF2-40B4-BE49-F238E27FC236}">
                  <a16:creationId xmlns:a16="http://schemas.microsoft.com/office/drawing/2014/main" id="{BDF494D2-1DAE-AEB3-A146-38DB5558CB4C}"/>
                </a:ext>
              </a:extLst>
            </p:cNvPr>
            <p:cNvSpPr/>
            <p:nvPr/>
          </p:nvSpPr>
          <p:spPr>
            <a:xfrm rot="15479593">
              <a:off x="5960037" y="3712865"/>
              <a:ext cx="777334" cy="212802"/>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799079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DA62966E-E008-9DDC-DD95-31FEDECDAB7B}"/>
              </a:ext>
            </a:extLst>
          </p:cNvPr>
          <p:cNvSpPr>
            <a:spLocks noGrp="1"/>
          </p:cNvSpPr>
          <p:nvPr>
            <p:ph type="body" sz="quarter" idx="11"/>
          </p:nvPr>
        </p:nvSpPr>
        <p:spPr/>
        <p:txBody>
          <a:bodyPr>
            <a:normAutofit/>
          </a:bodyPr>
          <a:lstStyle/>
          <a:p>
            <a:r>
              <a:rPr kumimoji="1" lang="ja-JP" altLang="en-US" dirty="0"/>
              <a:t>良く使う図形パターン</a:t>
            </a:r>
          </a:p>
        </p:txBody>
      </p:sp>
      <p:grpSp>
        <p:nvGrpSpPr>
          <p:cNvPr id="24" name="グループ化 23">
            <a:extLst>
              <a:ext uri="{FF2B5EF4-FFF2-40B4-BE49-F238E27FC236}">
                <a16:creationId xmlns:a16="http://schemas.microsoft.com/office/drawing/2014/main" id="{29108725-9831-27F9-3FD3-71FC27129266}"/>
              </a:ext>
            </a:extLst>
          </p:cNvPr>
          <p:cNvGrpSpPr/>
          <p:nvPr/>
        </p:nvGrpSpPr>
        <p:grpSpPr>
          <a:xfrm>
            <a:off x="616017" y="1348268"/>
            <a:ext cx="6533120" cy="4938925"/>
            <a:chOff x="0" y="1396394"/>
            <a:chExt cx="6533120" cy="4938925"/>
          </a:xfrm>
        </p:grpSpPr>
        <p:sp>
          <p:nvSpPr>
            <p:cNvPr id="5" name="楕円 4">
              <a:extLst>
                <a:ext uri="{FF2B5EF4-FFF2-40B4-BE49-F238E27FC236}">
                  <a16:creationId xmlns:a16="http://schemas.microsoft.com/office/drawing/2014/main" id="{A0811D00-B639-7D58-D363-8290AD29E62C}"/>
                </a:ext>
              </a:extLst>
            </p:cNvPr>
            <p:cNvSpPr/>
            <p:nvPr/>
          </p:nvSpPr>
          <p:spPr>
            <a:xfrm>
              <a:off x="2173905" y="13963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CEE3C2FA-C4E2-9188-98AB-D6750654E01E}"/>
                </a:ext>
              </a:extLst>
            </p:cNvPr>
            <p:cNvSpPr txBox="1"/>
            <p:nvPr/>
          </p:nvSpPr>
          <p:spPr>
            <a:xfrm>
              <a:off x="2139601" y="1944955"/>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①</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ひとつめ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sp>
          <p:nvSpPr>
            <p:cNvPr id="7" name="楕円 6">
              <a:extLst>
                <a:ext uri="{FF2B5EF4-FFF2-40B4-BE49-F238E27FC236}">
                  <a16:creationId xmlns:a16="http://schemas.microsoft.com/office/drawing/2014/main" id="{F600B182-1E03-FE3F-38CF-BE77E0F38AC6}"/>
                </a:ext>
              </a:extLst>
            </p:cNvPr>
            <p:cNvSpPr/>
            <p:nvPr/>
          </p:nvSpPr>
          <p:spPr>
            <a:xfrm>
              <a:off x="815779" y="36664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テキスト ボックス 7">
              <a:extLst>
                <a:ext uri="{FF2B5EF4-FFF2-40B4-BE49-F238E27FC236}">
                  <a16:creationId xmlns:a16="http://schemas.microsoft.com/office/drawing/2014/main" id="{80636C0C-4196-FBC8-E6B1-2A2B6B9C99B7}"/>
                </a:ext>
              </a:extLst>
            </p:cNvPr>
            <p:cNvSpPr txBox="1"/>
            <p:nvPr/>
          </p:nvSpPr>
          <p:spPr>
            <a:xfrm>
              <a:off x="733433" y="4231597"/>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③</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みっつめ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sp>
          <p:nvSpPr>
            <p:cNvPr id="9" name="楕円 8">
              <a:extLst>
                <a:ext uri="{FF2B5EF4-FFF2-40B4-BE49-F238E27FC236}">
                  <a16:creationId xmlns:a16="http://schemas.microsoft.com/office/drawing/2014/main" id="{11B58024-0DF9-700C-3393-339C7F03622C}"/>
                </a:ext>
              </a:extLst>
            </p:cNvPr>
            <p:cNvSpPr/>
            <p:nvPr/>
          </p:nvSpPr>
          <p:spPr>
            <a:xfrm>
              <a:off x="3565643" y="36537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7E243A9B-ED86-339C-E2EB-EFDFA00CF9EF}"/>
                </a:ext>
              </a:extLst>
            </p:cNvPr>
            <p:cNvSpPr txBox="1"/>
            <p:nvPr/>
          </p:nvSpPr>
          <p:spPr>
            <a:xfrm>
              <a:off x="3511913" y="4222775"/>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➁</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ふたつめ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grpSp>
          <p:nvGrpSpPr>
            <p:cNvPr id="11" name="グループ化 10">
              <a:extLst>
                <a:ext uri="{FF2B5EF4-FFF2-40B4-BE49-F238E27FC236}">
                  <a16:creationId xmlns:a16="http://schemas.microsoft.com/office/drawing/2014/main" id="{27510278-8BCC-2772-B7D4-6900CC651828}"/>
                </a:ext>
              </a:extLst>
            </p:cNvPr>
            <p:cNvGrpSpPr/>
            <p:nvPr/>
          </p:nvGrpSpPr>
          <p:grpSpPr>
            <a:xfrm flipV="1">
              <a:off x="4488250" y="2706875"/>
              <a:ext cx="800237" cy="959619"/>
              <a:chOff x="2664127" y="3374455"/>
              <a:chExt cx="1201975" cy="1567649"/>
            </a:xfrm>
          </p:grpSpPr>
          <p:sp>
            <p:nvSpPr>
              <p:cNvPr id="12" name="二等辺三角形 11">
                <a:extLst>
                  <a:ext uri="{FF2B5EF4-FFF2-40B4-BE49-F238E27FC236}">
                    <a16:creationId xmlns:a16="http://schemas.microsoft.com/office/drawing/2014/main" id="{88C38720-FF04-C2D5-1BFB-D6E04C38989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フリーフォーム: 図形 12">
                <a:extLst>
                  <a:ext uri="{FF2B5EF4-FFF2-40B4-BE49-F238E27FC236}">
                    <a16:creationId xmlns:a16="http://schemas.microsoft.com/office/drawing/2014/main" id="{DCA25AA5-6EC2-3A91-C987-1FA6D6720F6A}"/>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4" name="グループ化 13">
              <a:extLst>
                <a:ext uri="{FF2B5EF4-FFF2-40B4-BE49-F238E27FC236}">
                  <a16:creationId xmlns:a16="http://schemas.microsoft.com/office/drawing/2014/main" id="{39545FA0-67FF-9A70-C888-13A69A398782}"/>
                </a:ext>
              </a:extLst>
            </p:cNvPr>
            <p:cNvGrpSpPr/>
            <p:nvPr/>
          </p:nvGrpSpPr>
          <p:grpSpPr>
            <a:xfrm rot="7241964" flipV="1">
              <a:off x="2843255" y="5233792"/>
              <a:ext cx="800237" cy="959619"/>
              <a:chOff x="2664127" y="3374455"/>
              <a:chExt cx="1201975" cy="1567649"/>
            </a:xfrm>
          </p:grpSpPr>
          <p:sp>
            <p:nvSpPr>
              <p:cNvPr id="15" name="二等辺三角形 14">
                <a:extLst>
                  <a:ext uri="{FF2B5EF4-FFF2-40B4-BE49-F238E27FC236}">
                    <a16:creationId xmlns:a16="http://schemas.microsoft.com/office/drawing/2014/main" id="{3767BD8E-FB78-2A44-9179-41A94C34D17A}"/>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フリーフォーム: 図形 15">
                <a:extLst>
                  <a:ext uri="{FF2B5EF4-FFF2-40B4-BE49-F238E27FC236}">
                    <a16:creationId xmlns:a16="http://schemas.microsoft.com/office/drawing/2014/main" id="{55A6798D-20C7-E00B-7A02-153B6F17D077}"/>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7" name="グループ化 16">
              <a:extLst>
                <a:ext uri="{FF2B5EF4-FFF2-40B4-BE49-F238E27FC236}">
                  <a16:creationId xmlns:a16="http://schemas.microsoft.com/office/drawing/2014/main" id="{1CC218CC-EEBC-1865-D9BB-837546C65874}"/>
                </a:ext>
              </a:extLst>
            </p:cNvPr>
            <p:cNvGrpSpPr/>
            <p:nvPr/>
          </p:nvGrpSpPr>
          <p:grpSpPr>
            <a:xfrm rot="14081671" flipV="1">
              <a:off x="1389673" y="2585074"/>
              <a:ext cx="800237" cy="959619"/>
              <a:chOff x="2664127" y="3374455"/>
              <a:chExt cx="1201975" cy="1567649"/>
            </a:xfrm>
          </p:grpSpPr>
          <p:sp>
            <p:nvSpPr>
              <p:cNvPr id="18" name="二等辺三角形 17">
                <a:extLst>
                  <a:ext uri="{FF2B5EF4-FFF2-40B4-BE49-F238E27FC236}">
                    <a16:creationId xmlns:a16="http://schemas.microsoft.com/office/drawing/2014/main" id="{F2F7520D-B9C9-EE46-43C0-1974C9EE110E}"/>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フリーフォーム: 図形 18">
                <a:extLst>
                  <a:ext uri="{FF2B5EF4-FFF2-40B4-BE49-F238E27FC236}">
                    <a16:creationId xmlns:a16="http://schemas.microsoft.com/office/drawing/2014/main" id="{91521E69-6981-7659-CD42-1242DA646433}"/>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1" name="テキスト ボックス 20">
              <a:extLst>
                <a:ext uri="{FF2B5EF4-FFF2-40B4-BE49-F238E27FC236}">
                  <a16:creationId xmlns:a16="http://schemas.microsoft.com/office/drawing/2014/main" id="{DBABD0C2-66B5-256B-4604-E348FEFAC56D}"/>
                </a:ext>
              </a:extLst>
            </p:cNvPr>
            <p:cNvSpPr txBox="1"/>
            <p:nvPr/>
          </p:nvSpPr>
          <p:spPr>
            <a:xfrm>
              <a:off x="4832338" y="2938238"/>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D3D28F20-D312-FC56-A45A-9A9DD0F018F0}"/>
                </a:ext>
              </a:extLst>
            </p:cNvPr>
            <p:cNvSpPr txBox="1"/>
            <p:nvPr/>
          </p:nvSpPr>
          <p:spPr>
            <a:xfrm>
              <a:off x="2550709" y="5935209"/>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032857B8-91F1-CA95-91BD-24CB159AB079}"/>
                </a:ext>
              </a:extLst>
            </p:cNvPr>
            <p:cNvSpPr txBox="1"/>
            <p:nvPr/>
          </p:nvSpPr>
          <p:spPr>
            <a:xfrm>
              <a:off x="0" y="2983833"/>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grpSp>
      <p:sp>
        <p:nvSpPr>
          <p:cNvPr id="25" name="楕円 24">
            <a:extLst>
              <a:ext uri="{FF2B5EF4-FFF2-40B4-BE49-F238E27FC236}">
                <a16:creationId xmlns:a16="http://schemas.microsoft.com/office/drawing/2014/main" id="{FA69373F-043A-BD62-065E-9238200A2914}"/>
              </a:ext>
            </a:extLst>
          </p:cNvPr>
          <p:cNvSpPr/>
          <p:nvPr/>
        </p:nvSpPr>
        <p:spPr>
          <a:xfrm>
            <a:off x="7462655" y="1651262"/>
            <a:ext cx="323850" cy="323850"/>
          </a:xfrm>
          <a:prstGeom prst="ellipse">
            <a:avLst/>
          </a:prstGeom>
          <a:solidFill>
            <a:schemeClr val="accent2"/>
          </a:solidFill>
          <a:ln>
            <a:solidFill>
              <a:schemeClr val="accent2"/>
            </a:solidFill>
          </a:ln>
          <a:effectLst>
            <a:glow rad="1016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47A74F06-9B64-1B4A-43BA-C938BE525936}"/>
              </a:ext>
            </a:extLst>
          </p:cNvPr>
          <p:cNvSpPr/>
          <p:nvPr/>
        </p:nvSpPr>
        <p:spPr>
          <a:xfrm>
            <a:off x="8108150" y="1651112"/>
            <a:ext cx="324000" cy="324000"/>
          </a:xfrm>
          <a:prstGeom prst="ellipse">
            <a:avLst/>
          </a:prstGeom>
          <a:solidFill>
            <a:srgbClr val="46877B"/>
          </a:solidFill>
          <a:ln>
            <a:solidFill>
              <a:srgbClr val="46877B"/>
            </a:solidFill>
          </a:ln>
          <a:effectLst>
            <a:glow rad="101600">
              <a:srgbClr val="46877B">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楕円 26">
            <a:extLst>
              <a:ext uri="{FF2B5EF4-FFF2-40B4-BE49-F238E27FC236}">
                <a16:creationId xmlns:a16="http://schemas.microsoft.com/office/drawing/2014/main" id="{804C8D84-DF1A-9E36-6B35-4F08C09A0AEE}"/>
              </a:ext>
            </a:extLst>
          </p:cNvPr>
          <p:cNvSpPr/>
          <p:nvPr/>
        </p:nvSpPr>
        <p:spPr>
          <a:xfrm>
            <a:off x="7730366" y="2165069"/>
            <a:ext cx="342900" cy="333267"/>
          </a:xfrm>
          <a:prstGeom prst="ellipse">
            <a:avLst/>
          </a:prstGeom>
          <a:solidFill>
            <a:schemeClr val="accent2"/>
          </a:solidFill>
          <a:ln>
            <a:solidFill>
              <a:schemeClr val="accent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57C0E608-BA74-F485-BAE3-702170BC32CC}"/>
              </a:ext>
            </a:extLst>
          </p:cNvPr>
          <p:cNvSpPr/>
          <p:nvPr/>
        </p:nvSpPr>
        <p:spPr>
          <a:xfrm>
            <a:off x="8528263" y="3060360"/>
            <a:ext cx="2901487" cy="1236539"/>
          </a:xfrm>
          <a:custGeom>
            <a:avLst/>
            <a:gdLst>
              <a:gd name="connsiteX0" fmla="*/ 0 w 2901487"/>
              <a:gd name="connsiteY0" fmla="*/ 618270 h 1236539"/>
              <a:gd name="connsiteX1" fmla="*/ 1450744 w 2901487"/>
              <a:gd name="connsiteY1" fmla="*/ 0 h 1236539"/>
              <a:gd name="connsiteX2" fmla="*/ 2901488 w 2901487"/>
              <a:gd name="connsiteY2" fmla="*/ 618270 h 1236539"/>
              <a:gd name="connsiteX3" fmla="*/ 1450744 w 2901487"/>
              <a:gd name="connsiteY3" fmla="*/ 1236540 h 1236539"/>
              <a:gd name="connsiteX4" fmla="*/ 0 w 2901487"/>
              <a:gd name="connsiteY4" fmla="*/ 618270 h 1236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1487" h="1236539" fill="none" extrusionOk="0">
                <a:moveTo>
                  <a:pt x="0" y="618270"/>
                </a:moveTo>
                <a:cubicBezTo>
                  <a:pt x="84712" y="196294"/>
                  <a:pt x="764269" y="7572"/>
                  <a:pt x="1450744" y="0"/>
                </a:cubicBezTo>
                <a:cubicBezTo>
                  <a:pt x="2280633" y="48997"/>
                  <a:pt x="2861081" y="275941"/>
                  <a:pt x="2901488" y="618270"/>
                </a:cubicBezTo>
                <a:cubicBezTo>
                  <a:pt x="3011552" y="975692"/>
                  <a:pt x="2166690" y="1197621"/>
                  <a:pt x="1450744" y="1236540"/>
                </a:cubicBezTo>
                <a:cubicBezTo>
                  <a:pt x="618922" y="1245671"/>
                  <a:pt x="36345" y="910461"/>
                  <a:pt x="0" y="618270"/>
                </a:cubicBezTo>
                <a:close/>
              </a:path>
              <a:path w="2901487" h="1236539" stroke="0" extrusionOk="0">
                <a:moveTo>
                  <a:pt x="0" y="618270"/>
                </a:moveTo>
                <a:cubicBezTo>
                  <a:pt x="-7565" y="290082"/>
                  <a:pt x="641644" y="-3252"/>
                  <a:pt x="1450744" y="0"/>
                </a:cubicBezTo>
                <a:cubicBezTo>
                  <a:pt x="2306126" y="-7995"/>
                  <a:pt x="2871529" y="331374"/>
                  <a:pt x="2901488" y="618270"/>
                </a:cubicBezTo>
                <a:cubicBezTo>
                  <a:pt x="2849516" y="977102"/>
                  <a:pt x="2227727" y="1265205"/>
                  <a:pt x="1450744" y="1236540"/>
                </a:cubicBezTo>
                <a:cubicBezTo>
                  <a:pt x="683291" y="1214685"/>
                  <a:pt x="-15441" y="963273"/>
                  <a:pt x="0" y="618270"/>
                </a:cubicBezTo>
                <a:close/>
              </a:path>
            </a:pathLst>
          </a:custGeom>
          <a:solidFill>
            <a:srgbClr val="D3E9E5"/>
          </a:solidFill>
          <a:ln>
            <a:solidFill>
              <a:srgbClr val="D3E9E5"/>
            </a:solidFill>
            <a:extLst>
              <a:ext uri="{C807C97D-BFC1-408E-A445-0C87EB9F89A2}">
                <ask:lineSketchStyleProps xmlns:ask="http://schemas.microsoft.com/office/drawing/2018/sketchyshapes" sd="981765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11994F12-90A6-E96A-5BE6-5E9F08D17B74}"/>
              </a:ext>
            </a:extLst>
          </p:cNvPr>
          <p:cNvSpPr/>
          <p:nvPr/>
        </p:nvSpPr>
        <p:spPr>
          <a:xfrm>
            <a:off x="9518584" y="1567812"/>
            <a:ext cx="2235127" cy="2177274"/>
          </a:xfrm>
          <a:custGeom>
            <a:avLst/>
            <a:gdLst>
              <a:gd name="connsiteX0" fmla="*/ 0 w 2235127"/>
              <a:gd name="connsiteY0" fmla="*/ 1088637 h 2177274"/>
              <a:gd name="connsiteX1" fmla="*/ 1117564 w 2235127"/>
              <a:gd name="connsiteY1" fmla="*/ 0 h 2177274"/>
              <a:gd name="connsiteX2" fmla="*/ 2235128 w 2235127"/>
              <a:gd name="connsiteY2" fmla="*/ 1088637 h 2177274"/>
              <a:gd name="connsiteX3" fmla="*/ 1117564 w 2235127"/>
              <a:gd name="connsiteY3" fmla="*/ 2177274 h 2177274"/>
              <a:gd name="connsiteX4" fmla="*/ 0 w 2235127"/>
              <a:gd name="connsiteY4" fmla="*/ 1088637 h 2177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5127" h="2177274" fill="none" extrusionOk="0">
                <a:moveTo>
                  <a:pt x="0" y="1088637"/>
                </a:moveTo>
                <a:cubicBezTo>
                  <a:pt x="-78231" y="501361"/>
                  <a:pt x="470933" y="81460"/>
                  <a:pt x="1117564" y="0"/>
                </a:cubicBezTo>
                <a:cubicBezTo>
                  <a:pt x="1655506" y="-29676"/>
                  <a:pt x="2249283" y="494351"/>
                  <a:pt x="2235128" y="1088637"/>
                </a:cubicBezTo>
                <a:cubicBezTo>
                  <a:pt x="2256564" y="1635402"/>
                  <a:pt x="1745396" y="2193472"/>
                  <a:pt x="1117564" y="2177274"/>
                </a:cubicBezTo>
                <a:cubicBezTo>
                  <a:pt x="511602" y="2187319"/>
                  <a:pt x="85868" y="1650356"/>
                  <a:pt x="0" y="1088637"/>
                </a:cubicBezTo>
                <a:close/>
              </a:path>
              <a:path w="2235127" h="2177274" stroke="0" extrusionOk="0">
                <a:moveTo>
                  <a:pt x="0" y="1088637"/>
                </a:moveTo>
                <a:cubicBezTo>
                  <a:pt x="44180" y="558178"/>
                  <a:pt x="501211" y="-92223"/>
                  <a:pt x="1117564" y="0"/>
                </a:cubicBezTo>
                <a:cubicBezTo>
                  <a:pt x="1755182" y="98031"/>
                  <a:pt x="2176597" y="447074"/>
                  <a:pt x="2235128" y="1088637"/>
                </a:cubicBezTo>
                <a:cubicBezTo>
                  <a:pt x="2248407" y="1590409"/>
                  <a:pt x="1732930" y="2112771"/>
                  <a:pt x="1117564" y="2177274"/>
                </a:cubicBezTo>
                <a:cubicBezTo>
                  <a:pt x="512908" y="2113663"/>
                  <a:pt x="14757" y="1627634"/>
                  <a:pt x="0" y="1088637"/>
                </a:cubicBezTo>
                <a:close/>
              </a:path>
            </a:pathLst>
          </a:custGeom>
          <a:solidFill>
            <a:schemeClr val="accent2"/>
          </a:solidFill>
          <a:ln>
            <a:solidFill>
              <a:schemeClr val="accent2"/>
            </a:solidFill>
            <a:extLst>
              <a:ext uri="{C807C97D-BFC1-408E-A445-0C87EB9F89A2}">
                <ask:lineSketchStyleProps xmlns:ask="http://schemas.microsoft.com/office/drawing/2018/sketchyshapes" sd="3669468432">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bg1"/>
                </a:solidFill>
                <a:latin typeface="游ゴシック" panose="020B0400000000000000" pitchFamily="50" charset="-128"/>
                <a:ea typeface="游ゴシック" panose="020B0400000000000000" pitchFamily="50" charset="-128"/>
              </a:rPr>
              <a:t> </a:t>
            </a:r>
            <a:r>
              <a:rPr lang="ja-JP" altLang="en-US" sz="2800" b="1" dirty="0">
                <a:solidFill>
                  <a:schemeClr val="bg1"/>
                </a:solidFill>
                <a:latin typeface="游ゴシック" panose="020B0400000000000000" pitchFamily="50" charset="-128"/>
                <a:ea typeface="游ゴシック" panose="020B0400000000000000" pitchFamily="50" charset="-128"/>
              </a:rPr>
              <a:t>何か</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dirty="0">
                <a:solidFill>
                  <a:schemeClr val="bg1"/>
                </a:solidFill>
                <a:latin typeface="+mn-ea"/>
              </a:rPr>
              <a:t>メッセージ</a:t>
            </a:r>
            <a:endParaRPr lang="ja-JP" altLang="en-US" sz="1200" dirty="0">
              <a:solidFill>
                <a:schemeClr val="bg1"/>
              </a:solidFill>
              <a:latin typeface="+mn-ea"/>
            </a:endParaRPr>
          </a:p>
        </p:txBody>
      </p:sp>
      <p:sp>
        <p:nvSpPr>
          <p:cNvPr id="30" name="正方形/長方形 29">
            <a:extLst>
              <a:ext uri="{FF2B5EF4-FFF2-40B4-BE49-F238E27FC236}">
                <a16:creationId xmlns:a16="http://schemas.microsoft.com/office/drawing/2014/main" id="{9B369ACC-5757-B80B-61BF-EC839E501C38}"/>
              </a:ext>
            </a:extLst>
          </p:cNvPr>
          <p:cNvSpPr/>
          <p:nvPr/>
        </p:nvSpPr>
        <p:spPr>
          <a:xfrm rot="20169432">
            <a:off x="8795580" y="3503340"/>
            <a:ext cx="3160032" cy="167421"/>
          </a:xfrm>
          <a:custGeom>
            <a:avLst/>
            <a:gdLst>
              <a:gd name="connsiteX0" fmla="*/ 0 w 3160032"/>
              <a:gd name="connsiteY0" fmla="*/ 0 h 167421"/>
              <a:gd name="connsiteX1" fmla="*/ 3160032 w 3160032"/>
              <a:gd name="connsiteY1" fmla="*/ 0 h 167421"/>
              <a:gd name="connsiteX2" fmla="*/ 3160032 w 3160032"/>
              <a:gd name="connsiteY2" fmla="*/ 167421 h 167421"/>
              <a:gd name="connsiteX3" fmla="*/ 0 w 3160032"/>
              <a:gd name="connsiteY3" fmla="*/ 167421 h 167421"/>
              <a:gd name="connsiteX4" fmla="*/ 0 w 3160032"/>
              <a:gd name="connsiteY4" fmla="*/ 0 h 167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0032" h="167421" fill="none" extrusionOk="0">
                <a:moveTo>
                  <a:pt x="0" y="0"/>
                </a:moveTo>
                <a:cubicBezTo>
                  <a:pt x="1576265" y="-130857"/>
                  <a:pt x="1695485" y="63250"/>
                  <a:pt x="3160032" y="0"/>
                </a:cubicBezTo>
                <a:cubicBezTo>
                  <a:pt x="3149888" y="54417"/>
                  <a:pt x="3161660" y="117978"/>
                  <a:pt x="3160032" y="167421"/>
                </a:cubicBezTo>
                <a:cubicBezTo>
                  <a:pt x="2559770" y="222085"/>
                  <a:pt x="1098592" y="215523"/>
                  <a:pt x="0" y="167421"/>
                </a:cubicBezTo>
                <a:cubicBezTo>
                  <a:pt x="-5" y="147243"/>
                  <a:pt x="-2866" y="55723"/>
                  <a:pt x="0" y="0"/>
                </a:cubicBezTo>
                <a:close/>
              </a:path>
              <a:path w="3160032" h="167421" stroke="0" extrusionOk="0">
                <a:moveTo>
                  <a:pt x="0" y="0"/>
                </a:moveTo>
                <a:cubicBezTo>
                  <a:pt x="1189394" y="93023"/>
                  <a:pt x="2837410" y="111448"/>
                  <a:pt x="3160032" y="0"/>
                </a:cubicBezTo>
                <a:cubicBezTo>
                  <a:pt x="3145341" y="75065"/>
                  <a:pt x="3161279" y="142728"/>
                  <a:pt x="3160032" y="167421"/>
                </a:cubicBezTo>
                <a:cubicBezTo>
                  <a:pt x="2786659" y="165537"/>
                  <a:pt x="902558" y="243552"/>
                  <a:pt x="0" y="167421"/>
                </a:cubicBezTo>
                <a:cubicBezTo>
                  <a:pt x="-7129" y="150251"/>
                  <a:pt x="4229" y="45135"/>
                  <a:pt x="0" y="0"/>
                </a:cubicBezTo>
                <a:close/>
              </a:path>
            </a:pathLst>
          </a:custGeom>
          <a:solidFill>
            <a:schemeClr val="bg1"/>
          </a:solidFill>
          <a:ln>
            <a:solidFill>
              <a:schemeClr val="bg1"/>
            </a:solidFill>
            <a:extLst>
              <a:ext uri="{C807C97D-BFC1-408E-A445-0C87EB9F89A2}">
                <ask:lineSketchStyleProps xmlns:ask="http://schemas.microsoft.com/office/drawing/2018/sketchyshapes" sd="1001808606">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十字形 30">
            <a:extLst>
              <a:ext uri="{FF2B5EF4-FFF2-40B4-BE49-F238E27FC236}">
                <a16:creationId xmlns:a16="http://schemas.microsoft.com/office/drawing/2014/main" id="{AE6B2308-93E3-CE3B-D6A4-F65B8B44608F}"/>
              </a:ext>
            </a:extLst>
          </p:cNvPr>
          <p:cNvSpPr/>
          <p:nvPr/>
        </p:nvSpPr>
        <p:spPr>
          <a:xfrm rot="2590055">
            <a:off x="8265921" y="4413059"/>
            <a:ext cx="1869719" cy="1886551"/>
          </a:xfrm>
          <a:custGeom>
            <a:avLst/>
            <a:gdLst>
              <a:gd name="connsiteX0" fmla="*/ 0 w 1869719"/>
              <a:gd name="connsiteY0" fmla="*/ 871682 h 1886551"/>
              <a:gd name="connsiteX1" fmla="*/ 871682 w 1869719"/>
              <a:gd name="connsiteY1" fmla="*/ 871682 h 1886551"/>
              <a:gd name="connsiteX2" fmla="*/ 871682 w 1869719"/>
              <a:gd name="connsiteY2" fmla="*/ 0 h 1886551"/>
              <a:gd name="connsiteX3" fmla="*/ 998037 w 1869719"/>
              <a:gd name="connsiteY3" fmla="*/ 0 h 1886551"/>
              <a:gd name="connsiteX4" fmla="*/ 998037 w 1869719"/>
              <a:gd name="connsiteY4" fmla="*/ 871682 h 1886551"/>
              <a:gd name="connsiteX5" fmla="*/ 1869719 w 1869719"/>
              <a:gd name="connsiteY5" fmla="*/ 871682 h 1886551"/>
              <a:gd name="connsiteX6" fmla="*/ 1869719 w 1869719"/>
              <a:gd name="connsiteY6" fmla="*/ 1014869 h 1886551"/>
              <a:gd name="connsiteX7" fmla="*/ 998037 w 1869719"/>
              <a:gd name="connsiteY7" fmla="*/ 1014869 h 1886551"/>
              <a:gd name="connsiteX8" fmla="*/ 998037 w 1869719"/>
              <a:gd name="connsiteY8" fmla="*/ 1886551 h 1886551"/>
              <a:gd name="connsiteX9" fmla="*/ 871682 w 1869719"/>
              <a:gd name="connsiteY9" fmla="*/ 1886551 h 1886551"/>
              <a:gd name="connsiteX10" fmla="*/ 871682 w 1869719"/>
              <a:gd name="connsiteY10" fmla="*/ 1014869 h 1886551"/>
              <a:gd name="connsiteX11" fmla="*/ 0 w 1869719"/>
              <a:gd name="connsiteY11" fmla="*/ 1014869 h 1886551"/>
              <a:gd name="connsiteX12" fmla="*/ 0 w 1869719"/>
              <a:gd name="connsiteY12" fmla="*/ 871682 h 188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69719" h="1886551" fill="none" extrusionOk="0">
                <a:moveTo>
                  <a:pt x="0" y="871682"/>
                </a:moveTo>
                <a:cubicBezTo>
                  <a:pt x="150577" y="878137"/>
                  <a:pt x="691672" y="826285"/>
                  <a:pt x="871682" y="871682"/>
                </a:cubicBezTo>
                <a:cubicBezTo>
                  <a:pt x="944600" y="699805"/>
                  <a:pt x="866968" y="165485"/>
                  <a:pt x="871682" y="0"/>
                </a:cubicBezTo>
                <a:cubicBezTo>
                  <a:pt x="917842" y="-3582"/>
                  <a:pt x="948566" y="-7301"/>
                  <a:pt x="998037" y="0"/>
                </a:cubicBezTo>
                <a:cubicBezTo>
                  <a:pt x="1034408" y="206213"/>
                  <a:pt x="958303" y="545702"/>
                  <a:pt x="998037" y="871682"/>
                </a:cubicBezTo>
                <a:cubicBezTo>
                  <a:pt x="1403914" y="918941"/>
                  <a:pt x="1768096" y="817161"/>
                  <a:pt x="1869719" y="871682"/>
                </a:cubicBezTo>
                <a:cubicBezTo>
                  <a:pt x="1862247" y="898346"/>
                  <a:pt x="1867979" y="944707"/>
                  <a:pt x="1869719" y="1014869"/>
                </a:cubicBezTo>
                <a:cubicBezTo>
                  <a:pt x="1548144" y="940983"/>
                  <a:pt x="1153210" y="1019821"/>
                  <a:pt x="998037" y="1014869"/>
                </a:cubicBezTo>
                <a:cubicBezTo>
                  <a:pt x="1038278" y="1306496"/>
                  <a:pt x="926672" y="1453007"/>
                  <a:pt x="998037" y="1886551"/>
                </a:cubicBezTo>
                <a:cubicBezTo>
                  <a:pt x="957192" y="1890993"/>
                  <a:pt x="910226" y="1892254"/>
                  <a:pt x="871682" y="1886551"/>
                </a:cubicBezTo>
                <a:cubicBezTo>
                  <a:pt x="900212" y="1470477"/>
                  <a:pt x="885227" y="1205920"/>
                  <a:pt x="871682" y="1014869"/>
                </a:cubicBezTo>
                <a:cubicBezTo>
                  <a:pt x="678222" y="1052749"/>
                  <a:pt x="371283" y="1038878"/>
                  <a:pt x="0" y="1014869"/>
                </a:cubicBezTo>
                <a:cubicBezTo>
                  <a:pt x="7573" y="960095"/>
                  <a:pt x="-108" y="893456"/>
                  <a:pt x="0" y="871682"/>
                </a:cubicBezTo>
                <a:close/>
              </a:path>
              <a:path w="1869719" h="1886551" stroke="0" extrusionOk="0">
                <a:moveTo>
                  <a:pt x="0" y="871682"/>
                </a:moveTo>
                <a:cubicBezTo>
                  <a:pt x="344289" y="885060"/>
                  <a:pt x="600800" y="905684"/>
                  <a:pt x="871682" y="871682"/>
                </a:cubicBezTo>
                <a:cubicBezTo>
                  <a:pt x="931893" y="628664"/>
                  <a:pt x="943650" y="370527"/>
                  <a:pt x="871682" y="0"/>
                </a:cubicBezTo>
                <a:cubicBezTo>
                  <a:pt x="893890" y="9838"/>
                  <a:pt x="946111" y="7517"/>
                  <a:pt x="998037" y="0"/>
                </a:cubicBezTo>
                <a:cubicBezTo>
                  <a:pt x="992055" y="159455"/>
                  <a:pt x="932820" y="532460"/>
                  <a:pt x="998037" y="871682"/>
                </a:cubicBezTo>
                <a:cubicBezTo>
                  <a:pt x="1357843" y="820993"/>
                  <a:pt x="1686362" y="905907"/>
                  <a:pt x="1869719" y="871682"/>
                </a:cubicBezTo>
                <a:cubicBezTo>
                  <a:pt x="1875174" y="925174"/>
                  <a:pt x="1873986" y="947346"/>
                  <a:pt x="1869719" y="1014869"/>
                </a:cubicBezTo>
                <a:cubicBezTo>
                  <a:pt x="1764808" y="1082825"/>
                  <a:pt x="1290886" y="1035898"/>
                  <a:pt x="998037" y="1014869"/>
                </a:cubicBezTo>
                <a:cubicBezTo>
                  <a:pt x="975473" y="1296156"/>
                  <a:pt x="935667" y="1781961"/>
                  <a:pt x="998037" y="1886551"/>
                </a:cubicBezTo>
                <a:cubicBezTo>
                  <a:pt x="962951" y="1880256"/>
                  <a:pt x="921537" y="1889798"/>
                  <a:pt x="871682" y="1886551"/>
                </a:cubicBezTo>
                <a:cubicBezTo>
                  <a:pt x="818077" y="1555126"/>
                  <a:pt x="859397" y="1130088"/>
                  <a:pt x="871682" y="1014869"/>
                </a:cubicBezTo>
                <a:cubicBezTo>
                  <a:pt x="608586" y="952921"/>
                  <a:pt x="306780" y="1005001"/>
                  <a:pt x="0" y="1014869"/>
                </a:cubicBezTo>
                <a:cubicBezTo>
                  <a:pt x="-3635" y="972697"/>
                  <a:pt x="-10926" y="894203"/>
                  <a:pt x="0" y="871682"/>
                </a:cubicBezTo>
                <a:close/>
              </a:path>
            </a:pathLst>
          </a:custGeom>
          <a:solidFill>
            <a:schemeClr val="accent2"/>
          </a:solidFill>
          <a:ln>
            <a:solidFill>
              <a:schemeClr val="accent2"/>
            </a:solidFill>
            <a:extLst>
              <a:ext uri="{C807C97D-BFC1-408E-A445-0C87EB9F89A2}">
                <ask:lineSketchStyleProps xmlns:ask="http://schemas.microsoft.com/office/drawing/2018/sketchyshapes" sd="3129110413">
                  <a:prstGeom prst="plus">
                    <a:avLst>
                      <a:gd name="adj" fmla="val 46621"/>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4548D72B-CA5C-59FC-584F-E0EF5BBB25BA}"/>
              </a:ext>
            </a:extLst>
          </p:cNvPr>
          <p:cNvSpPr/>
          <p:nvPr/>
        </p:nvSpPr>
        <p:spPr>
          <a:xfrm>
            <a:off x="7090921" y="4792728"/>
            <a:ext cx="1253486" cy="1236539"/>
          </a:xfrm>
          <a:custGeom>
            <a:avLst/>
            <a:gdLst>
              <a:gd name="connsiteX0" fmla="*/ 0 w 1253486"/>
              <a:gd name="connsiteY0" fmla="*/ 618270 h 1236539"/>
              <a:gd name="connsiteX1" fmla="*/ 626743 w 1253486"/>
              <a:gd name="connsiteY1" fmla="*/ 0 h 1236539"/>
              <a:gd name="connsiteX2" fmla="*/ 1253486 w 1253486"/>
              <a:gd name="connsiteY2" fmla="*/ 618270 h 1236539"/>
              <a:gd name="connsiteX3" fmla="*/ 626743 w 1253486"/>
              <a:gd name="connsiteY3" fmla="*/ 1236540 h 1236539"/>
              <a:gd name="connsiteX4" fmla="*/ 0 w 1253486"/>
              <a:gd name="connsiteY4" fmla="*/ 618270 h 1236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3486" h="1236539" extrusionOk="0">
                <a:moveTo>
                  <a:pt x="0" y="618270"/>
                </a:moveTo>
                <a:cubicBezTo>
                  <a:pt x="11333" y="288976"/>
                  <a:pt x="265442" y="19656"/>
                  <a:pt x="626743" y="0"/>
                </a:cubicBezTo>
                <a:cubicBezTo>
                  <a:pt x="963521" y="-49908"/>
                  <a:pt x="1223269" y="275473"/>
                  <a:pt x="1253486" y="618270"/>
                </a:cubicBezTo>
                <a:cubicBezTo>
                  <a:pt x="1256702" y="984230"/>
                  <a:pt x="1029945" y="1242942"/>
                  <a:pt x="626743" y="1236540"/>
                </a:cubicBezTo>
                <a:cubicBezTo>
                  <a:pt x="282897" y="1246744"/>
                  <a:pt x="5423" y="961932"/>
                  <a:pt x="0" y="618270"/>
                </a:cubicBezTo>
                <a:close/>
              </a:path>
            </a:pathLst>
          </a:custGeom>
          <a:noFill/>
          <a:ln w="76200">
            <a:solidFill>
              <a:schemeClr val="accent4">
                <a:lumMod val="40000"/>
                <a:lumOff val="60000"/>
              </a:schemeClr>
            </a:solidFill>
            <a:extLst>
              <a:ext uri="{C807C97D-BFC1-408E-A445-0C87EB9F89A2}">
                <ask:lineSketchStyleProps xmlns:ask="http://schemas.microsoft.com/office/drawing/2018/sketchyshapes" sd="1678478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2731234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３つあることが一目でわかる</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lang="ja-JP" altLang="en-US" dirty="0"/>
              <a:t>３</a:t>
            </a:r>
            <a:r>
              <a:rPr kumimoji="1" lang="ja-JP" altLang="en-US" dirty="0"/>
              <a:t>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471271"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A6B3703F-3442-4C13-A424-26EDC78FA83C}"/>
              </a:ext>
            </a:extLst>
          </p:cNvPr>
          <p:cNvSpPr/>
          <p:nvPr/>
        </p:nvSpPr>
        <p:spPr>
          <a:xfrm>
            <a:off x="4314710" y="198778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2938DBA-3C61-44F9-B40C-5EE6E7382AD8}"/>
              </a:ext>
            </a:extLst>
          </p:cNvPr>
          <p:cNvSpPr/>
          <p:nvPr/>
        </p:nvSpPr>
        <p:spPr>
          <a:xfrm>
            <a:off x="8131938"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531259"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4358102" y="2003704"/>
            <a:ext cx="954107" cy="369332"/>
          </a:xfrm>
          <a:prstGeom prst="rect">
            <a:avLst/>
          </a:prstGeom>
          <a:noFill/>
        </p:spPr>
        <p:txBody>
          <a:bodyPr wrap="none" rtlCol="0">
            <a:spAutoFit/>
          </a:bodyPr>
          <a:lstStyle/>
          <a:p>
            <a:r>
              <a:rPr kumimoji="1"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479700"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4333110" y="2280372"/>
            <a:ext cx="2698175" cy="523220"/>
          </a:xfrm>
          <a:prstGeom prst="rect">
            <a:avLst/>
          </a:prstGeom>
          <a:noFill/>
        </p:spPr>
        <p:txBody>
          <a:bodyPr wrap="none" rtlCol="0">
            <a:spAutoFit/>
          </a:bodyPr>
          <a:lstStyle/>
          <a:p>
            <a:r>
              <a:rPr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endParaRPr kumimoji="1" lang="ja-JP" altLang="en-US" sz="2800" b="1" dirty="0">
              <a:solidFill>
                <a:schemeClr val="accent4"/>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8202685" y="2003704"/>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814819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1352494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順序関係がある場合は並列よりこちらが良い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lang="ja-JP" altLang="en-US" dirty="0"/>
              <a:t>３</a:t>
            </a:r>
            <a:r>
              <a:rPr kumimoji="1" lang="ja-JP" altLang="en-US" dirty="0"/>
              <a:t>カードのレイアウトテンプレートのアレンジ</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471270" y="1994510"/>
            <a:ext cx="4333735" cy="3452668"/>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A6B3703F-3442-4C13-A424-26EDC78FA83C}"/>
              </a:ext>
            </a:extLst>
          </p:cNvPr>
          <p:cNvSpPr/>
          <p:nvPr/>
        </p:nvSpPr>
        <p:spPr>
          <a:xfrm>
            <a:off x="3975496" y="2474477"/>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2938DBA-3C61-44F9-B40C-5EE6E7382AD8}"/>
              </a:ext>
            </a:extLst>
          </p:cNvPr>
          <p:cNvSpPr/>
          <p:nvPr/>
        </p:nvSpPr>
        <p:spPr>
          <a:xfrm>
            <a:off x="7479722" y="2962880"/>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531259"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4018889" y="2490401"/>
            <a:ext cx="954107" cy="369332"/>
          </a:xfrm>
          <a:prstGeom prst="rect">
            <a:avLst/>
          </a:prstGeom>
          <a:noFill/>
        </p:spPr>
        <p:txBody>
          <a:bodyPr wrap="none" rtlCol="0">
            <a:spAutoFit/>
          </a:bodyPr>
          <a:lstStyle/>
          <a:p>
            <a:r>
              <a:rPr kumimoji="1"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479700"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3993897" y="2767069"/>
            <a:ext cx="2698175" cy="523220"/>
          </a:xfrm>
          <a:prstGeom prst="rect">
            <a:avLst/>
          </a:prstGeom>
          <a:noFill/>
        </p:spPr>
        <p:txBody>
          <a:bodyPr wrap="none" rtlCol="0">
            <a:spAutoFit/>
          </a:bodyPr>
          <a:lstStyle/>
          <a:p>
            <a:r>
              <a:rPr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endParaRPr kumimoji="1" lang="ja-JP" altLang="en-US" sz="2800" b="1" dirty="0">
              <a:solidFill>
                <a:schemeClr val="accent4"/>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7550470" y="2972074"/>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7495981" y="324874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grpSp>
        <p:nvGrpSpPr>
          <p:cNvPr id="14" name="グループ化 13">
            <a:extLst>
              <a:ext uri="{FF2B5EF4-FFF2-40B4-BE49-F238E27FC236}">
                <a16:creationId xmlns:a16="http://schemas.microsoft.com/office/drawing/2014/main" id="{17F509DC-624C-49A3-87E6-BBEE33EDEF3D}"/>
              </a:ext>
            </a:extLst>
          </p:cNvPr>
          <p:cNvGrpSpPr/>
          <p:nvPr/>
        </p:nvGrpSpPr>
        <p:grpSpPr>
          <a:xfrm rot="19356426" flipV="1">
            <a:off x="4678821" y="1901851"/>
            <a:ext cx="638334" cy="948153"/>
            <a:chOff x="2664127" y="3374455"/>
            <a:chExt cx="1201975" cy="1567649"/>
          </a:xfrm>
        </p:grpSpPr>
        <p:sp>
          <p:nvSpPr>
            <p:cNvPr id="15" name="二等辺三角形 14">
              <a:extLst>
                <a:ext uri="{FF2B5EF4-FFF2-40B4-BE49-F238E27FC236}">
                  <a16:creationId xmlns:a16="http://schemas.microsoft.com/office/drawing/2014/main" id="{9EEC710F-D694-4533-BCFA-E134D0A97020}"/>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フリーフォーム: 図形 15">
              <a:extLst>
                <a:ext uri="{FF2B5EF4-FFF2-40B4-BE49-F238E27FC236}">
                  <a16:creationId xmlns:a16="http://schemas.microsoft.com/office/drawing/2014/main" id="{15C81248-34D7-4734-9365-7AF9C9D6CE4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7" name="グループ化 16">
            <a:extLst>
              <a:ext uri="{FF2B5EF4-FFF2-40B4-BE49-F238E27FC236}">
                <a16:creationId xmlns:a16="http://schemas.microsoft.com/office/drawing/2014/main" id="{62916356-7E2D-4DCC-AB30-31745E58C8A8}"/>
              </a:ext>
            </a:extLst>
          </p:cNvPr>
          <p:cNvGrpSpPr/>
          <p:nvPr/>
        </p:nvGrpSpPr>
        <p:grpSpPr>
          <a:xfrm rot="19356426" flipV="1">
            <a:off x="8176087" y="2353531"/>
            <a:ext cx="638334" cy="948153"/>
            <a:chOff x="2664127" y="3374455"/>
            <a:chExt cx="1201975" cy="1567649"/>
          </a:xfrm>
        </p:grpSpPr>
        <p:sp>
          <p:nvSpPr>
            <p:cNvPr id="18" name="二等辺三角形 17">
              <a:extLst>
                <a:ext uri="{FF2B5EF4-FFF2-40B4-BE49-F238E27FC236}">
                  <a16:creationId xmlns:a16="http://schemas.microsoft.com/office/drawing/2014/main" id="{C87AD141-B943-4BC4-BD07-C571A6486C2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フリーフォーム: 図形 18">
              <a:extLst>
                <a:ext uri="{FF2B5EF4-FFF2-40B4-BE49-F238E27FC236}">
                  <a16:creationId xmlns:a16="http://schemas.microsoft.com/office/drawing/2014/main" id="{7964E781-5C13-4DB8-8006-A03F3223597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Tree>
    <p:extLst>
      <p:ext uri="{BB962C8B-B14F-4D97-AF65-F5344CB8AC3E}">
        <p14:creationId xmlns:p14="http://schemas.microsoft.com/office/powerpoint/2010/main" val="3435325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カードの間隔やアスペクト比は適宜調整</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kumimoji="1" lang="ja-JP" altLang="en-US" dirty="0"/>
              <a:t>４カードのレイアウトテンプレート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640876"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00865"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64930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4" name="正方形/長方形 13">
            <a:extLst>
              <a:ext uri="{FF2B5EF4-FFF2-40B4-BE49-F238E27FC236}">
                <a16:creationId xmlns:a16="http://schemas.microsoft.com/office/drawing/2014/main" id="{5232DDF0-95D5-460E-AA94-DC8D8DD0F064}"/>
              </a:ext>
            </a:extLst>
          </p:cNvPr>
          <p:cNvSpPr/>
          <p:nvPr/>
        </p:nvSpPr>
        <p:spPr>
          <a:xfrm>
            <a:off x="640876"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700865"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lang="ja-JP" altLang="en-US" b="1" dirty="0">
                <a:solidFill>
                  <a:schemeClr val="tx2"/>
                </a:solidFill>
                <a:latin typeface="游ゴシック" panose="020B0400000000000000" pitchFamily="50" charset="-128"/>
                <a:ea typeface="游ゴシック" panose="020B0400000000000000" pitchFamily="50" charset="-128"/>
              </a:rPr>
              <a:t>②</a:t>
            </a:r>
            <a:endParaRPr kumimoji="1" lang="ja-JP" altLang="en-US"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649306"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7" name="正方形/長方形 16">
            <a:extLst>
              <a:ext uri="{FF2B5EF4-FFF2-40B4-BE49-F238E27FC236}">
                <a16:creationId xmlns:a16="http://schemas.microsoft.com/office/drawing/2014/main" id="{9F1A11E8-9C9F-4A77-8B31-57D3139B4012}"/>
              </a:ext>
            </a:extLst>
          </p:cNvPr>
          <p:cNvSpPr/>
          <p:nvPr/>
        </p:nvSpPr>
        <p:spPr>
          <a:xfrm>
            <a:off x="6201018"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6261007"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6209448"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20" name="正方形/長方形 19">
            <a:extLst>
              <a:ext uri="{FF2B5EF4-FFF2-40B4-BE49-F238E27FC236}">
                <a16:creationId xmlns:a16="http://schemas.microsoft.com/office/drawing/2014/main" id="{4ACBC013-96B2-409F-A562-B589C1D0B1BD}"/>
              </a:ext>
            </a:extLst>
          </p:cNvPr>
          <p:cNvSpPr/>
          <p:nvPr/>
        </p:nvSpPr>
        <p:spPr>
          <a:xfrm>
            <a:off x="6201018"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6261007"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6209448"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3838289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9F1A11E8-9C9F-4A77-8B31-57D3139B4012}"/>
              </a:ext>
            </a:extLst>
          </p:cNvPr>
          <p:cNvSpPr/>
          <p:nvPr/>
        </p:nvSpPr>
        <p:spPr>
          <a:xfrm>
            <a:off x="6201018"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4ACBC013-96B2-409F-A562-B589C1D0B1BD}"/>
              </a:ext>
            </a:extLst>
          </p:cNvPr>
          <p:cNvSpPr/>
          <p:nvPr/>
        </p:nvSpPr>
        <p:spPr>
          <a:xfrm>
            <a:off x="6201018"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5232DDF0-95D5-460E-AA94-DC8D8DD0F064}"/>
              </a:ext>
            </a:extLst>
          </p:cNvPr>
          <p:cNvSpPr/>
          <p:nvPr/>
        </p:nvSpPr>
        <p:spPr>
          <a:xfrm>
            <a:off x="640876"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39C0D132-2F4B-4006-8549-232F72C8420E}"/>
              </a:ext>
            </a:extLst>
          </p:cNvPr>
          <p:cNvSpPr/>
          <p:nvPr/>
        </p:nvSpPr>
        <p:spPr>
          <a:xfrm>
            <a:off x="640876"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循環がある場合はこんな感じが良い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kumimoji="1" lang="ja-JP" altLang="en-US" dirty="0"/>
              <a:t>４カードのレイアウトテンプレートのアレンジ</a:t>
            </a:r>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00865"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64930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700865"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lang="ja-JP" altLang="en-US" b="1" dirty="0">
                <a:solidFill>
                  <a:schemeClr val="tx2"/>
                </a:solidFill>
                <a:latin typeface="游ゴシック" panose="020B0400000000000000" pitchFamily="50" charset="-128"/>
                <a:ea typeface="游ゴシック" panose="020B0400000000000000" pitchFamily="50" charset="-128"/>
              </a:rPr>
              <a:t>②</a:t>
            </a:r>
            <a:endParaRPr kumimoji="1" lang="ja-JP" altLang="en-US"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649306"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6261007"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6209448"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6261007"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6209448"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grpSp>
        <p:nvGrpSpPr>
          <p:cNvPr id="38" name="グループ化 37">
            <a:extLst>
              <a:ext uri="{FF2B5EF4-FFF2-40B4-BE49-F238E27FC236}">
                <a16:creationId xmlns:a16="http://schemas.microsoft.com/office/drawing/2014/main" id="{F763E3EA-C838-48BF-92C8-FD155CD72C61}"/>
              </a:ext>
            </a:extLst>
          </p:cNvPr>
          <p:cNvGrpSpPr/>
          <p:nvPr/>
        </p:nvGrpSpPr>
        <p:grpSpPr>
          <a:xfrm>
            <a:off x="5963376" y="5058404"/>
            <a:ext cx="595261" cy="523221"/>
            <a:chOff x="1572269" y="4816089"/>
            <a:chExt cx="938304" cy="840658"/>
          </a:xfrm>
        </p:grpSpPr>
        <p:sp>
          <p:nvSpPr>
            <p:cNvPr id="39" name="二等辺三角形 38">
              <a:extLst>
                <a:ext uri="{FF2B5EF4-FFF2-40B4-BE49-F238E27FC236}">
                  <a16:creationId xmlns:a16="http://schemas.microsoft.com/office/drawing/2014/main" id="{857E573D-CBEA-4840-BB8D-12A43C05AF2C}"/>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0" name="フリーフォーム: 図形 39">
              <a:extLst>
                <a:ext uri="{FF2B5EF4-FFF2-40B4-BE49-F238E27FC236}">
                  <a16:creationId xmlns:a16="http://schemas.microsoft.com/office/drawing/2014/main" id="{5EF6E50A-F8C0-4A0B-828C-3A1574F01379}"/>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1" name="グループ化 40">
            <a:extLst>
              <a:ext uri="{FF2B5EF4-FFF2-40B4-BE49-F238E27FC236}">
                <a16:creationId xmlns:a16="http://schemas.microsoft.com/office/drawing/2014/main" id="{98959377-C979-4DBC-91B0-EE8A4B495524}"/>
              </a:ext>
            </a:extLst>
          </p:cNvPr>
          <p:cNvGrpSpPr/>
          <p:nvPr/>
        </p:nvGrpSpPr>
        <p:grpSpPr>
          <a:xfrm rot="16200000">
            <a:off x="6871061" y="3852436"/>
            <a:ext cx="595261" cy="523221"/>
            <a:chOff x="1572269" y="4816089"/>
            <a:chExt cx="938304" cy="840658"/>
          </a:xfrm>
        </p:grpSpPr>
        <p:sp>
          <p:nvSpPr>
            <p:cNvPr id="42" name="二等辺三角形 41">
              <a:extLst>
                <a:ext uri="{FF2B5EF4-FFF2-40B4-BE49-F238E27FC236}">
                  <a16:creationId xmlns:a16="http://schemas.microsoft.com/office/drawing/2014/main" id="{D24E386F-2924-40CC-9E36-E7C432F87F61}"/>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3" name="フリーフォーム: 図形 42">
              <a:extLst>
                <a:ext uri="{FF2B5EF4-FFF2-40B4-BE49-F238E27FC236}">
                  <a16:creationId xmlns:a16="http://schemas.microsoft.com/office/drawing/2014/main" id="{01947CE4-9925-438C-87B9-4BD670E28BB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4" name="グループ化 43">
            <a:extLst>
              <a:ext uri="{FF2B5EF4-FFF2-40B4-BE49-F238E27FC236}">
                <a16:creationId xmlns:a16="http://schemas.microsoft.com/office/drawing/2014/main" id="{3F72FAD5-5227-424C-B040-A021696E413C}"/>
              </a:ext>
            </a:extLst>
          </p:cNvPr>
          <p:cNvGrpSpPr/>
          <p:nvPr/>
        </p:nvGrpSpPr>
        <p:grpSpPr>
          <a:xfrm rot="10800000">
            <a:off x="5622654" y="3077138"/>
            <a:ext cx="595261" cy="523221"/>
            <a:chOff x="1572269" y="4816089"/>
            <a:chExt cx="938304" cy="840658"/>
          </a:xfrm>
        </p:grpSpPr>
        <p:sp>
          <p:nvSpPr>
            <p:cNvPr id="45" name="二等辺三角形 44">
              <a:extLst>
                <a:ext uri="{FF2B5EF4-FFF2-40B4-BE49-F238E27FC236}">
                  <a16:creationId xmlns:a16="http://schemas.microsoft.com/office/drawing/2014/main" id="{CC9CF80C-33A0-4CD9-A492-0F5FE96D7E9F}"/>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フリーフォーム: 図形 45">
              <a:extLst>
                <a:ext uri="{FF2B5EF4-FFF2-40B4-BE49-F238E27FC236}">
                  <a16:creationId xmlns:a16="http://schemas.microsoft.com/office/drawing/2014/main" id="{464BB2E2-722B-44B5-98C5-2E999D1E52E1}"/>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7" name="グループ化 46">
            <a:extLst>
              <a:ext uri="{FF2B5EF4-FFF2-40B4-BE49-F238E27FC236}">
                <a16:creationId xmlns:a16="http://schemas.microsoft.com/office/drawing/2014/main" id="{DF776DC2-B0C8-4C4B-870E-11E5094A648C}"/>
              </a:ext>
            </a:extLst>
          </p:cNvPr>
          <p:cNvGrpSpPr/>
          <p:nvPr/>
        </p:nvGrpSpPr>
        <p:grpSpPr>
          <a:xfrm rot="5400000">
            <a:off x="4798844" y="4214160"/>
            <a:ext cx="595261" cy="523221"/>
            <a:chOff x="1572269" y="4816089"/>
            <a:chExt cx="938304" cy="840658"/>
          </a:xfrm>
        </p:grpSpPr>
        <p:sp>
          <p:nvSpPr>
            <p:cNvPr id="48" name="二等辺三角形 47">
              <a:extLst>
                <a:ext uri="{FF2B5EF4-FFF2-40B4-BE49-F238E27FC236}">
                  <a16:creationId xmlns:a16="http://schemas.microsoft.com/office/drawing/2014/main" id="{B73EA7B5-2C86-4BC2-927B-676AE8EE2F83}"/>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フリーフォーム: 図形 48">
              <a:extLst>
                <a:ext uri="{FF2B5EF4-FFF2-40B4-BE49-F238E27FC236}">
                  <a16:creationId xmlns:a16="http://schemas.microsoft.com/office/drawing/2014/main" id="{6394FB25-B87E-4AD3-80ED-6FD1473CADC2}"/>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spTree>
    <p:extLst>
      <p:ext uri="{BB962C8B-B14F-4D97-AF65-F5344CB8AC3E}">
        <p14:creationId xmlns:p14="http://schemas.microsoft.com/office/powerpoint/2010/main" val="1994194877"/>
      </p:ext>
    </p:extLst>
  </p:cSld>
  <p:clrMapOvr>
    <a:masterClrMapping/>
  </p:clrMapOvr>
</p:sld>
</file>

<file path=ppt/theme/theme1.xml><?xml version="1.0" encoding="utf-8"?>
<a:theme xmlns:a="http://schemas.openxmlformats.org/drawingml/2006/main" name="研究発表スライドマスタ">
  <a:themeElements>
    <a:clrScheme name="ユーザー定義 8">
      <a:dk1>
        <a:srgbClr val="4D4D4D"/>
      </a:dk1>
      <a:lt1>
        <a:srgbClr val="F8F8F8"/>
      </a:lt1>
      <a:dk2>
        <a:srgbClr val="7F7F7F"/>
      </a:dk2>
      <a:lt2>
        <a:srgbClr val="B2B2B2"/>
      </a:lt2>
      <a:accent1>
        <a:srgbClr val="2E5B96"/>
      </a:accent1>
      <a:accent2>
        <a:srgbClr val="C03936"/>
      </a:accent2>
      <a:accent3>
        <a:srgbClr val="ED7D31"/>
      </a:accent3>
      <a:accent4>
        <a:srgbClr val="3E9288"/>
      </a:accent4>
      <a:accent5>
        <a:srgbClr val="4747C1"/>
      </a:accent5>
      <a:accent6>
        <a:srgbClr val="70AD47"/>
      </a:accent6>
      <a:hlink>
        <a:srgbClr val="0563C1"/>
      </a:hlink>
      <a:folHlink>
        <a:srgbClr val="954F72"/>
      </a:folHlink>
    </a:clrScheme>
    <a:fontScheme name="ユーザー定義 2">
      <a:majorFont>
        <a:latin typeface="Segoe UI"/>
        <a:ea typeface="游ゴシック Medium"/>
        <a:cs typeface=""/>
      </a:majorFont>
      <a:minorFont>
        <a:latin typeface="Segoe UI"/>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テンプレート" id="{4277D8D4-9358-CF46-AD5D-1A76F80E8CDA}" vid="{490466FF-E944-CA4C-8335-8B13B1B780A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E7783413B678BA4F83764129A5DB4607" ma:contentTypeVersion="0" ma:contentTypeDescription="新しいドキュメントを作成します。" ma:contentTypeScope="" ma:versionID="36bbfa3e05015206d9e02241ed477da6">
  <xsd:schema xmlns:xsd="http://www.w3.org/2001/XMLSchema" xmlns:xs="http://www.w3.org/2001/XMLSchema" xmlns:p="http://schemas.microsoft.com/office/2006/metadata/properties" targetNamespace="http://schemas.microsoft.com/office/2006/metadata/properties" ma:root="true" ma:fieldsID="bfa5fc393d419cfd9816b88a984ff78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E74453E-F96D-478A-A3EE-1788D5BE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0EFD21F3-24CC-4605-A5CE-D678D2531AFB}">
  <ds:schemaRefs>
    <ds:schemaRef ds:uri="http://schemas.microsoft.com/sharepoint/v3/contenttype/forms"/>
  </ds:schemaRefs>
</ds:datastoreItem>
</file>

<file path=customXml/itemProps3.xml><?xml version="1.0" encoding="utf-8"?>
<ds:datastoreItem xmlns:ds="http://schemas.openxmlformats.org/officeDocument/2006/customXml" ds:itemID="{2B33ED81-A378-482E-B710-0D21A32023B2}">
  <ds:schemaRefs>
    <ds:schemaRef ds:uri="http://www.w3.org/XML/1998/namespace"/>
    <ds:schemaRef ds:uri="http://purl.org/dc/terms/"/>
    <ds:schemaRef ds:uri="http://schemas.microsoft.com/office/2006/metadata/properties"/>
    <ds:schemaRef ds:uri="http://schemas.microsoft.com/office/2006/documentManagement/types"/>
    <ds:schemaRef ds:uri="http://purl.org/dc/dcmitype/"/>
    <ds:schemaRef ds:uri="http://purl.org/dc/elements/1.1/"/>
    <ds:schemaRef ds:uri="http://schemas.openxmlformats.org/package/2006/metadata/core-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研究発表スライドマスタ</Template>
  <TotalTime>4656</TotalTime>
  <Words>1046</Words>
  <Application>Microsoft Macintosh PowerPoint</Application>
  <PresentationFormat>ワイド画面</PresentationFormat>
  <Paragraphs>187</Paragraphs>
  <Slides>17</Slides>
  <Notes>0</Notes>
  <HiddenSlides>7</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17</vt:i4>
      </vt:variant>
    </vt:vector>
  </HeadingPairs>
  <TitlesOfParts>
    <vt:vector size="24" baseType="lpstr">
      <vt:lpstr>游ゴシック</vt:lpstr>
      <vt:lpstr>游ゴシック Medium</vt:lpstr>
      <vt:lpstr>Arial</vt:lpstr>
      <vt:lpstr>Cambria Math</vt:lpstr>
      <vt:lpstr>Segoe UI</vt:lpstr>
      <vt:lpstr>Wingdings</vt:lpstr>
      <vt:lpstr>研究発表スライドマスタ</vt:lpstr>
      <vt:lpstr>目的：TGR5に結合して活性化する作用を持つ生理活性ペプチドの探索</vt:lpstr>
      <vt:lpstr>PowerPoint プレゼンテーション</vt:lpstr>
      <vt:lpstr>PowerPoint プレゼンテーション</vt:lpstr>
      <vt:lpstr>dishでのトランスフェクションを採用</vt:lpstr>
      <vt:lpstr>PowerPoint プレゼンテーション</vt:lpstr>
      <vt:lpstr>PowerPoint プレゼンテーション</vt:lpstr>
      <vt:lpstr>PowerPoint プレゼンテーション</vt:lpstr>
      <vt:lpstr>PowerPoint プレゼンテーション</vt:lpstr>
      <vt:lpstr>KCF-S, 一般化タニモト係数について調査する</vt:lpstr>
      <vt:lpstr>PowerPoint プレゼンテーション</vt:lpstr>
      <vt:lpstr>PowerPoint プレゼンテーション</vt:lpstr>
      <vt:lpstr>寸法や色は場合に応じて調整しましょう</vt:lpstr>
      <vt:lpstr>PowerPoint プレゼンテーション</vt:lpstr>
      <vt:lpstr>３つあることが一目でわかる</vt:lpstr>
      <vt:lpstr>順序関係がある場合は並列よりこちらが良い</vt:lpstr>
      <vt:lpstr>カードの間隔やアスペクト比は適宜調整</vt:lpstr>
      <vt:lpstr>循環がある場合はこんな感じが良い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NAKAMURA Yusaku</dc:creator>
  <cp:lastModifiedBy>NAKAMURA Yusaku</cp:lastModifiedBy>
  <cp:revision>12</cp:revision>
  <dcterms:created xsi:type="dcterms:W3CDTF">2024-05-30T04:20:08Z</dcterms:created>
  <dcterms:modified xsi:type="dcterms:W3CDTF">2024-07-08T04:11:00Z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0x010100E7783413B678BA4F83764129A5DB4607</vt:lpwstr>
  </property>
</Properties>
</file>