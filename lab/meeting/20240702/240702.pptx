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1"/>
  </p:notesMasterIdLst>
  <p:handoutMasterIdLst>
    <p:handoutMasterId r:id="rId22"/>
  </p:handoutMasterIdLst>
  <p:sldIdLst>
    <p:sldId id="323" r:id="rId5"/>
    <p:sldId id="328" r:id="rId6"/>
    <p:sldId id="326" r:id="rId7"/>
    <p:sldId id="332" r:id="rId8"/>
    <p:sldId id="336" r:id="rId9"/>
    <p:sldId id="337" r:id="rId10"/>
    <p:sldId id="333" r:id="rId11"/>
    <p:sldId id="310" r:id="rId12"/>
    <p:sldId id="335" r:id="rId13"/>
    <p:sldId id="295" r:id="rId14"/>
    <p:sldId id="298" r:id="rId15"/>
    <p:sldId id="304" r:id="rId16"/>
    <p:sldId id="300" r:id="rId17"/>
    <p:sldId id="302" r:id="rId18"/>
    <p:sldId id="301" r:id="rId19"/>
    <p:sldId id="303" r:id="rId2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8F8F8"/>
    <a:srgbClr val="3B6FBB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184" autoAdjust="0"/>
    <p:restoredTop sz="84607"/>
  </p:normalViewPr>
  <p:slideViewPr>
    <p:cSldViewPr snapToGrid="0">
      <p:cViewPr varScale="1">
        <p:scale>
          <a:sx n="132" d="100"/>
          <a:sy n="132" d="100"/>
        </p:scale>
        <p:origin x="2120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49" d="100"/>
          <a:sy n="49" d="100"/>
        </p:scale>
        <p:origin x="2733" y="3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/Users/yutteee/univ/latex/&#30740;&#31350;/7/20240624_resul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ja-JP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spPr>
            <a:ln w="25400" cap="rnd">
              <a:solidFill>
                <a:schemeClr val="tx1"/>
              </a:solidFill>
              <a:round/>
            </a:ln>
            <a:effectLst/>
          </c:spPr>
          <c:marker>
            <c:symbol val="none"/>
          </c:marker>
          <c:errBars>
            <c:errDir val="y"/>
            <c:errBarType val="both"/>
            <c:errValType val="cust"/>
            <c:noEndCap val="0"/>
            <c:plus>
              <c:numRef>
                <c:f>Sheet1!$B$19:$H$19</c:f>
                <c:numCache>
                  <c:formatCode>General</c:formatCode>
                  <c:ptCount val="7"/>
                  <c:pt idx="0">
                    <c:v>4076.1173113249201</c:v>
                  </c:pt>
                  <c:pt idx="1">
                    <c:v>3163.6999944167515</c:v>
                  </c:pt>
                  <c:pt idx="2">
                    <c:v>3060.5593553159824</c:v>
                  </c:pt>
                  <c:pt idx="3">
                    <c:v>2945.3550548589133</c:v>
                  </c:pt>
                  <c:pt idx="4">
                    <c:v>15073.887093323076</c:v>
                  </c:pt>
                  <c:pt idx="5">
                    <c:v>6939.5447383758974</c:v>
                  </c:pt>
                  <c:pt idx="6">
                    <c:v>7645.3418132725637</c:v>
                  </c:pt>
                </c:numCache>
              </c:numRef>
            </c:plus>
            <c:minus>
              <c:numRef>
                <c:f>Sheet1!$B$19:$H$19</c:f>
                <c:numCache>
                  <c:formatCode>General</c:formatCode>
                  <c:ptCount val="7"/>
                  <c:pt idx="0">
                    <c:v>4076.1173113249201</c:v>
                  </c:pt>
                  <c:pt idx="1">
                    <c:v>3163.6999944167515</c:v>
                  </c:pt>
                  <c:pt idx="2">
                    <c:v>3060.5593553159824</c:v>
                  </c:pt>
                  <c:pt idx="3">
                    <c:v>2945.3550548589133</c:v>
                  </c:pt>
                  <c:pt idx="4">
                    <c:v>15073.887093323076</c:v>
                  </c:pt>
                  <c:pt idx="5">
                    <c:v>6939.5447383758974</c:v>
                  </c:pt>
                  <c:pt idx="6">
                    <c:v>7645.3418132725637</c:v>
                  </c:pt>
                </c:numCache>
              </c:numRef>
            </c:minus>
            <c:spPr>
              <a:noFill/>
              <a:ln w="25400" cap="flat" cmpd="sng" algn="ctr">
                <a:solidFill>
                  <a:schemeClr val="tx1"/>
                </a:solidFill>
                <a:round/>
              </a:ln>
              <a:effectLst/>
            </c:spPr>
          </c:errBars>
          <c:xVal>
            <c:numRef>
              <c:f>Sheet1!$B$14:$H$14</c:f>
              <c:numCache>
                <c:formatCode>General</c:formatCode>
                <c:ptCount val="7"/>
                <c:pt idx="0">
                  <c:v>0</c:v>
                </c:pt>
                <c:pt idx="1">
                  <c:v>0.01</c:v>
                </c:pt>
                <c:pt idx="2">
                  <c:v>0.1</c:v>
                </c:pt>
                <c:pt idx="3">
                  <c:v>1</c:v>
                </c:pt>
                <c:pt idx="4">
                  <c:v>10</c:v>
                </c:pt>
                <c:pt idx="5">
                  <c:v>20</c:v>
                </c:pt>
                <c:pt idx="6">
                  <c:v>100</c:v>
                </c:pt>
              </c:numCache>
            </c:numRef>
          </c:xVal>
          <c:yVal>
            <c:numRef>
              <c:f>Sheet1!$B$18:$H$18</c:f>
              <c:numCache>
                <c:formatCode>General</c:formatCode>
                <c:ptCount val="7"/>
                <c:pt idx="0">
                  <c:v>34706.675092775666</c:v>
                </c:pt>
                <c:pt idx="1">
                  <c:v>33643.801875628182</c:v>
                </c:pt>
                <c:pt idx="2">
                  <c:v>31339.889091830421</c:v>
                </c:pt>
                <c:pt idx="3">
                  <c:v>72763.131239787777</c:v>
                </c:pt>
                <c:pt idx="4">
                  <c:v>143821.87439268609</c:v>
                </c:pt>
                <c:pt idx="5">
                  <c:v>166247.92552114956</c:v>
                </c:pt>
                <c:pt idx="6">
                  <c:v>183480.12518616914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B346-F94B-89C9-E8B0005348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7122639"/>
        <c:axId val="443113423"/>
      </c:scatterChart>
      <c:valAx>
        <c:axId val="207122639"/>
        <c:scaling>
          <c:logBase val="10"/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DCA</a:t>
                </a:r>
                <a:r>
                  <a:rPr lang="ja-JP"/>
                  <a:t>濃度</a:t>
                </a:r>
                <a:r>
                  <a:rPr lang="en-US"/>
                  <a:t> [log(µM)]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443113423"/>
        <c:crosses val="autoZero"/>
        <c:crossBetween val="midCat"/>
      </c:valAx>
      <c:valAx>
        <c:axId val="443113423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r>
                  <a:rPr lang="en-US"/>
                  <a:t>Luc activity [-]</a:t>
                </a:r>
                <a:endParaRPr lang="ja-JP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400" b="0" i="0" u="none" strike="noStrike" kern="1200" baseline="0">
                  <a:solidFill>
                    <a:schemeClr val="tx1"/>
                  </a:solidFill>
                  <a:latin typeface="Arial" panose="020B0604020202020204" pitchFamily="34" charset="0"/>
                  <a:ea typeface="+mn-ea"/>
                  <a:cs typeface="Arial" panose="020B0604020202020204" pitchFamily="34" charset="0"/>
                </a:defRPr>
              </a:pPr>
              <a:endParaRPr lang="ja-JP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pPr>
            <a:endParaRPr lang="ja-JP"/>
          </a:p>
        </c:txPr>
        <c:crossAx val="207122639"/>
        <c:crossesAt val="1E-3"/>
        <c:crossBetween val="midCat"/>
      </c:valAx>
      <c:spPr>
        <a:noFill/>
        <a:ln w="25400"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1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pPr>
      <a:endParaRPr lang="ja-JP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>
            <a:extLst>
              <a:ext uri="{FF2B5EF4-FFF2-40B4-BE49-F238E27FC236}">
                <a16:creationId xmlns:a16="http://schemas.microsoft.com/office/drawing/2014/main" id="{064B9691-87D6-48EF-9BFD-698344D045A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86BE10E-3BBD-4023-B684-892AE173FF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02328F-004D-4D3A-9F80-6B7A705D1367}" type="datetimeFigureOut">
              <a:rPr kumimoji="1" lang="ja-JP" altLang="en-US" smtClean="0"/>
              <a:t>2024/7/1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F6367B9F-A0B4-4348-9C4B-89D15EDCB27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42CC2C2F-D89E-474B-9003-7069E7D90C0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DCC25F-5D23-455B-B707-89EC30CA97B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574904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00887C-0EF1-4AC1-9E9B-79863B12620D}" type="datetimeFigureOut">
              <a:rPr kumimoji="1" lang="ja-JP" altLang="en-US" smtClean="0"/>
              <a:t>2024/7/1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9A420A-BDF0-4775-9670-07D3BFB5E94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996778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ja-JP" sz="1200" dirty="0"/>
              <a:t>DCA</a:t>
            </a:r>
            <a:r>
              <a:rPr lang="ja-JP" altLang="en-US" sz="1200"/>
              <a:t>が多量体化しており少し濃度が高くなった？</a:t>
            </a:r>
            <a:endParaRPr lang="en-US" altLang="ja-JP" sz="1200" dirty="0"/>
          </a:p>
          <a:p>
            <a:pPr lvl="1"/>
            <a:r>
              <a:rPr lang="en-US" altLang="ja-JP" sz="1200" dirty="0"/>
              <a:t>1mM</a:t>
            </a:r>
            <a:r>
              <a:rPr lang="ja-JP" altLang="en-US" sz="1200"/>
              <a:t>の</a:t>
            </a:r>
            <a:r>
              <a:rPr lang="en-US" altLang="ja-JP" sz="1200" dirty="0"/>
              <a:t>DCA</a:t>
            </a:r>
            <a:r>
              <a:rPr lang="ja-JP" altLang="en-US" sz="1200"/>
              <a:t>を薄めて使用して実験したため、より薄い濃度で分注した</a:t>
            </a:r>
            <a:r>
              <a:rPr lang="en-US" altLang="ja-JP" sz="1200" dirty="0"/>
              <a:t>DCA</a:t>
            </a:r>
            <a:r>
              <a:rPr lang="ja-JP" altLang="en-US" sz="1200"/>
              <a:t>を使用したらより文献値に近づく可能性</a:t>
            </a:r>
            <a:endParaRPr lang="en-US" altLang="ja-JP" sz="1200" dirty="0"/>
          </a:p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9A420A-BDF0-4775-9670-07D3BFB5E94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88043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 hasCustomPrompt="1"/>
          </p:nvPr>
        </p:nvSpPr>
        <p:spPr>
          <a:xfrm>
            <a:off x="1524000" y="2570163"/>
            <a:ext cx="9144000" cy="2387600"/>
          </a:xfrm>
        </p:spPr>
        <p:txBody>
          <a:bodyPr anchor="b">
            <a:noAutofit/>
          </a:bodyPr>
          <a:lstStyle>
            <a:lvl1pPr algn="l">
              <a:defRPr sz="4800" b="1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発表の内容と構成が想像できる</a:t>
            </a:r>
            <a:br>
              <a:rPr kumimoji="1" lang="en-US" altLang="ja-JP" dirty="0"/>
            </a:br>
            <a:r>
              <a:rPr kumimoji="1" lang="ja-JP" altLang="en-US" dirty="0"/>
              <a:t>発表題目をここに書く．</a:t>
            </a:r>
            <a:br>
              <a:rPr kumimoji="1" lang="en-US" altLang="ja-JP" dirty="0"/>
            </a:br>
            <a:r>
              <a:rPr kumimoji="1" lang="ja-JP" altLang="en-US" dirty="0"/>
              <a:t>単語の途中で改行しない．</a:t>
            </a:r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 hasCustomPrompt="1"/>
          </p:nvPr>
        </p:nvSpPr>
        <p:spPr>
          <a:xfrm>
            <a:off x="1524000" y="5110163"/>
            <a:ext cx="9144000" cy="561975"/>
          </a:xfrm>
        </p:spPr>
        <p:txBody>
          <a:bodyPr>
            <a:noAutofit/>
          </a:bodyPr>
          <a:lstStyle>
            <a:lvl1pPr marL="0" indent="0" algn="l">
              <a:buNone/>
              <a:defRPr sz="3600"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dirty="0"/>
              <a:t>発表者名</a:t>
            </a:r>
            <a:endParaRPr kumimoji="1" lang="en-US" altLang="ja-JP" dirty="0"/>
          </a:p>
        </p:txBody>
      </p:sp>
      <p:sp>
        <p:nvSpPr>
          <p:cNvPr id="11" name="テキスト プレースホルダー 10"/>
          <p:cNvSpPr>
            <a:spLocks noGrp="1"/>
          </p:cNvSpPr>
          <p:nvPr>
            <p:ph type="body" sz="quarter" idx="11" hasCustomPrompt="1"/>
          </p:nvPr>
        </p:nvSpPr>
        <p:spPr>
          <a:xfrm>
            <a:off x="1524000" y="5740400"/>
            <a:ext cx="9144000" cy="469900"/>
          </a:xfrm>
        </p:spPr>
        <p:txBody>
          <a:bodyPr/>
          <a:lstStyle>
            <a:lvl1pPr marL="0" indent="0" algn="l">
              <a:buNone/>
              <a:defRPr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身分や所属など．関連する</a:t>
            </a:r>
            <a:r>
              <a:rPr kumimoji="1" lang="en-US" altLang="ja-JP" dirty="0"/>
              <a:t>SNS</a:t>
            </a:r>
            <a:r>
              <a:rPr kumimoji="1" lang="ja-JP" altLang="en-US" dirty="0"/>
              <a:t>アカウントなども．</a:t>
            </a:r>
          </a:p>
        </p:txBody>
      </p:sp>
      <p:cxnSp>
        <p:nvCxnSpPr>
          <p:cNvPr id="13" name="直線コネクタ 12"/>
          <p:cNvCxnSpPr/>
          <p:nvPr userDrawn="1"/>
        </p:nvCxnSpPr>
        <p:spPr>
          <a:xfrm flipV="1">
            <a:off x="0" y="5029200"/>
            <a:ext cx="12192000" cy="0"/>
          </a:xfrm>
          <a:prstGeom prst="line">
            <a:avLst/>
          </a:prstGeom>
          <a:ln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プレースホルダー 14"/>
          <p:cNvSpPr>
            <a:spLocks noGrp="1"/>
          </p:cNvSpPr>
          <p:nvPr>
            <p:ph type="body" sz="quarter" idx="12" hasCustomPrompt="1"/>
          </p:nvPr>
        </p:nvSpPr>
        <p:spPr>
          <a:xfrm>
            <a:off x="8420098" y="152399"/>
            <a:ext cx="3594101" cy="378541"/>
          </a:xfrm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pPr lvl="0"/>
            <a:r>
              <a:rPr kumimoji="1" lang="ja-JP" altLang="en-US" dirty="0"/>
              <a:t>会議名と日程を書いておく</a:t>
            </a:r>
          </a:p>
        </p:txBody>
      </p:sp>
      <p:sp>
        <p:nvSpPr>
          <p:cNvPr id="17" name="図プレースホルダー 16"/>
          <p:cNvSpPr>
            <a:spLocks noGrp="1"/>
          </p:cNvSpPr>
          <p:nvPr>
            <p:ph type="pic" sz="quarter" idx="13" hasCustomPrompt="1"/>
          </p:nvPr>
        </p:nvSpPr>
        <p:spPr>
          <a:xfrm>
            <a:off x="1523999" y="647700"/>
            <a:ext cx="9144000" cy="1841500"/>
          </a:xfrm>
        </p:spPr>
        <p:txBody>
          <a:bodyPr/>
          <a:lstStyle>
            <a:lvl1pPr marL="0" indent="0">
              <a:buNone/>
              <a:defRPr>
                <a:solidFill>
                  <a:schemeClr val="bg2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</a:lstStyle>
          <a:p>
            <a:r>
              <a:rPr kumimoji="1" lang="ja-JP" altLang="en-US" dirty="0"/>
              <a:t>題目の説明の助けになる図や動画があれば載せる．</a:t>
            </a: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212593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パラグラフ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546100" y="6021647"/>
            <a:ext cx="11099800" cy="725176"/>
          </a:xfrm>
        </p:spPr>
        <p:txBody>
          <a:bodyPr>
            <a:noAutofit/>
          </a:bodyPr>
          <a:lstStyle>
            <a:lvl1pPr algn="ctr">
              <a:defRPr sz="2400" b="1" u="sng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</a:lstStyle>
          <a:p>
            <a:r>
              <a:rPr kumimoji="1" lang="ja-JP" altLang="en-US" dirty="0"/>
              <a:t>話題について伝えるべきメッセージ（問いの答え）</a:t>
            </a:r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 hasCustomPrompt="1"/>
          </p:nvPr>
        </p:nvSpPr>
        <p:spPr>
          <a:xfrm>
            <a:off x="546100" y="1038484"/>
            <a:ext cx="11099800" cy="4797052"/>
          </a:xfrm>
        </p:spPr>
        <p:txBody>
          <a:bodyPr/>
          <a:lstStyle>
            <a:lvl1pPr marL="457200" indent="-457200">
              <a:buFont typeface="Wingdings" panose="05000000000000000000" pitchFamily="2" charset="2"/>
              <a:buChar char="l"/>
              <a:defRPr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 dirty="0"/>
              <a:t>メッセージの補足説明（根拠／解説／具体例）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第２段</a:t>
            </a:r>
            <a:endParaRPr kumimoji="1" lang="en-US" altLang="ja-JP" dirty="0"/>
          </a:p>
          <a:p>
            <a:pPr lvl="2"/>
            <a:r>
              <a:rPr kumimoji="1" lang="ja-JP" altLang="en-US" dirty="0"/>
              <a:t>第３段</a:t>
            </a:r>
            <a:endParaRPr kumimoji="1" lang="en-US" altLang="ja-JP" dirty="0"/>
          </a:p>
          <a:p>
            <a:pPr lvl="3"/>
            <a:r>
              <a:rPr kumimoji="1" lang="ja-JP" altLang="en-US" dirty="0"/>
              <a:t>第４段</a:t>
            </a:r>
            <a:endParaRPr kumimoji="1" lang="en-US" altLang="ja-JP" dirty="0"/>
          </a:p>
          <a:p>
            <a:pPr lvl="4"/>
            <a:r>
              <a:rPr kumimoji="1" lang="ja-JP" altLang="en-US"/>
              <a:t>第５弾</a:t>
            </a:r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3"/>
            <a:endParaRPr kumimoji="1" lang="en-US" altLang="ja-JP" dirty="0"/>
          </a:p>
          <a:p>
            <a:pPr lvl="1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0"/>
            <a:endParaRPr kumimoji="1" lang="en-US" altLang="ja-JP" dirty="0"/>
          </a:p>
          <a:p>
            <a:pPr lvl="1"/>
            <a:endParaRPr kumimoji="1" lang="en-US" altLang="ja-JP" dirty="0"/>
          </a:p>
        </p:txBody>
      </p:sp>
      <p:sp>
        <p:nvSpPr>
          <p:cNvPr id="18" name="テキスト プレースホルダー 17"/>
          <p:cNvSpPr>
            <a:spLocks noGrp="1"/>
          </p:cNvSpPr>
          <p:nvPr>
            <p:ph type="body" sz="quarter" idx="11" hasCustomPrompt="1"/>
          </p:nvPr>
        </p:nvSpPr>
        <p:spPr>
          <a:xfrm>
            <a:off x="210574" y="348226"/>
            <a:ext cx="11455400" cy="469900"/>
          </a:xfrm>
        </p:spPr>
        <p:txBody>
          <a:bodyPr/>
          <a:lstStyle>
            <a:lvl1pPr marL="0" indent="0">
              <a:buNone/>
              <a:defRPr b="0">
                <a:latin typeface="游ゴシック Medium" panose="020B0500000000000000" pitchFamily="50" charset="-128"/>
                <a:ea typeface="游ゴシック Medium" panose="020B0500000000000000" pitchFamily="50" charset="-128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kumimoji="1" lang="ja-JP" altLang="en-US" dirty="0"/>
              <a:t>スライドの話題＝問い</a:t>
            </a:r>
            <a:r>
              <a:rPr kumimoji="1" lang="en-US" altLang="ja-JP" dirty="0"/>
              <a:t>=</a:t>
            </a:r>
            <a:r>
              <a:rPr kumimoji="1" lang="ja-JP" altLang="en-US" dirty="0"/>
              <a:t>論点</a:t>
            </a:r>
            <a:endParaRPr kumimoji="1" lang="en-US" altLang="ja-JP" dirty="0"/>
          </a:p>
        </p:txBody>
      </p:sp>
      <p:sp>
        <p:nvSpPr>
          <p:cNvPr id="23" name="テキスト ボックス 22"/>
          <p:cNvSpPr txBox="1"/>
          <p:nvPr userDrawn="1"/>
        </p:nvSpPr>
        <p:spPr>
          <a:xfrm>
            <a:off x="11183256" y="340852"/>
            <a:ext cx="84830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fld id="{F8A53700-8F90-3442-A47C-78139B6BC0ED}" type="slidenum">
              <a:rPr kumimoji="1" lang="ja-JP" altLang="en-US" sz="2400" smtClean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‹#›</a:t>
            </a:fld>
            <a:r>
              <a:rPr kumimoji="1" lang="en-US" altLang="ja-JP" sz="2400" dirty="0">
                <a:solidFill>
                  <a:schemeClr val="tx1"/>
                </a:solidFill>
                <a:latin typeface="+mn-lt"/>
                <a:ea typeface="游ゴシック Medium" panose="020B0500000000000000" pitchFamily="50" charset="-128"/>
              </a:rPr>
              <a:t>/9</a:t>
            </a:r>
            <a:endParaRPr kumimoji="1" lang="ja-JP" altLang="en-US" sz="2400" dirty="0">
              <a:solidFill>
                <a:schemeClr val="tx1"/>
              </a:solidFill>
              <a:latin typeface="+mn-lt"/>
              <a:ea typeface="游ゴシック Medium" panose="020B0500000000000000" pitchFamily="50" charset="-128"/>
            </a:endParaRPr>
          </a:p>
        </p:txBody>
      </p:sp>
      <p:cxnSp>
        <p:nvCxnSpPr>
          <p:cNvPr id="26" name="直線コネクタ 25"/>
          <p:cNvCxnSpPr/>
          <p:nvPr userDrawn="1"/>
        </p:nvCxnSpPr>
        <p:spPr>
          <a:xfrm>
            <a:off x="0" y="825500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7D2CC37-C29C-5AF5-729A-0EBB71A29FD5}"/>
              </a:ext>
            </a:extLst>
          </p:cNvPr>
          <p:cNvSpPr txBox="1"/>
          <p:nvPr userDrawn="1"/>
        </p:nvSpPr>
        <p:spPr>
          <a:xfrm>
            <a:off x="11096828" y="16042"/>
            <a:ext cx="10951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dirty="0">
                <a:solidFill>
                  <a:schemeClr val="tx1">
                    <a:lumMod val="60000"/>
                    <a:lumOff val="40000"/>
                  </a:schemeClr>
                </a:solidFill>
              </a:rPr>
              <a:t>2024/07/02</a:t>
            </a:r>
            <a:endParaRPr kumimoji="1" lang="ja-JP" altLang="en-US" sz="1400">
              <a:solidFill>
                <a:schemeClr val="tx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2984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カー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646383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4FF1A3-6826-0345-B39D-CE4D91B68582}" type="datetime1">
              <a:rPr kumimoji="1" lang="ja-JP" altLang="en-US" smtClean="0"/>
              <a:t>2024/7/1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B92D0-3845-473E-8E13-C70357A36CF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9340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46088" indent="-446088" algn="l" defTabSz="914400" rtl="0" eaLnBrk="1" latinLnBrk="0" hangingPunct="1">
        <a:lnSpc>
          <a:spcPct val="110000"/>
        </a:lnSpc>
        <a:spcBef>
          <a:spcPts val="1800"/>
        </a:spcBef>
        <a:buClr>
          <a:schemeClr val="accent4"/>
        </a:buClr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游ゴシック" panose="020B0400000000000000" pitchFamily="50" charset="-128"/>
          <a:ea typeface="游ゴシック" panose="020B0400000000000000" pitchFamily="50" charset="-128"/>
          <a:cs typeface="+mn-cs"/>
        </a:defRPr>
      </a:lvl1pPr>
      <a:lvl2pPr marL="898525" indent="-441325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1252538" indent="-338138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3pPr>
      <a:lvl4pPr marL="1706563" indent="-334963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151063" indent="-322263" algn="l" defTabSz="914400" rtl="0" eaLnBrk="1" latinLnBrk="0" hangingPunct="1">
        <a:lnSpc>
          <a:spcPct val="110000"/>
        </a:lnSpc>
        <a:spcBef>
          <a:spcPts val="0"/>
        </a:spcBef>
        <a:buFont typeface="Wingdings" panose="05000000000000000000" pitchFamily="2" charset="2"/>
        <a:buChar char="l"/>
        <a:defRPr kumimoji="1"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F5410E-37F1-F568-79FE-4157C5EC0F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ja-JP" altLang="en-US"/>
              <a:t>トピック</a:t>
            </a:r>
            <a:endParaRPr kumimoji="1" lang="ja-JP" altLang="en-US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AE78148A-2EC5-B4DA-81A9-5574F953E282}"/>
              </a:ext>
            </a:extLst>
          </p:cNvPr>
          <p:cNvGrpSpPr/>
          <p:nvPr/>
        </p:nvGrpSpPr>
        <p:grpSpPr>
          <a:xfrm>
            <a:off x="2891500" y="2622140"/>
            <a:ext cx="6408999" cy="1613720"/>
            <a:chOff x="3212342" y="2940079"/>
            <a:chExt cx="6408999" cy="1613720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AD970EA2-D8D6-C88C-90D5-50A2A75A5331}"/>
                </a:ext>
              </a:extLst>
            </p:cNvPr>
            <p:cNvSpPr txBox="1"/>
            <p:nvPr/>
          </p:nvSpPr>
          <p:spPr>
            <a:xfrm>
              <a:off x="3212342" y="2940079"/>
              <a:ext cx="425456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800" u="sng" dirty="0"/>
                <a:t>1. TGR5</a:t>
              </a:r>
              <a:r>
                <a:rPr kumimoji="1" lang="ja-JP" altLang="en-US" sz="2800" u="sng"/>
                <a:t>活性評価系の改善</a:t>
              </a: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D069B13F-41CF-DC6B-6CEB-AF79023C36A9}"/>
                </a:ext>
              </a:extLst>
            </p:cNvPr>
            <p:cNvSpPr txBox="1"/>
            <p:nvPr/>
          </p:nvSpPr>
          <p:spPr>
            <a:xfrm>
              <a:off x="3212342" y="4030579"/>
              <a:ext cx="640899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2. TGR5</a:t>
              </a:r>
              <a:r>
                <a:rPr lang="ja-JP" altLang="en-US" sz="280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アゴニスト類似ペプチドの探索</a:t>
              </a:r>
              <a:endParaRPr kumimoji="1" lang="ja-JP" altLang="en-US" sz="2800">
                <a:solidFill>
                  <a:schemeClr val="tx1">
                    <a:lumMod val="60000"/>
                    <a:lumOff val="40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30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4CA6DF7D-B94D-4BC5-3BB1-6490E7690F20}"/>
              </a:ext>
            </a:extLst>
          </p:cNvPr>
          <p:cNvSpPr/>
          <p:nvPr/>
        </p:nvSpPr>
        <p:spPr>
          <a:xfrm>
            <a:off x="0" y="848216"/>
            <a:ext cx="12188742" cy="21653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7C6627-A80B-103B-B8DF-13AFFD473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038484"/>
            <a:ext cx="8923903" cy="184783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/>
              <a:t>目的と方法</a:t>
            </a:r>
            <a:endParaRPr lang="en-US" altLang="ja-JP" dirty="0"/>
          </a:p>
          <a:p>
            <a:r>
              <a:rPr lang="ja-JP" altLang="en-US" sz="1800" b="0"/>
              <a:t>添加する</a:t>
            </a:r>
            <a:r>
              <a:rPr lang="en-US" altLang="ja-JP" sz="1800" b="0" dirty="0"/>
              <a:t>DCA</a:t>
            </a:r>
            <a:r>
              <a:rPr lang="ja-JP" altLang="en-US" sz="1800" b="0"/>
              <a:t>の適切な濃度を検討する</a:t>
            </a:r>
            <a:endParaRPr lang="en-US" altLang="ja-JP" sz="1800" b="0" dirty="0"/>
          </a:p>
          <a:p>
            <a:pPr lvl="1"/>
            <a:r>
              <a:rPr lang="ja-JP" altLang="en-US" sz="1600" b="0"/>
              <a:t>報告されている</a:t>
            </a:r>
            <a:r>
              <a:rPr lang="en-US" altLang="ja-JP" sz="1600" dirty="0"/>
              <a:t>EC50</a:t>
            </a:r>
            <a:r>
              <a:rPr lang="ja-JP" altLang="en-US" sz="1600"/>
              <a:t>は</a:t>
            </a:r>
            <a:r>
              <a:rPr lang="en-US" altLang="ja-JP" sz="1600" dirty="0"/>
              <a:t>1.01µM</a:t>
            </a:r>
            <a:r>
              <a:rPr lang="ja-JP" altLang="en-US" sz="1600"/>
              <a:t>に対して</a:t>
            </a:r>
            <a:r>
              <a:rPr lang="en-US" altLang="ja-JP" sz="1600" dirty="0"/>
              <a:t>20µM</a:t>
            </a:r>
            <a:r>
              <a:rPr lang="ja-JP" altLang="en-US" sz="1600"/>
              <a:t>と高い濃度で行っていた</a:t>
            </a:r>
            <a:endParaRPr lang="en-US" altLang="ja-JP" sz="1600" b="0" dirty="0"/>
          </a:p>
          <a:p>
            <a:r>
              <a:rPr lang="en-US" altLang="ja-JP" sz="1800" b="0" dirty="0"/>
              <a:t>0.01, 0.1, 1, 10, 20, 100µM</a:t>
            </a:r>
            <a:r>
              <a:rPr lang="ja-JP" altLang="en-US" sz="1800" b="0"/>
              <a:t>で</a:t>
            </a:r>
            <a:r>
              <a:rPr lang="en-US" altLang="ja-JP" sz="1800" b="0" dirty="0"/>
              <a:t>DCA</a:t>
            </a:r>
            <a:r>
              <a:rPr lang="ja-JP" altLang="en-US" sz="1800" b="0"/>
              <a:t>を添加して結果を比較</a:t>
            </a:r>
            <a:endParaRPr lang="en-US" altLang="ja-JP" sz="1800" b="0" dirty="0"/>
          </a:p>
          <a:p>
            <a:pPr marL="0" indent="0">
              <a:buNone/>
            </a:pPr>
            <a:endParaRPr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1752D7-312D-512A-9C55-168BF375C2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ja-JP" dirty="0"/>
              <a:t>DCA</a:t>
            </a:r>
            <a:r>
              <a:rPr kumimoji="1" lang="ja-JP" altLang="en-US"/>
              <a:t>濃度の検討</a:t>
            </a:r>
            <a:endParaRPr kumimoji="1" lang="en-US" altLang="ja-JP" dirty="0"/>
          </a:p>
        </p:txBody>
      </p:sp>
      <p:sp>
        <p:nvSpPr>
          <p:cNvPr id="45" name="コンテンツ プレースホルダー 2">
            <a:extLst>
              <a:ext uri="{FF2B5EF4-FFF2-40B4-BE49-F238E27FC236}">
                <a16:creationId xmlns:a16="http://schemas.microsoft.com/office/drawing/2014/main" id="{714FCA20-6166-9ABA-30FF-5D3A8176C2FA}"/>
              </a:ext>
            </a:extLst>
          </p:cNvPr>
          <p:cNvSpPr txBox="1">
            <a:spLocks/>
          </p:cNvSpPr>
          <p:nvPr/>
        </p:nvSpPr>
        <p:spPr>
          <a:xfrm>
            <a:off x="546100" y="3261192"/>
            <a:ext cx="6284069" cy="26372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ja-JP" altLang="en-US"/>
              <a:t>結果</a:t>
            </a:r>
            <a:endParaRPr lang="en-US" altLang="ja-JP" dirty="0"/>
          </a:p>
          <a:p>
            <a:r>
              <a:rPr lang="ja-JP" altLang="en-US" sz="1800" b="0"/>
              <a:t>図から</a:t>
            </a:r>
            <a:r>
              <a:rPr lang="en-US" altLang="ja-JP" sz="1800" b="0" dirty="0"/>
              <a:t>EC50</a:t>
            </a:r>
            <a:r>
              <a:rPr lang="ja-JP" altLang="en-US" sz="1800" b="0"/>
              <a:t>は</a:t>
            </a:r>
            <a:r>
              <a:rPr lang="en-US" altLang="ja-JP" sz="1800" b="0" dirty="0"/>
              <a:t>2µM</a:t>
            </a:r>
            <a:r>
              <a:rPr lang="ja-JP" altLang="en-US" sz="1800" b="0"/>
              <a:t>程度と読み取れ、文献値と近い結果が得られた</a:t>
            </a:r>
            <a:endParaRPr lang="en-US" altLang="ja-JP" sz="1800" b="0" dirty="0"/>
          </a:p>
          <a:p>
            <a:r>
              <a:rPr lang="en-US" altLang="ja-JP" sz="1800" b="0" dirty="0"/>
              <a:t>20µM</a:t>
            </a:r>
            <a:r>
              <a:rPr lang="ja-JP" altLang="en-US" sz="1800" b="0"/>
              <a:t>は上限に近い濃度であった</a:t>
            </a:r>
            <a:endParaRPr lang="en-US" altLang="ja-JP" sz="1800" b="0" dirty="0"/>
          </a:p>
          <a:p>
            <a:r>
              <a:rPr lang="en-US" altLang="ja-JP" sz="1800" b="0" dirty="0"/>
              <a:t>1mM</a:t>
            </a:r>
            <a:r>
              <a:rPr lang="ja-JP" altLang="en-US" sz="1800" b="0"/>
              <a:t>に分注した</a:t>
            </a:r>
            <a:r>
              <a:rPr lang="en-US" altLang="ja-JP" sz="1800" b="0" dirty="0"/>
              <a:t>DCA</a:t>
            </a:r>
            <a:r>
              <a:rPr lang="ja-JP" altLang="en-US" sz="1800" b="0"/>
              <a:t>を薄めて使用した</a:t>
            </a:r>
            <a:endParaRPr lang="en-US" altLang="ja-JP" sz="1800" b="0" dirty="0"/>
          </a:p>
          <a:p>
            <a:pPr lvl="1"/>
            <a:r>
              <a:rPr lang="en-US" altLang="ja-JP" sz="1600" dirty="0"/>
              <a:t>2µM</a:t>
            </a:r>
            <a:r>
              <a:rPr lang="ja-JP" altLang="en-US" sz="1600"/>
              <a:t>に分注して、今後はそれを使うようにしたい</a:t>
            </a:r>
            <a:endParaRPr lang="en-US" altLang="ja-JP" sz="1600" b="0" dirty="0"/>
          </a:p>
          <a:p>
            <a:endParaRPr lang="en-US" altLang="ja-JP" b="0" dirty="0"/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B5167E13-B097-8A40-9605-EA416036AE4B}"/>
              </a:ext>
            </a:extLst>
          </p:cNvPr>
          <p:cNvSpPr txBox="1"/>
          <p:nvPr/>
        </p:nvSpPr>
        <p:spPr>
          <a:xfrm>
            <a:off x="7515211" y="5777481"/>
            <a:ext cx="384990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400"/>
              <a:t>各</a:t>
            </a:r>
            <a:r>
              <a:rPr lang="en-US" altLang="ja-JP" sz="1400" dirty="0"/>
              <a:t>DCA</a:t>
            </a:r>
            <a:r>
              <a:rPr lang="ja-JP" altLang="en-US" sz="1400"/>
              <a:t>濃度での</a:t>
            </a:r>
            <a:r>
              <a:rPr lang="en-US" altLang="ja-JP" sz="1400" dirty="0"/>
              <a:t>Luc activity</a:t>
            </a:r>
            <a:endParaRPr kumimoji="1" lang="ja-JP" altLang="en-US" sz="1400"/>
          </a:p>
        </p:txBody>
      </p:sp>
      <p:graphicFrame>
        <p:nvGraphicFramePr>
          <p:cNvPr id="5" name="グラフ 4">
            <a:extLst>
              <a:ext uri="{FF2B5EF4-FFF2-40B4-BE49-F238E27FC236}">
                <a16:creationId xmlns:a16="http://schemas.microsoft.com/office/drawing/2014/main" id="{4B4E513E-ED5E-80DD-293E-8C81365AE0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1246388"/>
              </p:ext>
            </p:extLst>
          </p:nvPr>
        </p:nvGraphicFramePr>
        <p:xfrm>
          <a:off x="6830169" y="3267417"/>
          <a:ext cx="4835805" cy="26372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タイトル 1">
            <a:extLst>
              <a:ext uri="{FF2B5EF4-FFF2-40B4-BE49-F238E27FC236}">
                <a16:creationId xmlns:a16="http://schemas.microsoft.com/office/drawing/2014/main" id="{A59995C0-2FBC-F1DE-F84C-33E9A9DD2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100" y="6021647"/>
            <a:ext cx="11099800" cy="725176"/>
          </a:xfrm>
        </p:spPr>
        <p:txBody>
          <a:bodyPr/>
          <a:lstStyle/>
          <a:p>
            <a:r>
              <a:rPr kumimoji="1" lang="en-US" altLang="ja-JP" dirty="0"/>
              <a:t>DCA</a:t>
            </a:r>
            <a:r>
              <a:rPr kumimoji="1" lang="ja-JP" altLang="en-US"/>
              <a:t>の濃度は</a:t>
            </a:r>
            <a:r>
              <a:rPr kumimoji="1" lang="en-US" altLang="ja-JP" dirty="0"/>
              <a:t>2µM</a:t>
            </a:r>
            <a:r>
              <a:rPr lang="ja-JP" altLang="en-US"/>
              <a:t>に決定</a:t>
            </a:r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81105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8F5410E-37F1-F568-79FE-4157C5EC0F6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ja-JP" altLang="en-US"/>
              <a:t>トピック</a:t>
            </a:r>
            <a:endParaRPr kumimoji="1" lang="ja-JP" altLang="en-US"/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15D6790-7B84-54B6-1F74-EC5317CFC401}"/>
              </a:ext>
            </a:extLst>
          </p:cNvPr>
          <p:cNvGrpSpPr/>
          <p:nvPr/>
        </p:nvGrpSpPr>
        <p:grpSpPr>
          <a:xfrm>
            <a:off x="2796763" y="2622140"/>
            <a:ext cx="6598473" cy="1613720"/>
            <a:chOff x="3252448" y="2811742"/>
            <a:chExt cx="6598473" cy="1613720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AD970EA2-D8D6-C88C-90D5-50A2A75A5331}"/>
                </a:ext>
              </a:extLst>
            </p:cNvPr>
            <p:cNvSpPr txBox="1"/>
            <p:nvPr/>
          </p:nvSpPr>
          <p:spPr>
            <a:xfrm>
              <a:off x="3252448" y="2811742"/>
              <a:ext cx="425456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2800" dirty="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1. TGR5</a:t>
              </a:r>
              <a:r>
                <a:rPr kumimoji="1" lang="ja-JP" altLang="en-US" sz="2800">
                  <a:solidFill>
                    <a:schemeClr val="tx1">
                      <a:lumMod val="60000"/>
                      <a:lumOff val="40000"/>
                    </a:schemeClr>
                  </a:solidFill>
                </a:rPr>
                <a:t>活性評価系の改善</a:t>
              </a:r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D069B13F-41CF-DC6B-6CEB-AF79023C36A9}"/>
                </a:ext>
              </a:extLst>
            </p:cNvPr>
            <p:cNvSpPr txBox="1"/>
            <p:nvPr/>
          </p:nvSpPr>
          <p:spPr>
            <a:xfrm>
              <a:off x="3252448" y="3902242"/>
              <a:ext cx="6598473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ja-JP" sz="2800" u="sng" dirty="0"/>
                <a:t>2. TGR5</a:t>
              </a:r>
              <a:r>
                <a:rPr lang="ja-JP" altLang="en-US" sz="2800" u="sng"/>
                <a:t>アゴニスト類似ペプチドの探索</a:t>
              </a:r>
              <a:endParaRPr kumimoji="1" lang="ja-JP" altLang="en-US" sz="2800" u="sng"/>
            </a:p>
          </p:txBody>
        </p:sp>
      </p:grpSp>
    </p:spTree>
    <p:extLst>
      <p:ext uri="{BB962C8B-B14F-4D97-AF65-F5344CB8AC3E}">
        <p14:creationId xmlns:p14="http://schemas.microsoft.com/office/powerpoint/2010/main" val="3258850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正方形/長方形 48">
            <a:extLst>
              <a:ext uri="{FF2B5EF4-FFF2-40B4-BE49-F238E27FC236}">
                <a16:creationId xmlns:a16="http://schemas.microsoft.com/office/drawing/2014/main" id="{4CA6DF7D-B94D-4BC5-3BB1-6490E7690F20}"/>
              </a:ext>
            </a:extLst>
          </p:cNvPr>
          <p:cNvSpPr/>
          <p:nvPr/>
        </p:nvSpPr>
        <p:spPr>
          <a:xfrm>
            <a:off x="0" y="834714"/>
            <a:ext cx="12188742" cy="3313773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97C6627-A80B-103B-B8DF-13AFFD4735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038484"/>
            <a:ext cx="7229691" cy="29530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ja-JP" altLang="en-US"/>
              <a:t>背景</a:t>
            </a:r>
            <a:endParaRPr lang="en-US" altLang="ja-JP" dirty="0"/>
          </a:p>
          <a:p>
            <a:r>
              <a:rPr lang="ja-JP" altLang="en-US" sz="1800" b="0"/>
              <a:t>フィンガープリントの手法の一つである</a:t>
            </a:r>
            <a:r>
              <a:rPr lang="en-US" altLang="ja-JP" sz="1800" b="0" dirty="0"/>
              <a:t>MACCS Keys</a:t>
            </a:r>
            <a:r>
              <a:rPr lang="ja-JP" altLang="en-US" sz="1800" b="0"/>
              <a:t>を用いた類似度評価で、類似していなそうな化合物が得られた</a:t>
            </a:r>
            <a:endParaRPr lang="en-US" altLang="ja-JP" sz="1800" b="0" dirty="0"/>
          </a:p>
          <a:p>
            <a:r>
              <a:rPr lang="en-US" altLang="ja-JP" sz="1800" b="0" dirty="0"/>
              <a:t>MACCS Keys</a:t>
            </a:r>
            <a:r>
              <a:rPr lang="ja-JP" altLang="en-US" sz="1800" b="0"/>
              <a:t>は</a:t>
            </a:r>
            <a:r>
              <a:rPr lang="en-US" altLang="ja-JP" sz="1800" b="0" dirty="0"/>
              <a:t>166</a:t>
            </a:r>
            <a:r>
              <a:rPr lang="ja-JP" altLang="en-US" sz="1800" b="0"/>
              <a:t>個の部分構造しか見ておらず、精度は低め</a:t>
            </a:r>
            <a:endParaRPr lang="en-US" altLang="ja-JP" sz="1800" b="0" dirty="0"/>
          </a:p>
          <a:p>
            <a:pPr lvl="1"/>
            <a:r>
              <a:rPr lang="ja-JP" altLang="en-US" sz="1600"/>
              <a:t>部分構造の有無のみを表し、部分構造の数は考慮されない</a:t>
            </a:r>
            <a:endParaRPr lang="en-US" altLang="ja-JP" sz="1600" dirty="0"/>
          </a:p>
          <a:p>
            <a:pPr lvl="1"/>
            <a:r>
              <a:rPr lang="ja-JP" altLang="en-US" sz="1600" b="0"/>
              <a:t>官能基を識別することができず、反応性の違いなどの観点を判別できない</a:t>
            </a:r>
            <a:endParaRPr lang="en-US" altLang="ja-JP" sz="1600" b="0" dirty="0"/>
          </a:p>
          <a:p>
            <a:pPr lvl="1"/>
            <a:r>
              <a:rPr lang="en-US" altLang="ja-JP" sz="1600" dirty="0"/>
              <a:t>166</a:t>
            </a:r>
            <a:r>
              <a:rPr lang="ja-JP" altLang="en-US" sz="1600"/>
              <a:t>個以外の構造は評価できない</a:t>
            </a:r>
            <a:endParaRPr lang="en-US" altLang="ja-JP" sz="1600" b="0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B1752D7-312D-512A-9C55-168BF375C2B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/>
              <a:t>別のフィンガープリント手法を検討</a:t>
            </a:r>
            <a:endParaRPr kumimoji="1" lang="en-US" altLang="ja-JP" dirty="0"/>
          </a:p>
        </p:txBody>
      </p:sp>
      <p:sp>
        <p:nvSpPr>
          <p:cNvPr id="45" name="コンテンツ プレースホルダー 2">
            <a:extLst>
              <a:ext uri="{FF2B5EF4-FFF2-40B4-BE49-F238E27FC236}">
                <a16:creationId xmlns:a16="http://schemas.microsoft.com/office/drawing/2014/main" id="{714FCA20-6166-9ABA-30FF-5D3A8176C2FA}"/>
              </a:ext>
            </a:extLst>
          </p:cNvPr>
          <p:cNvSpPr txBox="1">
            <a:spLocks/>
          </p:cNvSpPr>
          <p:nvPr/>
        </p:nvSpPr>
        <p:spPr>
          <a:xfrm>
            <a:off x="546100" y="4333461"/>
            <a:ext cx="11119874" cy="2413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ja-JP" altLang="en-US"/>
              <a:t>方針</a:t>
            </a:r>
            <a:endParaRPr lang="en-US" altLang="ja-JP" dirty="0"/>
          </a:p>
          <a:p>
            <a:pPr marL="342900" indent="-342900">
              <a:buFont typeface="+mj-lt"/>
              <a:buAutoNum type="arabicPeriod"/>
            </a:pPr>
            <a:r>
              <a:rPr lang="ja-JP" altLang="en-US" sz="1800" b="0"/>
              <a:t>化合物の特徴をより多く表現できる手法</a:t>
            </a:r>
            <a:r>
              <a:rPr lang="en-US" altLang="ja-JP" sz="1800" b="0" dirty="0"/>
              <a:t>(</a:t>
            </a:r>
            <a:r>
              <a:rPr lang="en-US" altLang="ja-JP" sz="1800" b="0" u="sng" dirty="0"/>
              <a:t>KCF-S</a:t>
            </a:r>
            <a:r>
              <a:rPr lang="en-US" altLang="ja-JP" sz="1800" b="0" dirty="0"/>
              <a:t>)</a:t>
            </a:r>
            <a:r>
              <a:rPr lang="ja-JP" altLang="en-US" sz="1800" b="0"/>
              <a:t>を用いる</a:t>
            </a:r>
            <a:endParaRPr lang="en-US" altLang="ja-JP" sz="1800" b="0" dirty="0"/>
          </a:p>
          <a:p>
            <a:pPr marL="342900" indent="-342900">
              <a:buFont typeface="+mj-lt"/>
              <a:buAutoNum type="arabicPeriod"/>
            </a:pPr>
            <a:r>
              <a:rPr lang="ja-JP" altLang="en-US" sz="1800" b="0"/>
              <a:t>化学的性質を表現することができる手法</a:t>
            </a:r>
            <a:r>
              <a:rPr lang="en-US" altLang="ja-JP" sz="1800" b="0" dirty="0"/>
              <a:t>(</a:t>
            </a:r>
            <a:r>
              <a:rPr lang="ja-JP" altLang="en-US" sz="1800" b="0" u="sng"/>
              <a:t>ドナーアクセプターペアフィンガープリント</a:t>
            </a:r>
            <a:r>
              <a:rPr lang="en-US" altLang="ja-JP" sz="1800" b="0" dirty="0"/>
              <a:t>)</a:t>
            </a:r>
            <a:r>
              <a:rPr lang="ja-JP" altLang="en-US" sz="1800" b="0"/>
              <a:t>を用いる</a:t>
            </a:r>
            <a:endParaRPr lang="en-US" altLang="ja-JP" sz="1800" b="0" dirty="0"/>
          </a:p>
          <a:p>
            <a:endParaRPr lang="en-US" altLang="ja-JP" sz="1800" b="0" dirty="0"/>
          </a:p>
          <a:p>
            <a:endParaRPr lang="en-US" altLang="ja-JP" sz="1800" b="0" dirty="0"/>
          </a:p>
          <a:p>
            <a:endParaRPr lang="en-US" altLang="ja-JP" dirty="0"/>
          </a:p>
        </p:txBody>
      </p:sp>
      <p:pic>
        <p:nvPicPr>
          <p:cNvPr id="5" name="コンテンツ プレースホルダー 5" descr="図形&#10;&#10;自動的に生成された説明">
            <a:extLst>
              <a:ext uri="{FF2B5EF4-FFF2-40B4-BE49-F238E27FC236}">
                <a16:creationId xmlns:a16="http://schemas.microsoft.com/office/drawing/2014/main" id="{41877CB4-B2ED-BED0-06E8-050D66C717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791" y="1589415"/>
            <a:ext cx="1335818" cy="94151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683433C-9A45-9636-5F1E-89D41E99D9B4}"/>
              </a:ext>
            </a:extLst>
          </p:cNvPr>
          <p:cNvSpPr txBox="1"/>
          <p:nvPr/>
        </p:nvSpPr>
        <p:spPr>
          <a:xfrm>
            <a:off x="9111609" y="1761388"/>
            <a:ext cx="26583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200" b="0">
                <a:latin typeface="+mn-ea"/>
              </a:rPr>
              <a:t>ターゲット：</a:t>
            </a:r>
            <a:endParaRPr lang="en-US" altLang="ja-JP" sz="1200" b="0" dirty="0">
              <a:latin typeface="+mn-ea"/>
            </a:endParaRPr>
          </a:p>
          <a:p>
            <a:r>
              <a:rPr lang="en-US" altLang="ja-JP" sz="1200" b="0" dirty="0">
                <a:latin typeface="+mn-ea"/>
              </a:rPr>
              <a:t>3-</a:t>
            </a:r>
            <a:r>
              <a:rPr lang="ja-JP" altLang="en-US" sz="1200" b="0">
                <a:latin typeface="+mn-ea"/>
              </a:rPr>
              <a:t>アリール</a:t>
            </a:r>
            <a:r>
              <a:rPr lang="en-US" altLang="ja-JP" sz="1200" b="0" dirty="0">
                <a:latin typeface="+mn-ea"/>
              </a:rPr>
              <a:t>-4-</a:t>
            </a:r>
            <a:r>
              <a:rPr lang="ja-JP" altLang="en-US" sz="1200" b="0">
                <a:latin typeface="+mn-ea"/>
              </a:rPr>
              <a:t>イソオキサゾールカルボキサミド</a:t>
            </a:r>
            <a:endParaRPr lang="ja-JP" altLang="en-US" sz="1200">
              <a:latin typeface="+mn-ea"/>
            </a:endParaRPr>
          </a:p>
        </p:txBody>
      </p:sp>
      <p:pic>
        <p:nvPicPr>
          <p:cNvPr id="11" name="図 10" descr="ダイアグラム, 概略図&#10;&#10;自動的に生成された説明">
            <a:extLst>
              <a:ext uri="{FF2B5EF4-FFF2-40B4-BE49-F238E27FC236}">
                <a16:creationId xmlns:a16="http://schemas.microsoft.com/office/drawing/2014/main" id="{356E634D-2980-477F-7ED2-E9209EC756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5791" y="2815932"/>
            <a:ext cx="3890183" cy="1111481"/>
          </a:xfrm>
          <a:prstGeom prst="rect">
            <a:avLst/>
          </a:prstGeom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BC69A45-6EC9-9423-9881-D51213B64876}"/>
              </a:ext>
            </a:extLst>
          </p:cNvPr>
          <p:cNvSpPr txBox="1"/>
          <p:nvPr/>
        </p:nvSpPr>
        <p:spPr>
          <a:xfrm>
            <a:off x="8054849" y="2609261"/>
            <a:ext cx="320572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sz="1200" b="0">
                <a:latin typeface="+mn-ea"/>
              </a:rPr>
              <a:t>類似度が高かった上位</a:t>
            </a:r>
            <a:r>
              <a:rPr lang="en-US" altLang="ja-JP" sz="1200" dirty="0">
                <a:latin typeface="+mn-ea"/>
              </a:rPr>
              <a:t>3</a:t>
            </a:r>
            <a:r>
              <a:rPr lang="ja-JP" altLang="en-US" sz="1200" b="0">
                <a:latin typeface="+mn-ea"/>
              </a:rPr>
              <a:t>つのペプチド</a:t>
            </a:r>
            <a:endParaRPr lang="en-US" altLang="ja-JP" sz="1200" b="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98035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2648646-BB49-22B0-72B6-0A1458F1F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1" y="1038483"/>
            <a:ext cx="6109142" cy="5708339"/>
          </a:xfrm>
        </p:spPr>
        <p:txBody>
          <a:bodyPr/>
          <a:lstStyle/>
          <a:p>
            <a:pPr marL="0" indent="0">
              <a:buNone/>
            </a:pPr>
            <a:r>
              <a:rPr lang="ja-JP" altLang="en-US"/>
              <a:t>７つの属性を用いて部分構造を定義し、化合物の特徴を抽出する手法</a:t>
            </a:r>
            <a:endParaRPr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C35F78D-34A3-08B2-B100-C919B2BC25E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en-US" altLang="ja-JP" dirty="0"/>
              <a:t>KCF-S</a:t>
            </a:r>
            <a:endParaRPr kumimoji="1" lang="ja-JP" altLang="en-US"/>
          </a:p>
        </p:txBody>
      </p:sp>
      <p:pic>
        <p:nvPicPr>
          <p:cNvPr id="1032" name="Picture 8" descr="Figure 3">
            <a:extLst>
              <a:ext uri="{FF2B5EF4-FFF2-40B4-BE49-F238E27FC236}">
                <a16:creationId xmlns:a16="http://schemas.microsoft.com/office/drawing/2014/main" id="{8DDC24A8-22F5-E649-794C-3067AA4E6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41633" y="1038484"/>
            <a:ext cx="4824341" cy="57083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D24514AD-839F-32D8-FF01-6DD8A4CB9F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7492814"/>
              </p:ext>
            </p:extLst>
          </p:nvPr>
        </p:nvGraphicFramePr>
        <p:xfrm>
          <a:off x="546101" y="2122997"/>
          <a:ext cx="6109142" cy="451250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592800">
                  <a:extLst>
                    <a:ext uri="{9D8B030D-6E8A-4147-A177-3AD203B41FA5}">
                      <a16:colId xmlns:a16="http://schemas.microsoft.com/office/drawing/2014/main" val="866577003"/>
                    </a:ext>
                  </a:extLst>
                </a:gridCol>
                <a:gridCol w="4516342">
                  <a:extLst>
                    <a:ext uri="{9D8B030D-6E8A-4147-A177-3AD203B41FA5}">
                      <a16:colId xmlns:a16="http://schemas.microsoft.com/office/drawing/2014/main" val="608412255"/>
                    </a:ext>
                  </a:extLst>
                </a:gridCol>
              </a:tblGrid>
              <a:tr h="586034">
                <a:tc>
                  <a:txBody>
                    <a:bodyPr/>
                    <a:lstStyle/>
                    <a:p>
                      <a:r>
                        <a:rPr lang="en" sz="1600" b="0" dirty="0">
                          <a:solidFill>
                            <a:schemeClr val="tx1"/>
                          </a:solidFill>
                        </a:rPr>
                        <a:t>ATOM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600" b="0">
                          <a:solidFill>
                            <a:schemeClr val="tx1"/>
                          </a:solidFill>
                          <a:effectLst/>
                        </a:rPr>
                        <a:t>分子グラフを形成するノードに対応。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173261"/>
                  </a:ext>
                </a:extLst>
              </a:tr>
              <a:tr h="586034">
                <a:tc>
                  <a:txBody>
                    <a:bodyPr/>
                    <a:lstStyle/>
                    <a:p>
                      <a:r>
                        <a:rPr lang="en" sz="1600" dirty="0"/>
                        <a:t>BOND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600">
                          <a:effectLst/>
                        </a:rPr>
                        <a:t>分子内で化学結合を形成する</a:t>
                      </a:r>
                      <a:r>
                        <a:rPr lang="en" sz="1600" dirty="0">
                          <a:effectLst/>
                        </a:rPr>
                        <a:t>ATOM</a:t>
                      </a:r>
                      <a:r>
                        <a:rPr lang="ja-JP" altLang="en-US" sz="1600">
                          <a:effectLst/>
                        </a:rPr>
                        <a:t>エントリーのペア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184711"/>
                  </a:ext>
                </a:extLst>
              </a:tr>
              <a:tr h="586034">
                <a:tc>
                  <a:txBody>
                    <a:bodyPr/>
                    <a:lstStyle/>
                    <a:p>
                      <a:r>
                        <a:rPr lang="en" sz="1600"/>
                        <a:t>TRIPLET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600" dirty="0">
                          <a:effectLst/>
                        </a:rPr>
                        <a:t>3</a:t>
                      </a:r>
                      <a:r>
                        <a:rPr lang="ja-JP" altLang="en-US" sz="1600">
                          <a:effectLst/>
                        </a:rPr>
                        <a:t>つの</a:t>
                      </a:r>
                      <a:r>
                        <a:rPr lang="en" sz="1600" dirty="0">
                          <a:effectLst/>
                        </a:rPr>
                        <a:t>ATOM</a:t>
                      </a:r>
                      <a:r>
                        <a:rPr lang="ja-JP" altLang="en-US" sz="1600">
                          <a:effectLst/>
                        </a:rPr>
                        <a:t>が順次接続された中心</a:t>
                      </a:r>
                      <a:r>
                        <a:rPr lang="en" sz="1600" dirty="0">
                          <a:effectLst/>
                        </a:rPr>
                        <a:t>ATOM</a:t>
                      </a:r>
                      <a:r>
                        <a:rPr lang="ja-JP" altLang="en-US" sz="1600">
                          <a:effectLst/>
                        </a:rPr>
                        <a:t>を共有する</a:t>
                      </a:r>
                      <a:r>
                        <a:rPr lang="en" sz="1600" dirty="0">
                          <a:effectLst/>
                        </a:rPr>
                        <a:t>BOND</a:t>
                      </a:r>
                      <a:r>
                        <a:rPr lang="ja-JP" altLang="en-US" sz="1600">
                          <a:effectLst/>
                        </a:rPr>
                        <a:t>エントリーのペア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845374"/>
                  </a:ext>
                </a:extLst>
              </a:tr>
              <a:tr h="1329782">
                <a:tc>
                  <a:txBody>
                    <a:bodyPr/>
                    <a:lstStyle/>
                    <a:p>
                      <a:r>
                        <a:rPr lang="en" sz="1600"/>
                        <a:t>VICINITY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600">
                          <a:effectLst/>
                        </a:rPr>
                        <a:t>中心原子とそれに接続する原子</a:t>
                      </a:r>
                      <a:br>
                        <a:rPr lang="ja-JP" altLang="en-US" sz="1600">
                          <a:effectLst/>
                        </a:rPr>
                      </a:br>
                      <a:r>
                        <a:rPr lang="ja-JP" altLang="en-US" sz="1600">
                          <a:effectLst/>
                        </a:rPr>
                        <a:t>少なくとも</a:t>
                      </a:r>
                      <a:r>
                        <a:rPr lang="en-US" altLang="ja-JP" sz="1600" dirty="0">
                          <a:effectLst/>
                        </a:rPr>
                        <a:t>3</a:t>
                      </a:r>
                      <a:r>
                        <a:rPr lang="ja-JP" altLang="en-US" sz="1600">
                          <a:effectLst/>
                        </a:rPr>
                        <a:t>つの</a:t>
                      </a:r>
                      <a:r>
                        <a:rPr lang="en" sz="1600" dirty="0">
                          <a:effectLst/>
                        </a:rPr>
                        <a:t>BOND</a:t>
                      </a:r>
                      <a:r>
                        <a:rPr lang="ja-JP" altLang="en-US" sz="1600">
                          <a:effectLst/>
                        </a:rPr>
                        <a:t>エントリーと少なくとも</a:t>
                      </a:r>
                      <a:r>
                        <a:rPr lang="en-US" altLang="ja-JP" sz="1600" dirty="0">
                          <a:effectLst/>
                        </a:rPr>
                        <a:t>4</a:t>
                      </a:r>
                      <a:r>
                        <a:rPr lang="ja-JP" altLang="en-US" sz="1600">
                          <a:effectLst/>
                        </a:rPr>
                        <a:t>つの</a:t>
                      </a:r>
                      <a:r>
                        <a:rPr lang="en" sz="1600" dirty="0">
                          <a:effectLst/>
                        </a:rPr>
                        <a:t>ATOM</a:t>
                      </a:r>
                      <a:r>
                        <a:rPr lang="ja-JP" altLang="en-US" sz="1600">
                          <a:effectLst/>
                        </a:rPr>
                        <a:t>エントリーから構成される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683356"/>
                  </a:ext>
                </a:extLst>
              </a:tr>
              <a:tr h="419293">
                <a:tc>
                  <a:txBody>
                    <a:bodyPr/>
                    <a:lstStyle/>
                    <a:p>
                      <a:r>
                        <a:rPr lang="en" sz="1600"/>
                        <a:t>RING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ja-JP" sz="1600" dirty="0">
                          <a:effectLst/>
                        </a:rPr>
                        <a:t>3〜12</a:t>
                      </a:r>
                      <a:r>
                        <a:rPr lang="ja-JP" altLang="en-US" sz="1600">
                          <a:effectLst/>
                        </a:rPr>
                        <a:t>の環を含む環状部分構造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33303"/>
                  </a:ext>
                </a:extLst>
              </a:tr>
              <a:tr h="419293">
                <a:tc>
                  <a:txBody>
                    <a:bodyPr/>
                    <a:lstStyle/>
                    <a:p>
                      <a:r>
                        <a:rPr lang="en" sz="1600" dirty="0"/>
                        <a:t>SKELETON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600">
                          <a:effectLst/>
                        </a:rPr>
                        <a:t>アルキル基やアリール基などの炭素骨格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83222"/>
                  </a:ext>
                </a:extLst>
              </a:tr>
              <a:tr h="586034">
                <a:tc>
                  <a:txBody>
                    <a:bodyPr/>
                    <a:lstStyle/>
                    <a:p>
                      <a:r>
                        <a:rPr lang="en" sz="1600"/>
                        <a:t>INORGANIC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600">
                          <a:effectLst/>
                        </a:rPr>
                        <a:t>炭素原子以外の元素で構成される連結原子グループ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252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6642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1A07BBE-325B-031D-103B-1085A77CBB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038483"/>
            <a:ext cx="11099800" cy="5708339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/>
              <a:t>化学的性質を特徴として用いるフィンガープリント</a:t>
            </a:r>
            <a:endParaRPr lang="en-US" altLang="ja-JP" sz="1800" b="0" dirty="0"/>
          </a:p>
          <a:p>
            <a:pPr marL="0" indent="0">
              <a:buNone/>
            </a:pPr>
            <a:r>
              <a:rPr kumimoji="1" lang="ja-JP" altLang="en-US" sz="1800" b="0"/>
              <a:t>原子を</a:t>
            </a:r>
            <a:r>
              <a:rPr kumimoji="1" lang="en-US" altLang="ja-JP" sz="1800" b="0" dirty="0"/>
              <a:t>7</a:t>
            </a:r>
            <a:r>
              <a:rPr kumimoji="1" lang="ja-JP" altLang="en-US" sz="1800" b="0"/>
              <a:t>つの分類のいずれかに割り当て、原子ペア</a:t>
            </a:r>
            <a:r>
              <a:rPr kumimoji="1" lang="en-US" altLang="ja-JP" sz="1800" b="0" dirty="0"/>
              <a:t>(bp)</a:t>
            </a:r>
            <a:r>
              <a:rPr kumimoji="1" lang="ja-JP" altLang="en-US" sz="1800" b="0"/>
              <a:t>と連続した</a:t>
            </a:r>
            <a:r>
              <a:rPr kumimoji="1" lang="en-US" altLang="ja-JP" sz="1800" b="0" dirty="0"/>
              <a:t>4</a:t>
            </a:r>
            <a:r>
              <a:rPr kumimoji="1" lang="ja-JP" altLang="en-US" sz="1800" b="0"/>
              <a:t>つの原子</a:t>
            </a:r>
            <a:r>
              <a:rPr kumimoji="1" lang="en-US" altLang="ja-JP" sz="1800" b="0" dirty="0"/>
              <a:t>(</a:t>
            </a:r>
            <a:r>
              <a:rPr kumimoji="1" lang="en-US" altLang="ja-JP" sz="1800" b="0" dirty="0" err="1"/>
              <a:t>bt</a:t>
            </a:r>
            <a:r>
              <a:rPr kumimoji="1" lang="en-US" altLang="ja-JP" sz="1800" b="0" dirty="0"/>
              <a:t>)</a:t>
            </a:r>
            <a:r>
              <a:rPr kumimoji="1" lang="ja-JP" altLang="en-US" sz="1800" b="0"/>
              <a:t>の</a:t>
            </a:r>
            <a:r>
              <a:rPr kumimoji="1" lang="en-US" altLang="ja-JP" sz="1800" b="0" dirty="0"/>
              <a:t>2</a:t>
            </a:r>
            <a:r>
              <a:rPr kumimoji="1" lang="ja-JP" altLang="en-US" sz="1800" b="0"/>
              <a:t>つの形式で表す</a:t>
            </a:r>
            <a:endParaRPr kumimoji="1" lang="en-US" altLang="ja-JP" sz="1800" b="0" dirty="0"/>
          </a:p>
          <a:p>
            <a:pPr marL="0" indent="0">
              <a:buNone/>
            </a:pPr>
            <a:endParaRPr kumimoji="1" lang="en-US" altLang="ja-JP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6853263-AC94-DC6B-6F2B-5FD074EC1E0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/>
              <a:t>ドナーアクセプターペアフィンガープリント</a:t>
            </a:r>
          </a:p>
        </p:txBody>
      </p:sp>
      <p:pic>
        <p:nvPicPr>
          <p:cNvPr id="6" name="図 5" descr="時計 が含まれている画像&#10;&#10;自動的に生成された説明">
            <a:extLst>
              <a:ext uri="{FF2B5EF4-FFF2-40B4-BE49-F238E27FC236}">
                <a16:creationId xmlns:a16="http://schemas.microsoft.com/office/drawing/2014/main" id="{24C43673-5D4E-C94B-361C-6DF4366C4E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6877" y="3016163"/>
            <a:ext cx="1855320" cy="1796108"/>
          </a:xfrm>
          <a:prstGeom prst="rect">
            <a:avLst/>
          </a:prstGeom>
        </p:spPr>
      </p:pic>
      <p:pic>
        <p:nvPicPr>
          <p:cNvPr id="8" name="図 7" descr="ダイアグラム が含まれている画像&#10;&#10;自動的に生成された説明">
            <a:extLst>
              <a:ext uri="{FF2B5EF4-FFF2-40B4-BE49-F238E27FC236}">
                <a16:creationId xmlns:a16="http://schemas.microsoft.com/office/drawing/2014/main" id="{E70ECD13-306C-61B9-ADB7-3291D65FDC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5754" y="2622448"/>
            <a:ext cx="2096867" cy="2562837"/>
          </a:xfrm>
          <a:prstGeom prst="rect">
            <a:avLst/>
          </a:prstGeom>
        </p:spPr>
      </p:pic>
      <p:pic>
        <p:nvPicPr>
          <p:cNvPr id="10" name="図 9" descr="テキスト&#10;&#10;自動的に生成された説明">
            <a:extLst>
              <a:ext uri="{FF2B5EF4-FFF2-40B4-BE49-F238E27FC236}">
                <a16:creationId xmlns:a16="http://schemas.microsoft.com/office/drawing/2014/main" id="{6FD90CE9-5073-8F2D-C553-75915F2F0D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49034" y="2622448"/>
            <a:ext cx="2096866" cy="1322348"/>
          </a:xfrm>
          <a:prstGeom prst="rect">
            <a:avLst/>
          </a:prstGeom>
        </p:spPr>
      </p:pic>
      <p:graphicFrame>
        <p:nvGraphicFramePr>
          <p:cNvPr id="11" name="表 10">
            <a:extLst>
              <a:ext uri="{FF2B5EF4-FFF2-40B4-BE49-F238E27FC236}">
                <a16:creationId xmlns:a16="http://schemas.microsoft.com/office/drawing/2014/main" id="{D869AB52-C03D-688C-2D9E-42F0B4AA3E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148731"/>
              </p:ext>
            </p:extLst>
          </p:nvPr>
        </p:nvGraphicFramePr>
        <p:xfrm>
          <a:off x="546100" y="2893559"/>
          <a:ext cx="3460252" cy="292595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435477">
                  <a:extLst>
                    <a:ext uri="{9D8B030D-6E8A-4147-A177-3AD203B41FA5}">
                      <a16:colId xmlns:a16="http://schemas.microsoft.com/office/drawing/2014/main" val="866577003"/>
                    </a:ext>
                  </a:extLst>
                </a:gridCol>
                <a:gridCol w="3024775">
                  <a:extLst>
                    <a:ext uri="{9D8B030D-6E8A-4147-A177-3AD203B41FA5}">
                      <a16:colId xmlns:a16="http://schemas.microsoft.com/office/drawing/2014/main" val="608412255"/>
                    </a:ext>
                  </a:extLst>
                </a:gridCol>
              </a:tblGrid>
              <a:tr h="417994">
                <a:tc>
                  <a:txBody>
                    <a:bodyPr/>
                    <a:lstStyle/>
                    <a:p>
                      <a:r>
                        <a:rPr lang="en" sz="1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600" b="0">
                          <a:solidFill>
                            <a:schemeClr val="tx1"/>
                          </a:solidFill>
                          <a:effectLst/>
                        </a:rPr>
                        <a:t>陽イオン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54173261"/>
                  </a:ext>
                </a:extLst>
              </a:tr>
              <a:tr h="417994">
                <a:tc>
                  <a:txBody>
                    <a:bodyPr/>
                    <a:lstStyle/>
                    <a:p>
                      <a:r>
                        <a:rPr lang="en" sz="1600" dirty="0"/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600">
                          <a:effectLst/>
                        </a:rPr>
                        <a:t>陰イオン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184711"/>
                  </a:ext>
                </a:extLst>
              </a:tr>
              <a:tr h="417994">
                <a:tc>
                  <a:txBody>
                    <a:bodyPr/>
                    <a:lstStyle/>
                    <a:p>
                      <a:r>
                        <a:rPr lang="en" sz="1600" dirty="0"/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600">
                          <a:effectLst/>
                        </a:rPr>
                        <a:t>中性水素結合供与体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1845374"/>
                  </a:ext>
                </a:extLst>
              </a:tr>
              <a:tr h="417994">
                <a:tc>
                  <a:txBody>
                    <a:bodyPr/>
                    <a:lstStyle/>
                    <a:p>
                      <a:r>
                        <a:rPr lang="en" sz="1600" dirty="0"/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600">
                          <a:effectLst/>
                        </a:rPr>
                        <a:t>中性水素結合受容体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5683356"/>
                  </a:ext>
                </a:extLst>
              </a:tr>
              <a:tr h="417994">
                <a:tc>
                  <a:txBody>
                    <a:bodyPr/>
                    <a:lstStyle/>
                    <a:p>
                      <a:r>
                        <a:rPr lang="en" sz="1600" dirty="0"/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600">
                          <a:effectLst/>
                        </a:rPr>
                        <a:t>極性原子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33303"/>
                  </a:ext>
                </a:extLst>
              </a:tr>
              <a:tr h="417994">
                <a:tc>
                  <a:txBody>
                    <a:bodyPr/>
                    <a:lstStyle/>
                    <a:p>
                      <a:r>
                        <a:rPr lang="en" sz="1600" dirty="0"/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600">
                          <a:effectLst/>
                        </a:rPr>
                        <a:t>疎水性原子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83222"/>
                  </a:ext>
                </a:extLst>
              </a:tr>
              <a:tr h="417994">
                <a:tc>
                  <a:txBody>
                    <a:bodyPr/>
                    <a:lstStyle/>
                    <a:p>
                      <a:r>
                        <a:rPr lang="en" sz="1600" dirty="0"/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ja-JP" altLang="en-US" sz="1600">
                          <a:effectLst/>
                        </a:rPr>
                        <a:t>その他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6252891"/>
                  </a:ext>
                </a:extLst>
              </a:tr>
            </a:tbl>
          </a:graphicData>
        </a:graphic>
      </p:graphicFrame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CC8D592-C4F1-AA2F-67E7-19449911D35F}"/>
              </a:ext>
            </a:extLst>
          </p:cNvPr>
          <p:cNvSpPr txBox="1"/>
          <p:nvPr/>
        </p:nvSpPr>
        <p:spPr>
          <a:xfrm>
            <a:off x="546100" y="2228734"/>
            <a:ext cx="354771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/>
              <a:t>ドナーアクセプターペアフィンガープリントでの原子の分類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C4EB8E3-1AD4-9E99-E40E-0A8E62C29C6E}"/>
              </a:ext>
            </a:extLst>
          </p:cNvPr>
          <p:cNvSpPr txBox="1"/>
          <p:nvPr/>
        </p:nvSpPr>
        <p:spPr>
          <a:xfrm>
            <a:off x="5088002" y="2622448"/>
            <a:ext cx="63152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/>
              <a:t>例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666E74EF-2A0F-8686-7064-1B6FDB2951B1}"/>
              </a:ext>
            </a:extLst>
          </p:cNvPr>
          <p:cNvSpPr txBox="1"/>
          <p:nvPr/>
        </p:nvSpPr>
        <p:spPr>
          <a:xfrm>
            <a:off x="7702256" y="5185285"/>
            <a:ext cx="14438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/>
              <a:t>原子ペア</a:t>
            </a:r>
            <a:r>
              <a:rPr kumimoji="1" lang="en-US" altLang="ja-JP" sz="1600" dirty="0"/>
              <a:t>(bp)</a:t>
            </a:r>
            <a:endParaRPr kumimoji="1" lang="ja-JP" altLang="en-US" sz="160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4F4AE25-75FB-7B41-2389-402F97B1B89C}"/>
              </a:ext>
            </a:extLst>
          </p:cNvPr>
          <p:cNvSpPr txBox="1"/>
          <p:nvPr/>
        </p:nvSpPr>
        <p:spPr>
          <a:xfrm>
            <a:off x="9762588" y="3944796"/>
            <a:ext cx="16697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600"/>
              <a:t>連続した</a:t>
            </a:r>
            <a:r>
              <a:rPr lang="en-US" altLang="ja-JP" sz="1600" dirty="0"/>
              <a:t>4</a:t>
            </a:r>
            <a:r>
              <a:rPr lang="ja-JP" altLang="en-US" sz="1600"/>
              <a:t>つ</a:t>
            </a:r>
            <a:r>
              <a:rPr kumimoji="1" lang="en-US" altLang="ja-JP" sz="1600" dirty="0"/>
              <a:t>(</a:t>
            </a:r>
            <a:r>
              <a:rPr kumimoji="1" lang="en-US" altLang="ja-JP" sz="1600" dirty="0" err="1"/>
              <a:t>bt</a:t>
            </a:r>
            <a:r>
              <a:rPr kumimoji="1" lang="en-US" altLang="ja-JP" sz="1600" dirty="0"/>
              <a:t>)</a:t>
            </a:r>
            <a:endParaRPr kumimoji="1" lang="ja-JP" altLang="en-US" sz="160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5D85851F-D532-0BDE-928F-D35A7D9CD567}"/>
              </a:ext>
            </a:extLst>
          </p:cNvPr>
          <p:cNvSpPr txBox="1"/>
          <p:nvPr/>
        </p:nvSpPr>
        <p:spPr>
          <a:xfrm>
            <a:off x="7371493" y="5676765"/>
            <a:ext cx="42022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/>
              <a:t>4-(3)-6</a:t>
            </a:r>
            <a:r>
              <a:rPr kumimoji="1" lang="ja-JP" altLang="en-US" sz="1400"/>
              <a:t>は、</a:t>
            </a:r>
            <a:r>
              <a:rPr kumimoji="1" lang="en-US" altLang="ja-JP" sz="1400" dirty="0"/>
              <a:t>4</a:t>
            </a:r>
            <a:r>
              <a:rPr kumimoji="1" lang="ja-JP" altLang="en-US" sz="1400"/>
              <a:t>から</a:t>
            </a:r>
            <a:r>
              <a:rPr kumimoji="1" lang="en-US" altLang="ja-JP" sz="1400" dirty="0"/>
              <a:t>3</a:t>
            </a:r>
            <a:r>
              <a:rPr kumimoji="1" lang="ja-JP" altLang="en-US" sz="1400"/>
              <a:t>つ離れたところに</a:t>
            </a:r>
            <a:r>
              <a:rPr kumimoji="1" lang="en-US" altLang="ja-JP" sz="1400" dirty="0"/>
              <a:t>6</a:t>
            </a:r>
            <a:r>
              <a:rPr kumimoji="1" lang="ja-JP" altLang="en-US" sz="1400"/>
              <a:t>が位置しているような構造を指す</a:t>
            </a:r>
            <a:endParaRPr kumimoji="1"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739437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コンテンツ プレースホルダー 5" descr="ロゴ, 会社名&#10;&#10;自動的に生成された説明">
            <a:extLst>
              <a:ext uri="{FF2B5EF4-FFF2-40B4-BE49-F238E27FC236}">
                <a16:creationId xmlns:a16="http://schemas.microsoft.com/office/drawing/2014/main" id="{AF0C1094-DFD0-BF3A-F476-950836F76A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25" y="2146083"/>
            <a:ext cx="4231088" cy="4245479"/>
          </a:xfrm>
        </p:spPr>
      </p:pic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9FBA14-A123-0EE7-309F-AC17DCDA23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" altLang="ja-JP" b="1" dirty="0">
                <a:effectLst/>
              </a:rPr>
              <a:t>3-Aryl-4-isoxazole-carboxamide</a:t>
            </a:r>
            <a:r>
              <a:rPr lang="ja-JP" altLang="en-US" b="1">
                <a:effectLst/>
              </a:rPr>
              <a:t>の構造相関</a:t>
            </a:r>
            <a:endParaRPr kumimoji="1" lang="ja-JP" altLang="en-US"/>
          </a:p>
        </p:txBody>
      </p:sp>
      <p:pic>
        <p:nvPicPr>
          <p:cNvPr id="8" name="図 7" descr="散布図 が含まれている画像&#10;&#10;自動的に生成された説明">
            <a:extLst>
              <a:ext uri="{FF2B5EF4-FFF2-40B4-BE49-F238E27FC236}">
                <a16:creationId xmlns:a16="http://schemas.microsoft.com/office/drawing/2014/main" id="{26845B51-E7A2-1045-2D47-2F337D7ED2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886" y="2146083"/>
            <a:ext cx="4346219" cy="4245479"/>
          </a:xfrm>
          <a:prstGeom prst="rect">
            <a:avLst/>
          </a:prstGeom>
        </p:spPr>
      </p:pic>
      <p:pic>
        <p:nvPicPr>
          <p:cNvPr id="12" name="図 11" descr="図形&#10;&#10;自動的に生成された説明">
            <a:extLst>
              <a:ext uri="{FF2B5EF4-FFF2-40B4-BE49-F238E27FC236}">
                <a16:creationId xmlns:a16="http://schemas.microsoft.com/office/drawing/2014/main" id="{5A7A2575-CE03-C0DC-C4CA-6F4F58F925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75250" y="3058422"/>
            <a:ext cx="1841500" cy="1790700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D5906B6-E544-BF32-E152-176D8672A9B7}"/>
              </a:ext>
            </a:extLst>
          </p:cNvPr>
          <p:cNvSpPr txBox="1"/>
          <p:nvPr/>
        </p:nvSpPr>
        <p:spPr>
          <a:xfrm>
            <a:off x="5175249" y="4849122"/>
            <a:ext cx="18415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hTGR5 pEC50 = 5.3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48EE83C9-EB23-ACC0-5C4B-15285922CD6F}"/>
              </a:ext>
            </a:extLst>
          </p:cNvPr>
          <p:cNvSpPr txBox="1">
            <a:spLocks/>
          </p:cNvSpPr>
          <p:nvPr/>
        </p:nvSpPr>
        <p:spPr>
          <a:xfrm>
            <a:off x="546100" y="1038484"/>
            <a:ext cx="11099800" cy="469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ja-JP" altLang="en-US"/>
              <a:t>各フィンガープリント手法で類似度の高かった上位</a:t>
            </a:r>
            <a:r>
              <a:rPr lang="en-US" altLang="ja-JP" dirty="0"/>
              <a:t> 9 </a:t>
            </a:r>
            <a:r>
              <a:rPr lang="ja-JP" altLang="en-US"/>
              <a:t>配列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2AD425F-C8F4-6F61-F3E3-4CA803CE43FD}"/>
              </a:ext>
            </a:extLst>
          </p:cNvPr>
          <p:cNvSpPr txBox="1"/>
          <p:nvPr/>
        </p:nvSpPr>
        <p:spPr>
          <a:xfrm>
            <a:off x="526025" y="1750848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Yu Gothic" panose="020B0400000000000000" pitchFamily="34" charset="-128"/>
                <a:ea typeface="Yu Gothic" panose="020B0400000000000000" pitchFamily="34" charset="-128"/>
              </a:rPr>
              <a:t>KCF-S</a:t>
            </a:r>
            <a:endParaRPr kumimoji="1" lang="ja-JP" altLang="en-US" b="1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DC00E6B-F936-F5E7-76F5-7BAE7B189013}"/>
              </a:ext>
            </a:extLst>
          </p:cNvPr>
          <p:cNvSpPr txBox="1"/>
          <p:nvPr/>
        </p:nvSpPr>
        <p:spPr>
          <a:xfrm>
            <a:off x="7434886" y="1750848"/>
            <a:ext cx="2776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/>
              <a:t>ドナーアクセプターペア</a:t>
            </a:r>
          </a:p>
        </p:txBody>
      </p:sp>
    </p:spTree>
    <p:extLst>
      <p:ext uri="{BB962C8B-B14F-4D97-AF65-F5344CB8AC3E}">
        <p14:creationId xmlns:p14="http://schemas.microsoft.com/office/powerpoint/2010/main" val="34183835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93B5946-ED6D-089E-C48F-A17D118D0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6100" y="1038484"/>
            <a:ext cx="11099800" cy="469900"/>
          </a:xfrm>
        </p:spPr>
        <p:txBody>
          <a:bodyPr/>
          <a:lstStyle/>
          <a:p>
            <a:pPr marL="0" indent="0">
              <a:buNone/>
            </a:pPr>
            <a:r>
              <a:rPr kumimoji="1" lang="ja-JP" altLang="en-US"/>
              <a:t>短期予定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1CE3F74-8A89-FDDF-93AC-6086F7A6ED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kumimoji="1" lang="ja-JP" altLang="en-US"/>
              <a:t>今後の予定</a:t>
            </a:r>
          </a:p>
        </p:txBody>
      </p:sp>
      <p:graphicFrame>
        <p:nvGraphicFramePr>
          <p:cNvPr id="5" name="表 4">
            <a:extLst>
              <a:ext uri="{FF2B5EF4-FFF2-40B4-BE49-F238E27FC236}">
                <a16:creationId xmlns:a16="http://schemas.microsoft.com/office/drawing/2014/main" id="{DB6E4A7A-31E8-F7AB-957A-38C0F4677A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461437"/>
              </p:ext>
            </p:extLst>
          </p:nvPr>
        </p:nvGraphicFramePr>
        <p:xfrm>
          <a:off x="546100" y="1480103"/>
          <a:ext cx="11119874" cy="1944423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128836">
                  <a:extLst>
                    <a:ext uri="{9D8B030D-6E8A-4147-A177-3AD203B41FA5}">
                      <a16:colId xmlns:a16="http://schemas.microsoft.com/office/drawing/2014/main" val="3371328493"/>
                    </a:ext>
                  </a:extLst>
                </a:gridCol>
                <a:gridCol w="2111604">
                  <a:extLst>
                    <a:ext uri="{9D8B030D-6E8A-4147-A177-3AD203B41FA5}">
                      <a16:colId xmlns:a16="http://schemas.microsoft.com/office/drawing/2014/main" val="2336952824"/>
                    </a:ext>
                  </a:extLst>
                </a:gridCol>
                <a:gridCol w="2055044">
                  <a:extLst>
                    <a:ext uri="{9D8B030D-6E8A-4147-A177-3AD203B41FA5}">
                      <a16:colId xmlns:a16="http://schemas.microsoft.com/office/drawing/2014/main" val="3322159680"/>
                    </a:ext>
                  </a:extLst>
                </a:gridCol>
                <a:gridCol w="1824390">
                  <a:extLst>
                    <a:ext uri="{9D8B030D-6E8A-4147-A177-3AD203B41FA5}">
                      <a16:colId xmlns:a16="http://schemas.microsoft.com/office/drawing/2014/main" val="1025667938"/>
                    </a:ext>
                  </a:extLst>
                </a:gridCol>
              </a:tblGrid>
              <a:tr h="400465"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〜7/5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7/8〜7/12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dirty="0"/>
                        <a:t>7/16〜7/19</a:t>
                      </a:r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672014"/>
                  </a:ext>
                </a:extLst>
              </a:tr>
              <a:tr h="482018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/>
                        <a:t>自動合成した</a:t>
                      </a:r>
                      <a:r>
                        <a:rPr kumimoji="1" lang="en-US" altLang="ja-JP" dirty="0"/>
                        <a:t>5</a:t>
                      </a:r>
                      <a:r>
                        <a:rPr kumimoji="1" lang="ja-JP" altLang="en-US"/>
                        <a:t>配列について評価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361630"/>
                  </a:ext>
                </a:extLst>
              </a:tr>
              <a:tr h="530970">
                <a:tc>
                  <a:txBody>
                    <a:bodyPr/>
                    <a:lstStyle/>
                    <a:p>
                      <a:pPr algn="l"/>
                      <a:r>
                        <a:rPr kumimoji="1" lang="ja-JP" altLang="en-US"/>
                        <a:t>トリペプチドの合成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5393681"/>
                  </a:ext>
                </a:extLst>
              </a:tr>
              <a:tr h="53097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ja-JP" altLang="en-US"/>
                        <a:t>その他のアゴニストの類似度評価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5299942"/>
                  </a:ext>
                </a:extLst>
              </a:tr>
            </a:tbl>
          </a:graphicData>
        </a:graphic>
      </p:graphicFrame>
      <p:sp>
        <p:nvSpPr>
          <p:cNvPr id="15" name="コンテンツ プレースホルダー 2">
            <a:extLst>
              <a:ext uri="{FF2B5EF4-FFF2-40B4-BE49-F238E27FC236}">
                <a16:creationId xmlns:a16="http://schemas.microsoft.com/office/drawing/2014/main" id="{D0B811FE-8E4F-9370-B4A4-9EF0C74C17BB}"/>
              </a:ext>
            </a:extLst>
          </p:cNvPr>
          <p:cNvSpPr txBox="1">
            <a:spLocks/>
          </p:cNvSpPr>
          <p:nvPr/>
        </p:nvSpPr>
        <p:spPr>
          <a:xfrm>
            <a:off x="546100" y="3618354"/>
            <a:ext cx="11099800" cy="31029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ja-JP" altLang="en-US"/>
              <a:t>長期予定</a:t>
            </a:r>
            <a:endParaRPr lang="en-US" altLang="ja-JP" dirty="0"/>
          </a:p>
          <a:p>
            <a:r>
              <a:rPr lang="ja-JP" altLang="en-US" b="0"/>
              <a:t>合成したトリペプチドの</a:t>
            </a:r>
            <a:r>
              <a:rPr lang="en-US" altLang="ja-JP" b="0" dirty="0"/>
              <a:t>TGR5</a:t>
            </a:r>
            <a:r>
              <a:rPr lang="ja-JP" altLang="en-US" b="0"/>
              <a:t>活性評価</a:t>
            </a:r>
            <a:endParaRPr lang="en-US" altLang="ja-JP" b="0" dirty="0"/>
          </a:p>
        </p:txBody>
      </p:sp>
      <p:grpSp>
        <p:nvGrpSpPr>
          <p:cNvPr id="16" name="グループ化 15">
            <a:extLst>
              <a:ext uri="{FF2B5EF4-FFF2-40B4-BE49-F238E27FC236}">
                <a16:creationId xmlns:a16="http://schemas.microsoft.com/office/drawing/2014/main" id="{95B5B3D5-8931-E5D6-5DA7-65DBB2E90259}"/>
              </a:ext>
            </a:extLst>
          </p:cNvPr>
          <p:cNvGrpSpPr/>
          <p:nvPr/>
        </p:nvGrpSpPr>
        <p:grpSpPr>
          <a:xfrm rot="5400000">
            <a:off x="9564124" y="711271"/>
            <a:ext cx="353858" cy="3849843"/>
            <a:chOff x="7800489" y="2818451"/>
            <a:chExt cx="840658" cy="2492477"/>
          </a:xfrm>
        </p:grpSpPr>
        <p:sp>
          <p:nvSpPr>
            <p:cNvPr id="17" name="二等辺三角形 23">
              <a:extLst>
                <a:ext uri="{FF2B5EF4-FFF2-40B4-BE49-F238E27FC236}">
                  <a16:creationId xmlns:a16="http://schemas.microsoft.com/office/drawing/2014/main" id="{4D638BC3-D6EB-C369-8F06-41F31AB1094A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二等辺三角形 24">
              <a:extLst>
                <a:ext uri="{FF2B5EF4-FFF2-40B4-BE49-F238E27FC236}">
                  <a16:creationId xmlns:a16="http://schemas.microsoft.com/office/drawing/2014/main" id="{6720C1A0-8C65-0CED-28FD-57BEF7172545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45DF8A0C-F77F-DA00-250B-88A0BEF26505}"/>
              </a:ext>
            </a:extLst>
          </p:cNvPr>
          <p:cNvGrpSpPr/>
          <p:nvPr/>
        </p:nvGrpSpPr>
        <p:grpSpPr>
          <a:xfrm rot="5400000">
            <a:off x="6534010" y="1110263"/>
            <a:ext cx="339565" cy="2033518"/>
            <a:chOff x="7800489" y="2818451"/>
            <a:chExt cx="840658" cy="2492477"/>
          </a:xfrm>
        </p:grpSpPr>
        <p:sp>
          <p:nvSpPr>
            <p:cNvPr id="20" name="二等辺三角形 23">
              <a:extLst>
                <a:ext uri="{FF2B5EF4-FFF2-40B4-BE49-F238E27FC236}">
                  <a16:creationId xmlns:a16="http://schemas.microsoft.com/office/drawing/2014/main" id="{345C67FD-E417-F7FB-EA5B-16E93B85B8BD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二等辺三角形 24">
              <a:extLst>
                <a:ext uri="{FF2B5EF4-FFF2-40B4-BE49-F238E27FC236}">
                  <a16:creationId xmlns:a16="http://schemas.microsoft.com/office/drawing/2014/main" id="{A9A971C1-C327-1B98-1A22-2167D02D163F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E6025408-6E19-1D4F-5E28-4A0798C7C1EA}"/>
              </a:ext>
            </a:extLst>
          </p:cNvPr>
          <p:cNvGrpSpPr/>
          <p:nvPr/>
        </p:nvGrpSpPr>
        <p:grpSpPr>
          <a:xfrm rot="5400000">
            <a:off x="7583491" y="1079935"/>
            <a:ext cx="353857" cy="4146778"/>
            <a:chOff x="7800489" y="2818451"/>
            <a:chExt cx="840658" cy="2492477"/>
          </a:xfrm>
        </p:grpSpPr>
        <p:sp>
          <p:nvSpPr>
            <p:cNvPr id="23" name="二等辺三角形 23">
              <a:extLst>
                <a:ext uri="{FF2B5EF4-FFF2-40B4-BE49-F238E27FC236}">
                  <a16:creationId xmlns:a16="http://schemas.microsoft.com/office/drawing/2014/main" id="{2DE3125C-DB43-7B86-4ABD-5EAD1EF631D3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4" name="二等辺三角形 24">
              <a:extLst>
                <a:ext uri="{FF2B5EF4-FFF2-40B4-BE49-F238E27FC236}">
                  <a16:creationId xmlns:a16="http://schemas.microsoft.com/office/drawing/2014/main" id="{AB5866F8-5695-9758-EF88-F74CD4CEA10D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53781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3C9FBA14-A123-0EE7-309F-AC17DCDA23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" altLang="ja-JP" b="1" dirty="0" err="1"/>
              <a:t>Nipecotamide</a:t>
            </a:r>
            <a:r>
              <a:rPr lang="ja-JP" altLang="en-US" b="1">
                <a:effectLst/>
              </a:rPr>
              <a:t>の構造相関</a:t>
            </a:r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0D5906B6-E544-BF32-E152-176D8672A9B7}"/>
              </a:ext>
            </a:extLst>
          </p:cNvPr>
          <p:cNvSpPr txBox="1"/>
          <p:nvPr/>
        </p:nvSpPr>
        <p:spPr>
          <a:xfrm>
            <a:off x="5085659" y="4849122"/>
            <a:ext cx="202068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/>
              <a:t>hTGR5 EC50 = 0.88µM</a:t>
            </a:r>
          </a:p>
        </p:txBody>
      </p:sp>
      <p:sp>
        <p:nvSpPr>
          <p:cNvPr id="14" name="コンテンツ プレースホルダー 2">
            <a:extLst>
              <a:ext uri="{FF2B5EF4-FFF2-40B4-BE49-F238E27FC236}">
                <a16:creationId xmlns:a16="http://schemas.microsoft.com/office/drawing/2014/main" id="{48EE83C9-EB23-ACC0-5C4B-15285922CD6F}"/>
              </a:ext>
            </a:extLst>
          </p:cNvPr>
          <p:cNvSpPr txBox="1">
            <a:spLocks/>
          </p:cNvSpPr>
          <p:nvPr/>
        </p:nvSpPr>
        <p:spPr>
          <a:xfrm>
            <a:off x="546100" y="1038484"/>
            <a:ext cx="11099800" cy="4699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457200" indent="-457200" algn="l" defTabSz="914400" rtl="0" eaLnBrk="1" latinLnBrk="0" hangingPunct="1">
              <a:lnSpc>
                <a:spcPct val="110000"/>
              </a:lnSpc>
              <a:spcBef>
                <a:spcPts val="1800"/>
              </a:spcBef>
              <a:buClr>
                <a:schemeClr val="accent4"/>
              </a:buClr>
              <a:buFont typeface="Wingdings" panose="05000000000000000000" pitchFamily="2" charset="2"/>
              <a:buChar char="l"/>
              <a:defRPr kumimoji="1" sz="2000" b="1" kern="1200">
                <a:solidFill>
                  <a:schemeClr val="tx1"/>
                </a:solidFill>
                <a:latin typeface="游ゴシック" panose="020B0400000000000000" pitchFamily="50" charset="-128"/>
                <a:ea typeface="游ゴシック" panose="020B0400000000000000" pitchFamily="50" charset="-128"/>
                <a:cs typeface="+mn-cs"/>
              </a:defRPr>
            </a:lvl1pPr>
            <a:lvl2pPr marL="800100" marR="0" indent="-34290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 kumimoji="1" sz="1800" kern="1200">
                <a:solidFill>
                  <a:schemeClr val="tx1"/>
                </a:solidFill>
                <a:latin typeface="游ゴシック Medium" panose="020B0500000000000000" pitchFamily="50" charset="-128"/>
                <a:ea typeface="游ゴシック Medium" panose="020B0500000000000000" pitchFamily="50" charset="-128"/>
                <a:cs typeface="+mn-cs"/>
              </a:defRPr>
            </a:lvl2pPr>
            <a:lvl3pPr marL="1252538" indent="-338138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06563" indent="-3349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151063" indent="-322263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Wingdings" panose="05000000000000000000" pitchFamily="2" charset="2"/>
              <a:buChar char="l"/>
              <a:defRPr kumimoji="1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kumimoji="1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anose="05000000000000000000" pitchFamily="2" charset="2"/>
              <a:buNone/>
            </a:pPr>
            <a:r>
              <a:rPr lang="ja-JP" altLang="en-US"/>
              <a:t>各フィンガープリント手法で類似度の高かった上位</a:t>
            </a:r>
            <a:r>
              <a:rPr lang="en-US" altLang="ja-JP" dirty="0"/>
              <a:t> 9 </a:t>
            </a:r>
            <a:r>
              <a:rPr lang="ja-JP" altLang="en-US"/>
              <a:t>配列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42AD425F-C8F4-6F61-F3E3-4CA803CE43FD}"/>
              </a:ext>
            </a:extLst>
          </p:cNvPr>
          <p:cNvSpPr txBox="1"/>
          <p:nvPr/>
        </p:nvSpPr>
        <p:spPr>
          <a:xfrm>
            <a:off x="526025" y="1750848"/>
            <a:ext cx="9124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latin typeface="Yu Gothic" panose="020B0400000000000000" pitchFamily="34" charset="-128"/>
                <a:ea typeface="Yu Gothic" panose="020B0400000000000000" pitchFamily="34" charset="-128"/>
              </a:rPr>
              <a:t>KCF-S</a:t>
            </a:r>
            <a:endParaRPr kumimoji="1" lang="ja-JP" altLang="en-US" b="1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6DC00E6B-F936-F5E7-76F5-7BAE7B189013}"/>
              </a:ext>
            </a:extLst>
          </p:cNvPr>
          <p:cNvSpPr txBox="1"/>
          <p:nvPr/>
        </p:nvSpPr>
        <p:spPr>
          <a:xfrm>
            <a:off x="7434886" y="1750848"/>
            <a:ext cx="27767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b="1"/>
              <a:t>ドナーアクセプターペア</a:t>
            </a:r>
          </a:p>
        </p:txBody>
      </p:sp>
      <p:pic>
        <p:nvPicPr>
          <p:cNvPr id="3" name="図 2" descr="図形, 多角形&#10;&#10;自動的に生成された説明">
            <a:extLst>
              <a:ext uri="{FF2B5EF4-FFF2-40B4-BE49-F238E27FC236}">
                <a16:creationId xmlns:a16="http://schemas.microsoft.com/office/drawing/2014/main" id="{41F933D8-9A22-F9A3-0108-89C0C3F65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8899" y="3033022"/>
            <a:ext cx="1854200" cy="1816100"/>
          </a:xfrm>
          <a:prstGeom prst="rect">
            <a:avLst/>
          </a:prstGeom>
        </p:spPr>
      </p:pic>
      <p:pic>
        <p:nvPicPr>
          <p:cNvPr id="7" name="図 6" descr="ロゴ, 会社名&#10;&#10;自動的に生成された説明">
            <a:extLst>
              <a:ext uri="{FF2B5EF4-FFF2-40B4-BE49-F238E27FC236}">
                <a16:creationId xmlns:a16="http://schemas.microsoft.com/office/drawing/2014/main" id="{68F66903-F104-356A-7C8B-3A1610443B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4884" y="2146082"/>
            <a:ext cx="4211015" cy="4211015"/>
          </a:xfrm>
          <a:prstGeom prst="rect">
            <a:avLst/>
          </a:prstGeom>
        </p:spPr>
      </p:pic>
      <p:pic>
        <p:nvPicPr>
          <p:cNvPr id="17" name="図 16" descr="ロゴ, 会社名&#10;&#10;自動的に生成された説明">
            <a:extLst>
              <a:ext uri="{FF2B5EF4-FFF2-40B4-BE49-F238E27FC236}">
                <a16:creationId xmlns:a16="http://schemas.microsoft.com/office/drawing/2014/main" id="{D5B99C9D-1444-C446-953D-515BC6555FA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024" y="2182121"/>
            <a:ext cx="4476418" cy="4174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4542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573968E-BF17-4017-AA59-5326CD607CE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/>
              <a:t>素材集</a:t>
            </a:r>
          </a:p>
        </p:txBody>
      </p:sp>
      <p:pic>
        <p:nvPicPr>
          <p:cNvPr id="16" name="図 15" descr="巣蜜, 建物, ミラー が含まれている画像&#10;&#10;自動的に生成された説明">
            <a:extLst>
              <a:ext uri="{FF2B5EF4-FFF2-40B4-BE49-F238E27FC236}">
                <a16:creationId xmlns:a16="http://schemas.microsoft.com/office/drawing/2014/main" id="{1D2721EE-CDF6-2723-5F42-7A778A6E52A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222" y="1459222"/>
            <a:ext cx="1587500" cy="939800"/>
          </a:xfrm>
          <a:prstGeom prst="rect">
            <a:avLst/>
          </a:prstGeom>
        </p:spPr>
      </p:pic>
      <p:pic>
        <p:nvPicPr>
          <p:cNvPr id="18" name="図 17" descr="図形, 矢印&#10;&#10;自動的に生成された説明">
            <a:extLst>
              <a:ext uri="{FF2B5EF4-FFF2-40B4-BE49-F238E27FC236}">
                <a16:creationId xmlns:a16="http://schemas.microsoft.com/office/drawing/2014/main" id="{EC0A1FA9-5D5B-58B5-1E97-DE2015A4BF81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7611" y="2466286"/>
            <a:ext cx="492637" cy="469900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C5FF0AA2-CB5C-D0DD-F01B-9F662F522922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1227" y="2914574"/>
            <a:ext cx="513124" cy="1026247"/>
          </a:xfrm>
          <a:prstGeom prst="rect">
            <a:avLst/>
          </a:prstGeom>
        </p:spPr>
      </p:pic>
      <p:pic>
        <p:nvPicPr>
          <p:cNvPr id="22" name="図 21" descr="背景パターン&#10;&#10;自動的に生成された説明">
            <a:extLst>
              <a:ext uri="{FF2B5EF4-FFF2-40B4-BE49-F238E27FC236}">
                <a16:creationId xmlns:a16="http://schemas.microsoft.com/office/drawing/2014/main" id="{5434239A-8B98-543D-152A-8C832CF2FE6F}"/>
              </a:ext>
            </a:extLst>
          </p:cNvPr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0182" y="1876690"/>
            <a:ext cx="676214" cy="1983054"/>
          </a:xfrm>
          <a:prstGeom prst="rect">
            <a:avLst/>
          </a:prstGeom>
        </p:spPr>
      </p:pic>
      <p:pic>
        <p:nvPicPr>
          <p:cNvPr id="26" name="図 25" descr="ダイアグラム&#10;&#10;低い精度で自動的に生成された説明">
            <a:extLst>
              <a:ext uri="{FF2B5EF4-FFF2-40B4-BE49-F238E27FC236}">
                <a16:creationId xmlns:a16="http://schemas.microsoft.com/office/drawing/2014/main" id="{A51E6FAD-F4B6-D44D-3059-D5006F095FA9}"/>
              </a:ext>
            </a:extLst>
          </p:cNvPr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64" y="1067113"/>
            <a:ext cx="2305783" cy="1611569"/>
          </a:xfrm>
          <a:prstGeom prst="rect">
            <a:avLst/>
          </a:prstGeom>
        </p:spPr>
      </p:pic>
      <p:pic>
        <p:nvPicPr>
          <p:cNvPr id="28" name="図 27" descr="洗面道具 が含まれている画像&#10;&#10;自動的に生成された説明">
            <a:extLst>
              <a:ext uri="{FF2B5EF4-FFF2-40B4-BE49-F238E27FC236}">
                <a16:creationId xmlns:a16="http://schemas.microsoft.com/office/drawing/2014/main" id="{B4245E6D-394C-C910-C428-32CB856ED7C4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7433" y="1157008"/>
            <a:ext cx="2209434" cy="1544228"/>
          </a:xfrm>
          <a:prstGeom prst="rect">
            <a:avLst/>
          </a:prstGeom>
        </p:spPr>
      </p:pic>
      <p:pic>
        <p:nvPicPr>
          <p:cNvPr id="30" name="図 29" descr="ダイアグラム&#10;&#10;自動的に生成された説明">
            <a:extLst>
              <a:ext uri="{FF2B5EF4-FFF2-40B4-BE49-F238E27FC236}">
                <a16:creationId xmlns:a16="http://schemas.microsoft.com/office/drawing/2014/main" id="{F7BB396B-089F-6019-752C-C7EF107744DD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74" y="2914574"/>
            <a:ext cx="2391961" cy="1802276"/>
          </a:xfrm>
          <a:prstGeom prst="rect">
            <a:avLst/>
          </a:prstGeom>
        </p:spPr>
      </p:pic>
      <p:pic>
        <p:nvPicPr>
          <p:cNvPr id="32" name="図 31" descr="洗面道具 が含まれている画像&#10;&#10;自動的に生成された説明">
            <a:extLst>
              <a:ext uri="{FF2B5EF4-FFF2-40B4-BE49-F238E27FC236}">
                <a16:creationId xmlns:a16="http://schemas.microsoft.com/office/drawing/2014/main" id="{983C9901-2A7E-0A6B-4270-306CF53D1F17}"/>
              </a:ext>
            </a:extLst>
          </p:cNvPr>
          <p:cNvPicPr>
            <a:picLocks noChangeAspect="1"/>
          </p:cNvPicPr>
          <p:nvPr/>
        </p:nvPicPr>
        <p:blipFill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2806" y="2630557"/>
            <a:ext cx="2391961" cy="1802276"/>
          </a:xfrm>
          <a:prstGeom prst="rect">
            <a:avLst/>
          </a:prstGeom>
        </p:spPr>
      </p:pic>
      <p:pic>
        <p:nvPicPr>
          <p:cNvPr id="3" name="図 2" descr="図形, 円&#10;&#10;自動的に生成された説明">
            <a:extLst>
              <a:ext uri="{FF2B5EF4-FFF2-40B4-BE49-F238E27FC236}">
                <a16:creationId xmlns:a16="http://schemas.microsoft.com/office/drawing/2014/main" id="{AE5E1DC3-04D7-8A10-2314-17AE2BED30F6}"/>
              </a:ext>
            </a:extLst>
          </p:cNvPr>
          <p:cNvPicPr>
            <a:picLocks noChangeAspect="1"/>
          </p:cNvPicPr>
          <p:nvPr/>
        </p:nvPicPr>
        <p:blipFill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9972" y="5369457"/>
            <a:ext cx="1587500" cy="1140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56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BAE509-1F5F-44D7-895B-AADA5EB01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寸法や色は場合に応じて調整しましょう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5DCA4200-D082-429B-A7B9-20EDE7036BD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よく使う図形のパターン</a:t>
            </a:r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600F27F-842D-4A09-9876-4F4D6FED49D4}"/>
              </a:ext>
            </a:extLst>
          </p:cNvPr>
          <p:cNvGrpSpPr/>
          <p:nvPr/>
        </p:nvGrpSpPr>
        <p:grpSpPr>
          <a:xfrm rot="3516666">
            <a:off x="1083666" y="2853387"/>
            <a:ext cx="1201975" cy="1567649"/>
            <a:chOff x="2664127" y="3374455"/>
            <a:chExt cx="1201975" cy="1567649"/>
          </a:xfrm>
        </p:grpSpPr>
        <p:sp>
          <p:nvSpPr>
            <p:cNvPr id="5" name="二等辺三角形 4">
              <a:extLst>
                <a:ext uri="{FF2B5EF4-FFF2-40B4-BE49-F238E27FC236}">
                  <a16:creationId xmlns:a16="http://schemas.microsoft.com/office/drawing/2014/main" id="{031DCB67-E3C0-40A6-82FC-F3A99614C50C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0" name="フリーフォーム: 図形 9">
              <a:extLst>
                <a:ext uri="{FF2B5EF4-FFF2-40B4-BE49-F238E27FC236}">
                  <a16:creationId xmlns:a16="http://schemas.microsoft.com/office/drawing/2014/main" id="{8F1F7A27-5455-4318-B9EB-F5DC2E371C80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9" name="グループ化 18">
            <a:extLst>
              <a:ext uri="{FF2B5EF4-FFF2-40B4-BE49-F238E27FC236}">
                <a16:creationId xmlns:a16="http://schemas.microsoft.com/office/drawing/2014/main" id="{A84CB4AB-8E74-474F-8F79-B603B9235B46}"/>
              </a:ext>
            </a:extLst>
          </p:cNvPr>
          <p:cNvGrpSpPr/>
          <p:nvPr/>
        </p:nvGrpSpPr>
        <p:grpSpPr>
          <a:xfrm>
            <a:off x="3762700" y="2453659"/>
            <a:ext cx="851900" cy="2201196"/>
            <a:chOff x="4004187" y="2684206"/>
            <a:chExt cx="851900" cy="2201196"/>
          </a:xfrm>
        </p:grpSpPr>
        <p:sp>
          <p:nvSpPr>
            <p:cNvPr id="16" name="二等辺三角形 15">
              <a:extLst>
                <a:ext uri="{FF2B5EF4-FFF2-40B4-BE49-F238E27FC236}">
                  <a16:creationId xmlns:a16="http://schemas.microsoft.com/office/drawing/2014/main" id="{77F25128-43F7-4D7B-A506-7861040EA63C}"/>
                </a:ext>
              </a:extLst>
            </p:cNvPr>
            <p:cNvSpPr/>
            <p:nvPr/>
          </p:nvSpPr>
          <p:spPr>
            <a:xfrm>
              <a:off x="4004187" y="2684206"/>
              <a:ext cx="851900" cy="405581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二等辺三角形 16">
              <a:extLst>
                <a:ext uri="{FF2B5EF4-FFF2-40B4-BE49-F238E27FC236}">
                  <a16:creationId xmlns:a16="http://schemas.microsoft.com/office/drawing/2014/main" id="{425DA271-AEFA-45AB-AD52-737DB7EF67C8}"/>
                </a:ext>
              </a:extLst>
            </p:cNvPr>
            <p:cNvSpPr/>
            <p:nvPr/>
          </p:nvSpPr>
          <p:spPr>
            <a:xfrm rot="10800000">
              <a:off x="4172039" y="4653111"/>
              <a:ext cx="516194" cy="232291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台形 17">
              <a:extLst>
                <a:ext uri="{FF2B5EF4-FFF2-40B4-BE49-F238E27FC236}">
                  <a16:creationId xmlns:a16="http://schemas.microsoft.com/office/drawing/2014/main" id="{0BE03671-A77A-4398-9395-69D34E2C8634}"/>
                </a:ext>
              </a:extLst>
            </p:cNvPr>
            <p:cNvSpPr/>
            <p:nvPr/>
          </p:nvSpPr>
          <p:spPr>
            <a:xfrm rot="10800000">
              <a:off x="4274402" y="3082408"/>
              <a:ext cx="311469" cy="1570703"/>
            </a:xfrm>
            <a:prstGeom prst="trapezoid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53DA5DF4-9734-4A8B-B3F2-EB432821614A}"/>
              </a:ext>
            </a:extLst>
          </p:cNvPr>
          <p:cNvGrpSpPr/>
          <p:nvPr/>
        </p:nvGrpSpPr>
        <p:grpSpPr>
          <a:xfrm>
            <a:off x="5262743" y="3209365"/>
            <a:ext cx="2359742" cy="1445491"/>
            <a:chOff x="4837472" y="2490841"/>
            <a:chExt cx="2359742" cy="1445491"/>
          </a:xfrm>
        </p:grpSpPr>
        <p:sp>
          <p:nvSpPr>
            <p:cNvPr id="20" name="四角形: 角を丸くする 19">
              <a:extLst>
                <a:ext uri="{FF2B5EF4-FFF2-40B4-BE49-F238E27FC236}">
                  <a16:creationId xmlns:a16="http://schemas.microsoft.com/office/drawing/2014/main" id="{161AF5DB-A2D8-495C-B795-7003573DFCCF}"/>
                </a:ext>
              </a:extLst>
            </p:cNvPr>
            <p:cNvSpPr/>
            <p:nvPr/>
          </p:nvSpPr>
          <p:spPr>
            <a:xfrm>
              <a:off x="4837472" y="2490841"/>
              <a:ext cx="2359742" cy="938159"/>
            </a:xfrm>
            <a:prstGeom prst="roundRect">
              <a:avLst>
                <a:gd name="adj" fmla="val 10379"/>
              </a:avLst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2" name="二等辺三角形 21">
              <a:extLst>
                <a:ext uri="{FF2B5EF4-FFF2-40B4-BE49-F238E27FC236}">
                  <a16:creationId xmlns:a16="http://schemas.microsoft.com/office/drawing/2014/main" id="{C811F06F-2D36-4904-A2A9-7CD991856DA0}"/>
                </a:ext>
              </a:extLst>
            </p:cNvPr>
            <p:cNvSpPr/>
            <p:nvPr/>
          </p:nvSpPr>
          <p:spPr>
            <a:xfrm rot="11901755">
              <a:off x="4948538" y="3335420"/>
              <a:ext cx="213186" cy="600912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grpSp>
        <p:nvGrpSpPr>
          <p:cNvPr id="26" name="グループ化 25">
            <a:extLst>
              <a:ext uri="{FF2B5EF4-FFF2-40B4-BE49-F238E27FC236}">
                <a16:creationId xmlns:a16="http://schemas.microsoft.com/office/drawing/2014/main" id="{12B12945-4562-4CBA-BD30-EF9F8726FCD9}"/>
              </a:ext>
            </a:extLst>
          </p:cNvPr>
          <p:cNvGrpSpPr/>
          <p:nvPr/>
        </p:nvGrpSpPr>
        <p:grpSpPr>
          <a:xfrm>
            <a:off x="2672807" y="2453659"/>
            <a:ext cx="840658" cy="2492477"/>
            <a:chOff x="7800489" y="2818451"/>
            <a:chExt cx="840658" cy="2492477"/>
          </a:xfrm>
        </p:grpSpPr>
        <p:sp>
          <p:nvSpPr>
            <p:cNvPr id="24" name="二等辺三角形 23">
              <a:extLst>
                <a:ext uri="{FF2B5EF4-FFF2-40B4-BE49-F238E27FC236}">
                  <a16:creationId xmlns:a16="http://schemas.microsoft.com/office/drawing/2014/main" id="{5972915F-3F25-4048-8F16-22D7D6656CAA}"/>
                </a:ext>
              </a:extLst>
            </p:cNvPr>
            <p:cNvSpPr/>
            <p:nvPr/>
          </p:nvSpPr>
          <p:spPr>
            <a:xfrm>
              <a:off x="7800489" y="2818451"/>
              <a:ext cx="840658" cy="412955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二等辺三角形 24">
              <a:extLst>
                <a:ext uri="{FF2B5EF4-FFF2-40B4-BE49-F238E27FC236}">
                  <a16:creationId xmlns:a16="http://schemas.microsoft.com/office/drawing/2014/main" id="{FC3592AF-4DD9-481B-AE7D-C444443CA44E}"/>
                </a:ext>
              </a:extLst>
            </p:cNvPr>
            <p:cNvSpPr/>
            <p:nvPr/>
          </p:nvSpPr>
          <p:spPr>
            <a:xfrm rot="10800000">
              <a:off x="8070268" y="3224031"/>
              <a:ext cx="274331" cy="2086897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E692BBDB-6806-49B7-9241-7D2B547F185E}"/>
              </a:ext>
            </a:extLst>
          </p:cNvPr>
          <p:cNvCxnSpPr>
            <a:cxnSpLocks/>
          </p:cNvCxnSpPr>
          <p:nvPr/>
        </p:nvCxnSpPr>
        <p:spPr>
          <a:xfrm flipV="1">
            <a:off x="7466643" y="2683751"/>
            <a:ext cx="525780" cy="791898"/>
          </a:xfrm>
          <a:prstGeom prst="line">
            <a:avLst/>
          </a:prstGeom>
          <a:ln>
            <a:headEnd type="oval" w="lg" len="lg"/>
          </a:ln>
          <a:effectLst>
            <a:glow rad="88900">
              <a:srgbClr val="FFFFFF">
                <a:alpha val="87000"/>
              </a:srgbClr>
            </a:glow>
          </a:effectLst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9" name="楕円 28">
            <a:extLst>
              <a:ext uri="{FF2B5EF4-FFF2-40B4-BE49-F238E27FC236}">
                <a16:creationId xmlns:a16="http://schemas.microsoft.com/office/drawing/2014/main" id="{602DA899-F613-4B35-A569-DACF6D76EEA5}"/>
              </a:ext>
            </a:extLst>
          </p:cNvPr>
          <p:cNvSpPr/>
          <p:nvPr/>
        </p:nvSpPr>
        <p:spPr>
          <a:xfrm>
            <a:off x="7831288" y="2120241"/>
            <a:ext cx="648000" cy="648000"/>
          </a:xfrm>
          <a:prstGeom prst="ellips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800" b="1" dirty="0">
                <a:latin typeface="游ゴシック" panose="020B0400000000000000" pitchFamily="50" charset="-128"/>
                <a:ea typeface="游ゴシック" panose="020B0400000000000000" pitchFamily="50" charset="-128"/>
              </a:rPr>
              <a:t>1</a:t>
            </a:r>
            <a:endParaRPr kumimoji="1" lang="ja-JP" altLang="en-US" sz="2800" b="1" dirty="0"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D97239CB-D2F7-464C-85F9-58EE17B7D302}"/>
              </a:ext>
            </a:extLst>
          </p:cNvPr>
          <p:cNvGrpSpPr/>
          <p:nvPr/>
        </p:nvGrpSpPr>
        <p:grpSpPr>
          <a:xfrm>
            <a:off x="1308118" y="4654856"/>
            <a:ext cx="938304" cy="840658"/>
            <a:chOff x="1572269" y="4816089"/>
            <a:chExt cx="938304" cy="840658"/>
          </a:xfrm>
        </p:grpSpPr>
        <p:sp>
          <p:nvSpPr>
            <p:cNvPr id="27" name="二等辺三角形 26">
              <a:extLst>
                <a:ext uri="{FF2B5EF4-FFF2-40B4-BE49-F238E27FC236}">
                  <a16:creationId xmlns:a16="http://schemas.microsoft.com/office/drawing/2014/main" id="{3B6F705D-F04B-4DBD-8C41-9BCBF909BE34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3076F6E7-0F39-40A8-B28D-938F6D40299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5183F042-B05B-8313-D916-4D435BA05131}"/>
              </a:ext>
            </a:extLst>
          </p:cNvPr>
          <p:cNvSpPr/>
          <p:nvPr/>
        </p:nvSpPr>
        <p:spPr>
          <a:xfrm>
            <a:off x="1256388" y="6352685"/>
            <a:ext cx="1380066" cy="202200"/>
          </a:xfrm>
          <a:custGeom>
            <a:avLst/>
            <a:gdLst>
              <a:gd name="connsiteX0" fmla="*/ 0 w 1380066"/>
              <a:gd name="connsiteY0" fmla="*/ 202199 h 202200"/>
              <a:gd name="connsiteX1" fmla="*/ 1380066 w 1380066"/>
              <a:gd name="connsiteY1" fmla="*/ 0 h 20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80066" h="202200" extrusionOk="0">
                <a:moveTo>
                  <a:pt x="0" y="202199"/>
                </a:moveTo>
                <a:cubicBezTo>
                  <a:pt x="579868" y="55242"/>
                  <a:pt x="825186" y="128242"/>
                  <a:pt x="1380066" y="0"/>
                </a:cubicBezTo>
              </a:path>
            </a:pathLst>
          </a:custGeom>
          <a:noFill/>
          <a:ln cap="rnd">
            <a:solidFill>
              <a:schemeClr val="accent4"/>
            </a:solidFill>
            <a:round/>
            <a:headEnd type="none" w="med" len="med"/>
            <a:tailEnd type="arrow" w="lg" len="lg"/>
            <a:extLst>
              <a:ext uri="{C807C97D-BFC1-408E-A445-0C87EB9F89A2}">
                <ask:lineSketchStyleProps xmlns:ask="http://schemas.microsoft.com/office/drawing/2018/sketchyshapes" sd="697022472">
                  <a:custGeom>
                    <a:avLst/>
                    <a:gdLst>
                      <a:gd name="connsiteX0" fmla="*/ 0 w 2709333"/>
                      <a:gd name="connsiteY0" fmla="*/ 321732 h 321733"/>
                      <a:gd name="connsiteX1" fmla="*/ 1245419 w 2709333"/>
                      <a:gd name="connsiteY1" fmla="*/ 105712 h 321733"/>
                      <a:gd name="connsiteX2" fmla="*/ 2709333 w 2709333"/>
                      <a:gd name="connsiteY2" fmla="*/ 0 h 321733"/>
                      <a:gd name="connsiteX0" fmla="*/ 0 w 2709333"/>
                      <a:gd name="connsiteY0" fmla="*/ 321732 h 321732"/>
                      <a:gd name="connsiteX1" fmla="*/ 2709333 w 2709333"/>
                      <a:gd name="connsiteY1" fmla="*/ 0 h 32173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2709333" h="321732" extrusionOk="0">
                        <a:moveTo>
                          <a:pt x="0" y="321732"/>
                        </a:moveTo>
                        <a:lnTo>
                          <a:pt x="2709333" y="0"/>
                        </a:lnTo>
                      </a:path>
                    </a:pathLst>
                  </a:cu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右大かっこ 7">
            <a:extLst>
              <a:ext uri="{FF2B5EF4-FFF2-40B4-BE49-F238E27FC236}">
                <a16:creationId xmlns:a16="http://schemas.microsoft.com/office/drawing/2014/main" id="{B56DB7F2-BBFC-B498-CF1C-E6E32288AFD5}"/>
              </a:ext>
            </a:extLst>
          </p:cNvPr>
          <p:cNvSpPr/>
          <p:nvPr/>
        </p:nvSpPr>
        <p:spPr>
          <a:xfrm>
            <a:off x="10875218" y="3429000"/>
            <a:ext cx="75875" cy="2144636"/>
          </a:xfrm>
          <a:custGeom>
            <a:avLst/>
            <a:gdLst>
              <a:gd name="connsiteX0" fmla="*/ 0 w 75875"/>
              <a:gd name="connsiteY0" fmla="*/ 0 h 2144636"/>
              <a:gd name="connsiteX1" fmla="*/ 75875 w 75875"/>
              <a:gd name="connsiteY1" fmla="*/ 6323 h 2144636"/>
              <a:gd name="connsiteX2" fmla="*/ 75875 w 75875"/>
              <a:gd name="connsiteY2" fmla="*/ 2138313 h 2144636"/>
              <a:gd name="connsiteX3" fmla="*/ 0 w 75875"/>
              <a:gd name="connsiteY3" fmla="*/ 2144636 h 2144636"/>
              <a:gd name="connsiteX4" fmla="*/ 0 w 75875"/>
              <a:gd name="connsiteY4" fmla="*/ 0 h 2144636"/>
              <a:gd name="connsiteX0" fmla="*/ 0 w 75875"/>
              <a:gd name="connsiteY0" fmla="*/ 0 h 2144636"/>
              <a:gd name="connsiteX1" fmla="*/ 75875 w 75875"/>
              <a:gd name="connsiteY1" fmla="*/ 6323 h 2144636"/>
              <a:gd name="connsiteX2" fmla="*/ 75875 w 75875"/>
              <a:gd name="connsiteY2" fmla="*/ 2138313 h 2144636"/>
              <a:gd name="connsiteX3" fmla="*/ 0 w 75875"/>
              <a:gd name="connsiteY3" fmla="*/ 2144636 h 21446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875" h="2144636" stroke="0" extrusionOk="0">
                <a:moveTo>
                  <a:pt x="0" y="0"/>
                </a:moveTo>
                <a:cubicBezTo>
                  <a:pt x="42231" y="260"/>
                  <a:pt x="75694" y="3473"/>
                  <a:pt x="75875" y="6323"/>
                </a:cubicBezTo>
                <a:cubicBezTo>
                  <a:pt x="36033" y="809005"/>
                  <a:pt x="117564" y="1463863"/>
                  <a:pt x="75875" y="2138313"/>
                </a:cubicBezTo>
                <a:cubicBezTo>
                  <a:pt x="75472" y="2141552"/>
                  <a:pt x="38285" y="2141821"/>
                  <a:pt x="0" y="2144636"/>
                </a:cubicBezTo>
                <a:cubicBezTo>
                  <a:pt x="132240" y="1282501"/>
                  <a:pt x="-92512" y="751834"/>
                  <a:pt x="0" y="0"/>
                </a:cubicBezTo>
                <a:close/>
              </a:path>
              <a:path w="75875" h="2144636" fill="none" extrusionOk="0">
                <a:moveTo>
                  <a:pt x="0" y="0"/>
                </a:moveTo>
                <a:cubicBezTo>
                  <a:pt x="42382" y="80"/>
                  <a:pt x="76249" y="3222"/>
                  <a:pt x="75875" y="6323"/>
                </a:cubicBezTo>
                <a:cubicBezTo>
                  <a:pt x="-24092" y="939947"/>
                  <a:pt x="-16176" y="1075997"/>
                  <a:pt x="75875" y="2138313"/>
                </a:cubicBezTo>
                <a:cubicBezTo>
                  <a:pt x="70834" y="2143479"/>
                  <a:pt x="44604" y="2144902"/>
                  <a:pt x="0" y="2144636"/>
                </a:cubicBezTo>
              </a:path>
              <a:path w="75875" h="2144636" fill="none" stroke="0" extrusionOk="0">
                <a:moveTo>
                  <a:pt x="0" y="0"/>
                </a:moveTo>
                <a:cubicBezTo>
                  <a:pt x="42098" y="-180"/>
                  <a:pt x="76088" y="3017"/>
                  <a:pt x="75875" y="6323"/>
                </a:cubicBezTo>
                <a:cubicBezTo>
                  <a:pt x="233756" y="726300"/>
                  <a:pt x="144075" y="1627586"/>
                  <a:pt x="75875" y="2138313"/>
                </a:cubicBezTo>
                <a:cubicBezTo>
                  <a:pt x="81323" y="2141035"/>
                  <a:pt x="43270" y="2142597"/>
                  <a:pt x="0" y="2144636"/>
                </a:cubicBezTo>
              </a:path>
            </a:pathLst>
          </a:custGeom>
          <a:ln w="19050"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43512134">
                  <a:prstGeom prst="rightBracke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79F5105-2867-CCBC-D635-B09EBEC74DE8}"/>
              </a:ext>
            </a:extLst>
          </p:cNvPr>
          <p:cNvSpPr txBox="1"/>
          <p:nvPr/>
        </p:nvSpPr>
        <p:spPr>
          <a:xfrm>
            <a:off x="8613397" y="3987244"/>
            <a:ext cx="1716014" cy="369332"/>
          </a:xfrm>
          <a:prstGeom prst="rect">
            <a:avLst/>
          </a:prstGeom>
          <a:solidFill>
            <a:srgbClr val="46877B"/>
          </a:solidFill>
        </p:spPr>
        <p:txBody>
          <a:bodyPr wrap="square">
            <a:spAutoFit/>
          </a:bodyPr>
          <a:lstStyle/>
          <a:p>
            <a:r>
              <a:rPr lang="en-US" altLang="ja-JP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何かの見出し</a:t>
            </a:r>
          </a:p>
        </p:txBody>
      </p:sp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EFD584C9-55DF-601C-DC7A-86517FFDB48C}"/>
              </a:ext>
            </a:extLst>
          </p:cNvPr>
          <p:cNvSpPr/>
          <p:nvPr/>
        </p:nvSpPr>
        <p:spPr>
          <a:xfrm rot="2149832">
            <a:off x="1232946" y="5356494"/>
            <a:ext cx="1116215" cy="1248435"/>
          </a:xfrm>
          <a:custGeom>
            <a:avLst/>
            <a:gdLst>
              <a:gd name="connsiteX0" fmla="*/ 0 w 6381750"/>
              <a:gd name="connsiteY0" fmla="*/ 87460 h 350919"/>
              <a:gd name="connsiteX1" fmla="*/ 508000 w 6381750"/>
              <a:gd name="connsiteY1" fmla="*/ 258910 h 350919"/>
              <a:gd name="connsiteX2" fmla="*/ 908050 w 6381750"/>
              <a:gd name="connsiteY2" fmla="*/ 125560 h 350919"/>
              <a:gd name="connsiteX3" fmla="*/ 1314450 w 6381750"/>
              <a:gd name="connsiteY3" fmla="*/ 252560 h 350919"/>
              <a:gd name="connsiteX4" fmla="*/ 2032000 w 6381750"/>
              <a:gd name="connsiteY4" fmla="*/ 4910 h 350919"/>
              <a:gd name="connsiteX5" fmla="*/ 2635250 w 6381750"/>
              <a:gd name="connsiteY5" fmla="*/ 100160 h 350919"/>
              <a:gd name="connsiteX6" fmla="*/ 3943350 w 6381750"/>
              <a:gd name="connsiteY6" fmla="*/ 252560 h 350919"/>
              <a:gd name="connsiteX7" fmla="*/ 4648200 w 6381750"/>
              <a:gd name="connsiteY7" fmla="*/ 347810 h 350919"/>
              <a:gd name="connsiteX8" fmla="*/ 5308600 w 6381750"/>
              <a:gd name="connsiteY8" fmla="*/ 138260 h 350919"/>
              <a:gd name="connsiteX9" fmla="*/ 6381750 w 6381750"/>
              <a:gd name="connsiteY9" fmla="*/ 87460 h 350919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84727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508000 w 6381750"/>
              <a:gd name="connsiteY1" fmla="*/ 256177 h 347987"/>
              <a:gd name="connsiteX2" fmla="*/ 908050 w 6381750"/>
              <a:gd name="connsiteY2" fmla="*/ 122827 h 347987"/>
              <a:gd name="connsiteX3" fmla="*/ 1314450 w 6381750"/>
              <a:gd name="connsiteY3" fmla="*/ 249827 h 347987"/>
              <a:gd name="connsiteX4" fmla="*/ 2032000 w 6381750"/>
              <a:gd name="connsiteY4" fmla="*/ 2177 h 347987"/>
              <a:gd name="connsiteX5" fmla="*/ 2876550 w 6381750"/>
              <a:gd name="connsiteY5" fmla="*/ 135527 h 347987"/>
              <a:gd name="connsiteX6" fmla="*/ 3943350 w 6381750"/>
              <a:gd name="connsiteY6" fmla="*/ 249827 h 347987"/>
              <a:gd name="connsiteX7" fmla="*/ 4648200 w 6381750"/>
              <a:gd name="connsiteY7" fmla="*/ 345077 h 347987"/>
              <a:gd name="connsiteX8" fmla="*/ 5308600 w 6381750"/>
              <a:gd name="connsiteY8" fmla="*/ 135527 h 347987"/>
              <a:gd name="connsiteX9" fmla="*/ 6381750 w 6381750"/>
              <a:gd name="connsiteY9" fmla="*/ 143994 h 347987"/>
              <a:gd name="connsiteX0" fmla="*/ 0 w 6381750"/>
              <a:gd name="connsiteY0" fmla="*/ 84727 h 347987"/>
              <a:gd name="connsiteX1" fmla="*/ 908050 w 6381750"/>
              <a:gd name="connsiteY1" fmla="*/ 122827 h 347987"/>
              <a:gd name="connsiteX2" fmla="*/ 1314450 w 6381750"/>
              <a:gd name="connsiteY2" fmla="*/ 249827 h 347987"/>
              <a:gd name="connsiteX3" fmla="*/ 2032000 w 6381750"/>
              <a:gd name="connsiteY3" fmla="*/ 2177 h 347987"/>
              <a:gd name="connsiteX4" fmla="*/ 2876550 w 6381750"/>
              <a:gd name="connsiteY4" fmla="*/ 135527 h 347987"/>
              <a:gd name="connsiteX5" fmla="*/ 3943350 w 6381750"/>
              <a:gd name="connsiteY5" fmla="*/ 249827 h 347987"/>
              <a:gd name="connsiteX6" fmla="*/ 4648200 w 6381750"/>
              <a:gd name="connsiteY6" fmla="*/ 345077 h 347987"/>
              <a:gd name="connsiteX7" fmla="*/ 5308600 w 6381750"/>
              <a:gd name="connsiteY7" fmla="*/ 135527 h 347987"/>
              <a:gd name="connsiteX8" fmla="*/ 6381750 w 6381750"/>
              <a:gd name="connsiteY8" fmla="*/ 143994 h 347987"/>
              <a:gd name="connsiteX0" fmla="*/ 0 w 6381750"/>
              <a:gd name="connsiteY0" fmla="*/ 84727 h 347987"/>
              <a:gd name="connsiteX1" fmla="*/ 1314450 w 6381750"/>
              <a:gd name="connsiteY1" fmla="*/ 249827 h 347987"/>
              <a:gd name="connsiteX2" fmla="*/ 2032000 w 6381750"/>
              <a:gd name="connsiteY2" fmla="*/ 2177 h 347987"/>
              <a:gd name="connsiteX3" fmla="*/ 2876550 w 6381750"/>
              <a:gd name="connsiteY3" fmla="*/ 135527 h 347987"/>
              <a:gd name="connsiteX4" fmla="*/ 3943350 w 6381750"/>
              <a:gd name="connsiteY4" fmla="*/ 249827 h 347987"/>
              <a:gd name="connsiteX5" fmla="*/ 4648200 w 6381750"/>
              <a:gd name="connsiteY5" fmla="*/ 345077 h 347987"/>
              <a:gd name="connsiteX6" fmla="*/ 5308600 w 6381750"/>
              <a:gd name="connsiteY6" fmla="*/ 135527 h 347987"/>
              <a:gd name="connsiteX7" fmla="*/ 6381750 w 6381750"/>
              <a:gd name="connsiteY7" fmla="*/ 143994 h 347987"/>
              <a:gd name="connsiteX0" fmla="*/ 0 w 6381750"/>
              <a:gd name="connsiteY0" fmla="*/ 83224 h 346484"/>
              <a:gd name="connsiteX1" fmla="*/ 2032000 w 6381750"/>
              <a:gd name="connsiteY1" fmla="*/ 674 h 346484"/>
              <a:gd name="connsiteX2" fmla="*/ 2876550 w 6381750"/>
              <a:gd name="connsiteY2" fmla="*/ 134024 h 346484"/>
              <a:gd name="connsiteX3" fmla="*/ 3943350 w 6381750"/>
              <a:gd name="connsiteY3" fmla="*/ 248324 h 346484"/>
              <a:gd name="connsiteX4" fmla="*/ 4648200 w 6381750"/>
              <a:gd name="connsiteY4" fmla="*/ 343574 h 346484"/>
              <a:gd name="connsiteX5" fmla="*/ 5308600 w 6381750"/>
              <a:gd name="connsiteY5" fmla="*/ 134024 h 346484"/>
              <a:gd name="connsiteX6" fmla="*/ 6381750 w 6381750"/>
              <a:gd name="connsiteY6" fmla="*/ 142491 h 346484"/>
              <a:gd name="connsiteX0" fmla="*/ 0 w 6381750"/>
              <a:gd name="connsiteY0" fmla="*/ 0 h 263260"/>
              <a:gd name="connsiteX1" fmla="*/ 2876550 w 6381750"/>
              <a:gd name="connsiteY1" fmla="*/ 50800 h 263260"/>
              <a:gd name="connsiteX2" fmla="*/ 3943350 w 6381750"/>
              <a:gd name="connsiteY2" fmla="*/ 165100 h 263260"/>
              <a:gd name="connsiteX3" fmla="*/ 4648200 w 6381750"/>
              <a:gd name="connsiteY3" fmla="*/ 260350 h 263260"/>
              <a:gd name="connsiteX4" fmla="*/ 5308600 w 6381750"/>
              <a:gd name="connsiteY4" fmla="*/ 50800 h 263260"/>
              <a:gd name="connsiteX5" fmla="*/ 6381750 w 6381750"/>
              <a:gd name="connsiteY5" fmla="*/ 59267 h 263260"/>
              <a:gd name="connsiteX0" fmla="*/ 0 w 6381750"/>
              <a:gd name="connsiteY0" fmla="*/ 0 h 263260"/>
              <a:gd name="connsiteX1" fmla="*/ 3943350 w 6381750"/>
              <a:gd name="connsiteY1" fmla="*/ 165100 h 263260"/>
              <a:gd name="connsiteX2" fmla="*/ 4648200 w 6381750"/>
              <a:gd name="connsiteY2" fmla="*/ 260350 h 263260"/>
              <a:gd name="connsiteX3" fmla="*/ 5308600 w 6381750"/>
              <a:gd name="connsiteY3" fmla="*/ 50800 h 263260"/>
              <a:gd name="connsiteX4" fmla="*/ 6381750 w 6381750"/>
              <a:gd name="connsiteY4" fmla="*/ 59267 h 263260"/>
              <a:gd name="connsiteX0" fmla="*/ 0 w 6381750"/>
              <a:gd name="connsiteY0" fmla="*/ 0 h 260350"/>
              <a:gd name="connsiteX1" fmla="*/ 4648200 w 6381750"/>
              <a:gd name="connsiteY1" fmla="*/ 260350 h 260350"/>
              <a:gd name="connsiteX2" fmla="*/ 5308600 w 6381750"/>
              <a:gd name="connsiteY2" fmla="*/ 50800 h 260350"/>
              <a:gd name="connsiteX3" fmla="*/ 6381750 w 6381750"/>
              <a:gd name="connsiteY3" fmla="*/ 59267 h 260350"/>
              <a:gd name="connsiteX0" fmla="*/ 0 w 6381750"/>
              <a:gd name="connsiteY0" fmla="*/ 0 h 59267"/>
              <a:gd name="connsiteX1" fmla="*/ 5308600 w 6381750"/>
              <a:gd name="connsiteY1" fmla="*/ 50800 h 59267"/>
              <a:gd name="connsiteX2" fmla="*/ 6381750 w 6381750"/>
              <a:gd name="connsiteY2" fmla="*/ 59267 h 59267"/>
              <a:gd name="connsiteX0" fmla="*/ 0 w 6381750"/>
              <a:gd name="connsiteY0" fmla="*/ 0 h 1124584"/>
              <a:gd name="connsiteX1" fmla="*/ 4528057 w 6381750"/>
              <a:gd name="connsiteY1" fmla="*/ 1124584 h 1124584"/>
              <a:gd name="connsiteX2" fmla="*/ 6381750 w 6381750"/>
              <a:gd name="connsiteY2" fmla="*/ 59267 h 1124584"/>
              <a:gd name="connsiteX0" fmla="*/ 0 w 3161177"/>
              <a:gd name="connsiteY0" fmla="*/ 2112889 h 2112889"/>
              <a:gd name="connsiteX1" fmla="*/ 1307484 w 3161177"/>
              <a:gd name="connsiteY1" fmla="*/ 1067394 h 2112889"/>
              <a:gd name="connsiteX2" fmla="*/ 3161177 w 3161177"/>
              <a:gd name="connsiteY2" fmla="*/ 2077 h 2112889"/>
              <a:gd name="connsiteX0" fmla="*/ 0 w 3161177"/>
              <a:gd name="connsiteY0" fmla="*/ 2110812 h 2110812"/>
              <a:gd name="connsiteX1" fmla="*/ 3161177 w 3161177"/>
              <a:gd name="connsiteY1" fmla="*/ 0 h 2110812"/>
              <a:gd name="connsiteX0" fmla="*/ 0 w 1482258"/>
              <a:gd name="connsiteY0" fmla="*/ 903680 h 903680"/>
              <a:gd name="connsiteX1" fmla="*/ 1482258 w 1482258"/>
              <a:gd name="connsiteY1" fmla="*/ 0 h 9036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82258" h="903680">
                <a:moveTo>
                  <a:pt x="0" y="903680"/>
                </a:moveTo>
                <a:lnTo>
                  <a:pt x="1482258" y="0"/>
                </a:lnTo>
              </a:path>
            </a:pathLst>
          </a:custGeom>
          <a:noFill/>
          <a:ln w="57150">
            <a:solidFill>
              <a:schemeClr val="accent2"/>
            </a:solidFill>
            <a:tailEnd type="triangle"/>
          </a:ln>
          <a:effectLst>
            <a:glow rad="635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44" name="矢印: 右 43">
            <a:extLst>
              <a:ext uri="{FF2B5EF4-FFF2-40B4-BE49-F238E27FC236}">
                <a16:creationId xmlns:a16="http://schemas.microsoft.com/office/drawing/2014/main" id="{0A2734DE-E047-CC2D-F3E2-E701DEBB69AE}"/>
              </a:ext>
            </a:extLst>
          </p:cNvPr>
          <p:cNvSpPr/>
          <p:nvPr/>
        </p:nvSpPr>
        <p:spPr>
          <a:xfrm>
            <a:off x="3724405" y="5310395"/>
            <a:ext cx="1797864" cy="1126627"/>
          </a:xfrm>
          <a:custGeom>
            <a:avLst/>
            <a:gdLst>
              <a:gd name="connsiteX0" fmla="*/ 0 w 1797864"/>
              <a:gd name="connsiteY0" fmla="*/ 281657 h 1126627"/>
              <a:gd name="connsiteX1" fmla="*/ 1234551 w 1797864"/>
              <a:gd name="connsiteY1" fmla="*/ 281657 h 1126627"/>
              <a:gd name="connsiteX2" fmla="*/ 1234551 w 1797864"/>
              <a:gd name="connsiteY2" fmla="*/ 0 h 1126627"/>
              <a:gd name="connsiteX3" fmla="*/ 1797864 w 1797864"/>
              <a:gd name="connsiteY3" fmla="*/ 563314 h 1126627"/>
              <a:gd name="connsiteX4" fmla="*/ 1234551 w 1797864"/>
              <a:gd name="connsiteY4" fmla="*/ 1126627 h 1126627"/>
              <a:gd name="connsiteX5" fmla="*/ 1234551 w 1797864"/>
              <a:gd name="connsiteY5" fmla="*/ 844970 h 1126627"/>
              <a:gd name="connsiteX6" fmla="*/ 0 w 1797864"/>
              <a:gd name="connsiteY6" fmla="*/ 844970 h 1126627"/>
              <a:gd name="connsiteX7" fmla="*/ 0 w 1797864"/>
              <a:gd name="connsiteY7" fmla="*/ 281657 h 1126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97864" h="1126627" fill="none" extrusionOk="0">
                <a:moveTo>
                  <a:pt x="0" y="281657"/>
                </a:moveTo>
                <a:cubicBezTo>
                  <a:pt x="441140" y="341876"/>
                  <a:pt x="815292" y="313239"/>
                  <a:pt x="1234551" y="281657"/>
                </a:cubicBezTo>
                <a:cubicBezTo>
                  <a:pt x="1258466" y="194755"/>
                  <a:pt x="1214082" y="130057"/>
                  <a:pt x="1234551" y="0"/>
                </a:cubicBezTo>
                <a:cubicBezTo>
                  <a:pt x="1321461" y="170749"/>
                  <a:pt x="1683272" y="515097"/>
                  <a:pt x="1797864" y="563314"/>
                </a:cubicBezTo>
                <a:cubicBezTo>
                  <a:pt x="1683170" y="648249"/>
                  <a:pt x="1372263" y="1063564"/>
                  <a:pt x="1234551" y="1126627"/>
                </a:cubicBezTo>
                <a:cubicBezTo>
                  <a:pt x="1228919" y="1080683"/>
                  <a:pt x="1223293" y="925170"/>
                  <a:pt x="1234551" y="844970"/>
                </a:cubicBezTo>
                <a:cubicBezTo>
                  <a:pt x="625859" y="796345"/>
                  <a:pt x="503036" y="798970"/>
                  <a:pt x="0" y="844970"/>
                </a:cubicBezTo>
                <a:cubicBezTo>
                  <a:pt x="12149" y="711576"/>
                  <a:pt x="-34350" y="429484"/>
                  <a:pt x="0" y="281657"/>
                </a:cubicBezTo>
                <a:close/>
              </a:path>
              <a:path w="1797864" h="1126627" stroke="0" extrusionOk="0">
                <a:moveTo>
                  <a:pt x="0" y="281657"/>
                </a:moveTo>
                <a:cubicBezTo>
                  <a:pt x="501690" y="291445"/>
                  <a:pt x="664348" y="302673"/>
                  <a:pt x="1234551" y="281657"/>
                </a:cubicBezTo>
                <a:cubicBezTo>
                  <a:pt x="1244995" y="149561"/>
                  <a:pt x="1246456" y="46048"/>
                  <a:pt x="1234551" y="0"/>
                </a:cubicBezTo>
                <a:cubicBezTo>
                  <a:pt x="1416517" y="201720"/>
                  <a:pt x="1516224" y="323140"/>
                  <a:pt x="1797864" y="563314"/>
                </a:cubicBezTo>
                <a:cubicBezTo>
                  <a:pt x="1604474" y="781173"/>
                  <a:pt x="1263864" y="996785"/>
                  <a:pt x="1234551" y="1126627"/>
                </a:cubicBezTo>
                <a:cubicBezTo>
                  <a:pt x="1244859" y="1090226"/>
                  <a:pt x="1246547" y="961132"/>
                  <a:pt x="1234551" y="844970"/>
                </a:cubicBezTo>
                <a:cubicBezTo>
                  <a:pt x="826782" y="735023"/>
                  <a:pt x="170652" y="758181"/>
                  <a:pt x="0" y="844970"/>
                </a:cubicBezTo>
                <a:cubicBezTo>
                  <a:pt x="-923" y="604596"/>
                  <a:pt x="-16096" y="399535"/>
                  <a:pt x="0" y="281657"/>
                </a:cubicBezTo>
                <a:close/>
              </a:path>
            </a:pathLst>
          </a:custGeom>
          <a:solidFill>
            <a:schemeClr val="accent4"/>
          </a:solidFill>
          <a:ln>
            <a:solidFill>
              <a:schemeClr val="accent4"/>
            </a:solidFill>
            <a:extLst>
              <a:ext uri="{C807C97D-BFC1-408E-A445-0C87EB9F89A2}">
                <ask:lineSketchStyleProps xmlns:ask="http://schemas.microsoft.com/office/drawing/2018/sketchyshapes" sd="3864781296">
                  <a:prstGeom prst="rightArrow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フリーフォーム: 図形 45">
            <a:extLst>
              <a:ext uri="{FF2B5EF4-FFF2-40B4-BE49-F238E27FC236}">
                <a16:creationId xmlns:a16="http://schemas.microsoft.com/office/drawing/2014/main" id="{6C0FD5AB-5B5F-7AA0-6FBC-206214218608}"/>
              </a:ext>
            </a:extLst>
          </p:cNvPr>
          <p:cNvSpPr/>
          <p:nvPr/>
        </p:nvSpPr>
        <p:spPr>
          <a:xfrm>
            <a:off x="529301" y="2977937"/>
            <a:ext cx="2457450" cy="553401"/>
          </a:xfrm>
          <a:custGeom>
            <a:avLst/>
            <a:gdLst>
              <a:gd name="connsiteX0" fmla="*/ 0 w 2457450"/>
              <a:gd name="connsiteY0" fmla="*/ 553401 h 553401"/>
              <a:gd name="connsiteX1" fmla="*/ 1066800 w 2457450"/>
              <a:gd name="connsiteY1" fmla="*/ 48576 h 553401"/>
              <a:gd name="connsiteX2" fmla="*/ 2457450 w 2457450"/>
              <a:gd name="connsiteY2" fmla="*/ 48576 h 5534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57450" h="553401">
                <a:moveTo>
                  <a:pt x="0" y="553401"/>
                </a:moveTo>
                <a:cubicBezTo>
                  <a:pt x="328612" y="343057"/>
                  <a:pt x="657225" y="132713"/>
                  <a:pt x="1066800" y="48576"/>
                </a:cubicBezTo>
                <a:cubicBezTo>
                  <a:pt x="1476375" y="-35561"/>
                  <a:pt x="1966912" y="6507"/>
                  <a:pt x="2457450" y="48576"/>
                </a:cubicBezTo>
              </a:path>
            </a:pathLst>
          </a:custGeom>
          <a:noFill/>
          <a:ln w="38100">
            <a:solidFill>
              <a:schemeClr val="accent4"/>
            </a:solidFill>
            <a:headEnd type="none" w="med" len="med"/>
            <a:tailEnd type="triangle" w="med" len="med"/>
          </a:ln>
          <a:effectLst>
            <a:glow rad="152400">
              <a:schemeClr val="bg1"/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79366D17-C6F6-2F7E-0C8E-D7CA4265F094}"/>
              </a:ext>
            </a:extLst>
          </p:cNvPr>
          <p:cNvGrpSpPr/>
          <p:nvPr/>
        </p:nvGrpSpPr>
        <p:grpSpPr>
          <a:xfrm>
            <a:off x="7701975" y="5031844"/>
            <a:ext cx="866523" cy="923145"/>
            <a:chOff x="5897144" y="3284788"/>
            <a:chExt cx="866523" cy="923145"/>
          </a:xfrm>
        </p:grpSpPr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128A1380-4083-A4AF-A9AF-53345AAABDF1}"/>
                </a:ext>
              </a:extLst>
            </p:cNvPr>
            <p:cNvSpPr/>
            <p:nvPr/>
          </p:nvSpPr>
          <p:spPr>
            <a:xfrm>
              <a:off x="5897698" y="3332166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0F60FF85-8B94-7CA7-28BD-EE9A8905975E}"/>
                </a:ext>
              </a:extLst>
            </p:cNvPr>
            <p:cNvSpPr/>
            <p:nvPr/>
          </p:nvSpPr>
          <p:spPr>
            <a:xfrm rot="4964407">
              <a:off x="5961743" y="3402000"/>
              <a:ext cx="777334" cy="542909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C44C3672-6F4A-8A28-B2E1-FDAAD4B9653C}"/>
                </a:ext>
              </a:extLst>
            </p:cNvPr>
            <p:cNvSpPr/>
            <p:nvPr/>
          </p:nvSpPr>
          <p:spPr>
            <a:xfrm rot="8884375">
              <a:off x="5897144" y="3395723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0" name="フリーフォーム: 図形 49">
              <a:extLst>
                <a:ext uri="{FF2B5EF4-FFF2-40B4-BE49-F238E27FC236}">
                  <a16:creationId xmlns:a16="http://schemas.microsoft.com/office/drawing/2014/main" id="{21E955EA-67B5-7ECC-CB8F-3C3E4686AE8A}"/>
                </a:ext>
              </a:extLst>
            </p:cNvPr>
            <p:cNvSpPr/>
            <p:nvPr/>
          </p:nvSpPr>
          <p:spPr>
            <a:xfrm rot="12451915">
              <a:off x="5920913" y="3415024"/>
              <a:ext cx="842754" cy="500765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51" name="フリーフォーム: 図形 50">
              <a:extLst>
                <a:ext uri="{FF2B5EF4-FFF2-40B4-BE49-F238E27FC236}">
                  <a16:creationId xmlns:a16="http://schemas.microsoft.com/office/drawing/2014/main" id="{BDF494D2-1DAE-AEB3-A146-38DB5558CB4C}"/>
                </a:ext>
              </a:extLst>
            </p:cNvPr>
            <p:cNvSpPr/>
            <p:nvPr/>
          </p:nvSpPr>
          <p:spPr>
            <a:xfrm rot="15479593">
              <a:off x="5960037" y="3712865"/>
              <a:ext cx="777334" cy="212802"/>
            </a:xfrm>
            <a:custGeom>
              <a:avLst/>
              <a:gdLst>
                <a:gd name="connsiteX0" fmla="*/ 562582 w 768994"/>
                <a:gd name="connsiteY0" fmla="*/ 446438 h 495392"/>
                <a:gd name="connsiteX1" fmla="*/ 62068 w 768994"/>
                <a:gd name="connsiteY1" fmla="*/ 119179 h 495392"/>
                <a:gd name="connsiteX2" fmla="*/ 23567 w 768994"/>
                <a:gd name="connsiteY2" fmla="*/ 311684 h 495392"/>
                <a:gd name="connsiteX3" fmla="*/ 206447 w 768994"/>
                <a:gd name="connsiteY3" fmla="*/ 99928 h 495392"/>
                <a:gd name="connsiteX4" fmla="*/ 312325 w 768994"/>
                <a:gd name="connsiteY4" fmla="*/ 176930 h 495392"/>
                <a:gd name="connsiteX5" fmla="*/ 100569 w 768994"/>
                <a:gd name="connsiteY5" fmla="*/ 494564 h 495392"/>
                <a:gd name="connsiteX6" fmla="*/ 764712 w 768994"/>
                <a:gd name="connsiteY6" fmla="*/ 71052 h 495392"/>
                <a:gd name="connsiteX7" fmla="*/ 398952 w 768994"/>
                <a:gd name="connsiteY7" fmla="*/ 176930 h 495392"/>
                <a:gd name="connsiteX8" fmla="*/ 668459 w 768994"/>
                <a:gd name="connsiteY8" fmla="*/ 388686 h 495392"/>
                <a:gd name="connsiteX9" fmla="*/ 312325 w 768994"/>
                <a:gd name="connsiteY9" fmla="*/ 427187 h 495392"/>
                <a:gd name="connsiteX10" fmla="*/ 360451 w 768994"/>
                <a:gd name="connsiteY10" fmla="*/ 71052 h 495392"/>
                <a:gd name="connsiteX11" fmla="*/ 283449 w 768994"/>
                <a:gd name="connsiteY11" fmla="*/ 13301 h 495392"/>
                <a:gd name="connsiteX12" fmla="*/ 302699 w 768994"/>
                <a:gd name="connsiteY12" fmla="*/ 244307 h 495392"/>
                <a:gd name="connsiteX13" fmla="*/ 639584 w 768994"/>
                <a:gd name="connsiteY13" fmla="*/ 196181 h 495392"/>
                <a:gd name="connsiteX14" fmla="*/ 418203 w 768994"/>
                <a:gd name="connsiteY14" fmla="*/ 80678 h 495392"/>
                <a:gd name="connsiteX15" fmla="*/ 206447 w 768994"/>
                <a:gd name="connsiteY15" fmla="*/ 330935 h 495392"/>
                <a:gd name="connsiteX16" fmla="*/ 235323 w 768994"/>
                <a:gd name="connsiteY16" fmla="*/ 475314 h 495392"/>
                <a:gd name="connsiteX17" fmla="*/ 562582 w 768994"/>
                <a:gd name="connsiteY17" fmla="*/ 446438 h 495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768994" h="495392">
                  <a:moveTo>
                    <a:pt x="562582" y="446438"/>
                  </a:moveTo>
                  <a:cubicBezTo>
                    <a:pt x="533706" y="387082"/>
                    <a:pt x="151904" y="141638"/>
                    <a:pt x="62068" y="119179"/>
                  </a:cubicBezTo>
                  <a:cubicBezTo>
                    <a:pt x="-27768" y="96720"/>
                    <a:pt x="-496" y="314892"/>
                    <a:pt x="23567" y="311684"/>
                  </a:cubicBezTo>
                  <a:cubicBezTo>
                    <a:pt x="47630" y="308476"/>
                    <a:pt x="158321" y="122387"/>
                    <a:pt x="206447" y="99928"/>
                  </a:cubicBezTo>
                  <a:cubicBezTo>
                    <a:pt x="254573" y="77469"/>
                    <a:pt x="329971" y="111157"/>
                    <a:pt x="312325" y="176930"/>
                  </a:cubicBezTo>
                  <a:cubicBezTo>
                    <a:pt x="294679" y="242703"/>
                    <a:pt x="25171" y="512210"/>
                    <a:pt x="100569" y="494564"/>
                  </a:cubicBezTo>
                  <a:cubicBezTo>
                    <a:pt x="175967" y="476918"/>
                    <a:pt x="714982" y="123991"/>
                    <a:pt x="764712" y="71052"/>
                  </a:cubicBezTo>
                  <a:cubicBezTo>
                    <a:pt x="814442" y="18113"/>
                    <a:pt x="414994" y="123991"/>
                    <a:pt x="398952" y="176930"/>
                  </a:cubicBezTo>
                  <a:cubicBezTo>
                    <a:pt x="382910" y="229869"/>
                    <a:pt x="682897" y="346977"/>
                    <a:pt x="668459" y="388686"/>
                  </a:cubicBezTo>
                  <a:cubicBezTo>
                    <a:pt x="654021" y="430395"/>
                    <a:pt x="363660" y="480126"/>
                    <a:pt x="312325" y="427187"/>
                  </a:cubicBezTo>
                  <a:cubicBezTo>
                    <a:pt x="260990" y="374248"/>
                    <a:pt x="365264" y="140033"/>
                    <a:pt x="360451" y="71052"/>
                  </a:cubicBezTo>
                  <a:cubicBezTo>
                    <a:pt x="355638" y="2071"/>
                    <a:pt x="293074" y="-15575"/>
                    <a:pt x="283449" y="13301"/>
                  </a:cubicBezTo>
                  <a:cubicBezTo>
                    <a:pt x="273824" y="42177"/>
                    <a:pt x="243343" y="213827"/>
                    <a:pt x="302699" y="244307"/>
                  </a:cubicBezTo>
                  <a:cubicBezTo>
                    <a:pt x="362055" y="274787"/>
                    <a:pt x="620333" y="223453"/>
                    <a:pt x="639584" y="196181"/>
                  </a:cubicBezTo>
                  <a:cubicBezTo>
                    <a:pt x="658835" y="168909"/>
                    <a:pt x="490393" y="58219"/>
                    <a:pt x="418203" y="80678"/>
                  </a:cubicBezTo>
                  <a:cubicBezTo>
                    <a:pt x="346013" y="103137"/>
                    <a:pt x="236927" y="265162"/>
                    <a:pt x="206447" y="330935"/>
                  </a:cubicBezTo>
                  <a:cubicBezTo>
                    <a:pt x="175967" y="396708"/>
                    <a:pt x="172759" y="462480"/>
                    <a:pt x="235323" y="475314"/>
                  </a:cubicBezTo>
                  <a:cubicBezTo>
                    <a:pt x="297887" y="488148"/>
                    <a:pt x="591458" y="505794"/>
                    <a:pt x="562582" y="446438"/>
                  </a:cubicBezTo>
                  <a:close/>
                </a:path>
              </a:pathLst>
            </a:cu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799079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62966E-E008-9DDC-DD95-31FEDECDAB7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良く使う図形パターン</a:t>
            </a: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29108725-9831-27F9-3FD3-71FC27129266}"/>
              </a:ext>
            </a:extLst>
          </p:cNvPr>
          <p:cNvGrpSpPr/>
          <p:nvPr/>
        </p:nvGrpSpPr>
        <p:grpSpPr>
          <a:xfrm>
            <a:off x="616017" y="1348268"/>
            <a:ext cx="6533120" cy="4938925"/>
            <a:chOff x="0" y="1396394"/>
            <a:chExt cx="6533120" cy="4938925"/>
          </a:xfrm>
        </p:grpSpPr>
        <p:sp>
          <p:nvSpPr>
            <p:cNvPr id="5" name="楕円 4">
              <a:extLst>
                <a:ext uri="{FF2B5EF4-FFF2-40B4-BE49-F238E27FC236}">
                  <a16:creationId xmlns:a16="http://schemas.microsoft.com/office/drawing/2014/main" id="{A0811D00-B639-7D58-D363-8290AD29E62C}"/>
                </a:ext>
              </a:extLst>
            </p:cNvPr>
            <p:cNvSpPr/>
            <p:nvPr/>
          </p:nvSpPr>
          <p:spPr>
            <a:xfrm>
              <a:off x="2173905" y="13963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6" name="テキスト ボックス 5">
              <a:extLst>
                <a:ext uri="{FF2B5EF4-FFF2-40B4-BE49-F238E27FC236}">
                  <a16:creationId xmlns:a16="http://schemas.microsoft.com/office/drawing/2014/main" id="{CEE3C2FA-C4E2-9188-98AB-D6750654E01E}"/>
                </a:ext>
              </a:extLst>
            </p:cNvPr>
            <p:cNvSpPr txBox="1"/>
            <p:nvPr/>
          </p:nvSpPr>
          <p:spPr>
            <a:xfrm>
              <a:off x="2139601" y="1944955"/>
              <a:ext cx="23966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①</a:t>
              </a:r>
              <a:endPara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ひとつめ</a:t>
              </a:r>
              <a:endPara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7" name="楕円 6">
              <a:extLst>
                <a:ext uri="{FF2B5EF4-FFF2-40B4-BE49-F238E27FC236}">
                  <a16:creationId xmlns:a16="http://schemas.microsoft.com/office/drawing/2014/main" id="{F600B182-1E03-FE3F-38CF-BE77E0F38AC6}"/>
                </a:ext>
              </a:extLst>
            </p:cNvPr>
            <p:cNvSpPr/>
            <p:nvPr/>
          </p:nvSpPr>
          <p:spPr>
            <a:xfrm>
              <a:off x="815779" y="36664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80636C0C-4196-FBC8-E6B1-2A2B6B9C99B7}"/>
                </a:ext>
              </a:extLst>
            </p:cNvPr>
            <p:cNvSpPr txBox="1"/>
            <p:nvPr/>
          </p:nvSpPr>
          <p:spPr>
            <a:xfrm>
              <a:off x="733433" y="4231597"/>
              <a:ext cx="23966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③</a:t>
              </a:r>
              <a:endPara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みっつめ</a:t>
              </a:r>
              <a:endPara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9" name="楕円 8">
              <a:extLst>
                <a:ext uri="{FF2B5EF4-FFF2-40B4-BE49-F238E27FC236}">
                  <a16:creationId xmlns:a16="http://schemas.microsoft.com/office/drawing/2014/main" id="{11B58024-0DF9-700C-3393-339C7F03622C}"/>
                </a:ext>
              </a:extLst>
            </p:cNvPr>
            <p:cNvSpPr/>
            <p:nvPr/>
          </p:nvSpPr>
          <p:spPr>
            <a:xfrm>
              <a:off x="3565643" y="3653794"/>
              <a:ext cx="2232000" cy="2232000"/>
            </a:xfrm>
            <a:prstGeom prst="ellips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  <a:extLst>
                <a:ext uri="{C807C97D-BFC1-408E-A445-0C87EB9F89A2}">
                  <ask:lineSketchStyleProps xmlns:ask="http://schemas.microsoft.com/office/drawing/2018/sketchyshapes" sd="138476517">
                    <a:custGeom>
                      <a:avLst/>
                      <a:gdLst>
                        <a:gd name="connsiteX0" fmla="*/ 0 w 2396691"/>
                        <a:gd name="connsiteY0" fmla="*/ 1176574 h 2353148"/>
                        <a:gd name="connsiteX1" fmla="*/ 1198346 w 2396691"/>
                        <a:gd name="connsiteY1" fmla="*/ 0 h 2353148"/>
                        <a:gd name="connsiteX2" fmla="*/ 2396692 w 2396691"/>
                        <a:gd name="connsiteY2" fmla="*/ 1176574 h 2353148"/>
                        <a:gd name="connsiteX3" fmla="*/ 1198346 w 2396691"/>
                        <a:gd name="connsiteY3" fmla="*/ 2353148 h 2353148"/>
                        <a:gd name="connsiteX4" fmla="*/ 0 w 2396691"/>
                        <a:gd name="connsiteY4" fmla="*/ 1176574 h 2353148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</a:cxnLst>
                      <a:rect l="l" t="t" r="r" b="b"/>
                      <a:pathLst>
                        <a:path w="2396691" h="2353148" fill="none" extrusionOk="0">
                          <a:moveTo>
                            <a:pt x="0" y="1176574"/>
                          </a:moveTo>
                          <a:cubicBezTo>
                            <a:pt x="17053" y="544093"/>
                            <a:pt x="596455" y="78735"/>
                            <a:pt x="1198346" y="0"/>
                          </a:cubicBezTo>
                          <a:cubicBezTo>
                            <a:pt x="1834464" y="-42937"/>
                            <a:pt x="2341220" y="491711"/>
                            <a:pt x="2396692" y="1176574"/>
                          </a:cubicBezTo>
                          <a:cubicBezTo>
                            <a:pt x="2434753" y="1879535"/>
                            <a:pt x="1880410" y="2333741"/>
                            <a:pt x="1198346" y="2353148"/>
                          </a:cubicBezTo>
                          <a:cubicBezTo>
                            <a:pt x="503664" y="2298627"/>
                            <a:pt x="14412" y="1848257"/>
                            <a:pt x="0" y="1176574"/>
                          </a:cubicBezTo>
                          <a:close/>
                        </a:path>
                        <a:path w="2396691" h="2353148" stroke="0" extrusionOk="0">
                          <a:moveTo>
                            <a:pt x="0" y="1176574"/>
                          </a:moveTo>
                          <a:cubicBezTo>
                            <a:pt x="22017" y="512503"/>
                            <a:pt x="554245" y="-126587"/>
                            <a:pt x="1198346" y="0"/>
                          </a:cubicBezTo>
                          <a:cubicBezTo>
                            <a:pt x="1782464" y="-71399"/>
                            <a:pt x="2410063" y="501058"/>
                            <a:pt x="2396692" y="1176574"/>
                          </a:cubicBezTo>
                          <a:cubicBezTo>
                            <a:pt x="2422326" y="1889440"/>
                            <a:pt x="1843165" y="2478575"/>
                            <a:pt x="1198346" y="2353148"/>
                          </a:cubicBezTo>
                          <a:cubicBezTo>
                            <a:pt x="488789" y="2321300"/>
                            <a:pt x="-48884" y="1872731"/>
                            <a:pt x="0" y="1176574"/>
                          </a:cubicBezTo>
                          <a:close/>
                        </a:path>
                      </a:pathLst>
                    </a:custGeom>
                    <ask:type>
                      <ask:lineSketchNone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7E243A9B-ED86-339C-E2EB-EFDFA00CF9EF}"/>
                </a:ext>
              </a:extLst>
            </p:cNvPr>
            <p:cNvSpPr txBox="1"/>
            <p:nvPr/>
          </p:nvSpPr>
          <p:spPr>
            <a:xfrm>
              <a:off x="3511913" y="4222775"/>
              <a:ext cx="2396691" cy="95410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➁</a:t>
              </a:r>
              <a:endParaRPr lang="en-US" altLang="ja-JP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  <a:p>
              <a:pPr algn="ctr"/>
              <a:r>
                <a:rPr lang="ja-JP" altLang="en-US" sz="2800" b="1" dirty="0">
                  <a:solidFill>
                    <a:schemeClr val="bg1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ふたつめ</a:t>
              </a:r>
              <a:endParaRPr kumimoji="1"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27510278-8BCC-2772-B7D4-6900CC651828}"/>
                </a:ext>
              </a:extLst>
            </p:cNvPr>
            <p:cNvGrpSpPr/>
            <p:nvPr/>
          </p:nvGrpSpPr>
          <p:grpSpPr>
            <a:xfrm flipV="1">
              <a:off x="4488250" y="2706875"/>
              <a:ext cx="800237" cy="959619"/>
              <a:chOff x="2664127" y="3374455"/>
              <a:chExt cx="1201975" cy="1567649"/>
            </a:xfrm>
          </p:grpSpPr>
          <p:sp>
            <p:nvSpPr>
              <p:cNvPr id="12" name="二等辺三角形 11">
                <a:extLst>
                  <a:ext uri="{FF2B5EF4-FFF2-40B4-BE49-F238E27FC236}">
                    <a16:creationId xmlns:a16="http://schemas.microsoft.com/office/drawing/2014/main" id="{88C38720-FF04-C2D5-1BFB-D6E04C389897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3" name="フリーフォーム: 図形 12">
                <a:extLst>
                  <a:ext uri="{FF2B5EF4-FFF2-40B4-BE49-F238E27FC236}">
                    <a16:creationId xmlns:a16="http://schemas.microsoft.com/office/drawing/2014/main" id="{DCA25AA5-6EC2-3A91-C987-1FA6D6720F6A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14" name="グループ化 13">
              <a:extLst>
                <a:ext uri="{FF2B5EF4-FFF2-40B4-BE49-F238E27FC236}">
                  <a16:creationId xmlns:a16="http://schemas.microsoft.com/office/drawing/2014/main" id="{39545FA0-67FF-9A70-C888-13A69A398782}"/>
                </a:ext>
              </a:extLst>
            </p:cNvPr>
            <p:cNvGrpSpPr/>
            <p:nvPr/>
          </p:nvGrpSpPr>
          <p:grpSpPr>
            <a:xfrm rot="7241964" flipV="1">
              <a:off x="2843255" y="5233792"/>
              <a:ext cx="800237" cy="959619"/>
              <a:chOff x="2664127" y="3374455"/>
              <a:chExt cx="1201975" cy="1567649"/>
            </a:xfrm>
          </p:grpSpPr>
          <p:sp>
            <p:nvSpPr>
              <p:cNvPr id="15" name="二等辺三角形 14">
                <a:extLst>
                  <a:ext uri="{FF2B5EF4-FFF2-40B4-BE49-F238E27FC236}">
                    <a16:creationId xmlns:a16="http://schemas.microsoft.com/office/drawing/2014/main" id="{3767BD8E-FB78-2A44-9179-41A94C34D17A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6" name="フリーフォーム: 図形 15">
                <a:extLst>
                  <a:ext uri="{FF2B5EF4-FFF2-40B4-BE49-F238E27FC236}">
                    <a16:creationId xmlns:a16="http://schemas.microsoft.com/office/drawing/2014/main" id="{55A6798D-20C7-E00B-7A02-153B6F17D077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grpSp>
          <p:nvGrpSpPr>
            <p:cNvPr id="17" name="グループ化 16">
              <a:extLst>
                <a:ext uri="{FF2B5EF4-FFF2-40B4-BE49-F238E27FC236}">
                  <a16:creationId xmlns:a16="http://schemas.microsoft.com/office/drawing/2014/main" id="{1CC218CC-EEBC-1865-D9BB-837546C65874}"/>
                </a:ext>
              </a:extLst>
            </p:cNvPr>
            <p:cNvGrpSpPr/>
            <p:nvPr/>
          </p:nvGrpSpPr>
          <p:grpSpPr>
            <a:xfrm rot="14081671" flipV="1">
              <a:off x="1389673" y="2585074"/>
              <a:ext cx="800237" cy="959619"/>
              <a:chOff x="2664127" y="3374455"/>
              <a:chExt cx="1201975" cy="1567649"/>
            </a:xfrm>
          </p:grpSpPr>
          <p:sp>
            <p:nvSpPr>
              <p:cNvPr id="18" name="二等辺三角形 17">
                <a:extLst>
                  <a:ext uri="{FF2B5EF4-FFF2-40B4-BE49-F238E27FC236}">
                    <a16:creationId xmlns:a16="http://schemas.microsoft.com/office/drawing/2014/main" id="{F2F7520D-B9C9-EE46-43C0-1974C9EE110E}"/>
                  </a:ext>
                </a:extLst>
              </p:cNvPr>
              <p:cNvSpPr/>
              <p:nvPr/>
            </p:nvSpPr>
            <p:spPr>
              <a:xfrm rot="21516842">
                <a:off x="3025444" y="3374455"/>
                <a:ext cx="840658" cy="471949"/>
              </a:xfrm>
              <a:prstGeom prst="triangle">
                <a:avLst/>
              </a:pr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19" name="フリーフォーム: 図形 18">
                <a:extLst>
                  <a:ext uri="{FF2B5EF4-FFF2-40B4-BE49-F238E27FC236}">
                    <a16:creationId xmlns:a16="http://schemas.microsoft.com/office/drawing/2014/main" id="{91521E69-6981-7659-CD42-1242DA646433}"/>
                  </a:ext>
                </a:extLst>
              </p:cNvPr>
              <p:cNvSpPr/>
              <p:nvPr/>
            </p:nvSpPr>
            <p:spPr>
              <a:xfrm>
                <a:off x="2664127" y="3827205"/>
                <a:ext cx="956601" cy="1114899"/>
              </a:xfrm>
              <a:custGeom>
                <a:avLst/>
                <a:gdLst>
                  <a:gd name="connsiteX0" fmla="*/ 649311 w 956601"/>
                  <a:gd name="connsiteY0" fmla="*/ 0 h 1114899"/>
                  <a:gd name="connsiteX1" fmla="*/ 956601 w 956601"/>
                  <a:gd name="connsiteY1" fmla="*/ 0 h 1114899"/>
                  <a:gd name="connsiteX2" fmla="*/ 951973 w 956601"/>
                  <a:gd name="connsiteY2" fmla="*/ 97117 h 1114899"/>
                  <a:gd name="connsiteX3" fmla="*/ 5472 w 956601"/>
                  <a:gd name="connsiteY3" fmla="*/ 1113687 h 1114899"/>
                  <a:gd name="connsiteX4" fmla="*/ 0 w 956601"/>
                  <a:gd name="connsiteY4" fmla="*/ 1114899 h 1114899"/>
                  <a:gd name="connsiteX5" fmla="*/ 40056 w 956601"/>
                  <a:gd name="connsiteY5" fmla="*/ 1089636 h 1114899"/>
                  <a:gd name="connsiteX6" fmla="*/ 638394 w 956601"/>
                  <a:gd name="connsiteY6" fmla="*/ 162145 h 11148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56601" h="1114899">
                    <a:moveTo>
                      <a:pt x="649311" y="0"/>
                    </a:moveTo>
                    <a:lnTo>
                      <a:pt x="956601" y="0"/>
                    </a:lnTo>
                    <a:lnTo>
                      <a:pt x="951973" y="97117"/>
                    </a:lnTo>
                    <a:cubicBezTo>
                      <a:pt x="906000" y="577465"/>
                      <a:pt x="522068" y="975272"/>
                      <a:pt x="5472" y="1113687"/>
                    </a:cubicBezTo>
                    <a:lnTo>
                      <a:pt x="0" y="1114899"/>
                    </a:lnTo>
                    <a:lnTo>
                      <a:pt x="40056" y="1089636"/>
                    </a:lnTo>
                    <a:cubicBezTo>
                      <a:pt x="365632" y="863013"/>
                      <a:pt x="587911" y="534591"/>
                      <a:pt x="638394" y="1621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solidFill>
                  <a:schemeClr val="accent4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</p:grp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DBABD0C2-66B5-256B-4604-E348FEFAC56D}"/>
                </a:ext>
              </a:extLst>
            </p:cNvPr>
            <p:cNvSpPr txBox="1"/>
            <p:nvPr/>
          </p:nvSpPr>
          <p:spPr>
            <a:xfrm>
              <a:off x="4832338" y="2938238"/>
              <a:ext cx="1700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" b="1" dirty="0">
                  <a:solidFill>
                    <a:schemeClr val="accent4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変化</a:t>
              </a:r>
              <a:endParaRPr lang="en-US" altLang="ja-JP" sz="20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D3D28F20-D312-FC56-A45A-9A9DD0F018F0}"/>
                </a:ext>
              </a:extLst>
            </p:cNvPr>
            <p:cNvSpPr txBox="1"/>
            <p:nvPr/>
          </p:nvSpPr>
          <p:spPr>
            <a:xfrm>
              <a:off x="2550709" y="5935209"/>
              <a:ext cx="1700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" b="1" dirty="0">
                  <a:solidFill>
                    <a:schemeClr val="accent4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変化</a:t>
              </a:r>
              <a:endParaRPr lang="en-US" altLang="ja-JP" sz="20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032857B8-91F1-CA95-91BD-24CB159AB079}"/>
                </a:ext>
              </a:extLst>
            </p:cNvPr>
            <p:cNvSpPr txBox="1"/>
            <p:nvPr/>
          </p:nvSpPr>
          <p:spPr>
            <a:xfrm>
              <a:off x="0" y="2983833"/>
              <a:ext cx="170078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ja-JP" altLang="en-US" sz="2000" b="1" dirty="0">
                  <a:solidFill>
                    <a:schemeClr val="accent4"/>
                  </a:solidFill>
                  <a:latin typeface="游ゴシック" panose="020B0400000000000000" pitchFamily="50" charset="-128"/>
                  <a:ea typeface="游ゴシック" panose="020B0400000000000000" pitchFamily="50" charset="-128"/>
                </a:rPr>
                <a:t>変化</a:t>
              </a:r>
              <a:endParaRPr lang="en-US" altLang="ja-JP" sz="20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endParaRPr>
            </a:p>
          </p:txBody>
        </p:sp>
      </p:grpSp>
      <p:sp>
        <p:nvSpPr>
          <p:cNvPr id="25" name="楕円 24">
            <a:extLst>
              <a:ext uri="{FF2B5EF4-FFF2-40B4-BE49-F238E27FC236}">
                <a16:creationId xmlns:a16="http://schemas.microsoft.com/office/drawing/2014/main" id="{FA69373F-043A-BD62-065E-9238200A2914}"/>
              </a:ext>
            </a:extLst>
          </p:cNvPr>
          <p:cNvSpPr/>
          <p:nvPr/>
        </p:nvSpPr>
        <p:spPr>
          <a:xfrm>
            <a:off x="7462655" y="1651262"/>
            <a:ext cx="323850" cy="323850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glow rad="101600">
              <a:schemeClr val="accent2"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47A74F06-9B64-1B4A-43BA-C938BE525936}"/>
              </a:ext>
            </a:extLst>
          </p:cNvPr>
          <p:cNvSpPr/>
          <p:nvPr/>
        </p:nvSpPr>
        <p:spPr>
          <a:xfrm>
            <a:off x="8108150" y="1651112"/>
            <a:ext cx="324000" cy="324000"/>
          </a:xfrm>
          <a:prstGeom prst="ellipse">
            <a:avLst/>
          </a:prstGeom>
          <a:solidFill>
            <a:srgbClr val="46877B"/>
          </a:solidFill>
          <a:ln>
            <a:solidFill>
              <a:srgbClr val="46877B"/>
            </a:solidFill>
          </a:ln>
          <a:effectLst>
            <a:glow rad="101600">
              <a:srgbClr val="46877B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804C8D84-DF1A-9E36-6B35-4F08C09A0AEE}"/>
              </a:ext>
            </a:extLst>
          </p:cNvPr>
          <p:cNvSpPr/>
          <p:nvPr/>
        </p:nvSpPr>
        <p:spPr>
          <a:xfrm>
            <a:off x="7730366" y="2165069"/>
            <a:ext cx="342900" cy="333267"/>
          </a:xfrm>
          <a:prstGeom prst="ellipse">
            <a:avLst/>
          </a:prstGeom>
          <a:solidFill>
            <a:schemeClr val="accent2"/>
          </a:solidFill>
          <a:ln>
            <a:solidFill>
              <a:schemeClr val="accent2"/>
            </a:solidFill>
          </a:ln>
          <a:effectLst>
            <a:softEdge rad="635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57C0E608-BA74-F485-BAE3-702170BC32CC}"/>
              </a:ext>
            </a:extLst>
          </p:cNvPr>
          <p:cNvSpPr/>
          <p:nvPr/>
        </p:nvSpPr>
        <p:spPr>
          <a:xfrm>
            <a:off x="8528263" y="3060360"/>
            <a:ext cx="2901487" cy="1236539"/>
          </a:xfrm>
          <a:custGeom>
            <a:avLst/>
            <a:gdLst>
              <a:gd name="connsiteX0" fmla="*/ 0 w 2901487"/>
              <a:gd name="connsiteY0" fmla="*/ 618270 h 1236539"/>
              <a:gd name="connsiteX1" fmla="*/ 1450744 w 2901487"/>
              <a:gd name="connsiteY1" fmla="*/ 0 h 1236539"/>
              <a:gd name="connsiteX2" fmla="*/ 2901488 w 2901487"/>
              <a:gd name="connsiteY2" fmla="*/ 618270 h 1236539"/>
              <a:gd name="connsiteX3" fmla="*/ 1450744 w 2901487"/>
              <a:gd name="connsiteY3" fmla="*/ 1236540 h 1236539"/>
              <a:gd name="connsiteX4" fmla="*/ 0 w 2901487"/>
              <a:gd name="connsiteY4" fmla="*/ 618270 h 123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01487" h="1236539" fill="none" extrusionOk="0">
                <a:moveTo>
                  <a:pt x="0" y="618270"/>
                </a:moveTo>
                <a:cubicBezTo>
                  <a:pt x="84712" y="196294"/>
                  <a:pt x="764269" y="7572"/>
                  <a:pt x="1450744" y="0"/>
                </a:cubicBezTo>
                <a:cubicBezTo>
                  <a:pt x="2280633" y="48997"/>
                  <a:pt x="2861081" y="275941"/>
                  <a:pt x="2901488" y="618270"/>
                </a:cubicBezTo>
                <a:cubicBezTo>
                  <a:pt x="3011552" y="975692"/>
                  <a:pt x="2166690" y="1197621"/>
                  <a:pt x="1450744" y="1236540"/>
                </a:cubicBezTo>
                <a:cubicBezTo>
                  <a:pt x="618922" y="1245671"/>
                  <a:pt x="36345" y="910461"/>
                  <a:pt x="0" y="618270"/>
                </a:cubicBezTo>
                <a:close/>
              </a:path>
              <a:path w="2901487" h="1236539" stroke="0" extrusionOk="0">
                <a:moveTo>
                  <a:pt x="0" y="618270"/>
                </a:moveTo>
                <a:cubicBezTo>
                  <a:pt x="-7565" y="290082"/>
                  <a:pt x="641644" y="-3252"/>
                  <a:pt x="1450744" y="0"/>
                </a:cubicBezTo>
                <a:cubicBezTo>
                  <a:pt x="2306126" y="-7995"/>
                  <a:pt x="2871529" y="331374"/>
                  <a:pt x="2901488" y="618270"/>
                </a:cubicBezTo>
                <a:cubicBezTo>
                  <a:pt x="2849516" y="977102"/>
                  <a:pt x="2227727" y="1265205"/>
                  <a:pt x="1450744" y="1236540"/>
                </a:cubicBezTo>
                <a:cubicBezTo>
                  <a:pt x="683291" y="1214685"/>
                  <a:pt x="-15441" y="963273"/>
                  <a:pt x="0" y="618270"/>
                </a:cubicBezTo>
                <a:close/>
              </a:path>
            </a:pathLst>
          </a:custGeom>
          <a:solidFill>
            <a:srgbClr val="D3E9E5"/>
          </a:solidFill>
          <a:ln>
            <a:solidFill>
              <a:srgbClr val="D3E9E5"/>
            </a:solidFill>
            <a:extLst>
              <a:ext uri="{C807C97D-BFC1-408E-A445-0C87EB9F89A2}">
                <ask:lineSketchStyleProps xmlns:ask="http://schemas.microsoft.com/office/drawing/2018/sketchyshapes" sd="981765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11994F12-90A6-E96A-5BE6-5E9F08D17B74}"/>
              </a:ext>
            </a:extLst>
          </p:cNvPr>
          <p:cNvSpPr/>
          <p:nvPr/>
        </p:nvSpPr>
        <p:spPr>
          <a:xfrm>
            <a:off x="9518584" y="1567812"/>
            <a:ext cx="2235127" cy="2177274"/>
          </a:xfrm>
          <a:custGeom>
            <a:avLst/>
            <a:gdLst>
              <a:gd name="connsiteX0" fmla="*/ 0 w 2235127"/>
              <a:gd name="connsiteY0" fmla="*/ 1088637 h 2177274"/>
              <a:gd name="connsiteX1" fmla="*/ 1117564 w 2235127"/>
              <a:gd name="connsiteY1" fmla="*/ 0 h 2177274"/>
              <a:gd name="connsiteX2" fmla="*/ 2235128 w 2235127"/>
              <a:gd name="connsiteY2" fmla="*/ 1088637 h 2177274"/>
              <a:gd name="connsiteX3" fmla="*/ 1117564 w 2235127"/>
              <a:gd name="connsiteY3" fmla="*/ 2177274 h 2177274"/>
              <a:gd name="connsiteX4" fmla="*/ 0 w 2235127"/>
              <a:gd name="connsiteY4" fmla="*/ 1088637 h 21772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35127" h="2177274" fill="none" extrusionOk="0">
                <a:moveTo>
                  <a:pt x="0" y="1088637"/>
                </a:moveTo>
                <a:cubicBezTo>
                  <a:pt x="-78231" y="501361"/>
                  <a:pt x="470933" y="81460"/>
                  <a:pt x="1117564" y="0"/>
                </a:cubicBezTo>
                <a:cubicBezTo>
                  <a:pt x="1655506" y="-29676"/>
                  <a:pt x="2249283" y="494351"/>
                  <a:pt x="2235128" y="1088637"/>
                </a:cubicBezTo>
                <a:cubicBezTo>
                  <a:pt x="2256564" y="1635402"/>
                  <a:pt x="1745396" y="2193472"/>
                  <a:pt x="1117564" y="2177274"/>
                </a:cubicBezTo>
                <a:cubicBezTo>
                  <a:pt x="511602" y="2187319"/>
                  <a:pt x="85868" y="1650356"/>
                  <a:pt x="0" y="1088637"/>
                </a:cubicBezTo>
                <a:close/>
              </a:path>
              <a:path w="2235127" h="2177274" stroke="0" extrusionOk="0">
                <a:moveTo>
                  <a:pt x="0" y="1088637"/>
                </a:moveTo>
                <a:cubicBezTo>
                  <a:pt x="44180" y="558178"/>
                  <a:pt x="501211" y="-92223"/>
                  <a:pt x="1117564" y="0"/>
                </a:cubicBezTo>
                <a:cubicBezTo>
                  <a:pt x="1755182" y="98031"/>
                  <a:pt x="2176597" y="447074"/>
                  <a:pt x="2235128" y="1088637"/>
                </a:cubicBezTo>
                <a:cubicBezTo>
                  <a:pt x="2248407" y="1590409"/>
                  <a:pt x="1732930" y="2112771"/>
                  <a:pt x="1117564" y="2177274"/>
                </a:cubicBezTo>
                <a:cubicBezTo>
                  <a:pt x="512908" y="2113663"/>
                  <a:pt x="14757" y="1627634"/>
                  <a:pt x="0" y="1088637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3669468432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ja-JP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 </a:t>
            </a:r>
            <a:r>
              <a:rPr lang="ja-JP" altLang="en-US" sz="2800" b="1" dirty="0">
                <a:solidFill>
                  <a:schemeClr val="bg1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何か</a:t>
            </a:r>
            <a:endParaRPr lang="en-US" altLang="ja-JP" sz="2800" b="1" dirty="0">
              <a:solidFill>
                <a:schemeClr val="bg1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  <a:p>
            <a:pPr algn="ctr"/>
            <a:r>
              <a:rPr lang="ja-JP" altLang="en-US" dirty="0">
                <a:solidFill>
                  <a:schemeClr val="bg1"/>
                </a:solidFill>
                <a:latin typeface="+mn-ea"/>
              </a:rPr>
              <a:t>メッセージ</a:t>
            </a:r>
            <a:endParaRPr lang="ja-JP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9B369ACC-5757-B80B-61BF-EC839E501C38}"/>
              </a:ext>
            </a:extLst>
          </p:cNvPr>
          <p:cNvSpPr/>
          <p:nvPr/>
        </p:nvSpPr>
        <p:spPr>
          <a:xfrm rot="20169432">
            <a:off x="8795580" y="3503340"/>
            <a:ext cx="3160032" cy="167421"/>
          </a:xfrm>
          <a:custGeom>
            <a:avLst/>
            <a:gdLst>
              <a:gd name="connsiteX0" fmla="*/ 0 w 3160032"/>
              <a:gd name="connsiteY0" fmla="*/ 0 h 167421"/>
              <a:gd name="connsiteX1" fmla="*/ 3160032 w 3160032"/>
              <a:gd name="connsiteY1" fmla="*/ 0 h 167421"/>
              <a:gd name="connsiteX2" fmla="*/ 3160032 w 3160032"/>
              <a:gd name="connsiteY2" fmla="*/ 167421 h 167421"/>
              <a:gd name="connsiteX3" fmla="*/ 0 w 3160032"/>
              <a:gd name="connsiteY3" fmla="*/ 167421 h 167421"/>
              <a:gd name="connsiteX4" fmla="*/ 0 w 3160032"/>
              <a:gd name="connsiteY4" fmla="*/ 0 h 167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0032" h="167421" fill="none" extrusionOk="0">
                <a:moveTo>
                  <a:pt x="0" y="0"/>
                </a:moveTo>
                <a:cubicBezTo>
                  <a:pt x="1576265" y="-130857"/>
                  <a:pt x="1695485" y="63250"/>
                  <a:pt x="3160032" y="0"/>
                </a:cubicBezTo>
                <a:cubicBezTo>
                  <a:pt x="3149888" y="54417"/>
                  <a:pt x="3161660" y="117978"/>
                  <a:pt x="3160032" y="167421"/>
                </a:cubicBezTo>
                <a:cubicBezTo>
                  <a:pt x="2559770" y="222085"/>
                  <a:pt x="1098592" y="215523"/>
                  <a:pt x="0" y="167421"/>
                </a:cubicBezTo>
                <a:cubicBezTo>
                  <a:pt x="-5" y="147243"/>
                  <a:pt x="-2866" y="55723"/>
                  <a:pt x="0" y="0"/>
                </a:cubicBezTo>
                <a:close/>
              </a:path>
              <a:path w="3160032" h="167421" stroke="0" extrusionOk="0">
                <a:moveTo>
                  <a:pt x="0" y="0"/>
                </a:moveTo>
                <a:cubicBezTo>
                  <a:pt x="1189394" y="93023"/>
                  <a:pt x="2837410" y="111448"/>
                  <a:pt x="3160032" y="0"/>
                </a:cubicBezTo>
                <a:cubicBezTo>
                  <a:pt x="3145341" y="75065"/>
                  <a:pt x="3161279" y="142728"/>
                  <a:pt x="3160032" y="167421"/>
                </a:cubicBezTo>
                <a:cubicBezTo>
                  <a:pt x="2786659" y="165537"/>
                  <a:pt x="902558" y="243552"/>
                  <a:pt x="0" y="167421"/>
                </a:cubicBezTo>
                <a:cubicBezTo>
                  <a:pt x="-7129" y="150251"/>
                  <a:pt x="4229" y="45135"/>
                  <a:pt x="0" y="0"/>
                </a:cubicBez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1001808606">
                  <a:prstGeom prst="rect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1" name="十字形 30">
            <a:extLst>
              <a:ext uri="{FF2B5EF4-FFF2-40B4-BE49-F238E27FC236}">
                <a16:creationId xmlns:a16="http://schemas.microsoft.com/office/drawing/2014/main" id="{AE6B2308-93E3-CE3B-D6A4-F65B8B44608F}"/>
              </a:ext>
            </a:extLst>
          </p:cNvPr>
          <p:cNvSpPr/>
          <p:nvPr/>
        </p:nvSpPr>
        <p:spPr>
          <a:xfrm rot="2590055">
            <a:off x="8265921" y="4413059"/>
            <a:ext cx="1869719" cy="1886551"/>
          </a:xfrm>
          <a:custGeom>
            <a:avLst/>
            <a:gdLst>
              <a:gd name="connsiteX0" fmla="*/ 0 w 1869719"/>
              <a:gd name="connsiteY0" fmla="*/ 871682 h 1886551"/>
              <a:gd name="connsiteX1" fmla="*/ 871682 w 1869719"/>
              <a:gd name="connsiteY1" fmla="*/ 871682 h 1886551"/>
              <a:gd name="connsiteX2" fmla="*/ 871682 w 1869719"/>
              <a:gd name="connsiteY2" fmla="*/ 0 h 1886551"/>
              <a:gd name="connsiteX3" fmla="*/ 998037 w 1869719"/>
              <a:gd name="connsiteY3" fmla="*/ 0 h 1886551"/>
              <a:gd name="connsiteX4" fmla="*/ 998037 w 1869719"/>
              <a:gd name="connsiteY4" fmla="*/ 871682 h 1886551"/>
              <a:gd name="connsiteX5" fmla="*/ 1869719 w 1869719"/>
              <a:gd name="connsiteY5" fmla="*/ 871682 h 1886551"/>
              <a:gd name="connsiteX6" fmla="*/ 1869719 w 1869719"/>
              <a:gd name="connsiteY6" fmla="*/ 1014869 h 1886551"/>
              <a:gd name="connsiteX7" fmla="*/ 998037 w 1869719"/>
              <a:gd name="connsiteY7" fmla="*/ 1014869 h 1886551"/>
              <a:gd name="connsiteX8" fmla="*/ 998037 w 1869719"/>
              <a:gd name="connsiteY8" fmla="*/ 1886551 h 1886551"/>
              <a:gd name="connsiteX9" fmla="*/ 871682 w 1869719"/>
              <a:gd name="connsiteY9" fmla="*/ 1886551 h 1886551"/>
              <a:gd name="connsiteX10" fmla="*/ 871682 w 1869719"/>
              <a:gd name="connsiteY10" fmla="*/ 1014869 h 1886551"/>
              <a:gd name="connsiteX11" fmla="*/ 0 w 1869719"/>
              <a:gd name="connsiteY11" fmla="*/ 1014869 h 1886551"/>
              <a:gd name="connsiteX12" fmla="*/ 0 w 1869719"/>
              <a:gd name="connsiteY12" fmla="*/ 871682 h 1886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869719" h="1886551" fill="none" extrusionOk="0">
                <a:moveTo>
                  <a:pt x="0" y="871682"/>
                </a:moveTo>
                <a:cubicBezTo>
                  <a:pt x="150577" y="878137"/>
                  <a:pt x="691672" y="826285"/>
                  <a:pt x="871682" y="871682"/>
                </a:cubicBezTo>
                <a:cubicBezTo>
                  <a:pt x="944600" y="699805"/>
                  <a:pt x="866968" y="165485"/>
                  <a:pt x="871682" y="0"/>
                </a:cubicBezTo>
                <a:cubicBezTo>
                  <a:pt x="917842" y="-3582"/>
                  <a:pt x="948566" y="-7301"/>
                  <a:pt x="998037" y="0"/>
                </a:cubicBezTo>
                <a:cubicBezTo>
                  <a:pt x="1034408" y="206213"/>
                  <a:pt x="958303" y="545702"/>
                  <a:pt x="998037" y="871682"/>
                </a:cubicBezTo>
                <a:cubicBezTo>
                  <a:pt x="1403914" y="918941"/>
                  <a:pt x="1768096" y="817161"/>
                  <a:pt x="1869719" y="871682"/>
                </a:cubicBezTo>
                <a:cubicBezTo>
                  <a:pt x="1862247" y="898346"/>
                  <a:pt x="1867979" y="944707"/>
                  <a:pt x="1869719" y="1014869"/>
                </a:cubicBezTo>
                <a:cubicBezTo>
                  <a:pt x="1548144" y="940983"/>
                  <a:pt x="1153210" y="1019821"/>
                  <a:pt x="998037" y="1014869"/>
                </a:cubicBezTo>
                <a:cubicBezTo>
                  <a:pt x="1038278" y="1306496"/>
                  <a:pt x="926672" y="1453007"/>
                  <a:pt x="998037" y="1886551"/>
                </a:cubicBezTo>
                <a:cubicBezTo>
                  <a:pt x="957192" y="1890993"/>
                  <a:pt x="910226" y="1892254"/>
                  <a:pt x="871682" y="1886551"/>
                </a:cubicBezTo>
                <a:cubicBezTo>
                  <a:pt x="900212" y="1470477"/>
                  <a:pt x="885227" y="1205920"/>
                  <a:pt x="871682" y="1014869"/>
                </a:cubicBezTo>
                <a:cubicBezTo>
                  <a:pt x="678222" y="1052749"/>
                  <a:pt x="371283" y="1038878"/>
                  <a:pt x="0" y="1014869"/>
                </a:cubicBezTo>
                <a:cubicBezTo>
                  <a:pt x="7573" y="960095"/>
                  <a:pt x="-108" y="893456"/>
                  <a:pt x="0" y="871682"/>
                </a:cubicBezTo>
                <a:close/>
              </a:path>
              <a:path w="1869719" h="1886551" stroke="0" extrusionOk="0">
                <a:moveTo>
                  <a:pt x="0" y="871682"/>
                </a:moveTo>
                <a:cubicBezTo>
                  <a:pt x="344289" y="885060"/>
                  <a:pt x="600800" y="905684"/>
                  <a:pt x="871682" y="871682"/>
                </a:cubicBezTo>
                <a:cubicBezTo>
                  <a:pt x="931893" y="628664"/>
                  <a:pt x="943650" y="370527"/>
                  <a:pt x="871682" y="0"/>
                </a:cubicBezTo>
                <a:cubicBezTo>
                  <a:pt x="893890" y="9838"/>
                  <a:pt x="946111" y="7517"/>
                  <a:pt x="998037" y="0"/>
                </a:cubicBezTo>
                <a:cubicBezTo>
                  <a:pt x="992055" y="159455"/>
                  <a:pt x="932820" y="532460"/>
                  <a:pt x="998037" y="871682"/>
                </a:cubicBezTo>
                <a:cubicBezTo>
                  <a:pt x="1357843" y="820993"/>
                  <a:pt x="1686362" y="905907"/>
                  <a:pt x="1869719" y="871682"/>
                </a:cubicBezTo>
                <a:cubicBezTo>
                  <a:pt x="1875174" y="925174"/>
                  <a:pt x="1873986" y="947346"/>
                  <a:pt x="1869719" y="1014869"/>
                </a:cubicBezTo>
                <a:cubicBezTo>
                  <a:pt x="1764808" y="1082825"/>
                  <a:pt x="1290886" y="1035898"/>
                  <a:pt x="998037" y="1014869"/>
                </a:cubicBezTo>
                <a:cubicBezTo>
                  <a:pt x="975473" y="1296156"/>
                  <a:pt x="935667" y="1781961"/>
                  <a:pt x="998037" y="1886551"/>
                </a:cubicBezTo>
                <a:cubicBezTo>
                  <a:pt x="962951" y="1880256"/>
                  <a:pt x="921537" y="1889798"/>
                  <a:pt x="871682" y="1886551"/>
                </a:cubicBezTo>
                <a:cubicBezTo>
                  <a:pt x="818077" y="1555126"/>
                  <a:pt x="859397" y="1130088"/>
                  <a:pt x="871682" y="1014869"/>
                </a:cubicBezTo>
                <a:cubicBezTo>
                  <a:pt x="608586" y="952921"/>
                  <a:pt x="306780" y="1005001"/>
                  <a:pt x="0" y="1014869"/>
                </a:cubicBezTo>
                <a:cubicBezTo>
                  <a:pt x="-3635" y="972697"/>
                  <a:pt x="-10926" y="894203"/>
                  <a:pt x="0" y="871682"/>
                </a:cubicBezTo>
                <a:close/>
              </a:path>
            </a:pathLst>
          </a:custGeom>
          <a:solidFill>
            <a:schemeClr val="accent2"/>
          </a:solidFill>
          <a:ln>
            <a:solidFill>
              <a:schemeClr val="accent2"/>
            </a:solidFill>
            <a:extLst>
              <a:ext uri="{C807C97D-BFC1-408E-A445-0C87EB9F89A2}">
                <ask:lineSketchStyleProps xmlns:ask="http://schemas.microsoft.com/office/drawing/2018/sketchyshapes" sd="3129110413">
                  <a:prstGeom prst="plus">
                    <a:avLst>
                      <a:gd name="adj" fmla="val 46621"/>
                    </a:avLst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4548D72B-CA5C-59FC-584F-E0EF5BBB25BA}"/>
              </a:ext>
            </a:extLst>
          </p:cNvPr>
          <p:cNvSpPr/>
          <p:nvPr/>
        </p:nvSpPr>
        <p:spPr>
          <a:xfrm>
            <a:off x="7090921" y="4792728"/>
            <a:ext cx="1253486" cy="1236539"/>
          </a:xfrm>
          <a:custGeom>
            <a:avLst/>
            <a:gdLst>
              <a:gd name="connsiteX0" fmla="*/ 0 w 1253486"/>
              <a:gd name="connsiteY0" fmla="*/ 618270 h 1236539"/>
              <a:gd name="connsiteX1" fmla="*/ 626743 w 1253486"/>
              <a:gd name="connsiteY1" fmla="*/ 0 h 1236539"/>
              <a:gd name="connsiteX2" fmla="*/ 1253486 w 1253486"/>
              <a:gd name="connsiteY2" fmla="*/ 618270 h 1236539"/>
              <a:gd name="connsiteX3" fmla="*/ 626743 w 1253486"/>
              <a:gd name="connsiteY3" fmla="*/ 1236540 h 1236539"/>
              <a:gd name="connsiteX4" fmla="*/ 0 w 1253486"/>
              <a:gd name="connsiteY4" fmla="*/ 618270 h 1236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53486" h="1236539" extrusionOk="0">
                <a:moveTo>
                  <a:pt x="0" y="618270"/>
                </a:moveTo>
                <a:cubicBezTo>
                  <a:pt x="11333" y="288976"/>
                  <a:pt x="265442" y="19656"/>
                  <a:pt x="626743" y="0"/>
                </a:cubicBezTo>
                <a:cubicBezTo>
                  <a:pt x="963521" y="-49908"/>
                  <a:pt x="1223269" y="275473"/>
                  <a:pt x="1253486" y="618270"/>
                </a:cubicBezTo>
                <a:cubicBezTo>
                  <a:pt x="1256702" y="984230"/>
                  <a:pt x="1029945" y="1242942"/>
                  <a:pt x="626743" y="1236540"/>
                </a:cubicBezTo>
                <a:cubicBezTo>
                  <a:pt x="282897" y="1246744"/>
                  <a:pt x="5423" y="961932"/>
                  <a:pt x="0" y="618270"/>
                </a:cubicBezTo>
                <a:close/>
              </a:path>
            </a:pathLst>
          </a:custGeom>
          <a:noFill/>
          <a:ln w="76200">
            <a:solidFill>
              <a:schemeClr val="accent4">
                <a:lumMod val="40000"/>
                <a:lumOff val="60000"/>
              </a:schemeClr>
            </a:solidFill>
            <a:extLst>
              <a:ext uri="{C807C97D-BFC1-408E-A445-0C87EB9F89A2}">
                <ask:lineSketchStyleProps xmlns:ask="http://schemas.microsoft.com/office/drawing/2018/sketchyshapes" sd="1678478707">
                  <a:prstGeom prst="ellipse">
                    <a:avLst/>
                  </a:prstGeom>
                  <ask:type>
                    <ask:lineSketchCurve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7312343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015999"/>
            <a:ext cx="11357897" cy="938159"/>
          </a:xfrm>
        </p:spPr>
        <p:txBody>
          <a:bodyPr/>
          <a:lstStyle/>
          <a:p>
            <a:r>
              <a:rPr lang="ja-JP" altLang="en-US" dirty="0"/>
              <a:t>３つあることが一目でわかる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471271" y="1994510"/>
            <a:ext cx="3649340" cy="462219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4314710" y="1987780"/>
            <a:ext cx="3649340" cy="462219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8131938" y="1994510"/>
            <a:ext cx="3649340" cy="4622190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531259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4358102" y="200370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479700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4333110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2800" b="1" dirty="0">
              <a:solidFill>
                <a:schemeClr val="accent4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8202685" y="200370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8148196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13524943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015999"/>
            <a:ext cx="11357897" cy="938159"/>
          </a:xfrm>
        </p:spPr>
        <p:txBody>
          <a:bodyPr/>
          <a:lstStyle/>
          <a:p>
            <a:r>
              <a:rPr lang="ja-JP" altLang="en-US" dirty="0"/>
              <a:t>順序関係がある場合は並列よりこちらが良い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３</a:t>
            </a:r>
            <a:r>
              <a:rPr kumimoji="1" lang="ja-JP" altLang="en-US" dirty="0"/>
              <a:t>カードのレイアウトテンプレートのアレンジ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471270" y="1994510"/>
            <a:ext cx="4333735" cy="3452668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6B3703F-3442-4C13-A424-26EDC78FA83C}"/>
              </a:ext>
            </a:extLst>
          </p:cNvPr>
          <p:cNvSpPr/>
          <p:nvPr/>
        </p:nvSpPr>
        <p:spPr>
          <a:xfrm>
            <a:off x="3975496" y="2474477"/>
            <a:ext cx="4333735" cy="346110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12938DBA-3C61-44F9-B40C-5EE6E7382AD8}"/>
              </a:ext>
            </a:extLst>
          </p:cNvPr>
          <p:cNvSpPr/>
          <p:nvPr/>
        </p:nvSpPr>
        <p:spPr>
          <a:xfrm>
            <a:off x="7479722" y="2962880"/>
            <a:ext cx="4333735" cy="3461104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531259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36301C33-873B-474E-BF88-9FB516462188}"/>
              </a:ext>
            </a:extLst>
          </p:cNvPr>
          <p:cNvSpPr txBox="1"/>
          <p:nvPr/>
        </p:nvSpPr>
        <p:spPr>
          <a:xfrm>
            <a:off x="4018889" y="2490401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479700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621D5999-FC9D-4598-9163-72444CBA8BFD}"/>
              </a:ext>
            </a:extLst>
          </p:cNvPr>
          <p:cNvSpPr txBox="1"/>
          <p:nvPr/>
        </p:nvSpPr>
        <p:spPr>
          <a:xfrm>
            <a:off x="3993897" y="2767069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  <a:endParaRPr kumimoji="1" lang="ja-JP" altLang="en-US" sz="2800" b="1" dirty="0">
              <a:solidFill>
                <a:schemeClr val="accent4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150C880-B64C-462F-9C59-C613006463BF}"/>
              </a:ext>
            </a:extLst>
          </p:cNvPr>
          <p:cNvSpPr txBox="1"/>
          <p:nvPr/>
        </p:nvSpPr>
        <p:spPr>
          <a:xfrm>
            <a:off x="7550470" y="2972074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5A50A97-71BB-427E-9EEF-4F8464471794}"/>
              </a:ext>
            </a:extLst>
          </p:cNvPr>
          <p:cNvSpPr txBox="1"/>
          <p:nvPr/>
        </p:nvSpPr>
        <p:spPr>
          <a:xfrm>
            <a:off x="7495981" y="324874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17F509DC-624C-49A3-87E6-BBEE33EDEF3D}"/>
              </a:ext>
            </a:extLst>
          </p:cNvPr>
          <p:cNvGrpSpPr/>
          <p:nvPr/>
        </p:nvGrpSpPr>
        <p:grpSpPr>
          <a:xfrm rot="19356426" flipV="1">
            <a:off x="4678821" y="1901851"/>
            <a:ext cx="638334" cy="948153"/>
            <a:chOff x="2664127" y="3374455"/>
            <a:chExt cx="1201975" cy="1567649"/>
          </a:xfrm>
        </p:grpSpPr>
        <p:sp>
          <p:nvSpPr>
            <p:cNvPr id="15" name="二等辺三角形 14">
              <a:extLst>
                <a:ext uri="{FF2B5EF4-FFF2-40B4-BE49-F238E27FC236}">
                  <a16:creationId xmlns:a16="http://schemas.microsoft.com/office/drawing/2014/main" id="{9EEC710F-D694-4533-BCFA-E134D0A97020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6" name="フリーフォーム: 図形 15">
              <a:extLst>
                <a:ext uri="{FF2B5EF4-FFF2-40B4-BE49-F238E27FC236}">
                  <a16:creationId xmlns:a16="http://schemas.microsoft.com/office/drawing/2014/main" id="{15C81248-34D7-4734-9365-7AF9C9D6CE42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17" name="グループ化 16">
            <a:extLst>
              <a:ext uri="{FF2B5EF4-FFF2-40B4-BE49-F238E27FC236}">
                <a16:creationId xmlns:a16="http://schemas.microsoft.com/office/drawing/2014/main" id="{62916356-7E2D-4DCC-AB30-31745E58C8A8}"/>
              </a:ext>
            </a:extLst>
          </p:cNvPr>
          <p:cNvGrpSpPr/>
          <p:nvPr/>
        </p:nvGrpSpPr>
        <p:grpSpPr>
          <a:xfrm rot="19356426" flipV="1">
            <a:off x="8176087" y="2353531"/>
            <a:ext cx="638334" cy="948153"/>
            <a:chOff x="2664127" y="3374455"/>
            <a:chExt cx="1201975" cy="1567649"/>
          </a:xfrm>
        </p:grpSpPr>
        <p:sp>
          <p:nvSpPr>
            <p:cNvPr id="18" name="二等辺三角形 17">
              <a:extLst>
                <a:ext uri="{FF2B5EF4-FFF2-40B4-BE49-F238E27FC236}">
                  <a16:creationId xmlns:a16="http://schemas.microsoft.com/office/drawing/2014/main" id="{C87AD141-B943-4BC4-BD07-C571A6486C27}"/>
                </a:ext>
              </a:extLst>
            </p:cNvPr>
            <p:cNvSpPr/>
            <p:nvPr/>
          </p:nvSpPr>
          <p:spPr>
            <a:xfrm rot="21516842">
              <a:off x="3025444" y="3374455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9" name="フリーフォーム: 図形 18">
              <a:extLst>
                <a:ext uri="{FF2B5EF4-FFF2-40B4-BE49-F238E27FC236}">
                  <a16:creationId xmlns:a16="http://schemas.microsoft.com/office/drawing/2014/main" id="{7964E781-5C13-4DB8-8006-A03F32235976}"/>
                </a:ext>
              </a:extLst>
            </p:cNvPr>
            <p:cNvSpPr/>
            <p:nvPr/>
          </p:nvSpPr>
          <p:spPr>
            <a:xfrm>
              <a:off x="2664127" y="3827205"/>
              <a:ext cx="956601" cy="1114899"/>
            </a:xfrm>
            <a:custGeom>
              <a:avLst/>
              <a:gdLst>
                <a:gd name="connsiteX0" fmla="*/ 649311 w 956601"/>
                <a:gd name="connsiteY0" fmla="*/ 0 h 1114899"/>
                <a:gd name="connsiteX1" fmla="*/ 956601 w 956601"/>
                <a:gd name="connsiteY1" fmla="*/ 0 h 1114899"/>
                <a:gd name="connsiteX2" fmla="*/ 951973 w 956601"/>
                <a:gd name="connsiteY2" fmla="*/ 97117 h 1114899"/>
                <a:gd name="connsiteX3" fmla="*/ 5472 w 956601"/>
                <a:gd name="connsiteY3" fmla="*/ 1113687 h 1114899"/>
                <a:gd name="connsiteX4" fmla="*/ 0 w 956601"/>
                <a:gd name="connsiteY4" fmla="*/ 1114899 h 1114899"/>
                <a:gd name="connsiteX5" fmla="*/ 40056 w 956601"/>
                <a:gd name="connsiteY5" fmla="*/ 1089636 h 1114899"/>
                <a:gd name="connsiteX6" fmla="*/ 638394 w 956601"/>
                <a:gd name="connsiteY6" fmla="*/ 162145 h 1114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56601" h="1114899">
                  <a:moveTo>
                    <a:pt x="649311" y="0"/>
                  </a:moveTo>
                  <a:lnTo>
                    <a:pt x="956601" y="0"/>
                  </a:lnTo>
                  <a:lnTo>
                    <a:pt x="951973" y="97117"/>
                  </a:lnTo>
                  <a:cubicBezTo>
                    <a:pt x="906000" y="577465"/>
                    <a:pt x="522068" y="975272"/>
                    <a:pt x="5472" y="1113687"/>
                  </a:cubicBezTo>
                  <a:lnTo>
                    <a:pt x="0" y="1114899"/>
                  </a:lnTo>
                  <a:lnTo>
                    <a:pt x="40056" y="1089636"/>
                  </a:lnTo>
                  <a:cubicBezTo>
                    <a:pt x="365632" y="863013"/>
                    <a:pt x="587911" y="534591"/>
                    <a:pt x="638394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35325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015999"/>
            <a:ext cx="11357897" cy="938159"/>
          </a:xfrm>
        </p:spPr>
        <p:txBody>
          <a:bodyPr/>
          <a:lstStyle/>
          <a:p>
            <a:r>
              <a:rPr lang="ja-JP" altLang="en-US" dirty="0"/>
              <a:t>カードの間隔やアスペクト比は適宜調整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</a:t>
            </a: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640876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00865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649306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640876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700865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b="1" dirty="0">
              <a:solidFill>
                <a:schemeClr val="tx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649306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6201018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6261007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6209448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6201018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6261007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6209448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</p:spTree>
    <p:extLst>
      <p:ext uri="{BB962C8B-B14F-4D97-AF65-F5344CB8AC3E}">
        <p14:creationId xmlns:p14="http://schemas.microsoft.com/office/powerpoint/2010/main" val="38382897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9F1A11E8-9C9F-4A77-8B31-57D3139B4012}"/>
              </a:ext>
            </a:extLst>
          </p:cNvPr>
          <p:cNvSpPr/>
          <p:nvPr/>
        </p:nvSpPr>
        <p:spPr>
          <a:xfrm>
            <a:off x="6201018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ACBC013-96B2-409F-A562-B589C1D0B1BD}"/>
              </a:ext>
            </a:extLst>
          </p:cNvPr>
          <p:cNvSpPr/>
          <p:nvPr/>
        </p:nvSpPr>
        <p:spPr>
          <a:xfrm>
            <a:off x="6201018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232DDF0-95D5-460E-AA94-DC8D8DD0F064}"/>
              </a:ext>
            </a:extLst>
          </p:cNvPr>
          <p:cNvSpPr/>
          <p:nvPr/>
        </p:nvSpPr>
        <p:spPr>
          <a:xfrm>
            <a:off x="640876" y="4391123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9C0D132-2F4B-4006-8549-232F72C8420E}"/>
              </a:ext>
            </a:extLst>
          </p:cNvPr>
          <p:cNvSpPr/>
          <p:nvPr/>
        </p:nvSpPr>
        <p:spPr>
          <a:xfrm>
            <a:off x="640876" y="1994510"/>
            <a:ext cx="5341676" cy="2194032"/>
          </a:xfrm>
          <a:prstGeom prst="rect">
            <a:avLst/>
          </a:prstGeom>
          <a:solidFill>
            <a:srgbClr val="FFFFFF"/>
          </a:solidFill>
          <a:ln w="190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DE16C55-369C-4304-9852-55ED13ACD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799" y="1015999"/>
            <a:ext cx="11357897" cy="938159"/>
          </a:xfrm>
        </p:spPr>
        <p:txBody>
          <a:bodyPr/>
          <a:lstStyle/>
          <a:p>
            <a:r>
              <a:rPr lang="ja-JP" altLang="en-US" dirty="0"/>
              <a:t>循環がある場合はこんな感じが良い</a:t>
            </a:r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1A5A0-94BF-4998-8B9C-2A7D26AFF2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４カードのレイアウトテンプレートのアレンジ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841067-3C56-4306-BDEF-96AAF2CDC245}"/>
              </a:ext>
            </a:extLst>
          </p:cNvPr>
          <p:cNvSpPr txBox="1"/>
          <p:nvPr/>
        </p:nvSpPr>
        <p:spPr>
          <a:xfrm>
            <a:off x="700865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7ED84C-8E42-4B3F-9C8D-98BF1B9561CF}"/>
              </a:ext>
            </a:extLst>
          </p:cNvPr>
          <p:cNvSpPr txBox="1"/>
          <p:nvPr/>
        </p:nvSpPr>
        <p:spPr>
          <a:xfrm>
            <a:off x="649306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202D58C-18EE-4E67-9AEF-1DB098633F06}"/>
              </a:ext>
            </a:extLst>
          </p:cNvPr>
          <p:cNvSpPr txBox="1"/>
          <p:nvPr/>
        </p:nvSpPr>
        <p:spPr>
          <a:xfrm>
            <a:off x="700865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②</a:t>
            </a:r>
            <a:endParaRPr kumimoji="1" lang="ja-JP" altLang="en-US" b="1" dirty="0">
              <a:solidFill>
                <a:schemeClr val="tx2"/>
              </a:solidFill>
              <a:latin typeface="游ゴシック" panose="020B0400000000000000" pitchFamily="50" charset="-128"/>
              <a:ea typeface="游ゴシック" panose="020B0400000000000000" pitchFamily="50" charset="-128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43829EA-747F-4BA0-8F66-AFA3FDC010E5}"/>
              </a:ext>
            </a:extLst>
          </p:cNvPr>
          <p:cNvSpPr txBox="1"/>
          <p:nvPr/>
        </p:nvSpPr>
        <p:spPr>
          <a:xfrm>
            <a:off x="649306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305F87C2-6D93-4EA3-9EEA-55D3CDA272FA}"/>
              </a:ext>
            </a:extLst>
          </p:cNvPr>
          <p:cNvSpPr txBox="1"/>
          <p:nvPr/>
        </p:nvSpPr>
        <p:spPr>
          <a:xfrm>
            <a:off x="6261007" y="2006597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③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C663FC7-C1AA-4982-A767-1FF58FE96905}"/>
              </a:ext>
            </a:extLst>
          </p:cNvPr>
          <p:cNvSpPr txBox="1"/>
          <p:nvPr/>
        </p:nvSpPr>
        <p:spPr>
          <a:xfrm>
            <a:off x="6209448" y="2280372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E3373E90-C939-46D0-994B-AB3E8CD503F8}"/>
              </a:ext>
            </a:extLst>
          </p:cNvPr>
          <p:cNvSpPr txBox="1"/>
          <p:nvPr/>
        </p:nvSpPr>
        <p:spPr>
          <a:xfrm>
            <a:off x="6261007" y="4403210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1400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</a:t>
            </a:r>
            <a:r>
              <a:rPr kumimoji="1" lang="ja-JP" altLang="en-US" b="1" dirty="0">
                <a:solidFill>
                  <a:schemeClr val="tx2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④</a:t>
            </a: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0D3CB004-3604-4BD1-BEAE-D199DD31A9E0}"/>
              </a:ext>
            </a:extLst>
          </p:cNvPr>
          <p:cNvSpPr txBox="1"/>
          <p:nvPr/>
        </p:nvSpPr>
        <p:spPr>
          <a:xfrm>
            <a:off x="6209448" y="4676985"/>
            <a:ext cx="269817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2800" b="1" dirty="0">
                <a:solidFill>
                  <a:schemeClr val="accent4"/>
                </a:solidFill>
                <a:latin typeface="游ゴシック" panose="020B0400000000000000" pitchFamily="50" charset="-128"/>
                <a:ea typeface="游ゴシック" panose="020B0400000000000000" pitchFamily="50" charset="-128"/>
              </a:rPr>
              <a:t>カードの見出し</a:t>
            </a:r>
          </a:p>
        </p:txBody>
      </p:sp>
      <p:grpSp>
        <p:nvGrpSpPr>
          <p:cNvPr id="38" name="グループ化 37">
            <a:extLst>
              <a:ext uri="{FF2B5EF4-FFF2-40B4-BE49-F238E27FC236}">
                <a16:creationId xmlns:a16="http://schemas.microsoft.com/office/drawing/2014/main" id="{F763E3EA-C838-48BF-92C8-FD155CD72C61}"/>
              </a:ext>
            </a:extLst>
          </p:cNvPr>
          <p:cNvGrpSpPr/>
          <p:nvPr/>
        </p:nvGrpSpPr>
        <p:grpSpPr>
          <a:xfrm>
            <a:off x="5963376" y="5058404"/>
            <a:ext cx="595261" cy="523221"/>
            <a:chOff x="1572269" y="4816089"/>
            <a:chExt cx="938304" cy="840658"/>
          </a:xfrm>
        </p:grpSpPr>
        <p:sp>
          <p:nvSpPr>
            <p:cNvPr id="39" name="二等辺三角形 38">
              <a:extLst>
                <a:ext uri="{FF2B5EF4-FFF2-40B4-BE49-F238E27FC236}">
                  <a16:creationId xmlns:a16="http://schemas.microsoft.com/office/drawing/2014/main" id="{857E573D-CBEA-4840-BB8D-12A43C05AF2C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5EF6E50A-F8C0-4A0B-828C-3A1574F01379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1" name="グループ化 40">
            <a:extLst>
              <a:ext uri="{FF2B5EF4-FFF2-40B4-BE49-F238E27FC236}">
                <a16:creationId xmlns:a16="http://schemas.microsoft.com/office/drawing/2014/main" id="{98959377-C979-4DBC-91B0-EE8A4B495524}"/>
              </a:ext>
            </a:extLst>
          </p:cNvPr>
          <p:cNvGrpSpPr/>
          <p:nvPr/>
        </p:nvGrpSpPr>
        <p:grpSpPr>
          <a:xfrm rot="16200000">
            <a:off x="6871061" y="3852436"/>
            <a:ext cx="595261" cy="523221"/>
            <a:chOff x="1572269" y="4816089"/>
            <a:chExt cx="938304" cy="840658"/>
          </a:xfrm>
        </p:grpSpPr>
        <p:sp>
          <p:nvSpPr>
            <p:cNvPr id="42" name="二等辺三角形 41">
              <a:extLst>
                <a:ext uri="{FF2B5EF4-FFF2-40B4-BE49-F238E27FC236}">
                  <a16:creationId xmlns:a16="http://schemas.microsoft.com/office/drawing/2014/main" id="{D24E386F-2924-40CC-9E36-E7C432F87F61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3" name="フリーフォーム: 図形 42">
              <a:extLst>
                <a:ext uri="{FF2B5EF4-FFF2-40B4-BE49-F238E27FC236}">
                  <a16:creationId xmlns:a16="http://schemas.microsoft.com/office/drawing/2014/main" id="{01947CE4-9925-438C-87B9-4BD670E28BBC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4" name="グループ化 43">
            <a:extLst>
              <a:ext uri="{FF2B5EF4-FFF2-40B4-BE49-F238E27FC236}">
                <a16:creationId xmlns:a16="http://schemas.microsoft.com/office/drawing/2014/main" id="{3F72FAD5-5227-424C-B040-A021696E413C}"/>
              </a:ext>
            </a:extLst>
          </p:cNvPr>
          <p:cNvGrpSpPr/>
          <p:nvPr/>
        </p:nvGrpSpPr>
        <p:grpSpPr>
          <a:xfrm rot="10800000">
            <a:off x="5622654" y="3077138"/>
            <a:ext cx="595261" cy="523221"/>
            <a:chOff x="1572269" y="4816089"/>
            <a:chExt cx="938304" cy="840658"/>
          </a:xfrm>
        </p:grpSpPr>
        <p:sp>
          <p:nvSpPr>
            <p:cNvPr id="45" name="二等辺三角形 44">
              <a:extLst>
                <a:ext uri="{FF2B5EF4-FFF2-40B4-BE49-F238E27FC236}">
                  <a16:creationId xmlns:a16="http://schemas.microsoft.com/office/drawing/2014/main" id="{CC9CF80C-33A0-4CD9-A492-0F5FE96D7E9F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464BB2E2-722B-44B5-98C5-2E999D1E52E1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47" name="グループ化 46">
            <a:extLst>
              <a:ext uri="{FF2B5EF4-FFF2-40B4-BE49-F238E27FC236}">
                <a16:creationId xmlns:a16="http://schemas.microsoft.com/office/drawing/2014/main" id="{DF776DC2-B0C8-4C4B-870E-11E5094A648C}"/>
              </a:ext>
            </a:extLst>
          </p:cNvPr>
          <p:cNvGrpSpPr/>
          <p:nvPr/>
        </p:nvGrpSpPr>
        <p:grpSpPr>
          <a:xfrm rot="5400000">
            <a:off x="4798844" y="4214160"/>
            <a:ext cx="595261" cy="523221"/>
            <a:chOff x="1572269" y="4816089"/>
            <a:chExt cx="938304" cy="840658"/>
          </a:xfrm>
        </p:grpSpPr>
        <p:sp>
          <p:nvSpPr>
            <p:cNvPr id="48" name="二等辺三角形 47">
              <a:extLst>
                <a:ext uri="{FF2B5EF4-FFF2-40B4-BE49-F238E27FC236}">
                  <a16:creationId xmlns:a16="http://schemas.microsoft.com/office/drawing/2014/main" id="{B73EA7B5-2C86-4BC2-927B-676AE8EE2F83}"/>
                </a:ext>
              </a:extLst>
            </p:cNvPr>
            <p:cNvSpPr/>
            <p:nvPr/>
          </p:nvSpPr>
          <p:spPr>
            <a:xfrm rot="4051206">
              <a:off x="1854270" y="5000443"/>
              <a:ext cx="840658" cy="471949"/>
            </a:xfrm>
            <a:prstGeom prst="triangle">
              <a:avLst/>
            </a:pr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49" name="フリーフォーム: 図形 48">
              <a:extLst>
                <a:ext uri="{FF2B5EF4-FFF2-40B4-BE49-F238E27FC236}">
                  <a16:creationId xmlns:a16="http://schemas.microsoft.com/office/drawing/2014/main" id="{6394FB25-B87E-4AD3-80ED-6FD1473CADC2}"/>
                </a:ext>
              </a:extLst>
            </p:cNvPr>
            <p:cNvSpPr/>
            <p:nvPr/>
          </p:nvSpPr>
          <p:spPr>
            <a:xfrm rot="4134364">
              <a:off x="1636592" y="5135506"/>
              <a:ext cx="382670" cy="511315"/>
            </a:xfrm>
            <a:custGeom>
              <a:avLst/>
              <a:gdLst>
                <a:gd name="connsiteX0" fmla="*/ 75380 w 382670"/>
                <a:gd name="connsiteY0" fmla="*/ 0 h 511315"/>
                <a:gd name="connsiteX1" fmla="*/ 382670 w 382670"/>
                <a:gd name="connsiteY1" fmla="*/ 0 h 511315"/>
                <a:gd name="connsiteX2" fmla="*/ 378042 w 382670"/>
                <a:gd name="connsiteY2" fmla="*/ 97117 h 511315"/>
                <a:gd name="connsiteX3" fmla="*/ 283402 w 382670"/>
                <a:gd name="connsiteY3" fmla="*/ 439138 h 511315"/>
                <a:gd name="connsiteX4" fmla="*/ 241829 w 382670"/>
                <a:gd name="connsiteY4" fmla="*/ 511315 h 511315"/>
                <a:gd name="connsiteX5" fmla="*/ 0 w 382670"/>
                <a:gd name="connsiteY5" fmla="*/ 418030 h 511315"/>
                <a:gd name="connsiteX6" fmla="*/ 37613 w 382670"/>
                <a:gd name="connsiteY6" fmla="*/ 299636 h 511315"/>
                <a:gd name="connsiteX7" fmla="*/ 64463 w 382670"/>
                <a:gd name="connsiteY7" fmla="*/ 162145 h 5113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82670" h="511315">
                  <a:moveTo>
                    <a:pt x="75380" y="0"/>
                  </a:moveTo>
                  <a:lnTo>
                    <a:pt x="382670" y="0"/>
                  </a:lnTo>
                  <a:lnTo>
                    <a:pt x="378042" y="97117"/>
                  </a:lnTo>
                  <a:cubicBezTo>
                    <a:pt x="366549" y="217204"/>
                    <a:pt x="333933" y="332132"/>
                    <a:pt x="283402" y="439138"/>
                  </a:cubicBezTo>
                  <a:lnTo>
                    <a:pt x="241829" y="511315"/>
                  </a:lnTo>
                  <a:lnTo>
                    <a:pt x="0" y="418030"/>
                  </a:lnTo>
                  <a:lnTo>
                    <a:pt x="37613" y="299636"/>
                  </a:lnTo>
                  <a:cubicBezTo>
                    <a:pt x="49158" y="254569"/>
                    <a:pt x="58153" y="208701"/>
                    <a:pt x="64463" y="1621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kumimoji="1" lang="ja-JP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994194877"/>
      </p:ext>
    </p:extLst>
  </p:cSld>
  <p:clrMapOvr>
    <a:masterClrMapping/>
  </p:clrMapOvr>
</p:sld>
</file>

<file path=ppt/theme/theme1.xml><?xml version="1.0" encoding="utf-8"?>
<a:theme xmlns:a="http://schemas.openxmlformats.org/drawingml/2006/main" name="研究発表スライドマスタ">
  <a:themeElements>
    <a:clrScheme name="ユーザー定義 8">
      <a:dk1>
        <a:srgbClr val="4D4D4D"/>
      </a:dk1>
      <a:lt1>
        <a:srgbClr val="F8F8F8"/>
      </a:lt1>
      <a:dk2>
        <a:srgbClr val="7F7F7F"/>
      </a:dk2>
      <a:lt2>
        <a:srgbClr val="B2B2B2"/>
      </a:lt2>
      <a:accent1>
        <a:srgbClr val="2E5B96"/>
      </a:accent1>
      <a:accent2>
        <a:srgbClr val="C03936"/>
      </a:accent2>
      <a:accent3>
        <a:srgbClr val="ED7D31"/>
      </a:accent3>
      <a:accent4>
        <a:srgbClr val="3E9288"/>
      </a:accent4>
      <a:accent5>
        <a:srgbClr val="4747C1"/>
      </a:accent5>
      <a:accent6>
        <a:srgbClr val="70AD47"/>
      </a:accent6>
      <a:hlink>
        <a:srgbClr val="0563C1"/>
      </a:hlink>
      <a:folHlink>
        <a:srgbClr val="954F72"/>
      </a:folHlink>
    </a:clrScheme>
    <a:fontScheme name="ユーザー定義 2">
      <a:majorFont>
        <a:latin typeface="Segoe UI"/>
        <a:ea typeface="游ゴシック Medium"/>
        <a:cs typeface=""/>
      </a:majorFont>
      <a:minorFont>
        <a:latin typeface="Segoe UI"/>
        <a:ea typeface="游ゴシック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テンプレート" id="{4277D8D4-9358-CF46-AD5D-1A76F80E8CDA}" vid="{490466FF-E944-CA4C-8335-8B13B1B780AB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E7783413B678BA4F83764129A5DB4607" ma:contentTypeVersion="0" ma:contentTypeDescription="新しいドキュメントを作成します。" ma:contentTypeScope="" ma:versionID="36bbfa3e05015206d9e02241ed477da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bfa5fc393d419cfd9816b88a984ff78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B33ED81-A378-482E-B710-0D21A32023B2}">
  <ds:schemaRefs>
    <ds:schemaRef ds:uri="http://www.w3.org/XML/1998/namespace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purl.org/dc/elements/1.1/"/>
    <ds:schemaRef ds:uri="http://schemas.openxmlformats.org/package/2006/metadata/core-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BE74453E-F96D-478A-A3EE-1788D5BEB2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0EFD21F3-24CC-4605-A5CE-D678D2531AF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研究発表スライドマスタ</Template>
  <TotalTime>2483</TotalTime>
  <Words>783</Words>
  <Application>Microsoft Macintosh PowerPoint</Application>
  <PresentationFormat>ワイド画面</PresentationFormat>
  <Paragraphs>148</Paragraphs>
  <Slides>16</Slides>
  <Notes>1</Notes>
  <HiddenSlides>7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16</vt:i4>
      </vt:variant>
    </vt:vector>
  </HeadingPairs>
  <TitlesOfParts>
    <vt:vector size="23" baseType="lpstr">
      <vt:lpstr>Yu Gothic</vt:lpstr>
      <vt:lpstr>Yu Gothic</vt:lpstr>
      <vt:lpstr>游ゴシック Medium</vt:lpstr>
      <vt:lpstr>Arial</vt:lpstr>
      <vt:lpstr>Segoe UI</vt:lpstr>
      <vt:lpstr>Wingdings</vt:lpstr>
      <vt:lpstr>研究発表スライドマスタ</vt:lpstr>
      <vt:lpstr>PowerPoint プレゼンテーション</vt:lpstr>
      <vt:lpstr>DCAの濃度は2µMに決定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寸法や色は場合に応じて調整しましょう</vt:lpstr>
      <vt:lpstr>PowerPoint プレゼンテーション</vt:lpstr>
      <vt:lpstr>３つあることが一目でわかる</vt:lpstr>
      <vt:lpstr>順序関係がある場合は並列よりこちらが良い</vt:lpstr>
      <vt:lpstr>カードの間隔やアスペクト比は適宜調整</vt:lpstr>
      <vt:lpstr>循環がある場合はこんな感じが良い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NAKAMURA Yusaku</dc:creator>
  <cp:lastModifiedBy>NAKAMURA Yusaku</cp:lastModifiedBy>
  <cp:revision>13</cp:revision>
  <dcterms:created xsi:type="dcterms:W3CDTF">2024-05-30T04:20:08Z</dcterms:created>
  <dcterms:modified xsi:type="dcterms:W3CDTF">2024-07-02T02:17:47Z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0x010100E7783413B678BA4F83764129A5DB4607</vt:lpwstr>
  </property>
</Properties>
</file>