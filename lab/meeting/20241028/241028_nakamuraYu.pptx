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96" r:id="rId5"/>
    <p:sldId id="366" r:id="rId6"/>
    <p:sldId id="365" r:id="rId7"/>
    <p:sldId id="310" r:id="rId8"/>
    <p:sldId id="331" r:id="rId9"/>
    <p:sldId id="298" r:id="rId10"/>
    <p:sldId id="304" r:id="rId11"/>
    <p:sldId id="300" r:id="rId12"/>
    <p:sldId id="302" r:id="rId13"/>
    <p:sldId id="301" r:id="rId14"/>
    <p:sldId id="303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8F8F8"/>
    <a:srgbClr val="3B6FBB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71" autoAdjust="0"/>
    <p:restoredTop sz="94660"/>
  </p:normalViewPr>
  <p:slideViewPr>
    <p:cSldViewPr snapToGrid="0">
      <p:cViewPr>
        <p:scale>
          <a:sx n="67" d="100"/>
          <a:sy n="67" d="100"/>
        </p:scale>
        <p:origin x="2664" y="1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733" y="3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yutteee/univ/latex/&#30740;&#31350;/8/2024_0705_resul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yutteee/univ/latex/&#30740;&#31350;/8/2024_0705_resul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Sheet1!$B$30:$M$30</c:f>
                <c:numCache>
                  <c:formatCode>General</c:formatCode>
                  <c:ptCount val="12"/>
                  <c:pt idx="0">
                    <c:v>5.2254290371402359</c:v>
                  </c:pt>
                  <c:pt idx="1">
                    <c:v>15.189915402225068</c:v>
                  </c:pt>
                  <c:pt idx="2">
                    <c:v>9.8803476361860181</c:v>
                  </c:pt>
                  <c:pt idx="3">
                    <c:v>31.385706168104743</c:v>
                  </c:pt>
                  <c:pt idx="4">
                    <c:v>23.255909105997276</c:v>
                  </c:pt>
                  <c:pt idx="5">
                    <c:v>28.896330061292137</c:v>
                  </c:pt>
                  <c:pt idx="6">
                    <c:v>11.403554424968641</c:v>
                  </c:pt>
                  <c:pt idx="7">
                    <c:v>15.913594199298162</c:v>
                  </c:pt>
                  <c:pt idx="8">
                    <c:v>18.458173454560001</c:v>
                  </c:pt>
                  <c:pt idx="9">
                    <c:v>14.799966868782333</c:v>
                  </c:pt>
                  <c:pt idx="10">
                    <c:v>12.909658285258976</c:v>
                  </c:pt>
                  <c:pt idx="11">
                    <c:v>9.1972189130564139</c:v>
                  </c:pt>
                </c:numCache>
              </c:numRef>
            </c:plus>
            <c:minus>
              <c:numRef>
                <c:f>Sheet1!$B$30:$M$30</c:f>
                <c:numCache>
                  <c:formatCode>General</c:formatCode>
                  <c:ptCount val="12"/>
                  <c:pt idx="0">
                    <c:v>5.2254290371402359</c:v>
                  </c:pt>
                  <c:pt idx="1">
                    <c:v>15.189915402225068</c:v>
                  </c:pt>
                  <c:pt idx="2">
                    <c:v>9.8803476361860181</c:v>
                  </c:pt>
                  <c:pt idx="3">
                    <c:v>31.385706168104743</c:v>
                  </c:pt>
                  <c:pt idx="4">
                    <c:v>23.255909105997276</c:v>
                  </c:pt>
                  <c:pt idx="5">
                    <c:v>28.896330061292137</c:v>
                  </c:pt>
                  <c:pt idx="6">
                    <c:v>11.403554424968641</c:v>
                  </c:pt>
                  <c:pt idx="7">
                    <c:v>15.913594199298162</c:v>
                  </c:pt>
                  <c:pt idx="8">
                    <c:v>18.458173454560001</c:v>
                  </c:pt>
                  <c:pt idx="9">
                    <c:v>14.799966868782333</c:v>
                  </c:pt>
                  <c:pt idx="10">
                    <c:v>12.909658285258976</c:v>
                  </c:pt>
                  <c:pt idx="11">
                    <c:v>9.1972189130564139</c:v>
                  </c:pt>
                </c:numCache>
              </c:numRef>
            </c:minus>
            <c:spPr>
              <a:noFill/>
              <a:ln w="25400" cap="flat" cmpd="sng" algn="ctr">
                <a:solidFill>
                  <a:schemeClr val="tx1"/>
                </a:solidFill>
                <a:round/>
              </a:ln>
              <a:effectLst/>
            </c:spPr>
          </c:errBars>
          <c:cat>
            <c:strRef>
              <c:f>Sheet1!$B$22:$M$22</c:f>
              <c:strCache>
                <c:ptCount val="12"/>
                <c:pt idx="0">
                  <c:v>control</c:v>
                </c:pt>
                <c:pt idx="1">
                  <c:v>DCA only</c:v>
                </c:pt>
                <c:pt idx="2">
                  <c:v>QRPRGS</c:v>
                </c:pt>
                <c:pt idx="3">
                  <c:v>QRPRGS + DCA</c:v>
                </c:pt>
                <c:pt idx="4">
                  <c:v>QSKSRR</c:v>
                </c:pt>
                <c:pt idx="5">
                  <c:v>QSKSRR + DCA</c:v>
                </c:pt>
                <c:pt idx="6">
                  <c:v>QLSRRA</c:v>
                </c:pt>
                <c:pt idx="7">
                  <c:v>QLSRRA + DCA</c:v>
                </c:pt>
                <c:pt idx="8">
                  <c:v>PRPRQP</c:v>
                </c:pt>
                <c:pt idx="9">
                  <c:v>PRPRQP + DCA</c:v>
                </c:pt>
                <c:pt idx="10">
                  <c:v>VRFPLL</c:v>
                </c:pt>
                <c:pt idx="11">
                  <c:v>VRFPLL + DCA</c:v>
                </c:pt>
              </c:strCache>
            </c:strRef>
          </c:cat>
          <c:val>
            <c:numRef>
              <c:f>Sheet1!$B$29:$M$29</c:f>
              <c:numCache>
                <c:formatCode>General</c:formatCode>
                <c:ptCount val="12"/>
                <c:pt idx="0">
                  <c:v>-5.7561563522771655E-8</c:v>
                </c:pt>
                <c:pt idx="1">
                  <c:v>99.999999979393081</c:v>
                </c:pt>
                <c:pt idx="2">
                  <c:v>19.186321302997005</c:v>
                </c:pt>
                <c:pt idx="3">
                  <c:v>153.25035921005531</c:v>
                </c:pt>
                <c:pt idx="4">
                  <c:v>12.207730317219582</c:v>
                </c:pt>
                <c:pt idx="5">
                  <c:v>146.48204556468235</c:v>
                </c:pt>
                <c:pt idx="6">
                  <c:v>32.140966737114482</c:v>
                </c:pt>
                <c:pt idx="7">
                  <c:v>144.07460564889598</c:v>
                </c:pt>
                <c:pt idx="8">
                  <c:v>36.623627916124221</c:v>
                </c:pt>
                <c:pt idx="9">
                  <c:v>171.15942006570896</c:v>
                </c:pt>
                <c:pt idx="10">
                  <c:v>33.020816260535618</c:v>
                </c:pt>
                <c:pt idx="11">
                  <c:v>188.79703945980287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C1-AC42-BEF3-03E8762E70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95225423"/>
        <c:axId val="1295412271"/>
      </c:barChart>
      <c:catAx>
        <c:axId val="1295225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15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1295412271"/>
        <c:crosses val="autoZero"/>
        <c:auto val="1"/>
        <c:lblAlgn val="ctr"/>
        <c:lblOffset val="100"/>
        <c:noMultiLvlLbl val="0"/>
      </c:catAx>
      <c:valAx>
        <c:axId val="1295412271"/>
        <c:scaling>
          <c:orientation val="minMax"/>
          <c:max val="2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Relative Luc activity [%]</a:t>
                </a:r>
                <a:endParaRPr lang="ja-JP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ja-JP"/>
            </a:p>
          </c:txPr>
        </c:title>
        <c:numFmt formatCode="General" sourceLinked="1"/>
        <c:majorTickMark val="in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1295225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Sheet1!$B$30:$M$30</c:f>
                <c:numCache>
                  <c:formatCode>General</c:formatCode>
                  <c:ptCount val="12"/>
                  <c:pt idx="0">
                    <c:v>5.2254290371402359</c:v>
                  </c:pt>
                  <c:pt idx="1">
                    <c:v>15.189915402225068</c:v>
                  </c:pt>
                  <c:pt idx="2">
                    <c:v>9.8803476361860181</c:v>
                  </c:pt>
                  <c:pt idx="3">
                    <c:v>31.385706168104743</c:v>
                  </c:pt>
                  <c:pt idx="4">
                    <c:v>23.255909105997276</c:v>
                  </c:pt>
                  <c:pt idx="5">
                    <c:v>28.896330061292137</c:v>
                  </c:pt>
                  <c:pt idx="6">
                    <c:v>11.403554424968641</c:v>
                  </c:pt>
                  <c:pt idx="7">
                    <c:v>15.913594199298162</c:v>
                  </c:pt>
                  <c:pt idx="8">
                    <c:v>18.458173454560001</c:v>
                  </c:pt>
                  <c:pt idx="9">
                    <c:v>14.799966868782333</c:v>
                  </c:pt>
                  <c:pt idx="10">
                    <c:v>12.909658285258976</c:v>
                  </c:pt>
                  <c:pt idx="11">
                    <c:v>9.1972189130564139</c:v>
                  </c:pt>
                </c:numCache>
              </c:numRef>
            </c:plus>
            <c:minus>
              <c:numRef>
                <c:f>Sheet1!$B$30:$M$30</c:f>
                <c:numCache>
                  <c:formatCode>General</c:formatCode>
                  <c:ptCount val="12"/>
                  <c:pt idx="0">
                    <c:v>5.2254290371402359</c:v>
                  </c:pt>
                  <c:pt idx="1">
                    <c:v>15.189915402225068</c:v>
                  </c:pt>
                  <c:pt idx="2">
                    <c:v>9.8803476361860181</c:v>
                  </c:pt>
                  <c:pt idx="3">
                    <c:v>31.385706168104743</c:v>
                  </c:pt>
                  <c:pt idx="4">
                    <c:v>23.255909105997276</c:v>
                  </c:pt>
                  <c:pt idx="5">
                    <c:v>28.896330061292137</c:v>
                  </c:pt>
                  <c:pt idx="6">
                    <c:v>11.403554424968641</c:v>
                  </c:pt>
                  <c:pt idx="7">
                    <c:v>15.913594199298162</c:v>
                  </c:pt>
                  <c:pt idx="8">
                    <c:v>18.458173454560001</c:v>
                  </c:pt>
                  <c:pt idx="9">
                    <c:v>14.799966868782333</c:v>
                  </c:pt>
                  <c:pt idx="10">
                    <c:v>12.909658285258976</c:v>
                  </c:pt>
                  <c:pt idx="11">
                    <c:v>9.1972189130564139</c:v>
                  </c:pt>
                </c:numCache>
              </c:numRef>
            </c:minus>
            <c:spPr>
              <a:noFill/>
              <a:ln w="25400" cap="flat" cmpd="sng" algn="ctr">
                <a:solidFill>
                  <a:schemeClr val="tx1"/>
                </a:solidFill>
                <a:round/>
              </a:ln>
              <a:effectLst/>
            </c:spPr>
          </c:errBars>
          <c:cat>
            <c:strRef>
              <c:f>Sheet1!$B$22:$M$22</c:f>
              <c:strCache>
                <c:ptCount val="12"/>
                <c:pt idx="0">
                  <c:v>control</c:v>
                </c:pt>
                <c:pt idx="1">
                  <c:v>DCA only</c:v>
                </c:pt>
                <c:pt idx="2">
                  <c:v>QRPRGS</c:v>
                </c:pt>
                <c:pt idx="3">
                  <c:v>QRPRGS + DCA</c:v>
                </c:pt>
                <c:pt idx="4">
                  <c:v>QSKSRR</c:v>
                </c:pt>
                <c:pt idx="5">
                  <c:v>QSKSRR + DCA</c:v>
                </c:pt>
                <c:pt idx="6">
                  <c:v>QLSRRA</c:v>
                </c:pt>
                <c:pt idx="7">
                  <c:v>QLSRRA + DCA</c:v>
                </c:pt>
                <c:pt idx="8">
                  <c:v>PRPRQP</c:v>
                </c:pt>
                <c:pt idx="9">
                  <c:v>PRPRQP + DCA</c:v>
                </c:pt>
                <c:pt idx="10">
                  <c:v>VRFPLL</c:v>
                </c:pt>
                <c:pt idx="11">
                  <c:v>VRFPLL + DCA</c:v>
                </c:pt>
              </c:strCache>
            </c:strRef>
          </c:cat>
          <c:val>
            <c:numRef>
              <c:f>Sheet1!$B$29:$M$29</c:f>
              <c:numCache>
                <c:formatCode>General</c:formatCode>
                <c:ptCount val="12"/>
                <c:pt idx="0">
                  <c:v>-5.7561563522771655E-8</c:v>
                </c:pt>
                <c:pt idx="1">
                  <c:v>99.999999979393081</c:v>
                </c:pt>
                <c:pt idx="2">
                  <c:v>19.186321302997005</c:v>
                </c:pt>
                <c:pt idx="3">
                  <c:v>153.25035921005531</c:v>
                </c:pt>
                <c:pt idx="4">
                  <c:v>12.207730317219582</c:v>
                </c:pt>
                <c:pt idx="5">
                  <c:v>146.48204556468235</c:v>
                </c:pt>
                <c:pt idx="6">
                  <c:v>32.140966737114482</c:v>
                </c:pt>
                <c:pt idx="7">
                  <c:v>144.07460564889598</c:v>
                </c:pt>
                <c:pt idx="8">
                  <c:v>36.623627916124221</c:v>
                </c:pt>
                <c:pt idx="9">
                  <c:v>171.15942006570896</c:v>
                </c:pt>
                <c:pt idx="10">
                  <c:v>33.020816260535618</c:v>
                </c:pt>
                <c:pt idx="11">
                  <c:v>188.79703945980287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C1-AC42-BEF3-03E8762E70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95225423"/>
        <c:axId val="1295412271"/>
      </c:barChart>
      <c:catAx>
        <c:axId val="1295225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15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1295412271"/>
        <c:crosses val="autoZero"/>
        <c:auto val="1"/>
        <c:lblAlgn val="ctr"/>
        <c:lblOffset val="100"/>
        <c:noMultiLvlLbl val="0"/>
      </c:catAx>
      <c:valAx>
        <c:axId val="1295412271"/>
        <c:scaling>
          <c:orientation val="minMax"/>
          <c:max val="2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Relative Luc activity [%]</a:t>
                </a:r>
                <a:endParaRPr lang="ja-JP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ja-JP"/>
            </a:p>
          </c:txPr>
        </c:title>
        <c:numFmt formatCode="General" sourceLinked="1"/>
        <c:majorTickMark val="in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1295225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064B9691-87D6-48EF-9BFD-698344D045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86BE10E-3BBD-4023-B684-892AE173FF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2328F-004D-4D3A-9F80-6B7A705D1367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6367B9F-A0B4-4348-9C4B-89D15EDCB2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2CC2C2F-D89E-474B-9003-7069E7D90C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CC25F-5D23-455B-B707-89EC30CA97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7490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00887C-0EF1-4AC1-9E9B-79863B12620D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A420A-BDF0-4775-9670-07D3BFB5E9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9677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9A420A-BDF0-4775-9670-07D3BFB5E94B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4885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524000" y="2570163"/>
            <a:ext cx="9144000" cy="2387600"/>
          </a:xfrm>
        </p:spPr>
        <p:txBody>
          <a:bodyPr anchor="b">
            <a:noAutofit/>
          </a:bodyPr>
          <a:lstStyle>
            <a:lvl1pPr algn="l">
              <a:defRPr sz="4800" b="1" i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発表の内容と構成が想像できる</a:t>
            </a:r>
            <a:br>
              <a:rPr kumimoji="1" lang="en-US" altLang="ja-JP" dirty="0"/>
            </a:br>
            <a:r>
              <a:rPr kumimoji="1" lang="ja-JP" altLang="en-US" dirty="0"/>
              <a:t>発表題目をここに書く．</a:t>
            </a:r>
            <a:br>
              <a:rPr kumimoji="1" lang="en-US" altLang="ja-JP" dirty="0"/>
            </a:br>
            <a:r>
              <a:rPr kumimoji="1" lang="ja-JP" altLang="en-US" dirty="0"/>
              <a:t>単語の途中で改行しない．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524000" y="5110163"/>
            <a:ext cx="9144000" cy="561975"/>
          </a:xfrm>
        </p:spPr>
        <p:txBody>
          <a:bodyPr>
            <a:noAutofit/>
          </a:bodyPr>
          <a:lstStyle>
            <a:lvl1pPr marL="0" indent="0" algn="l">
              <a:buNone/>
              <a:defRPr sz="3600" b="1" i="0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発表者名</a:t>
            </a:r>
            <a:endParaRPr kumimoji="1" lang="en-US" altLang="ja-JP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5740400"/>
            <a:ext cx="9144000" cy="469900"/>
          </a:xfrm>
        </p:spPr>
        <p:txBody>
          <a:bodyPr/>
          <a:lstStyle>
            <a:lvl1pPr marL="0" indent="0" algn="l">
              <a:buNone/>
              <a:defRPr b="0">
                <a:latin typeface="+mj-lt"/>
                <a:ea typeface="+mn-ea"/>
              </a:defRPr>
            </a:lvl1pPr>
          </a:lstStyle>
          <a:p>
            <a:pPr lvl="0"/>
            <a:r>
              <a:rPr kumimoji="1" lang="ja-JP" altLang="en-US" dirty="0"/>
              <a:t>身分や所属など．関連する</a:t>
            </a:r>
            <a:r>
              <a:rPr kumimoji="1" lang="en-US" altLang="ja-JP" dirty="0"/>
              <a:t>SNS</a:t>
            </a:r>
            <a:r>
              <a:rPr kumimoji="1" lang="ja-JP" altLang="en-US" dirty="0"/>
              <a:t>アカウントなども．</a:t>
            </a:r>
          </a:p>
        </p:txBody>
      </p:sp>
      <p:cxnSp>
        <p:nvCxnSpPr>
          <p:cNvPr id="13" name="直線コネクタ 12"/>
          <p:cNvCxnSpPr/>
          <p:nvPr userDrawn="1"/>
        </p:nvCxnSpPr>
        <p:spPr>
          <a:xfrm flipV="1">
            <a:off x="0" y="5029200"/>
            <a:ext cx="12192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14"/>
          <p:cNvSpPr>
            <a:spLocks noGrp="1"/>
          </p:cNvSpPr>
          <p:nvPr>
            <p:ph type="body" sz="quarter" idx="12" hasCustomPrompt="1"/>
          </p:nvPr>
        </p:nvSpPr>
        <p:spPr>
          <a:xfrm>
            <a:off x="8420098" y="152399"/>
            <a:ext cx="3594101" cy="378541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会議名と日程を書いておく</a:t>
            </a:r>
          </a:p>
        </p:txBody>
      </p:sp>
      <p:sp>
        <p:nvSpPr>
          <p:cNvPr id="17" name="図プレースホルダー 16"/>
          <p:cNvSpPr>
            <a:spLocks noGrp="1"/>
          </p:cNvSpPr>
          <p:nvPr>
            <p:ph type="pic" sz="quarter" idx="13" hasCustomPrompt="1"/>
          </p:nvPr>
        </p:nvSpPr>
        <p:spPr>
          <a:xfrm>
            <a:off x="1523999" y="647700"/>
            <a:ext cx="9144000" cy="1841500"/>
          </a:xfr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kumimoji="1" lang="ja-JP" altLang="en-US" dirty="0"/>
              <a:t>題目の説明の助けになる図や動画があれば載せる．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12593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46100" y="6048519"/>
            <a:ext cx="11099800" cy="698304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2400" b="1" u="sng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546100" y="1038483"/>
            <a:ext cx="11099800" cy="4875289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ea"/>
                <a:ea typeface="+mn-ea"/>
              </a:defRPr>
            </a:lvl1pPr>
            <a:lvl2pPr marL="800100" marR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>
                <a:solidFill>
                  <a:schemeClr val="tx1"/>
                </a:solidFill>
                <a:latin typeface="+mj-ea"/>
                <a:ea typeface="+mj-ea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/>
              <a:t>第５弾</a:t>
            </a:r>
            <a:endParaRPr kumimoji="1" lang="en-US" altLang="ja-JP" dirty="0"/>
          </a:p>
          <a:p>
            <a:pPr lvl="4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210574" y="348226"/>
            <a:ext cx="11455400" cy="469900"/>
          </a:xfrm>
        </p:spPr>
        <p:txBody>
          <a:bodyPr/>
          <a:lstStyle>
            <a:lvl1pPr marL="0" indent="0">
              <a:buNone/>
              <a:defRPr b="0"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11183256" y="340852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A53700-8F90-3442-A47C-78139B6BC0ED}" type="slidenum">
              <a:rPr kumimoji="1" lang="ja-JP" altLang="en-US" sz="24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r>
              <a:rPr kumimoji="1" lang="en-US" altLang="ja-JP" sz="2400" dirty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/4</a:t>
            </a:r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0" y="825500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984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カー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638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3EDF7-B807-EA4C-B147-8E635EEC442E}" type="datetime1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B92D0-3845-473E-8E13-C70357A36C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934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6088" indent="-446088" algn="l" defTabSz="914400" rtl="0" eaLnBrk="1" latinLnBrk="0" hangingPunct="1">
        <a:lnSpc>
          <a:spcPct val="150000"/>
        </a:lnSpc>
        <a:spcBef>
          <a:spcPts val="1800"/>
        </a:spcBef>
        <a:buClr>
          <a:schemeClr val="accent4"/>
        </a:buClr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ea"/>
          <a:ea typeface="+mn-ea"/>
          <a:cs typeface="+mn-cs"/>
        </a:defRPr>
      </a:lvl1pPr>
      <a:lvl2pPr marL="898525" indent="-441325" algn="l" defTabSz="914400" rtl="0" eaLnBrk="1" latinLnBrk="0" hangingPunct="1">
        <a:lnSpc>
          <a:spcPct val="15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1"/>
          </a:solidFill>
          <a:latin typeface="+mj-ea"/>
          <a:ea typeface="+mj-ea"/>
          <a:cs typeface="+mn-cs"/>
        </a:defRPr>
      </a:lvl2pPr>
      <a:lvl3pPr marL="1252538" indent="-338138" algn="l" defTabSz="914400" rtl="0" eaLnBrk="1" latinLnBrk="0" hangingPunct="1">
        <a:lnSpc>
          <a:spcPct val="150000"/>
        </a:lnSpc>
        <a:spcBef>
          <a:spcPts val="0"/>
        </a:spcBef>
        <a:buFont typeface="Wingdings" panose="05000000000000000000" pitchFamily="2" charset="2"/>
        <a:buChar char="l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706563" indent="-334963" algn="l" defTabSz="914400" rtl="0" eaLnBrk="1" latinLnBrk="0" hangingPunct="1">
        <a:lnSpc>
          <a:spcPct val="150000"/>
        </a:lnSpc>
        <a:spcBef>
          <a:spcPts val="0"/>
        </a:spcBef>
        <a:buFont typeface="Wingdings" panose="05000000000000000000" pitchFamily="2" charset="2"/>
        <a:buChar char="l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151063" indent="-322263" algn="l" defTabSz="914400" rtl="0" eaLnBrk="1" latinLnBrk="0" hangingPunct="1">
        <a:lnSpc>
          <a:spcPct val="150000"/>
        </a:lnSpc>
        <a:spcBef>
          <a:spcPts val="0"/>
        </a:spcBef>
        <a:buFont typeface="Wingdings" panose="05000000000000000000" pitchFamily="2" charset="2"/>
        <a:buChar char="l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12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6F0535-4030-4C35-945F-92B4531071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Luc</a:t>
            </a:r>
            <a:r>
              <a:rPr kumimoji="1" lang="ja-JP" altLang="en-US"/>
              <a:t>レポーター遺伝子発現系を使った</a:t>
            </a:r>
            <a:r>
              <a:rPr kumimoji="1" lang="en-US" altLang="ja-JP" dirty="0"/>
              <a:t>TGR5</a:t>
            </a:r>
            <a:r>
              <a:rPr kumimoji="1" lang="ja-JP" altLang="en-US"/>
              <a:t>アゴニストペプチドの探索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2FD679A-CDD2-4005-984B-113143E13B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B4 </a:t>
            </a:r>
            <a:r>
              <a:rPr kumimoji="1" lang="ja-JP" altLang="en-US"/>
              <a:t>中村</a:t>
            </a:r>
            <a:r>
              <a:rPr kumimoji="1" lang="en-US" altLang="ja-JP" dirty="0"/>
              <a:t> </a:t>
            </a:r>
            <a:r>
              <a:rPr kumimoji="1" lang="ja-JP" altLang="en-US"/>
              <a:t>優作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F08FD74-8A95-4CC4-8A3E-A416E77C6F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86950" y="152399"/>
            <a:ext cx="2127249" cy="378541"/>
          </a:xfrm>
        </p:spPr>
        <p:txBody>
          <a:bodyPr/>
          <a:lstStyle/>
          <a:p>
            <a:r>
              <a:rPr kumimoji="1" lang="en-US" altLang="ja-JP" dirty="0"/>
              <a:t>2024/10/28</a:t>
            </a:r>
            <a:endParaRPr kumimoji="1" lang="ja-JP" altLang="en-US" dirty="0"/>
          </a:p>
        </p:txBody>
      </p:sp>
      <p:sp>
        <p:nvSpPr>
          <p:cNvPr id="6" name="図プレースホルダー 5">
            <a:extLst>
              <a:ext uri="{FF2B5EF4-FFF2-40B4-BE49-F238E27FC236}">
                <a16:creationId xmlns:a16="http://schemas.microsoft.com/office/drawing/2014/main" id="{0AFE5A35-E172-4CE5-9706-822A88371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4E488D7-820E-7BCF-E277-575B6E3BB1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2107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D05D8-24DA-CAAA-F2CA-BCEBFEDF2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AABCBA9-2B26-2998-3DDB-7A4B48DD8E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/>
              <a:t>ペプチドアレイでの合成</a:t>
            </a:r>
            <a:endParaRPr kumimoji="1" lang="ja-JP" altLang="en-US"/>
          </a:p>
        </p:txBody>
      </p:sp>
      <p:sp>
        <p:nvSpPr>
          <p:cNvPr id="20" name="コンテンツ プレースホルダー 2">
            <a:extLst>
              <a:ext uri="{FF2B5EF4-FFF2-40B4-BE49-F238E27FC236}">
                <a16:creationId xmlns:a16="http://schemas.microsoft.com/office/drawing/2014/main" id="{99D035AC-6527-7945-2BBC-BA99F8A03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907858"/>
            <a:ext cx="5414502" cy="5601916"/>
          </a:xfrm>
        </p:spPr>
        <p:txBody>
          <a:bodyPr/>
          <a:lstStyle/>
          <a:p>
            <a:pPr marL="0" indent="0">
              <a:buNone/>
            </a:pPr>
            <a:r>
              <a:rPr lang="ja-JP" altLang="en-US"/>
              <a:t>目的</a:t>
            </a:r>
            <a:endParaRPr lang="en-US" altLang="ja-JP" b="0" dirty="0"/>
          </a:p>
          <a:p>
            <a:r>
              <a:rPr lang="ja-JP" altLang="en-US" sz="1800" b="0"/>
              <a:t>機械学習により予測された</a:t>
            </a:r>
            <a:r>
              <a:rPr lang="en-US" altLang="ja-JP" sz="1800" b="0" dirty="0"/>
              <a:t>TGR5</a:t>
            </a:r>
            <a:r>
              <a:rPr lang="ja-JP" altLang="en-US" sz="1800" b="0"/>
              <a:t>活性を</a:t>
            </a:r>
            <a:br>
              <a:rPr lang="en-US" altLang="ja-JP" sz="1800" b="0" dirty="0"/>
            </a:br>
            <a:r>
              <a:rPr lang="ja-JP" altLang="en-US" sz="1800" b="0"/>
              <a:t>示すペプチドを評価するため、実際に合成する。</a:t>
            </a:r>
            <a:endParaRPr lang="en-US" altLang="ja-JP" sz="1800" b="0" dirty="0"/>
          </a:p>
          <a:p>
            <a:pPr marL="0" indent="0">
              <a:buNone/>
            </a:pPr>
            <a:r>
              <a:rPr lang="ja-JP" altLang="en-US"/>
              <a:t>方法</a:t>
            </a:r>
            <a:endParaRPr lang="en-US" altLang="ja-JP" dirty="0"/>
          </a:p>
          <a:p>
            <a:r>
              <a:rPr lang="ja-JP" altLang="en-US" sz="1800" b="0"/>
              <a:t>上位</a:t>
            </a:r>
            <a:r>
              <a:rPr lang="en-US" altLang="ja-JP" sz="1800" b="0" dirty="0"/>
              <a:t>10</a:t>
            </a:r>
            <a:r>
              <a:rPr lang="ja-JP" altLang="en-US" sz="1800" b="0"/>
              <a:t>配列</a:t>
            </a:r>
            <a:r>
              <a:rPr lang="en-US" altLang="ja-JP" sz="1800" b="0" dirty="0"/>
              <a:t>(</a:t>
            </a:r>
            <a:r>
              <a:rPr lang="ja-JP" altLang="en-US" sz="1800" b="0"/>
              <a:t>ポジコン</a:t>
            </a:r>
            <a:r>
              <a:rPr lang="en-US" altLang="ja-JP" sz="1800" b="0" dirty="0"/>
              <a:t>)</a:t>
            </a:r>
            <a:r>
              <a:rPr lang="ja-JP" altLang="en-US" sz="1800" b="0"/>
              <a:t>と下位</a:t>
            </a:r>
            <a:r>
              <a:rPr lang="en-US" altLang="ja-JP" sz="1800" b="0" dirty="0"/>
              <a:t>10</a:t>
            </a:r>
            <a:r>
              <a:rPr lang="ja-JP" altLang="en-US" sz="1800" b="0"/>
              <a:t>配列</a:t>
            </a:r>
            <a:r>
              <a:rPr lang="en-US" altLang="ja-JP" sz="1800" b="0" dirty="0"/>
              <a:t>(</a:t>
            </a:r>
            <a:r>
              <a:rPr lang="ja-JP" altLang="en-US" sz="1800" b="0"/>
              <a:t>ネガコン</a:t>
            </a:r>
            <a:r>
              <a:rPr lang="en-US" altLang="ja-JP" sz="1800" b="0" dirty="0"/>
              <a:t>)</a:t>
            </a:r>
            <a:r>
              <a:rPr lang="ja-JP" altLang="en-US" sz="1800" b="0"/>
              <a:t>を</a:t>
            </a:r>
            <a:br>
              <a:rPr lang="en-US" altLang="ja-JP" sz="1800" b="0" dirty="0"/>
            </a:br>
            <a:r>
              <a:rPr lang="ja-JP" altLang="en-US" sz="1800" b="0"/>
              <a:t>ペプチドアレイにより合成する。</a:t>
            </a:r>
            <a:endParaRPr lang="en-US" altLang="ja-JP" sz="1800" b="0" dirty="0"/>
          </a:p>
          <a:p>
            <a:pPr marL="0" indent="0">
              <a:buNone/>
            </a:pPr>
            <a:r>
              <a:rPr lang="ja-JP" altLang="en-US"/>
              <a:t>結果</a:t>
            </a:r>
            <a:endParaRPr lang="en-US" altLang="ja-JP" dirty="0"/>
          </a:p>
          <a:p>
            <a:r>
              <a:rPr lang="ja-JP" altLang="en-US" sz="1800" b="0"/>
              <a:t>計</a:t>
            </a:r>
            <a:r>
              <a:rPr lang="en-US" altLang="ja-JP" sz="1800" b="0" dirty="0"/>
              <a:t>20</a:t>
            </a:r>
            <a:r>
              <a:rPr lang="ja-JP" altLang="en-US" sz="1800" b="0"/>
              <a:t>配列の合成が完了した。</a:t>
            </a:r>
            <a:endParaRPr lang="en-US" altLang="ja-JP" sz="1800" dirty="0"/>
          </a:p>
          <a:p>
            <a:pPr marL="0" indent="0">
              <a:buNone/>
            </a:pPr>
            <a:r>
              <a:rPr lang="ja-JP" altLang="en-US"/>
              <a:t>今後の方針</a:t>
            </a:r>
            <a:endParaRPr lang="en-US" altLang="ja-JP" dirty="0"/>
          </a:p>
          <a:p>
            <a:r>
              <a:rPr lang="ja-JP" altLang="en-US" sz="1800" b="0"/>
              <a:t>合成したペプチドを実際に評価する。</a:t>
            </a:r>
            <a:endParaRPr lang="en-US" altLang="ja-JP" sz="1800" b="0" dirty="0"/>
          </a:p>
          <a:p>
            <a:r>
              <a:rPr lang="ja-JP" altLang="en-US" sz="1800" b="0"/>
              <a:t>結果からモデルの改善、次回合成する配列の</a:t>
            </a:r>
            <a:br>
              <a:rPr lang="en-US" altLang="ja-JP" sz="1800" b="0" dirty="0"/>
            </a:br>
            <a:r>
              <a:rPr lang="ja-JP" altLang="en-US" sz="1800" b="0"/>
              <a:t>決定を行う。</a:t>
            </a:r>
            <a:endParaRPr lang="en-US" altLang="ja-JP" sz="1800" b="0" dirty="0"/>
          </a:p>
          <a:p>
            <a:pPr marL="0" indent="0">
              <a:buNone/>
            </a:pPr>
            <a:endParaRPr lang="en-US" altLang="ja-JP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652962E9-33FE-52FA-834D-8A7249B571E2}"/>
              </a:ext>
            </a:extLst>
          </p:cNvPr>
          <p:cNvSpPr txBox="1"/>
          <p:nvPr/>
        </p:nvSpPr>
        <p:spPr>
          <a:xfrm>
            <a:off x="2759148" y="8248294"/>
            <a:ext cx="3201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2µM * 500µL = 1n mol</a:t>
            </a:r>
            <a:br>
              <a:rPr lang="en-US" altLang="ja-JP" dirty="0"/>
            </a:br>
            <a:r>
              <a:rPr lang="en-US" altLang="ja-JP" dirty="0"/>
              <a:t>10nmol * 8 / 500µL = 160µM</a:t>
            </a:r>
            <a:endParaRPr kumimoji="1" lang="ja-JP" altLang="en-US"/>
          </a:p>
        </p:txBody>
      </p:sp>
      <p:graphicFrame>
        <p:nvGraphicFramePr>
          <p:cNvPr id="46" name="グラフ 45">
            <a:extLst>
              <a:ext uri="{FF2B5EF4-FFF2-40B4-BE49-F238E27FC236}">
                <a16:creationId xmlns:a16="http://schemas.microsoft.com/office/drawing/2014/main" id="{B99657F7-F124-0513-5FD1-A953E85DBF9A}"/>
              </a:ext>
            </a:extLst>
          </p:cNvPr>
          <p:cNvGraphicFramePr>
            <a:graphicFrameLocks/>
          </p:cNvGraphicFramePr>
          <p:nvPr/>
        </p:nvGraphicFramePr>
        <p:xfrm>
          <a:off x="7798036" y="7031532"/>
          <a:ext cx="5549900" cy="24335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F07D8434-AE71-1559-AA2C-38A3641D4414}"/>
              </a:ext>
            </a:extLst>
          </p:cNvPr>
          <p:cNvSpPr txBox="1"/>
          <p:nvPr/>
        </p:nvSpPr>
        <p:spPr>
          <a:xfrm>
            <a:off x="8391829" y="9363093"/>
            <a:ext cx="45480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DCA, DCA</a:t>
            </a:r>
            <a:r>
              <a:rPr kumimoji="1" lang="ja-JP" altLang="en-US" sz="1400"/>
              <a:t>結合ペプチドを</a:t>
            </a:r>
            <a:r>
              <a:rPr kumimoji="1" lang="en-US" altLang="ja-JP" sz="1400" dirty="0"/>
              <a:t>2µM</a:t>
            </a:r>
            <a:r>
              <a:rPr kumimoji="1" lang="ja-JP" altLang="en-US" sz="1400"/>
              <a:t>で添加した際の</a:t>
            </a:r>
            <a:r>
              <a:rPr kumimoji="1" lang="en-US" altLang="ja-JP" sz="1400" dirty="0"/>
              <a:t>TGR5</a:t>
            </a:r>
            <a:r>
              <a:rPr kumimoji="1" lang="ja-JP" altLang="en-US" sz="1400"/>
              <a:t>活性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7E57108-DBE5-0129-4B3C-FED34461E9EA}"/>
              </a:ext>
            </a:extLst>
          </p:cNvPr>
          <p:cNvSpPr txBox="1"/>
          <p:nvPr/>
        </p:nvSpPr>
        <p:spPr>
          <a:xfrm>
            <a:off x="2964617" y="7783163"/>
            <a:ext cx="3982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r>
              <a:rPr kumimoji="1" lang="ja-JP" altLang="en-US"/>
              <a:t>スポットで</a:t>
            </a:r>
            <a:r>
              <a:rPr kumimoji="1" lang="en-US" altLang="ja-JP" dirty="0"/>
              <a:t>10nmol -&gt; 500µL</a:t>
            </a:r>
            <a:r>
              <a:rPr kumimoji="1" lang="ja-JP" altLang="en-US"/>
              <a:t>だと</a:t>
            </a:r>
            <a:r>
              <a:rPr lang="en-US" altLang="ja-JP" dirty="0"/>
              <a:t>20µM</a:t>
            </a:r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A6FA6A52-E52B-FCD9-F83C-6CA642961A13}"/>
              </a:ext>
            </a:extLst>
          </p:cNvPr>
          <p:cNvSpPr txBox="1"/>
          <p:nvPr/>
        </p:nvSpPr>
        <p:spPr>
          <a:xfrm>
            <a:off x="2492375" y="-2617643"/>
            <a:ext cx="6676696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ja-JP" altLang="en-US" b="0"/>
              <a:t>各配列を</a:t>
            </a:r>
            <a:r>
              <a:rPr lang="en-US" altLang="ja-JP" b="0" dirty="0"/>
              <a:t>8</a:t>
            </a:r>
            <a:r>
              <a:rPr lang="ja-JP" altLang="en-US" b="0"/>
              <a:t>スポット分合成した。</a:t>
            </a:r>
            <a:endParaRPr lang="en-US" altLang="ja-JP" b="0" dirty="0"/>
          </a:p>
          <a:p>
            <a:pPr>
              <a:spcBef>
                <a:spcPts val="600"/>
              </a:spcBef>
            </a:pPr>
            <a:r>
              <a:rPr lang="ja-JP" altLang="en-US" b="0"/>
              <a:t>ペプチドの溶出方法</a:t>
            </a:r>
            <a:endParaRPr lang="en-US" altLang="ja-JP" b="0" dirty="0"/>
          </a:p>
          <a:p>
            <a:pPr lvl="1">
              <a:spcBef>
                <a:spcPts val="600"/>
              </a:spcBef>
            </a:pPr>
            <a:r>
              <a:rPr lang="en-US" altLang="ja-JP" b="0" dirty="0"/>
              <a:t>1</a:t>
            </a:r>
            <a:r>
              <a:rPr lang="ja-JP" altLang="en-US" b="0"/>
              <a:t>スポットあたり</a:t>
            </a:r>
            <a:r>
              <a:rPr lang="en-US" altLang="ja-JP" b="0" dirty="0"/>
              <a:t>50µL</a:t>
            </a:r>
            <a:r>
              <a:rPr lang="ja-JP" altLang="en-US" b="0"/>
              <a:t>の</a:t>
            </a:r>
            <a:r>
              <a:rPr lang="en-US" altLang="ja-JP" b="0" dirty="0"/>
              <a:t>PBS</a:t>
            </a:r>
            <a:r>
              <a:rPr lang="ja-JP" altLang="en-US"/>
              <a:t>でペプチドを溶出する。</a:t>
            </a:r>
            <a:endParaRPr lang="en-US" altLang="ja-JP" dirty="0"/>
          </a:p>
          <a:p>
            <a:pPr lvl="1">
              <a:spcBef>
                <a:spcPts val="600"/>
              </a:spcBef>
            </a:pPr>
            <a:r>
              <a:rPr lang="en-US" altLang="ja-JP" b="0" dirty="0"/>
              <a:t>200µM</a:t>
            </a:r>
            <a:r>
              <a:rPr lang="ja-JP" altLang="en-US" b="0"/>
              <a:t>のペプチド溶出液が</a:t>
            </a:r>
            <a:r>
              <a:rPr lang="en-US" altLang="ja-JP" b="0" dirty="0"/>
              <a:t>400µL</a:t>
            </a:r>
            <a:r>
              <a:rPr lang="ja-JP" altLang="en-US" b="0"/>
              <a:t>得られ、うち</a:t>
            </a:r>
            <a:r>
              <a:rPr lang="en-US" altLang="ja-JP" b="0" dirty="0"/>
              <a:t>50µL</a:t>
            </a:r>
            <a:r>
              <a:rPr lang="ja-JP" altLang="en-US" b="0"/>
              <a:t>を</a:t>
            </a:r>
            <a:r>
              <a:rPr lang="en-US" altLang="ja-JP" b="0" dirty="0"/>
              <a:t>well</a:t>
            </a:r>
            <a:r>
              <a:rPr lang="ja-JP" altLang="en-US" b="0"/>
              <a:t>に添加する</a:t>
            </a:r>
            <a:endParaRPr lang="en-US" altLang="ja-JP" b="0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C549ED80-D26E-5FB6-6AB5-2A6EE0307D6D}"/>
              </a:ext>
            </a:extLst>
          </p:cNvPr>
          <p:cNvSpPr txBox="1"/>
          <p:nvPr/>
        </p:nvSpPr>
        <p:spPr>
          <a:xfrm>
            <a:off x="766482" y="7031532"/>
            <a:ext cx="2615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10nmol / 500µL = 20µM</a:t>
            </a:r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94414CF-7D2E-7881-A563-82298D3A2A0F}"/>
              </a:ext>
            </a:extLst>
          </p:cNvPr>
          <p:cNvSpPr txBox="1"/>
          <p:nvPr/>
        </p:nvSpPr>
        <p:spPr>
          <a:xfrm>
            <a:off x="12437540" y="2693120"/>
            <a:ext cx="667306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ja-JP" altLang="en-US"/>
              <a:t>ペプチドの添加に関して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u="sng"/>
              <a:t>方法</a:t>
            </a:r>
            <a:r>
              <a:rPr lang="en-US" altLang="ja-JP" u="sng" dirty="0"/>
              <a:t>: </a:t>
            </a:r>
            <a:r>
              <a:rPr lang="en-US" altLang="ja-JP" b="0" u="sng" dirty="0"/>
              <a:t>1</a:t>
            </a:r>
            <a:r>
              <a:rPr lang="ja-JP" altLang="en-US" b="0" u="sng"/>
              <a:t>スポットあたり</a:t>
            </a:r>
            <a:r>
              <a:rPr lang="en-US" altLang="ja-JP" b="0" u="sng" dirty="0"/>
              <a:t>50µL</a:t>
            </a:r>
            <a:r>
              <a:rPr lang="ja-JP" altLang="en-US" b="0" u="sng"/>
              <a:t>の</a:t>
            </a:r>
            <a:r>
              <a:rPr lang="en-US" altLang="ja-JP" b="0" u="sng" dirty="0"/>
              <a:t>HBSS</a:t>
            </a:r>
            <a:r>
              <a:rPr lang="ja-JP" altLang="en-US" b="0" u="sng"/>
              <a:t>でペプチドを溶出し、溶出液</a:t>
            </a:r>
            <a:r>
              <a:rPr lang="en-US" altLang="ja-JP" b="0" u="sng" dirty="0"/>
              <a:t>50µL</a:t>
            </a:r>
            <a:r>
              <a:rPr lang="ja-JP" altLang="en-US" b="0" u="sng"/>
              <a:t>を</a:t>
            </a:r>
            <a:r>
              <a:rPr lang="en-US" altLang="ja-JP" b="0" u="sng" dirty="0"/>
              <a:t>well</a:t>
            </a:r>
            <a:r>
              <a:rPr lang="ja-JP" altLang="en-US" b="0" u="sng"/>
              <a:t>に添加する。</a:t>
            </a:r>
            <a:endParaRPr lang="en-US" altLang="ja-JP" b="0" u="sng" dirty="0"/>
          </a:p>
          <a:p>
            <a:r>
              <a:rPr lang="en-US" altLang="ja-JP" b="0" dirty="0"/>
              <a:t>8</a:t>
            </a:r>
            <a:r>
              <a:rPr lang="ja-JP" altLang="en-US" b="0"/>
              <a:t>スポット分合成しているため</a:t>
            </a:r>
            <a:r>
              <a:rPr lang="en-US" altLang="ja-JP" b="0" dirty="0"/>
              <a:t>400µL</a:t>
            </a:r>
            <a:r>
              <a:rPr lang="ja-JP" altLang="en-US" b="0"/>
              <a:t>の</a:t>
            </a:r>
            <a:r>
              <a:rPr lang="en-US" altLang="ja-JP" b="0" dirty="0"/>
              <a:t>200µM</a:t>
            </a:r>
            <a:r>
              <a:rPr lang="ja-JP" altLang="en-US" b="0"/>
              <a:t>溶出液が得られる。</a:t>
            </a:r>
            <a:endParaRPr lang="en-US" altLang="ja-JP" b="0" dirty="0"/>
          </a:p>
          <a:p>
            <a:r>
              <a:rPr lang="en-US" altLang="ja-JP" b="0" dirty="0"/>
              <a:t>1</a:t>
            </a:r>
            <a:r>
              <a:rPr lang="ja-JP" altLang="en-US" b="0"/>
              <a:t>スポットあたり約</a:t>
            </a:r>
            <a:r>
              <a:rPr lang="en-US" altLang="ja-JP" b="0" dirty="0"/>
              <a:t>10nmol</a:t>
            </a:r>
            <a:r>
              <a:rPr lang="ja-JP" altLang="en-US" b="0"/>
              <a:t>のペプチドが得られるため、</a:t>
            </a:r>
            <a:r>
              <a:rPr lang="en-US" altLang="ja-JP" b="0" dirty="0"/>
              <a:t>1well</a:t>
            </a:r>
            <a:r>
              <a:rPr lang="ja-JP" altLang="en-US" b="0"/>
              <a:t>あたりのペプチド濃度は約</a:t>
            </a:r>
            <a:r>
              <a:rPr lang="en-US" altLang="ja-JP" b="0" dirty="0"/>
              <a:t>20µM</a:t>
            </a:r>
            <a:r>
              <a:rPr lang="ja-JP" altLang="en-US" b="0"/>
              <a:t>になる。</a:t>
            </a:r>
            <a:endParaRPr lang="en-US" altLang="ja-JP" b="0" dirty="0"/>
          </a:p>
          <a:p>
            <a:pPr lvl="1"/>
            <a:r>
              <a:rPr lang="ja-JP" altLang="en-US" b="0"/>
              <a:t>元々</a:t>
            </a:r>
            <a:r>
              <a:rPr lang="ja-JP" altLang="en-US"/>
              <a:t>の評価系ではペプチドを</a:t>
            </a:r>
            <a:r>
              <a:rPr lang="en-US" altLang="ja-JP" dirty="0"/>
              <a:t>2µM</a:t>
            </a:r>
            <a:r>
              <a:rPr lang="ja-JP" altLang="en-US"/>
              <a:t>で添加していたが、現状ポジコン</a:t>
            </a:r>
            <a:r>
              <a:rPr lang="en-US" altLang="ja-JP" dirty="0"/>
              <a:t>(3</a:t>
            </a:r>
            <a:r>
              <a:rPr lang="ja-JP" altLang="en-US"/>
              <a:t>残基ペプチドで活性がでるもの</a:t>
            </a:r>
            <a:r>
              <a:rPr lang="en-US" altLang="ja-JP" dirty="0"/>
              <a:t>)</a:t>
            </a:r>
            <a:r>
              <a:rPr lang="ja-JP" altLang="en-US"/>
              <a:t>が</a:t>
            </a:r>
            <a:br>
              <a:rPr lang="en-US" altLang="ja-JP" dirty="0"/>
            </a:br>
            <a:r>
              <a:rPr lang="ja-JP" altLang="en-US"/>
              <a:t>ないので、多めに</a:t>
            </a:r>
            <a:r>
              <a:rPr lang="en-US" altLang="ja-JP" dirty="0"/>
              <a:t>20µM</a:t>
            </a:r>
            <a:r>
              <a:rPr lang="ja-JP" altLang="en-US"/>
              <a:t>で添加する。</a:t>
            </a:r>
            <a:endParaRPr lang="en-US" altLang="ja-JP" b="0" dirty="0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71322F2E-5E29-76F7-C284-0F9E0945F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300" y="1328323"/>
            <a:ext cx="6036274" cy="2414510"/>
          </a:xfrm>
          <a:prstGeom prst="rect">
            <a:avLst/>
          </a:prstGeom>
        </p:spPr>
      </p:pic>
      <p:pic>
        <p:nvPicPr>
          <p:cNvPr id="50" name="図 49">
            <a:extLst>
              <a:ext uri="{FF2B5EF4-FFF2-40B4-BE49-F238E27FC236}">
                <a16:creationId xmlns:a16="http://schemas.microsoft.com/office/drawing/2014/main" id="{521F310F-F857-41E8-9C05-22213C5D3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8300" y="4220020"/>
            <a:ext cx="6036274" cy="2414510"/>
          </a:xfrm>
          <a:prstGeom prst="rect">
            <a:avLst/>
          </a:prstGeom>
        </p:spPr>
      </p:pic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8B00B26-DAD5-B20F-8EF4-47AA958B3449}"/>
              </a:ext>
            </a:extLst>
          </p:cNvPr>
          <p:cNvSpPr txBox="1"/>
          <p:nvPr/>
        </p:nvSpPr>
        <p:spPr>
          <a:xfrm>
            <a:off x="5668300" y="958603"/>
            <a:ext cx="2446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予測された上位</a:t>
            </a:r>
            <a:r>
              <a:rPr kumimoji="1" lang="en-US" altLang="ja-JP" dirty="0"/>
              <a:t>10</a:t>
            </a:r>
            <a:r>
              <a:rPr kumimoji="1" lang="ja-JP" altLang="en-US"/>
              <a:t>配列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35B6D08-4A71-033E-5C99-25C804FB695F}"/>
              </a:ext>
            </a:extLst>
          </p:cNvPr>
          <p:cNvSpPr txBox="1"/>
          <p:nvPr/>
        </p:nvSpPr>
        <p:spPr>
          <a:xfrm>
            <a:off x="5668300" y="3853947"/>
            <a:ext cx="2433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予測された下位</a:t>
            </a:r>
            <a:r>
              <a:rPr kumimoji="1" lang="en-US" altLang="ja-JP" dirty="0"/>
              <a:t>10</a:t>
            </a:r>
            <a:r>
              <a:rPr kumimoji="1" lang="ja-JP" altLang="en-US"/>
              <a:t>配列</a:t>
            </a:r>
          </a:p>
        </p:txBody>
      </p:sp>
    </p:spTree>
    <p:extLst>
      <p:ext uri="{BB962C8B-B14F-4D97-AF65-F5344CB8AC3E}">
        <p14:creationId xmlns:p14="http://schemas.microsoft.com/office/powerpoint/2010/main" val="4067007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BC3AC-9E99-53D2-3C62-21F39E501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55CFF35-8015-3A9A-1BD0-0A73501BC4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/>
              <a:t>ペプチドアレイでの合成、</a:t>
            </a:r>
            <a:r>
              <a:rPr lang="en-US" altLang="ja-JP" dirty="0"/>
              <a:t>TGR5</a:t>
            </a:r>
            <a:r>
              <a:rPr lang="ja-JP" altLang="en-US"/>
              <a:t>活性の評価</a:t>
            </a:r>
            <a:endParaRPr kumimoji="1" lang="ja-JP" altLang="en-US"/>
          </a:p>
        </p:txBody>
      </p:sp>
      <p:sp>
        <p:nvSpPr>
          <p:cNvPr id="20" name="コンテンツ プレースホルダー 2">
            <a:extLst>
              <a:ext uri="{FF2B5EF4-FFF2-40B4-BE49-F238E27FC236}">
                <a16:creationId xmlns:a16="http://schemas.microsoft.com/office/drawing/2014/main" id="{841C3BB5-D3D9-3FB0-9B92-D6455F2CD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907858"/>
            <a:ext cx="11099800" cy="5601916"/>
          </a:xfrm>
        </p:spPr>
        <p:txBody>
          <a:bodyPr/>
          <a:lstStyle/>
          <a:p>
            <a:pPr marL="0" indent="0">
              <a:buNone/>
            </a:pPr>
            <a:r>
              <a:rPr lang="ja-JP" altLang="en-US"/>
              <a:t>目的</a:t>
            </a:r>
            <a:r>
              <a:rPr lang="ja-JP" altLang="en-US" b="0"/>
              <a:t>：機械学習により予測された</a:t>
            </a:r>
            <a:r>
              <a:rPr lang="en-US" altLang="ja-JP" b="0" dirty="0"/>
              <a:t>TGR5</a:t>
            </a:r>
            <a:r>
              <a:rPr lang="ja-JP" altLang="en-US" b="0"/>
              <a:t>活性を示すペプチドを実際に評価する。</a:t>
            </a:r>
            <a:endParaRPr lang="en-US" altLang="ja-JP" b="0" dirty="0"/>
          </a:p>
          <a:p>
            <a:pPr marL="0" indent="0">
              <a:buNone/>
            </a:pPr>
            <a:endParaRPr lang="en-US" altLang="ja-JP" b="0" dirty="0"/>
          </a:p>
          <a:p>
            <a:pPr marL="0" indent="0">
              <a:buNone/>
            </a:pPr>
            <a:endParaRPr lang="en-US" altLang="ja-JP" b="0" dirty="0"/>
          </a:p>
          <a:p>
            <a:pPr marL="0" indent="0">
              <a:buNone/>
            </a:pPr>
            <a:endParaRPr lang="en-US" altLang="ja-JP" b="0" dirty="0"/>
          </a:p>
          <a:p>
            <a:pPr marL="0" indent="0">
              <a:buNone/>
            </a:pPr>
            <a:endParaRPr lang="en-US" altLang="ja-JP" b="0" dirty="0"/>
          </a:p>
          <a:p>
            <a:pPr marL="0" indent="0">
              <a:buNone/>
            </a:pPr>
            <a:endParaRPr lang="en-US" altLang="ja-JP" b="0" dirty="0"/>
          </a:p>
          <a:p>
            <a:pPr marL="0" indent="0">
              <a:buNone/>
            </a:pPr>
            <a:r>
              <a:rPr lang="ja-JP" altLang="en-US"/>
              <a:t>播種に失敗</a:t>
            </a:r>
            <a:endParaRPr lang="en-US" altLang="ja-JP" dirty="0"/>
          </a:p>
          <a:p>
            <a:r>
              <a:rPr lang="ja-JP" altLang="en-US" sz="1800" b="0"/>
              <a:t>誤って大腸菌用の</a:t>
            </a:r>
            <a:r>
              <a:rPr lang="en-US" altLang="ja-JP" sz="1800" b="0" dirty="0"/>
              <a:t>60mmdish</a:t>
            </a:r>
            <a:r>
              <a:rPr lang="ja-JP" altLang="en-US" sz="1800" b="0"/>
              <a:t>を使ってしまい、細胞が接着しなかった。</a:t>
            </a:r>
            <a:endParaRPr lang="en-US" altLang="ja-JP" sz="1800" b="0" dirty="0"/>
          </a:p>
          <a:p>
            <a:r>
              <a:rPr lang="en-US" altLang="ja-JP" sz="1800" b="0" dirty="0"/>
              <a:t>10/23(</a:t>
            </a:r>
            <a:r>
              <a:rPr lang="ja-JP" altLang="en-US" sz="1800" b="0"/>
              <a:t>水</a:t>
            </a:r>
            <a:r>
              <a:rPr lang="en-US" altLang="ja-JP" sz="1800" b="0" dirty="0"/>
              <a:t>)</a:t>
            </a:r>
            <a:r>
              <a:rPr lang="ja-JP" altLang="en-US" sz="1800" b="0"/>
              <a:t>に播種をして、現状は問題なく播種、継代ができている。</a:t>
            </a:r>
            <a:endParaRPr lang="en-US" altLang="ja-JP" sz="1800" b="0" dirty="0"/>
          </a:p>
          <a:p>
            <a:r>
              <a:rPr lang="ja-JP" altLang="en-US" sz="1800" b="0"/>
              <a:t>結果が出るのは</a:t>
            </a:r>
            <a:r>
              <a:rPr lang="en-US" altLang="ja-JP" sz="1800" b="0" dirty="0"/>
              <a:t>11/1(</a:t>
            </a:r>
            <a:r>
              <a:rPr lang="ja-JP" altLang="en-US" sz="1800" b="0"/>
              <a:t>金</a:t>
            </a:r>
            <a:r>
              <a:rPr lang="en-US" altLang="ja-JP" sz="1800" b="0" dirty="0"/>
              <a:t>)</a:t>
            </a:r>
            <a:r>
              <a:rPr lang="ja-JP" altLang="en-US" sz="1800" b="0"/>
              <a:t>の予定。</a:t>
            </a:r>
            <a:endParaRPr lang="en-US" altLang="ja-JP" sz="1800" b="0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EA78F181-A367-F384-DECC-EAE19C05E59F}"/>
              </a:ext>
            </a:extLst>
          </p:cNvPr>
          <p:cNvGrpSpPr/>
          <p:nvPr/>
        </p:nvGrpSpPr>
        <p:grpSpPr>
          <a:xfrm>
            <a:off x="0" y="1520648"/>
            <a:ext cx="12192001" cy="2073016"/>
            <a:chOff x="-1" y="1152784"/>
            <a:chExt cx="12192001" cy="2073016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6860ADF7-59A8-735B-FEE4-D593E7650C41}"/>
                </a:ext>
              </a:extLst>
            </p:cNvPr>
            <p:cNvSpPr/>
            <p:nvPr/>
          </p:nvSpPr>
          <p:spPr>
            <a:xfrm>
              <a:off x="-1" y="1155700"/>
              <a:ext cx="12192001" cy="207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" name="図 4" descr="図形, 円&#10;&#10;自動的に生成された説明">
              <a:extLst>
                <a:ext uri="{FF2B5EF4-FFF2-40B4-BE49-F238E27FC236}">
                  <a16:creationId xmlns:a16="http://schemas.microsoft.com/office/drawing/2014/main" id="{B7F88217-16D3-1097-8EBD-E1CAC350B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619" y="1821170"/>
              <a:ext cx="1248882" cy="897084"/>
            </a:xfrm>
            <a:prstGeom prst="rect">
              <a:avLst/>
            </a:prstGeom>
          </p:spPr>
        </p:pic>
        <p:pic>
          <p:nvPicPr>
            <p:cNvPr id="6" name="図 5" descr="図形, 円&#10;&#10;自動的に生成された説明">
              <a:extLst>
                <a:ext uri="{FF2B5EF4-FFF2-40B4-BE49-F238E27FC236}">
                  <a16:creationId xmlns:a16="http://schemas.microsoft.com/office/drawing/2014/main" id="{BCA035C4-EEF6-DD0A-30BA-24FD6D111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7228" y="1821170"/>
              <a:ext cx="1248882" cy="897084"/>
            </a:xfrm>
            <a:prstGeom prst="rect">
              <a:avLst/>
            </a:prstGeom>
          </p:spPr>
        </p:pic>
        <p:pic>
          <p:nvPicPr>
            <p:cNvPr id="7" name="図 6" descr="図形, 円&#10;&#10;自動的に生成された説明">
              <a:extLst>
                <a:ext uri="{FF2B5EF4-FFF2-40B4-BE49-F238E27FC236}">
                  <a16:creationId xmlns:a16="http://schemas.microsoft.com/office/drawing/2014/main" id="{A762E6F9-2FFF-F321-0168-F4C594EFD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5955" y="1821170"/>
              <a:ext cx="1248882" cy="897084"/>
            </a:xfrm>
            <a:prstGeom prst="rect">
              <a:avLst/>
            </a:prstGeom>
          </p:spPr>
        </p:pic>
        <p:pic>
          <p:nvPicPr>
            <p:cNvPr id="8" name="図 7" descr="洗面道具 が含まれている画像&#10;&#10;自動的に生成された説明">
              <a:extLst>
                <a:ext uri="{FF2B5EF4-FFF2-40B4-BE49-F238E27FC236}">
                  <a16:creationId xmlns:a16="http://schemas.microsoft.com/office/drawing/2014/main" id="{CB1DBFAC-E9C1-E36F-2D32-A5C4A591D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4623" y="1827997"/>
              <a:ext cx="1283520" cy="897084"/>
            </a:xfrm>
            <a:prstGeom prst="rect">
              <a:avLst/>
            </a:prstGeom>
          </p:spPr>
        </p:pic>
        <p:pic>
          <p:nvPicPr>
            <p:cNvPr id="9" name="図 8" descr="洗面道具 が含まれている画像&#10;&#10;自動的に生成された説明">
              <a:extLst>
                <a:ext uri="{FF2B5EF4-FFF2-40B4-BE49-F238E27FC236}">
                  <a16:creationId xmlns:a16="http://schemas.microsoft.com/office/drawing/2014/main" id="{93A8DBBB-AB87-BB6F-EFBB-805D945FF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7929" y="1821170"/>
              <a:ext cx="1283520" cy="897084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CC92B877-88C8-11DF-B2E7-B19794FD3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01235" y="1896708"/>
              <a:ext cx="373004" cy="746007"/>
            </a:xfrm>
            <a:prstGeom prst="rect">
              <a:avLst/>
            </a:prstGeom>
          </p:spPr>
        </p:pic>
        <p:pic>
          <p:nvPicPr>
            <p:cNvPr id="11" name="図 10" descr="背景パターン&#10;&#10;自動的に生成された説明">
              <a:extLst>
                <a:ext uri="{FF2B5EF4-FFF2-40B4-BE49-F238E27FC236}">
                  <a16:creationId xmlns:a16="http://schemas.microsoft.com/office/drawing/2014/main" id="{3DEF8D6D-BBF2-3525-00BF-8F8C74EBF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24025" y="1715873"/>
              <a:ext cx="377713" cy="1107676"/>
            </a:xfrm>
            <a:prstGeom prst="rect">
              <a:avLst/>
            </a:prstGeom>
          </p:spPr>
        </p:pic>
        <p:sp>
          <p:nvSpPr>
            <p:cNvPr id="12" name="山形 11">
              <a:extLst>
                <a:ext uri="{FF2B5EF4-FFF2-40B4-BE49-F238E27FC236}">
                  <a16:creationId xmlns:a16="http://schemas.microsoft.com/office/drawing/2014/main" id="{AE707A52-9DEF-9EAD-679B-8A6943033AA8}"/>
                </a:ext>
              </a:extLst>
            </p:cNvPr>
            <p:cNvSpPr/>
            <p:nvPr/>
          </p:nvSpPr>
          <p:spPr>
            <a:xfrm>
              <a:off x="1980614" y="2103585"/>
              <a:ext cx="263384" cy="332252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山形 12">
              <a:extLst>
                <a:ext uri="{FF2B5EF4-FFF2-40B4-BE49-F238E27FC236}">
                  <a16:creationId xmlns:a16="http://schemas.microsoft.com/office/drawing/2014/main" id="{4BE859A8-AB89-5167-7DBA-38EA91507D50}"/>
                </a:ext>
              </a:extLst>
            </p:cNvPr>
            <p:cNvSpPr/>
            <p:nvPr/>
          </p:nvSpPr>
          <p:spPr>
            <a:xfrm>
              <a:off x="3879311" y="2106138"/>
              <a:ext cx="263384" cy="332252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山形 13">
              <a:extLst>
                <a:ext uri="{FF2B5EF4-FFF2-40B4-BE49-F238E27FC236}">
                  <a16:creationId xmlns:a16="http://schemas.microsoft.com/office/drawing/2014/main" id="{B120F532-EFFD-99A9-5760-BAB6F9FE9FA2}"/>
                </a:ext>
              </a:extLst>
            </p:cNvPr>
            <p:cNvSpPr/>
            <p:nvPr/>
          </p:nvSpPr>
          <p:spPr>
            <a:xfrm>
              <a:off x="5778038" y="2102711"/>
              <a:ext cx="263384" cy="332252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山形 14">
              <a:extLst>
                <a:ext uri="{FF2B5EF4-FFF2-40B4-BE49-F238E27FC236}">
                  <a16:creationId xmlns:a16="http://schemas.microsoft.com/office/drawing/2014/main" id="{DA6DAE65-FCD7-E967-E961-1ACDBA90213B}"/>
                </a:ext>
              </a:extLst>
            </p:cNvPr>
            <p:cNvSpPr/>
            <p:nvPr/>
          </p:nvSpPr>
          <p:spPr>
            <a:xfrm>
              <a:off x="7711344" y="2102711"/>
              <a:ext cx="263384" cy="332252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山形 15">
              <a:extLst>
                <a:ext uri="{FF2B5EF4-FFF2-40B4-BE49-F238E27FC236}">
                  <a16:creationId xmlns:a16="http://schemas.microsoft.com/office/drawing/2014/main" id="{92BF8904-C33E-084C-CAA3-87CBEB77EFDB}"/>
                </a:ext>
              </a:extLst>
            </p:cNvPr>
            <p:cNvSpPr/>
            <p:nvPr/>
          </p:nvSpPr>
          <p:spPr>
            <a:xfrm>
              <a:off x="9644650" y="2110075"/>
              <a:ext cx="263384" cy="332252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山形 16">
              <a:extLst>
                <a:ext uri="{FF2B5EF4-FFF2-40B4-BE49-F238E27FC236}">
                  <a16:creationId xmlns:a16="http://schemas.microsoft.com/office/drawing/2014/main" id="{28616DD6-F636-1BD7-0EFD-25F9538E424F}"/>
                </a:ext>
              </a:extLst>
            </p:cNvPr>
            <p:cNvSpPr/>
            <p:nvPr/>
          </p:nvSpPr>
          <p:spPr>
            <a:xfrm>
              <a:off x="10667440" y="2102711"/>
              <a:ext cx="263384" cy="332252"/>
            </a:xfrm>
            <a:prstGeom prst="chevron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pic>
          <p:nvPicPr>
            <p:cNvPr id="18" name="図 17" descr="図形, 矢印&#10;&#10;自動的に生成された説明">
              <a:extLst>
                <a:ext uri="{FF2B5EF4-FFF2-40B4-BE49-F238E27FC236}">
                  <a16:creationId xmlns:a16="http://schemas.microsoft.com/office/drawing/2014/main" id="{B80EB659-0CA1-09E0-D1A2-A1426353D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00631" y="1517445"/>
              <a:ext cx="377713" cy="360280"/>
            </a:xfrm>
            <a:prstGeom prst="rect">
              <a:avLst/>
            </a:prstGeom>
          </p:spPr>
        </p:pic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A56F7CB4-0DDF-6A91-5546-19BD97747B6B}"/>
                </a:ext>
              </a:extLst>
            </p:cNvPr>
            <p:cNvSpPr txBox="1"/>
            <p:nvPr/>
          </p:nvSpPr>
          <p:spPr>
            <a:xfrm>
              <a:off x="149810" y="2819555"/>
              <a:ext cx="20264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HEK293T </a:t>
              </a:r>
              <a:r>
                <a:rPr kumimoji="1" lang="ja-JP" altLang="en-US" sz="1400"/>
                <a:t>播種</a:t>
              </a: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CA735009-4F8C-6CC0-21A9-9D7C314B6CBB}"/>
                </a:ext>
              </a:extLst>
            </p:cNvPr>
            <p:cNvSpPr txBox="1"/>
            <p:nvPr/>
          </p:nvSpPr>
          <p:spPr>
            <a:xfrm>
              <a:off x="1917916" y="2819554"/>
              <a:ext cx="22875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400"/>
                <a:t>トランスフェクション</a:t>
              </a: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6B5ADBBE-0963-891F-EFB9-552EBB85614D}"/>
                </a:ext>
              </a:extLst>
            </p:cNvPr>
            <p:cNvSpPr txBox="1"/>
            <p:nvPr/>
          </p:nvSpPr>
          <p:spPr>
            <a:xfrm>
              <a:off x="4150192" y="2819553"/>
              <a:ext cx="16110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400"/>
                <a:t>培地交換</a:t>
              </a: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B10B05B7-7A2C-9F04-9DBA-ABF8563E9686}"/>
                </a:ext>
              </a:extLst>
            </p:cNvPr>
            <p:cNvSpPr txBox="1"/>
            <p:nvPr/>
          </p:nvSpPr>
          <p:spPr>
            <a:xfrm>
              <a:off x="6435000" y="2819552"/>
              <a:ext cx="8827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400"/>
                <a:t>継代</a:t>
              </a: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2F0F3540-10AC-6246-F160-F84F279FB6F0}"/>
                </a:ext>
              </a:extLst>
            </p:cNvPr>
            <p:cNvSpPr txBox="1"/>
            <p:nvPr/>
          </p:nvSpPr>
          <p:spPr>
            <a:xfrm>
              <a:off x="7755288" y="2822528"/>
              <a:ext cx="21059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DCA, </a:t>
              </a:r>
              <a:r>
                <a:rPr kumimoji="1" lang="ja-JP" altLang="en-US" sz="1400"/>
                <a:t>ペプチド添加</a:t>
              </a: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5F4806E5-A736-CC3F-066A-B05E19386277}"/>
                </a:ext>
              </a:extLst>
            </p:cNvPr>
            <p:cNvSpPr txBox="1"/>
            <p:nvPr/>
          </p:nvSpPr>
          <p:spPr>
            <a:xfrm>
              <a:off x="9547633" y="2819551"/>
              <a:ext cx="14797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ライセート</a:t>
              </a:r>
              <a:endParaRPr kumimoji="1" lang="ja-JP" altLang="en-US" sz="1400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3E2ADEA3-749D-93D2-024C-ECC33980B254}"/>
                </a:ext>
              </a:extLst>
            </p:cNvPr>
            <p:cNvSpPr txBox="1"/>
            <p:nvPr/>
          </p:nvSpPr>
          <p:spPr>
            <a:xfrm>
              <a:off x="10572985" y="2819550"/>
              <a:ext cx="14797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発光測定</a:t>
              </a:r>
              <a:endParaRPr kumimoji="1" lang="ja-JP" altLang="en-US" sz="1400"/>
            </a:p>
          </p:txBody>
        </p:sp>
        <p:pic>
          <p:nvPicPr>
            <p:cNvPr id="29" name="図 28" descr="巣蜜, 建物, ミラー が含まれている画像&#10;&#10;自動的に生成された説明">
              <a:extLst>
                <a:ext uri="{FF2B5EF4-FFF2-40B4-BE49-F238E27FC236}">
                  <a16:creationId xmlns:a16="http://schemas.microsoft.com/office/drawing/2014/main" id="{BF33C325-12CF-21AA-61EA-C8B67F49DE7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35075" y="1529917"/>
              <a:ext cx="539290" cy="319260"/>
            </a:xfrm>
            <a:prstGeom prst="rect">
              <a:avLst/>
            </a:prstGeom>
          </p:spPr>
        </p:pic>
        <p:sp>
          <p:nvSpPr>
            <p:cNvPr id="30" name="円/楕円 29">
              <a:extLst>
                <a:ext uri="{FF2B5EF4-FFF2-40B4-BE49-F238E27FC236}">
                  <a16:creationId xmlns:a16="http://schemas.microsoft.com/office/drawing/2014/main" id="{6BF41CF5-BB35-9917-857D-AE62C2D62E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06862" y="1383886"/>
              <a:ext cx="144000" cy="144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/楕円 30">
              <a:extLst>
                <a:ext uri="{FF2B5EF4-FFF2-40B4-BE49-F238E27FC236}">
                  <a16:creationId xmlns:a16="http://schemas.microsoft.com/office/drawing/2014/main" id="{13E401E4-937D-1EA5-1D9C-B17D2DE12F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01628" y="1295667"/>
              <a:ext cx="144000" cy="144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>
              <a:extLst>
                <a:ext uri="{FF2B5EF4-FFF2-40B4-BE49-F238E27FC236}">
                  <a16:creationId xmlns:a16="http://schemas.microsoft.com/office/drawing/2014/main" id="{56A6ADDE-6222-FBFB-9064-D0E13C353A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34112" y="1328105"/>
              <a:ext cx="144000" cy="144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111BA957-F1CF-A67A-FEC2-ADB26CF61F44}"/>
                </a:ext>
              </a:extLst>
            </p:cNvPr>
            <p:cNvGrpSpPr/>
            <p:nvPr/>
          </p:nvGrpSpPr>
          <p:grpSpPr>
            <a:xfrm rot="11694743">
              <a:off x="8467852" y="1535685"/>
              <a:ext cx="244790" cy="360376"/>
              <a:chOff x="2664127" y="3374455"/>
              <a:chExt cx="1201975" cy="1567649"/>
            </a:xfrm>
            <a:solidFill>
              <a:schemeClr val="bg2">
                <a:lumMod val="60000"/>
                <a:lumOff val="40000"/>
              </a:schemeClr>
            </a:solidFill>
          </p:grpSpPr>
          <p:sp>
            <p:nvSpPr>
              <p:cNvPr id="40" name="二等辺三角形 4">
                <a:extLst>
                  <a:ext uri="{FF2B5EF4-FFF2-40B4-BE49-F238E27FC236}">
                    <a16:creationId xmlns:a16="http://schemas.microsoft.com/office/drawing/2014/main" id="{5186C665-5B7B-7F6E-44D5-631CF6D85E01}"/>
                  </a:ext>
                </a:extLst>
              </p:cNvPr>
              <p:cNvSpPr/>
              <p:nvPr/>
            </p:nvSpPr>
            <p:spPr>
              <a:xfrm rot="21516842">
                <a:off x="3025444" y="3374455"/>
                <a:ext cx="840658" cy="471949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41" name="フリーフォーム: 図形 9">
                <a:extLst>
                  <a:ext uri="{FF2B5EF4-FFF2-40B4-BE49-F238E27FC236}">
                    <a16:creationId xmlns:a16="http://schemas.microsoft.com/office/drawing/2014/main" id="{A534DBDF-5A3C-CDEE-213E-476FD6AECD35}"/>
                  </a:ext>
                </a:extLst>
              </p:cNvPr>
              <p:cNvSpPr/>
              <p:nvPr/>
            </p:nvSpPr>
            <p:spPr>
              <a:xfrm>
                <a:off x="2664127" y="3827205"/>
                <a:ext cx="956601" cy="1114899"/>
              </a:xfrm>
              <a:custGeom>
                <a:avLst/>
                <a:gdLst>
                  <a:gd name="connsiteX0" fmla="*/ 649311 w 956601"/>
                  <a:gd name="connsiteY0" fmla="*/ 0 h 1114899"/>
                  <a:gd name="connsiteX1" fmla="*/ 956601 w 956601"/>
                  <a:gd name="connsiteY1" fmla="*/ 0 h 1114899"/>
                  <a:gd name="connsiteX2" fmla="*/ 951973 w 956601"/>
                  <a:gd name="connsiteY2" fmla="*/ 97117 h 1114899"/>
                  <a:gd name="connsiteX3" fmla="*/ 5472 w 956601"/>
                  <a:gd name="connsiteY3" fmla="*/ 1113687 h 1114899"/>
                  <a:gd name="connsiteX4" fmla="*/ 0 w 956601"/>
                  <a:gd name="connsiteY4" fmla="*/ 1114899 h 1114899"/>
                  <a:gd name="connsiteX5" fmla="*/ 40056 w 956601"/>
                  <a:gd name="connsiteY5" fmla="*/ 1089636 h 1114899"/>
                  <a:gd name="connsiteX6" fmla="*/ 638394 w 956601"/>
                  <a:gd name="connsiteY6" fmla="*/ 162145 h 111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601" h="1114899">
                    <a:moveTo>
                      <a:pt x="649311" y="0"/>
                    </a:moveTo>
                    <a:lnTo>
                      <a:pt x="956601" y="0"/>
                    </a:lnTo>
                    <a:lnTo>
                      <a:pt x="951973" y="97117"/>
                    </a:lnTo>
                    <a:cubicBezTo>
                      <a:pt x="906000" y="577465"/>
                      <a:pt x="522068" y="975272"/>
                      <a:pt x="5472" y="1113687"/>
                    </a:cubicBezTo>
                    <a:lnTo>
                      <a:pt x="0" y="1114899"/>
                    </a:lnTo>
                    <a:lnTo>
                      <a:pt x="40056" y="1089636"/>
                    </a:lnTo>
                    <a:cubicBezTo>
                      <a:pt x="365632" y="863013"/>
                      <a:pt x="587911" y="534591"/>
                      <a:pt x="638394" y="1621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72D5C568-1422-0186-A514-1D82E1283E67}"/>
                </a:ext>
              </a:extLst>
            </p:cNvPr>
            <p:cNvSpPr txBox="1"/>
            <p:nvPr/>
          </p:nvSpPr>
          <p:spPr>
            <a:xfrm>
              <a:off x="1810434" y="2110075"/>
              <a:ext cx="6037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24h</a:t>
              </a:r>
              <a:endParaRPr kumimoji="1" lang="ja-JP" altLang="en-US" sz="1400"/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7A12D7CA-6C77-8EE3-BEDC-546D41F4C524}"/>
                </a:ext>
              </a:extLst>
            </p:cNvPr>
            <p:cNvSpPr txBox="1"/>
            <p:nvPr/>
          </p:nvSpPr>
          <p:spPr>
            <a:xfrm>
              <a:off x="3712282" y="2118375"/>
              <a:ext cx="6037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24h</a:t>
              </a:r>
              <a:endParaRPr kumimoji="1" lang="ja-JP" altLang="en-US" sz="1400"/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062FB13B-35C0-0CD7-9102-68BE5F54FC89}"/>
                </a:ext>
              </a:extLst>
            </p:cNvPr>
            <p:cNvSpPr txBox="1"/>
            <p:nvPr/>
          </p:nvSpPr>
          <p:spPr>
            <a:xfrm>
              <a:off x="5607858" y="2118424"/>
              <a:ext cx="6037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4h</a:t>
              </a:r>
              <a:endParaRPr kumimoji="1" lang="ja-JP" altLang="en-US" sz="1400"/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86A5D548-3BFB-691F-54F3-61154B0F06AB}"/>
                </a:ext>
              </a:extLst>
            </p:cNvPr>
            <p:cNvSpPr txBox="1"/>
            <p:nvPr/>
          </p:nvSpPr>
          <p:spPr>
            <a:xfrm>
              <a:off x="7538693" y="2110075"/>
              <a:ext cx="6037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400" dirty="0"/>
                <a:t>20h</a:t>
              </a:r>
              <a:endParaRPr kumimoji="1" lang="ja-JP" altLang="en-US" sz="1400"/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4A948109-9583-9F5B-7F5C-33DF23E122CA}"/>
                </a:ext>
              </a:extLst>
            </p:cNvPr>
            <p:cNvSpPr txBox="1"/>
            <p:nvPr/>
          </p:nvSpPr>
          <p:spPr>
            <a:xfrm>
              <a:off x="9479520" y="2118375"/>
              <a:ext cx="6037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400" dirty="0"/>
                <a:t>2h</a:t>
              </a:r>
              <a:endParaRPr kumimoji="1" lang="ja-JP" altLang="en-US" sz="1400"/>
            </a:p>
          </p:txBody>
        </p:sp>
        <p:sp>
          <p:nvSpPr>
            <p:cNvPr id="39" name="コンテンツ プレースホルダー 2">
              <a:extLst>
                <a:ext uri="{FF2B5EF4-FFF2-40B4-BE49-F238E27FC236}">
                  <a16:creationId xmlns:a16="http://schemas.microsoft.com/office/drawing/2014/main" id="{90A7EAD5-EC72-2316-E642-309F193C87A4}"/>
                </a:ext>
              </a:extLst>
            </p:cNvPr>
            <p:cNvSpPr txBox="1">
              <a:spLocks/>
            </p:cNvSpPr>
            <p:nvPr/>
          </p:nvSpPr>
          <p:spPr>
            <a:xfrm>
              <a:off x="546100" y="1152784"/>
              <a:ext cx="11099800" cy="50403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Clr>
                  <a:schemeClr val="accent4"/>
                </a:buClr>
                <a:buFont typeface="Wingdings" pitchFamily="2" charset="2"/>
                <a:buChar char="l"/>
                <a:defRPr kumimoji="1" sz="2000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800100" marR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tabLst/>
                <a:defRPr kumimoji="1" sz="18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2pPr>
              <a:lvl3pPr marL="1252538" indent="-338138" algn="l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Wingdings" panose="05000000000000000000" pitchFamily="2" charset="2"/>
                <a:buChar char="l"/>
                <a:defRPr kumimoji="1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06563" indent="-334963" algn="l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Wingdings" panose="05000000000000000000" pitchFamily="2" charset="2"/>
                <a:buChar char="l"/>
                <a:defRPr kumimoji="1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51063" indent="-322263" algn="l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Wingdings" panose="05000000000000000000" pitchFamily="2" charset="2"/>
                <a:buChar char="l"/>
                <a:defRPr kumimoji="1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Wingdings" pitchFamily="2" charset="2"/>
                <a:buNone/>
              </a:pPr>
              <a:r>
                <a:rPr lang="ja-JP" altLang="en-US"/>
                <a:t>方法</a:t>
              </a:r>
              <a:endParaRPr lang="en-US" altLang="ja-JP" dirty="0"/>
            </a:p>
          </p:txBody>
        </p:sp>
      </p:grp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BB5A4B9E-9CA2-A456-A3B7-BF91BE4C1905}"/>
              </a:ext>
            </a:extLst>
          </p:cNvPr>
          <p:cNvSpPr txBox="1"/>
          <p:nvPr/>
        </p:nvSpPr>
        <p:spPr>
          <a:xfrm>
            <a:off x="6818596" y="1568987"/>
            <a:ext cx="1490521" cy="5788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400" dirty="0"/>
              <a:t>DCA</a:t>
            </a:r>
            <a:r>
              <a:rPr kumimoji="1" lang="ja-JP" altLang="en-US" sz="1400"/>
              <a:t>は</a:t>
            </a:r>
            <a:r>
              <a:rPr kumimoji="1" lang="en-US" altLang="ja-JP" sz="1400" dirty="0"/>
              <a:t>2µM, </a:t>
            </a:r>
            <a:br>
              <a:rPr kumimoji="1" lang="en-US" altLang="ja-JP" sz="1400" dirty="0"/>
            </a:br>
            <a:r>
              <a:rPr kumimoji="1" lang="ja-JP" altLang="en-US" sz="1400"/>
              <a:t>ペプチドは</a:t>
            </a:r>
            <a:r>
              <a:rPr lang="en-US" altLang="ja-JP" sz="1400" dirty="0"/>
              <a:t>2</a:t>
            </a:r>
            <a:r>
              <a:rPr kumimoji="1" lang="en-US" altLang="ja-JP" sz="1400" dirty="0"/>
              <a:t>0µM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45F8F7BE-1ECF-146D-9C99-1F8DF7244252}"/>
              </a:ext>
            </a:extLst>
          </p:cNvPr>
          <p:cNvSpPr txBox="1"/>
          <p:nvPr/>
        </p:nvSpPr>
        <p:spPr>
          <a:xfrm>
            <a:off x="2759148" y="8248294"/>
            <a:ext cx="3201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2µM * 500µL = 1n mol</a:t>
            </a:r>
            <a:br>
              <a:rPr lang="en-US" altLang="ja-JP" dirty="0"/>
            </a:br>
            <a:r>
              <a:rPr lang="en-US" altLang="ja-JP" dirty="0"/>
              <a:t>10nmol * 8 / 500µL = 160µM</a:t>
            </a:r>
            <a:endParaRPr kumimoji="1"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700004D2-F890-7C07-CDFE-9812A58204A8}"/>
              </a:ext>
            </a:extLst>
          </p:cNvPr>
          <p:cNvSpPr txBox="1"/>
          <p:nvPr/>
        </p:nvSpPr>
        <p:spPr>
          <a:xfrm>
            <a:off x="8995448" y="1590885"/>
            <a:ext cx="922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×10</a:t>
            </a:r>
            <a:r>
              <a:rPr lang="ja-JP" altLang="en-US" sz="1400"/>
              <a:t>配列</a:t>
            </a:r>
            <a:endParaRPr kumimoji="1" lang="ja-JP" altLang="en-US" sz="1400"/>
          </a:p>
        </p:txBody>
      </p:sp>
      <p:graphicFrame>
        <p:nvGraphicFramePr>
          <p:cNvPr id="46" name="グラフ 45">
            <a:extLst>
              <a:ext uri="{FF2B5EF4-FFF2-40B4-BE49-F238E27FC236}">
                <a16:creationId xmlns:a16="http://schemas.microsoft.com/office/drawing/2014/main" id="{4D492A22-43E5-8604-F4AE-FCFEF04DD6A9}"/>
              </a:ext>
            </a:extLst>
          </p:cNvPr>
          <p:cNvGraphicFramePr>
            <a:graphicFrameLocks/>
          </p:cNvGraphicFramePr>
          <p:nvPr/>
        </p:nvGraphicFramePr>
        <p:xfrm>
          <a:off x="7798036" y="7031532"/>
          <a:ext cx="5549900" cy="24335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C11C6503-9860-3D2B-C1AF-A9745B33F985}"/>
              </a:ext>
            </a:extLst>
          </p:cNvPr>
          <p:cNvSpPr txBox="1"/>
          <p:nvPr/>
        </p:nvSpPr>
        <p:spPr>
          <a:xfrm>
            <a:off x="8391829" y="9363093"/>
            <a:ext cx="45480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DCA, DCA</a:t>
            </a:r>
            <a:r>
              <a:rPr kumimoji="1" lang="ja-JP" altLang="en-US" sz="1400"/>
              <a:t>結合ペプチドを</a:t>
            </a:r>
            <a:r>
              <a:rPr kumimoji="1" lang="en-US" altLang="ja-JP" sz="1400" dirty="0"/>
              <a:t>2µM</a:t>
            </a:r>
            <a:r>
              <a:rPr kumimoji="1" lang="ja-JP" altLang="en-US" sz="1400"/>
              <a:t>で添加した際の</a:t>
            </a:r>
            <a:r>
              <a:rPr kumimoji="1" lang="en-US" altLang="ja-JP" sz="1400" dirty="0"/>
              <a:t>TGR5</a:t>
            </a:r>
            <a:r>
              <a:rPr kumimoji="1" lang="ja-JP" altLang="en-US" sz="1400"/>
              <a:t>活性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366CCDE8-4118-ABE2-E85B-6D11DB49E9ED}"/>
              </a:ext>
            </a:extLst>
          </p:cNvPr>
          <p:cNvSpPr txBox="1"/>
          <p:nvPr/>
        </p:nvSpPr>
        <p:spPr>
          <a:xfrm>
            <a:off x="2151606" y="7804297"/>
            <a:ext cx="3982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r>
              <a:rPr kumimoji="1" lang="ja-JP" altLang="en-US"/>
              <a:t>スポットで</a:t>
            </a:r>
            <a:r>
              <a:rPr kumimoji="1" lang="en-US" altLang="ja-JP" dirty="0"/>
              <a:t>10nmol -&gt; 500µL</a:t>
            </a:r>
            <a:r>
              <a:rPr kumimoji="1" lang="ja-JP" altLang="en-US"/>
              <a:t>だと</a:t>
            </a:r>
            <a:r>
              <a:rPr lang="en-US" altLang="ja-JP" dirty="0"/>
              <a:t>20µM</a:t>
            </a:r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B2BF903B-458C-CDB3-79D0-023B1A23132F}"/>
              </a:ext>
            </a:extLst>
          </p:cNvPr>
          <p:cNvSpPr txBox="1"/>
          <p:nvPr/>
        </p:nvSpPr>
        <p:spPr>
          <a:xfrm>
            <a:off x="2492375" y="-2617643"/>
            <a:ext cx="6676696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ja-JP" altLang="en-US" b="0"/>
              <a:t>各配列を</a:t>
            </a:r>
            <a:r>
              <a:rPr lang="en-US" altLang="ja-JP" b="0" dirty="0"/>
              <a:t>8</a:t>
            </a:r>
            <a:r>
              <a:rPr lang="ja-JP" altLang="en-US" b="0"/>
              <a:t>スポット分合成した。</a:t>
            </a:r>
            <a:endParaRPr lang="en-US" altLang="ja-JP" b="0" dirty="0"/>
          </a:p>
          <a:p>
            <a:pPr>
              <a:spcBef>
                <a:spcPts val="600"/>
              </a:spcBef>
            </a:pPr>
            <a:r>
              <a:rPr lang="ja-JP" altLang="en-US" b="0"/>
              <a:t>ペプチドの溶出方法</a:t>
            </a:r>
            <a:endParaRPr lang="en-US" altLang="ja-JP" b="0" dirty="0"/>
          </a:p>
          <a:p>
            <a:pPr lvl="1">
              <a:spcBef>
                <a:spcPts val="600"/>
              </a:spcBef>
            </a:pPr>
            <a:r>
              <a:rPr lang="en-US" altLang="ja-JP" b="0" dirty="0"/>
              <a:t>1</a:t>
            </a:r>
            <a:r>
              <a:rPr lang="ja-JP" altLang="en-US" b="0"/>
              <a:t>スポットあたり</a:t>
            </a:r>
            <a:r>
              <a:rPr lang="en-US" altLang="ja-JP" b="0" dirty="0"/>
              <a:t>50µL</a:t>
            </a:r>
            <a:r>
              <a:rPr lang="ja-JP" altLang="en-US" b="0"/>
              <a:t>の</a:t>
            </a:r>
            <a:r>
              <a:rPr lang="en-US" altLang="ja-JP" b="0" dirty="0"/>
              <a:t>PBS</a:t>
            </a:r>
            <a:r>
              <a:rPr lang="ja-JP" altLang="en-US"/>
              <a:t>でペプチドを溶出する。</a:t>
            </a:r>
            <a:endParaRPr lang="en-US" altLang="ja-JP" dirty="0"/>
          </a:p>
          <a:p>
            <a:pPr lvl="1">
              <a:spcBef>
                <a:spcPts val="600"/>
              </a:spcBef>
            </a:pPr>
            <a:r>
              <a:rPr lang="en-US" altLang="ja-JP" b="0" dirty="0"/>
              <a:t>200µM</a:t>
            </a:r>
            <a:r>
              <a:rPr lang="ja-JP" altLang="en-US" b="0"/>
              <a:t>のペプチド溶出液が</a:t>
            </a:r>
            <a:r>
              <a:rPr lang="en-US" altLang="ja-JP" b="0" dirty="0"/>
              <a:t>400µL</a:t>
            </a:r>
            <a:r>
              <a:rPr lang="ja-JP" altLang="en-US" b="0"/>
              <a:t>得られ、うち</a:t>
            </a:r>
            <a:r>
              <a:rPr lang="en-US" altLang="ja-JP" b="0" dirty="0"/>
              <a:t>50µL</a:t>
            </a:r>
            <a:r>
              <a:rPr lang="ja-JP" altLang="en-US" b="0"/>
              <a:t>を</a:t>
            </a:r>
            <a:r>
              <a:rPr lang="en-US" altLang="ja-JP" b="0" dirty="0"/>
              <a:t>well</a:t>
            </a:r>
            <a:r>
              <a:rPr lang="ja-JP" altLang="en-US" b="0"/>
              <a:t>に添加する</a:t>
            </a:r>
            <a:endParaRPr lang="en-US" altLang="ja-JP" b="0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9053C492-9DF9-1452-200B-A31F431B83A5}"/>
              </a:ext>
            </a:extLst>
          </p:cNvPr>
          <p:cNvSpPr txBox="1"/>
          <p:nvPr/>
        </p:nvSpPr>
        <p:spPr>
          <a:xfrm>
            <a:off x="766482" y="7031532"/>
            <a:ext cx="2615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10nmol / 500µL = 20µM</a:t>
            </a:r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AA49C4D-21FC-5C6B-020D-F91F6AD516CD}"/>
              </a:ext>
            </a:extLst>
          </p:cNvPr>
          <p:cNvSpPr txBox="1"/>
          <p:nvPr/>
        </p:nvSpPr>
        <p:spPr>
          <a:xfrm>
            <a:off x="12437540" y="2693120"/>
            <a:ext cx="667306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ja-JP" altLang="en-US"/>
              <a:t>ペプチドの添加に関して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u="sng"/>
              <a:t>方法</a:t>
            </a:r>
            <a:r>
              <a:rPr lang="en-US" altLang="ja-JP" u="sng" dirty="0"/>
              <a:t>: </a:t>
            </a:r>
            <a:r>
              <a:rPr lang="en-US" altLang="ja-JP" b="0" u="sng" dirty="0"/>
              <a:t>1</a:t>
            </a:r>
            <a:r>
              <a:rPr lang="ja-JP" altLang="en-US" b="0" u="sng"/>
              <a:t>スポットあたり</a:t>
            </a:r>
            <a:r>
              <a:rPr lang="en-US" altLang="ja-JP" b="0" u="sng" dirty="0"/>
              <a:t>50µL</a:t>
            </a:r>
            <a:r>
              <a:rPr lang="ja-JP" altLang="en-US" b="0" u="sng"/>
              <a:t>の</a:t>
            </a:r>
            <a:r>
              <a:rPr lang="en-US" altLang="ja-JP" b="0" u="sng" dirty="0"/>
              <a:t>HBSS</a:t>
            </a:r>
            <a:r>
              <a:rPr lang="ja-JP" altLang="en-US" b="0" u="sng"/>
              <a:t>でペプチドを溶出し、溶出液</a:t>
            </a:r>
            <a:r>
              <a:rPr lang="en-US" altLang="ja-JP" b="0" u="sng" dirty="0"/>
              <a:t>50µL</a:t>
            </a:r>
            <a:r>
              <a:rPr lang="ja-JP" altLang="en-US" b="0" u="sng"/>
              <a:t>を</a:t>
            </a:r>
            <a:r>
              <a:rPr lang="en-US" altLang="ja-JP" b="0" u="sng" dirty="0"/>
              <a:t>well</a:t>
            </a:r>
            <a:r>
              <a:rPr lang="ja-JP" altLang="en-US" b="0" u="sng"/>
              <a:t>に添加する。</a:t>
            </a:r>
            <a:endParaRPr lang="en-US" altLang="ja-JP" b="0" u="sng" dirty="0"/>
          </a:p>
          <a:p>
            <a:r>
              <a:rPr lang="en-US" altLang="ja-JP" b="0" dirty="0"/>
              <a:t>8</a:t>
            </a:r>
            <a:r>
              <a:rPr lang="ja-JP" altLang="en-US" b="0"/>
              <a:t>スポット分合成しているため</a:t>
            </a:r>
            <a:r>
              <a:rPr lang="en-US" altLang="ja-JP" b="0" dirty="0"/>
              <a:t>400µL</a:t>
            </a:r>
            <a:r>
              <a:rPr lang="ja-JP" altLang="en-US" b="0"/>
              <a:t>の</a:t>
            </a:r>
            <a:r>
              <a:rPr lang="en-US" altLang="ja-JP" b="0" dirty="0"/>
              <a:t>200µM</a:t>
            </a:r>
            <a:r>
              <a:rPr lang="ja-JP" altLang="en-US" b="0"/>
              <a:t>溶出液が得られる。</a:t>
            </a:r>
            <a:endParaRPr lang="en-US" altLang="ja-JP" b="0" dirty="0"/>
          </a:p>
          <a:p>
            <a:r>
              <a:rPr lang="en-US" altLang="ja-JP" b="0" dirty="0"/>
              <a:t>1</a:t>
            </a:r>
            <a:r>
              <a:rPr lang="ja-JP" altLang="en-US" b="0"/>
              <a:t>スポットあたり約</a:t>
            </a:r>
            <a:r>
              <a:rPr lang="en-US" altLang="ja-JP" b="0" dirty="0"/>
              <a:t>10nmol</a:t>
            </a:r>
            <a:r>
              <a:rPr lang="ja-JP" altLang="en-US" b="0"/>
              <a:t>のペプチドが得られるため、</a:t>
            </a:r>
            <a:r>
              <a:rPr lang="en-US" altLang="ja-JP" b="0" dirty="0"/>
              <a:t>1well</a:t>
            </a:r>
            <a:r>
              <a:rPr lang="ja-JP" altLang="en-US" b="0"/>
              <a:t>あたりのペプチド濃度は約</a:t>
            </a:r>
            <a:r>
              <a:rPr lang="en-US" altLang="ja-JP" b="0" dirty="0"/>
              <a:t>20µM</a:t>
            </a:r>
            <a:r>
              <a:rPr lang="ja-JP" altLang="en-US" b="0"/>
              <a:t>になる。</a:t>
            </a:r>
            <a:endParaRPr lang="en-US" altLang="ja-JP" b="0" dirty="0"/>
          </a:p>
          <a:p>
            <a:pPr lvl="1"/>
            <a:r>
              <a:rPr lang="ja-JP" altLang="en-US" b="0"/>
              <a:t>元々</a:t>
            </a:r>
            <a:r>
              <a:rPr lang="ja-JP" altLang="en-US"/>
              <a:t>の評価系ではペプチドを</a:t>
            </a:r>
            <a:r>
              <a:rPr lang="en-US" altLang="ja-JP" dirty="0"/>
              <a:t>2µM</a:t>
            </a:r>
            <a:r>
              <a:rPr lang="ja-JP" altLang="en-US"/>
              <a:t>で添加していたが、現状ポジコン</a:t>
            </a:r>
            <a:r>
              <a:rPr lang="en-US" altLang="ja-JP" dirty="0"/>
              <a:t>(3</a:t>
            </a:r>
            <a:r>
              <a:rPr lang="ja-JP" altLang="en-US"/>
              <a:t>残基ペプチドで活性がでるもの</a:t>
            </a:r>
            <a:r>
              <a:rPr lang="en-US" altLang="ja-JP" dirty="0"/>
              <a:t>)</a:t>
            </a:r>
            <a:r>
              <a:rPr lang="ja-JP" altLang="en-US"/>
              <a:t>が</a:t>
            </a:r>
            <a:br>
              <a:rPr lang="en-US" altLang="ja-JP" dirty="0"/>
            </a:br>
            <a:r>
              <a:rPr lang="ja-JP" altLang="en-US"/>
              <a:t>ないので、多めに</a:t>
            </a:r>
            <a:r>
              <a:rPr lang="en-US" altLang="ja-JP" dirty="0"/>
              <a:t>20µM</a:t>
            </a:r>
            <a:r>
              <a:rPr lang="ja-JP" altLang="en-US"/>
              <a:t>で添加する。</a:t>
            </a:r>
            <a:endParaRPr lang="en-US" altLang="ja-JP" b="0" dirty="0"/>
          </a:p>
        </p:txBody>
      </p:sp>
    </p:spTree>
    <p:extLst>
      <p:ext uri="{BB962C8B-B14F-4D97-AF65-F5344CB8AC3E}">
        <p14:creationId xmlns:p14="http://schemas.microsoft.com/office/powerpoint/2010/main" val="2600533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3B5946-ED6D-089E-C48F-A17D118D0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038484"/>
            <a:ext cx="11099800" cy="4699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ja-JP" altLang="en-US"/>
              <a:t>短期予定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CE3F74-8A89-FDDF-93AC-6086F7A6ED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/>
              <a:t>今後の予定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DB6E4A7A-31E8-F7AB-957A-38C0F4677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915848"/>
              </p:ext>
            </p:extLst>
          </p:nvPr>
        </p:nvGraphicFramePr>
        <p:xfrm>
          <a:off x="546100" y="1480103"/>
          <a:ext cx="11119874" cy="194442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28836">
                  <a:extLst>
                    <a:ext uri="{9D8B030D-6E8A-4147-A177-3AD203B41FA5}">
                      <a16:colId xmlns:a16="http://schemas.microsoft.com/office/drawing/2014/main" val="3371328493"/>
                    </a:ext>
                  </a:extLst>
                </a:gridCol>
                <a:gridCol w="2111604">
                  <a:extLst>
                    <a:ext uri="{9D8B030D-6E8A-4147-A177-3AD203B41FA5}">
                      <a16:colId xmlns:a16="http://schemas.microsoft.com/office/drawing/2014/main" val="2336952824"/>
                    </a:ext>
                  </a:extLst>
                </a:gridCol>
                <a:gridCol w="2055044">
                  <a:extLst>
                    <a:ext uri="{9D8B030D-6E8A-4147-A177-3AD203B41FA5}">
                      <a16:colId xmlns:a16="http://schemas.microsoft.com/office/drawing/2014/main" val="3322159680"/>
                    </a:ext>
                  </a:extLst>
                </a:gridCol>
                <a:gridCol w="1824390">
                  <a:extLst>
                    <a:ext uri="{9D8B030D-6E8A-4147-A177-3AD203B41FA5}">
                      <a16:colId xmlns:a16="http://schemas.microsoft.com/office/drawing/2014/main" val="1025667938"/>
                    </a:ext>
                  </a:extLst>
                </a:gridCol>
              </a:tblGrid>
              <a:tr h="400465"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10/28〜11/1</a:t>
                      </a:r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11/4〜11/8</a:t>
                      </a:r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11/11〜11/15</a:t>
                      </a:r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672014"/>
                  </a:ext>
                </a:extLst>
              </a:tr>
              <a:tr h="482018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/>
                        <a:t>上位</a:t>
                      </a:r>
                      <a:r>
                        <a:rPr kumimoji="1" lang="en-US" altLang="ja-JP" dirty="0"/>
                        <a:t>10</a:t>
                      </a:r>
                      <a:r>
                        <a:rPr kumimoji="1" lang="ja-JP" altLang="en-US"/>
                        <a:t>配列の</a:t>
                      </a:r>
                      <a:r>
                        <a:rPr kumimoji="1" lang="en-US" altLang="ja-JP" dirty="0"/>
                        <a:t>TGR5</a:t>
                      </a:r>
                      <a:r>
                        <a:rPr kumimoji="1" lang="ja-JP" altLang="en-US"/>
                        <a:t>活性評価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361630"/>
                  </a:ext>
                </a:extLst>
              </a:tr>
              <a:tr h="53097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/>
                        <a:t>下位</a:t>
                      </a:r>
                      <a:r>
                        <a:rPr kumimoji="1" lang="en-US" altLang="ja-JP" dirty="0"/>
                        <a:t>10</a:t>
                      </a:r>
                      <a:r>
                        <a:rPr kumimoji="1" lang="ja-JP" altLang="en-US"/>
                        <a:t>配列の</a:t>
                      </a:r>
                      <a:r>
                        <a:rPr kumimoji="1" lang="en-US" altLang="ja-JP" dirty="0"/>
                        <a:t>TGR5</a:t>
                      </a:r>
                      <a:r>
                        <a:rPr kumimoji="1" lang="ja-JP" altLang="en-US"/>
                        <a:t>活性評価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393681"/>
                  </a:ext>
                </a:extLst>
              </a:tr>
              <a:tr h="53097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/>
                        <a:t>ペプチド合成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299942"/>
                  </a:ext>
                </a:extLst>
              </a:tr>
            </a:tbl>
          </a:graphicData>
        </a:graphic>
      </p:graphicFrame>
      <p:sp>
        <p:nvSpPr>
          <p:cNvPr id="15" name="コンテンツ プレースホルダー 2">
            <a:extLst>
              <a:ext uri="{FF2B5EF4-FFF2-40B4-BE49-F238E27FC236}">
                <a16:creationId xmlns:a16="http://schemas.microsoft.com/office/drawing/2014/main" id="{D0B811FE-8E4F-9370-B4A4-9EF0C74C17BB}"/>
              </a:ext>
            </a:extLst>
          </p:cNvPr>
          <p:cNvSpPr txBox="1">
            <a:spLocks/>
          </p:cNvSpPr>
          <p:nvPr/>
        </p:nvSpPr>
        <p:spPr>
          <a:xfrm>
            <a:off x="546100" y="3598131"/>
            <a:ext cx="11099800" cy="31231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ja-JP" altLang="en-US">
                <a:latin typeface="+mn-ea"/>
                <a:ea typeface="+mn-ea"/>
              </a:rPr>
              <a:t>長期予定</a:t>
            </a:r>
            <a:endParaRPr lang="en-US" altLang="ja-JP" dirty="0">
              <a:latin typeface="+mn-ea"/>
              <a:ea typeface="+mn-ea"/>
            </a:endParaRPr>
          </a:p>
          <a:p>
            <a:r>
              <a:rPr lang="ja-JP" altLang="en-US" sz="1800" b="0">
                <a:latin typeface="+mn-ea"/>
                <a:ea typeface="+mn-ea"/>
              </a:rPr>
              <a:t>活性評価の結果を受けて、モデルの改善を試みる</a:t>
            </a:r>
            <a:endParaRPr lang="en-US" altLang="ja-JP" sz="1800" b="0" dirty="0">
              <a:latin typeface="+mn-ea"/>
              <a:ea typeface="+mn-ea"/>
            </a:endParaRPr>
          </a:p>
          <a:p>
            <a:endParaRPr lang="en-US" altLang="ja-JP" sz="1800" b="0" dirty="0">
              <a:latin typeface="+mn-ea"/>
              <a:ea typeface="+mn-ea"/>
            </a:endParaRPr>
          </a:p>
          <a:p>
            <a:endParaRPr lang="en-US" altLang="ja-JP" sz="1800" b="0" dirty="0">
              <a:latin typeface="+mn-ea"/>
              <a:ea typeface="+mn-ea"/>
            </a:endParaRP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95B5B3D5-8931-E5D6-5DA7-65DBB2E90259}"/>
              </a:ext>
            </a:extLst>
          </p:cNvPr>
          <p:cNvGrpSpPr/>
          <p:nvPr/>
        </p:nvGrpSpPr>
        <p:grpSpPr>
          <a:xfrm rot="5400000">
            <a:off x="7996110" y="1028524"/>
            <a:ext cx="353858" cy="3205114"/>
            <a:chOff x="7800489" y="2818451"/>
            <a:chExt cx="840658" cy="2492477"/>
          </a:xfrm>
        </p:grpSpPr>
        <p:sp>
          <p:nvSpPr>
            <p:cNvPr id="17" name="二等辺三角形 23">
              <a:extLst>
                <a:ext uri="{FF2B5EF4-FFF2-40B4-BE49-F238E27FC236}">
                  <a16:creationId xmlns:a16="http://schemas.microsoft.com/office/drawing/2014/main" id="{4D638BC3-D6EB-C369-8F06-41F31AB1094A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二等辺三角形 24">
              <a:extLst>
                <a:ext uri="{FF2B5EF4-FFF2-40B4-BE49-F238E27FC236}">
                  <a16:creationId xmlns:a16="http://schemas.microsoft.com/office/drawing/2014/main" id="{6720C1A0-8C65-0CED-28FD-57BEF7172545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45DF8A0C-F77F-DA00-250B-88A0BEF26505}"/>
              </a:ext>
            </a:extLst>
          </p:cNvPr>
          <p:cNvGrpSpPr/>
          <p:nvPr/>
        </p:nvGrpSpPr>
        <p:grpSpPr>
          <a:xfrm rot="5400000">
            <a:off x="6534010" y="1118214"/>
            <a:ext cx="339565" cy="2033518"/>
            <a:chOff x="7800489" y="2818451"/>
            <a:chExt cx="840658" cy="2492477"/>
          </a:xfrm>
        </p:grpSpPr>
        <p:sp>
          <p:nvSpPr>
            <p:cNvPr id="20" name="二等辺三角形 23">
              <a:extLst>
                <a:ext uri="{FF2B5EF4-FFF2-40B4-BE49-F238E27FC236}">
                  <a16:creationId xmlns:a16="http://schemas.microsoft.com/office/drawing/2014/main" id="{345C67FD-E417-F7FB-EA5B-16E93B85B8BD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二等辺三角形 24">
              <a:extLst>
                <a:ext uri="{FF2B5EF4-FFF2-40B4-BE49-F238E27FC236}">
                  <a16:creationId xmlns:a16="http://schemas.microsoft.com/office/drawing/2014/main" id="{A9A971C1-C327-1B98-1A22-2167D02D163F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E6025408-6E19-1D4F-5E28-4A0798C7C1EA}"/>
              </a:ext>
            </a:extLst>
          </p:cNvPr>
          <p:cNvGrpSpPr/>
          <p:nvPr/>
        </p:nvGrpSpPr>
        <p:grpSpPr>
          <a:xfrm rot="5400000">
            <a:off x="9906936" y="1617035"/>
            <a:ext cx="353858" cy="3124070"/>
            <a:chOff x="7800489" y="2818451"/>
            <a:chExt cx="840658" cy="2492477"/>
          </a:xfrm>
        </p:grpSpPr>
        <p:sp>
          <p:nvSpPr>
            <p:cNvPr id="23" name="二等辺三角形 23">
              <a:extLst>
                <a:ext uri="{FF2B5EF4-FFF2-40B4-BE49-F238E27FC236}">
                  <a16:creationId xmlns:a16="http://schemas.microsoft.com/office/drawing/2014/main" id="{2DE3125C-DB43-7B86-4ABD-5EAD1EF631D3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二等辺三角形 24">
              <a:extLst>
                <a:ext uri="{FF2B5EF4-FFF2-40B4-BE49-F238E27FC236}">
                  <a16:creationId xmlns:a16="http://schemas.microsoft.com/office/drawing/2014/main" id="{AB5866F8-5695-9758-EF88-F74CD4CEA10D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3781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573968E-BF17-4017-AA59-5326CD607C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/>
              <a:t>素材集</a:t>
            </a:r>
          </a:p>
        </p:txBody>
      </p:sp>
      <p:pic>
        <p:nvPicPr>
          <p:cNvPr id="16" name="図 15" descr="巣蜜, 建物, ミラー が含まれている画像&#10;&#10;自動的に生成された説明">
            <a:extLst>
              <a:ext uri="{FF2B5EF4-FFF2-40B4-BE49-F238E27FC236}">
                <a16:creationId xmlns:a16="http://schemas.microsoft.com/office/drawing/2014/main" id="{1D2721EE-CDF6-2723-5F42-7A778A6E52A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222" y="1459222"/>
            <a:ext cx="1587500" cy="939800"/>
          </a:xfrm>
          <a:prstGeom prst="rect">
            <a:avLst/>
          </a:prstGeom>
        </p:spPr>
      </p:pic>
      <p:pic>
        <p:nvPicPr>
          <p:cNvPr id="18" name="図 17" descr="図形, 矢印&#10;&#10;自動的に生成された説明">
            <a:extLst>
              <a:ext uri="{FF2B5EF4-FFF2-40B4-BE49-F238E27FC236}">
                <a16:creationId xmlns:a16="http://schemas.microsoft.com/office/drawing/2014/main" id="{EC0A1FA9-5D5B-58B5-1E97-DE2015A4BF8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7611" y="2466286"/>
            <a:ext cx="492637" cy="469900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C5FF0AA2-CB5C-D0DD-F01B-9F662F52292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227" y="2914574"/>
            <a:ext cx="513124" cy="1026247"/>
          </a:xfrm>
          <a:prstGeom prst="rect">
            <a:avLst/>
          </a:prstGeom>
        </p:spPr>
      </p:pic>
      <p:pic>
        <p:nvPicPr>
          <p:cNvPr id="22" name="図 21" descr="背景パターン&#10;&#10;自動的に生成された説明">
            <a:extLst>
              <a:ext uri="{FF2B5EF4-FFF2-40B4-BE49-F238E27FC236}">
                <a16:creationId xmlns:a16="http://schemas.microsoft.com/office/drawing/2014/main" id="{5434239A-8B98-543D-152A-8C832CF2FE6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182" y="1876690"/>
            <a:ext cx="676214" cy="1983054"/>
          </a:xfrm>
          <a:prstGeom prst="rect">
            <a:avLst/>
          </a:prstGeom>
        </p:spPr>
      </p:pic>
      <p:pic>
        <p:nvPicPr>
          <p:cNvPr id="26" name="図 25" descr="ダイアグラム&#10;&#10;低い精度で自動的に生成された説明">
            <a:extLst>
              <a:ext uri="{FF2B5EF4-FFF2-40B4-BE49-F238E27FC236}">
                <a16:creationId xmlns:a16="http://schemas.microsoft.com/office/drawing/2014/main" id="{A51E6FAD-F4B6-D44D-3059-D5006F095FA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64" y="1067113"/>
            <a:ext cx="2305783" cy="1611569"/>
          </a:xfrm>
          <a:prstGeom prst="rect">
            <a:avLst/>
          </a:prstGeom>
        </p:spPr>
      </p:pic>
      <p:pic>
        <p:nvPicPr>
          <p:cNvPr id="28" name="図 27" descr="洗面道具 が含まれている画像&#10;&#10;自動的に生成された説明">
            <a:extLst>
              <a:ext uri="{FF2B5EF4-FFF2-40B4-BE49-F238E27FC236}">
                <a16:creationId xmlns:a16="http://schemas.microsoft.com/office/drawing/2014/main" id="{B4245E6D-394C-C910-C428-32CB856ED7C4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433" y="1157008"/>
            <a:ext cx="2209434" cy="1544228"/>
          </a:xfrm>
          <a:prstGeom prst="rect">
            <a:avLst/>
          </a:prstGeom>
        </p:spPr>
      </p:pic>
      <p:pic>
        <p:nvPicPr>
          <p:cNvPr id="30" name="図 29" descr="ダイアグラム&#10;&#10;自動的に生成された説明">
            <a:extLst>
              <a:ext uri="{FF2B5EF4-FFF2-40B4-BE49-F238E27FC236}">
                <a16:creationId xmlns:a16="http://schemas.microsoft.com/office/drawing/2014/main" id="{F7BB396B-089F-6019-752C-C7EF107744DD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74" y="2914574"/>
            <a:ext cx="2391961" cy="1802276"/>
          </a:xfrm>
          <a:prstGeom prst="rect">
            <a:avLst/>
          </a:prstGeom>
        </p:spPr>
      </p:pic>
      <p:pic>
        <p:nvPicPr>
          <p:cNvPr id="32" name="図 31" descr="洗面道具 が含まれている画像&#10;&#10;自動的に生成された説明">
            <a:extLst>
              <a:ext uri="{FF2B5EF4-FFF2-40B4-BE49-F238E27FC236}">
                <a16:creationId xmlns:a16="http://schemas.microsoft.com/office/drawing/2014/main" id="{983C9901-2A7E-0A6B-4270-306CF53D1F17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806" y="2630557"/>
            <a:ext cx="2391961" cy="1802276"/>
          </a:xfrm>
          <a:prstGeom prst="rect">
            <a:avLst/>
          </a:prstGeom>
        </p:spPr>
      </p:pic>
      <p:pic>
        <p:nvPicPr>
          <p:cNvPr id="3" name="図 2" descr="図形, 円&#10;&#10;自動的に生成された説明">
            <a:extLst>
              <a:ext uri="{FF2B5EF4-FFF2-40B4-BE49-F238E27FC236}">
                <a16:creationId xmlns:a16="http://schemas.microsoft.com/office/drawing/2014/main" id="{AE5E1DC3-04D7-8A10-2314-17AE2BED30F6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972" y="5369457"/>
            <a:ext cx="1587500" cy="1140317"/>
          </a:xfrm>
          <a:prstGeom prst="rect">
            <a:avLst/>
          </a:prstGeom>
        </p:spPr>
      </p:pic>
      <p:sp>
        <p:nvSpPr>
          <p:cNvPr id="2" name="山形 1">
            <a:extLst>
              <a:ext uri="{FF2B5EF4-FFF2-40B4-BE49-F238E27FC236}">
                <a16:creationId xmlns:a16="http://schemas.microsoft.com/office/drawing/2014/main" id="{57F379B0-6B86-480F-CE5C-EE6CD4B817E1}"/>
              </a:ext>
            </a:extLst>
          </p:cNvPr>
          <p:cNvSpPr/>
          <p:nvPr/>
        </p:nvSpPr>
        <p:spPr>
          <a:xfrm>
            <a:off x="9513843" y="4501678"/>
            <a:ext cx="263384" cy="332252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4"/>
              </a:solidFill>
            </a:endParaRPr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A8C07547-E8E0-D81E-39D1-0781AFCBA57A}"/>
              </a:ext>
            </a:extLst>
          </p:cNvPr>
          <p:cNvSpPr>
            <a:spLocks noChangeAspect="1"/>
          </p:cNvSpPr>
          <p:nvPr/>
        </p:nvSpPr>
        <p:spPr>
          <a:xfrm>
            <a:off x="7468688" y="1323193"/>
            <a:ext cx="144000" cy="14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13DF3B36-46D7-5F19-E254-C48487CB4B47}"/>
              </a:ext>
            </a:extLst>
          </p:cNvPr>
          <p:cNvSpPr>
            <a:spLocks noChangeAspect="1"/>
          </p:cNvSpPr>
          <p:nvPr/>
        </p:nvSpPr>
        <p:spPr>
          <a:xfrm>
            <a:off x="7563454" y="1234974"/>
            <a:ext cx="144000" cy="14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36048A23-EDC5-A5E2-B44A-F263FDB892BE}"/>
              </a:ext>
            </a:extLst>
          </p:cNvPr>
          <p:cNvSpPr>
            <a:spLocks noChangeAspect="1"/>
          </p:cNvSpPr>
          <p:nvPr/>
        </p:nvSpPr>
        <p:spPr>
          <a:xfrm>
            <a:off x="7695938" y="1267412"/>
            <a:ext cx="144000" cy="14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58A7EAF2-E71F-BBD9-A258-2710F568D617}"/>
              </a:ext>
            </a:extLst>
          </p:cNvPr>
          <p:cNvSpPr>
            <a:spLocks noChangeAspect="1"/>
          </p:cNvSpPr>
          <p:nvPr/>
        </p:nvSpPr>
        <p:spPr>
          <a:xfrm>
            <a:off x="7801941" y="1172785"/>
            <a:ext cx="144000" cy="14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FC24DCA8-5AAC-9E8B-8AB5-4C9BF49FF420}"/>
              </a:ext>
            </a:extLst>
          </p:cNvPr>
          <p:cNvSpPr>
            <a:spLocks noChangeAspect="1"/>
          </p:cNvSpPr>
          <p:nvPr/>
        </p:nvSpPr>
        <p:spPr>
          <a:xfrm>
            <a:off x="7931468" y="1201821"/>
            <a:ext cx="144000" cy="14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>
            <a:extLst>
              <a:ext uri="{FF2B5EF4-FFF2-40B4-BE49-F238E27FC236}">
                <a16:creationId xmlns:a16="http://schemas.microsoft.com/office/drawing/2014/main" id="{DCCD1A78-C6EB-F0B0-FEBB-5484AB3D0051}"/>
              </a:ext>
            </a:extLst>
          </p:cNvPr>
          <p:cNvSpPr>
            <a:spLocks noChangeAspect="1"/>
          </p:cNvSpPr>
          <p:nvPr/>
        </p:nvSpPr>
        <p:spPr>
          <a:xfrm>
            <a:off x="8037471" y="1112655"/>
            <a:ext cx="144000" cy="14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 descr="電子機器, コンパクトディスク が含まれている画像&#10;&#10;自動的に生成された説明">
            <a:extLst>
              <a:ext uri="{FF2B5EF4-FFF2-40B4-BE49-F238E27FC236}">
                <a16:creationId xmlns:a16="http://schemas.microsoft.com/office/drawing/2014/main" id="{9B2CB778-4614-47B1-AFA0-EC1FF608483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8" t="3148" r="3607" b="3180"/>
          <a:stretch/>
        </p:blipFill>
        <p:spPr>
          <a:xfrm>
            <a:off x="4412197" y="4833930"/>
            <a:ext cx="1572768" cy="1323144"/>
          </a:xfrm>
          <a:prstGeom prst="rect">
            <a:avLst/>
          </a:prstGeom>
        </p:spPr>
      </p:pic>
      <p:pic>
        <p:nvPicPr>
          <p:cNvPr id="12" name="図 11" descr="アイコン&#10;&#10;自動的に生成された説明">
            <a:extLst>
              <a:ext uri="{FF2B5EF4-FFF2-40B4-BE49-F238E27FC236}">
                <a16:creationId xmlns:a16="http://schemas.microsoft.com/office/drawing/2014/main" id="{B4CB8EA3-D32E-96DF-9C95-69D5C39CF3EA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9" t="5254" r="3904" b="4055"/>
          <a:stretch/>
        </p:blipFill>
        <p:spPr>
          <a:xfrm>
            <a:off x="2427575" y="4909277"/>
            <a:ext cx="1499615" cy="125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980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BAE509-1F5F-44D7-895B-AADA5EB0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寸法や色は場合に応じて調整しましょう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CA4200-D082-429B-A7B9-20EDE7036B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よく使う図形のパターン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600F27F-842D-4A09-9876-4F4D6FED49D4}"/>
              </a:ext>
            </a:extLst>
          </p:cNvPr>
          <p:cNvGrpSpPr/>
          <p:nvPr/>
        </p:nvGrpSpPr>
        <p:grpSpPr>
          <a:xfrm rot="3516666">
            <a:off x="1083666" y="2853387"/>
            <a:ext cx="1201975" cy="1567649"/>
            <a:chOff x="2664127" y="3374455"/>
            <a:chExt cx="1201975" cy="1567649"/>
          </a:xfrm>
        </p:grpSpPr>
        <p:sp>
          <p:nvSpPr>
            <p:cNvPr id="5" name="二等辺三角形 4">
              <a:extLst>
                <a:ext uri="{FF2B5EF4-FFF2-40B4-BE49-F238E27FC236}">
                  <a16:creationId xmlns:a16="http://schemas.microsoft.com/office/drawing/2014/main" id="{031DCB67-E3C0-40A6-82FC-F3A99614C50C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8F1F7A27-5455-4318-B9EB-F5DC2E371C80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A84CB4AB-8E74-474F-8F79-B603B9235B46}"/>
              </a:ext>
            </a:extLst>
          </p:cNvPr>
          <p:cNvGrpSpPr/>
          <p:nvPr/>
        </p:nvGrpSpPr>
        <p:grpSpPr>
          <a:xfrm>
            <a:off x="3762700" y="2453659"/>
            <a:ext cx="851900" cy="2201196"/>
            <a:chOff x="4004187" y="2684206"/>
            <a:chExt cx="851900" cy="2201196"/>
          </a:xfrm>
        </p:grpSpPr>
        <p:sp>
          <p:nvSpPr>
            <p:cNvPr id="16" name="二等辺三角形 15">
              <a:extLst>
                <a:ext uri="{FF2B5EF4-FFF2-40B4-BE49-F238E27FC236}">
                  <a16:creationId xmlns:a16="http://schemas.microsoft.com/office/drawing/2014/main" id="{77F25128-43F7-4D7B-A506-7861040EA63C}"/>
                </a:ext>
              </a:extLst>
            </p:cNvPr>
            <p:cNvSpPr/>
            <p:nvPr/>
          </p:nvSpPr>
          <p:spPr>
            <a:xfrm>
              <a:off x="4004187" y="2684206"/>
              <a:ext cx="851900" cy="405581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二等辺三角形 16">
              <a:extLst>
                <a:ext uri="{FF2B5EF4-FFF2-40B4-BE49-F238E27FC236}">
                  <a16:creationId xmlns:a16="http://schemas.microsoft.com/office/drawing/2014/main" id="{425DA271-AEFA-45AB-AD52-737DB7EF67C8}"/>
                </a:ext>
              </a:extLst>
            </p:cNvPr>
            <p:cNvSpPr/>
            <p:nvPr/>
          </p:nvSpPr>
          <p:spPr>
            <a:xfrm rot="10800000">
              <a:off x="4172039" y="4653111"/>
              <a:ext cx="516194" cy="232291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台形 17">
              <a:extLst>
                <a:ext uri="{FF2B5EF4-FFF2-40B4-BE49-F238E27FC236}">
                  <a16:creationId xmlns:a16="http://schemas.microsoft.com/office/drawing/2014/main" id="{0BE03671-A77A-4398-9395-69D34E2C8634}"/>
                </a:ext>
              </a:extLst>
            </p:cNvPr>
            <p:cNvSpPr/>
            <p:nvPr/>
          </p:nvSpPr>
          <p:spPr>
            <a:xfrm rot="10800000">
              <a:off x="4274402" y="3082408"/>
              <a:ext cx="311469" cy="1570703"/>
            </a:xfrm>
            <a:prstGeom prst="trapezoid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3DA5DF4-9734-4A8B-B3F2-EB432821614A}"/>
              </a:ext>
            </a:extLst>
          </p:cNvPr>
          <p:cNvGrpSpPr/>
          <p:nvPr/>
        </p:nvGrpSpPr>
        <p:grpSpPr>
          <a:xfrm>
            <a:off x="5262743" y="3209365"/>
            <a:ext cx="2359742" cy="1445491"/>
            <a:chOff x="4837472" y="2490841"/>
            <a:chExt cx="2359742" cy="1445491"/>
          </a:xfrm>
        </p:grpSpPr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161AF5DB-A2D8-495C-B795-7003573DFCCF}"/>
                </a:ext>
              </a:extLst>
            </p:cNvPr>
            <p:cNvSpPr/>
            <p:nvPr/>
          </p:nvSpPr>
          <p:spPr>
            <a:xfrm>
              <a:off x="4837472" y="2490841"/>
              <a:ext cx="2359742" cy="938159"/>
            </a:xfrm>
            <a:prstGeom prst="roundRect">
              <a:avLst>
                <a:gd name="adj" fmla="val 10379"/>
              </a:avLst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2" name="二等辺三角形 21">
              <a:extLst>
                <a:ext uri="{FF2B5EF4-FFF2-40B4-BE49-F238E27FC236}">
                  <a16:creationId xmlns:a16="http://schemas.microsoft.com/office/drawing/2014/main" id="{C811F06F-2D36-4904-A2A9-7CD991856DA0}"/>
                </a:ext>
              </a:extLst>
            </p:cNvPr>
            <p:cNvSpPr/>
            <p:nvPr/>
          </p:nvSpPr>
          <p:spPr>
            <a:xfrm rot="11901755">
              <a:off x="4948538" y="3335420"/>
              <a:ext cx="213186" cy="600912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2B12945-4562-4CBA-BD30-EF9F8726FCD9}"/>
              </a:ext>
            </a:extLst>
          </p:cNvPr>
          <p:cNvGrpSpPr/>
          <p:nvPr/>
        </p:nvGrpSpPr>
        <p:grpSpPr>
          <a:xfrm>
            <a:off x="2672807" y="2453659"/>
            <a:ext cx="840658" cy="2492477"/>
            <a:chOff x="7800489" y="2818451"/>
            <a:chExt cx="840658" cy="2492477"/>
          </a:xfrm>
        </p:grpSpPr>
        <p:sp>
          <p:nvSpPr>
            <p:cNvPr id="24" name="二等辺三角形 23">
              <a:extLst>
                <a:ext uri="{FF2B5EF4-FFF2-40B4-BE49-F238E27FC236}">
                  <a16:creationId xmlns:a16="http://schemas.microsoft.com/office/drawing/2014/main" id="{5972915F-3F25-4048-8F16-22D7D6656CAA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二等辺三角形 24">
              <a:extLst>
                <a:ext uri="{FF2B5EF4-FFF2-40B4-BE49-F238E27FC236}">
                  <a16:creationId xmlns:a16="http://schemas.microsoft.com/office/drawing/2014/main" id="{FC3592AF-4DD9-481B-AE7D-C444443CA44E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692BBDB-6806-49B7-9241-7D2B547F185E}"/>
              </a:ext>
            </a:extLst>
          </p:cNvPr>
          <p:cNvCxnSpPr>
            <a:cxnSpLocks/>
          </p:cNvCxnSpPr>
          <p:nvPr/>
        </p:nvCxnSpPr>
        <p:spPr>
          <a:xfrm flipV="1">
            <a:off x="7466643" y="2683751"/>
            <a:ext cx="525780" cy="791898"/>
          </a:xfrm>
          <a:prstGeom prst="line">
            <a:avLst/>
          </a:prstGeom>
          <a:ln>
            <a:headEnd type="oval" w="lg" len="lg"/>
          </a:ln>
          <a:effectLst>
            <a:glow rad="88900">
              <a:srgbClr val="FFFFFF">
                <a:alpha val="87000"/>
              </a:srgbClr>
            </a:glo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楕円 28">
            <a:extLst>
              <a:ext uri="{FF2B5EF4-FFF2-40B4-BE49-F238E27FC236}">
                <a16:creationId xmlns:a16="http://schemas.microsoft.com/office/drawing/2014/main" id="{602DA899-F613-4B35-A569-DACF6D76EEA5}"/>
              </a:ext>
            </a:extLst>
          </p:cNvPr>
          <p:cNvSpPr/>
          <p:nvPr/>
        </p:nvSpPr>
        <p:spPr>
          <a:xfrm>
            <a:off x="7831288" y="2120241"/>
            <a:ext cx="648000" cy="6480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endParaRPr kumimoji="1" lang="ja-JP" altLang="en-US" sz="28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D97239CB-D2F7-464C-85F9-58EE17B7D302}"/>
              </a:ext>
            </a:extLst>
          </p:cNvPr>
          <p:cNvGrpSpPr/>
          <p:nvPr/>
        </p:nvGrpSpPr>
        <p:grpSpPr>
          <a:xfrm>
            <a:off x="1308118" y="4654856"/>
            <a:ext cx="938304" cy="840658"/>
            <a:chOff x="1572269" y="4816089"/>
            <a:chExt cx="938304" cy="840658"/>
          </a:xfrm>
        </p:grpSpPr>
        <p:sp>
          <p:nvSpPr>
            <p:cNvPr id="27" name="二等辺三角形 26">
              <a:extLst>
                <a:ext uri="{FF2B5EF4-FFF2-40B4-BE49-F238E27FC236}">
                  <a16:creationId xmlns:a16="http://schemas.microsoft.com/office/drawing/2014/main" id="{3B6F705D-F04B-4DBD-8C41-9BCBF909BE34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0" name="フリーフォーム: 図形 29">
              <a:extLst>
                <a:ext uri="{FF2B5EF4-FFF2-40B4-BE49-F238E27FC236}">
                  <a16:creationId xmlns:a16="http://schemas.microsoft.com/office/drawing/2014/main" id="{3076F6E7-0F39-40A8-B28D-938F6D40299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5183F042-B05B-8313-D916-4D435BA05131}"/>
              </a:ext>
            </a:extLst>
          </p:cNvPr>
          <p:cNvSpPr/>
          <p:nvPr/>
        </p:nvSpPr>
        <p:spPr>
          <a:xfrm>
            <a:off x="1256388" y="6352685"/>
            <a:ext cx="1380066" cy="202200"/>
          </a:xfrm>
          <a:custGeom>
            <a:avLst/>
            <a:gdLst>
              <a:gd name="connsiteX0" fmla="*/ 0 w 1380066"/>
              <a:gd name="connsiteY0" fmla="*/ 202199 h 202200"/>
              <a:gd name="connsiteX1" fmla="*/ 1380066 w 1380066"/>
              <a:gd name="connsiteY1" fmla="*/ 0 h 2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80066" h="202200" extrusionOk="0">
                <a:moveTo>
                  <a:pt x="0" y="202199"/>
                </a:moveTo>
                <a:cubicBezTo>
                  <a:pt x="579868" y="55242"/>
                  <a:pt x="825186" y="128242"/>
                  <a:pt x="1380066" y="0"/>
                </a:cubicBezTo>
              </a:path>
            </a:pathLst>
          </a:custGeom>
          <a:noFill/>
          <a:ln cap="rnd">
            <a:solidFill>
              <a:schemeClr val="accent4"/>
            </a:solidFill>
            <a:round/>
            <a:headEnd type="none" w="med" len="med"/>
            <a:tailEnd type="arrow" w="lg" len="lg"/>
            <a:extLst>
              <a:ext uri="{C807C97D-BFC1-408E-A445-0C87EB9F89A2}">
                <ask:lineSketchStyleProps xmlns:ask="http://schemas.microsoft.com/office/drawing/2018/sketchyshapes" sd="697022472">
                  <a:custGeom>
                    <a:avLst/>
                    <a:gdLst>
                      <a:gd name="connsiteX0" fmla="*/ 0 w 2709333"/>
                      <a:gd name="connsiteY0" fmla="*/ 321732 h 321733"/>
                      <a:gd name="connsiteX1" fmla="*/ 1245419 w 2709333"/>
                      <a:gd name="connsiteY1" fmla="*/ 105712 h 321733"/>
                      <a:gd name="connsiteX2" fmla="*/ 2709333 w 2709333"/>
                      <a:gd name="connsiteY2" fmla="*/ 0 h 321733"/>
                      <a:gd name="connsiteX0" fmla="*/ 0 w 2709333"/>
                      <a:gd name="connsiteY0" fmla="*/ 321732 h 321732"/>
                      <a:gd name="connsiteX1" fmla="*/ 2709333 w 2709333"/>
                      <a:gd name="connsiteY1" fmla="*/ 0 h 3217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709333" h="321732" extrusionOk="0">
                        <a:moveTo>
                          <a:pt x="0" y="321732"/>
                        </a:moveTo>
                        <a:lnTo>
                          <a:pt x="2709333" y="0"/>
                        </a:ln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右大かっこ 7">
            <a:extLst>
              <a:ext uri="{FF2B5EF4-FFF2-40B4-BE49-F238E27FC236}">
                <a16:creationId xmlns:a16="http://schemas.microsoft.com/office/drawing/2014/main" id="{B56DB7F2-BBFC-B498-CF1C-E6E32288AFD5}"/>
              </a:ext>
            </a:extLst>
          </p:cNvPr>
          <p:cNvSpPr/>
          <p:nvPr/>
        </p:nvSpPr>
        <p:spPr>
          <a:xfrm>
            <a:off x="10875218" y="3429000"/>
            <a:ext cx="75875" cy="2144636"/>
          </a:xfrm>
          <a:custGeom>
            <a:avLst/>
            <a:gdLst>
              <a:gd name="connsiteX0" fmla="*/ 0 w 75875"/>
              <a:gd name="connsiteY0" fmla="*/ 0 h 2144636"/>
              <a:gd name="connsiteX1" fmla="*/ 75875 w 75875"/>
              <a:gd name="connsiteY1" fmla="*/ 6323 h 2144636"/>
              <a:gd name="connsiteX2" fmla="*/ 75875 w 75875"/>
              <a:gd name="connsiteY2" fmla="*/ 2138313 h 2144636"/>
              <a:gd name="connsiteX3" fmla="*/ 0 w 75875"/>
              <a:gd name="connsiteY3" fmla="*/ 2144636 h 2144636"/>
              <a:gd name="connsiteX4" fmla="*/ 0 w 75875"/>
              <a:gd name="connsiteY4" fmla="*/ 0 h 2144636"/>
              <a:gd name="connsiteX0" fmla="*/ 0 w 75875"/>
              <a:gd name="connsiteY0" fmla="*/ 0 h 2144636"/>
              <a:gd name="connsiteX1" fmla="*/ 75875 w 75875"/>
              <a:gd name="connsiteY1" fmla="*/ 6323 h 2144636"/>
              <a:gd name="connsiteX2" fmla="*/ 75875 w 75875"/>
              <a:gd name="connsiteY2" fmla="*/ 2138313 h 2144636"/>
              <a:gd name="connsiteX3" fmla="*/ 0 w 75875"/>
              <a:gd name="connsiteY3" fmla="*/ 2144636 h 2144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875" h="2144636" stroke="0" extrusionOk="0">
                <a:moveTo>
                  <a:pt x="0" y="0"/>
                </a:moveTo>
                <a:cubicBezTo>
                  <a:pt x="42231" y="260"/>
                  <a:pt x="75694" y="3473"/>
                  <a:pt x="75875" y="6323"/>
                </a:cubicBezTo>
                <a:cubicBezTo>
                  <a:pt x="36033" y="809005"/>
                  <a:pt x="117564" y="1463863"/>
                  <a:pt x="75875" y="2138313"/>
                </a:cubicBezTo>
                <a:cubicBezTo>
                  <a:pt x="75472" y="2141552"/>
                  <a:pt x="38285" y="2141821"/>
                  <a:pt x="0" y="2144636"/>
                </a:cubicBezTo>
                <a:cubicBezTo>
                  <a:pt x="132240" y="1282501"/>
                  <a:pt x="-92512" y="751834"/>
                  <a:pt x="0" y="0"/>
                </a:cubicBezTo>
                <a:close/>
              </a:path>
              <a:path w="75875" h="2144636" fill="none" extrusionOk="0">
                <a:moveTo>
                  <a:pt x="0" y="0"/>
                </a:moveTo>
                <a:cubicBezTo>
                  <a:pt x="42382" y="80"/>
                  <a:pt x="76249" y="3222"/>
                  <a:pt x="75875" y="6323"/>
                </a:cubicBezTo>
                <a:cubicBezTo>
                  <a:pt x="-24092" y="939947"/>
                  <a:pt x="-16176" y="1075997"/>
                  <a:pt x="75875" y="2138313"/>
                </a:cubicBezTo>
                <a:cubicBezTo>
                  <a:pt x="70834" y="2143479"/>
                  <a:pt x="44604" y="2144902"/>
                  <a:pt x="0" y="2144636"/>
                </a:cubicBezTo>
              </a:path>
              <a:path w="75875" h="2144636" fill="none" stroke="0" extrusionOk="0">
                <a:moveTo>
                  <a:pt x="0" y="0"/>
                </a:moveTo>
                <a:cubicBezTo>
                  <a:pt x="42098" y="-180"/>
                  <a:pt x="76088" y="3017"/>
                  <a:pt x="75875" y="6323"/>
                </a:cubicBezTo>
                <a:cubicBezTo>
                  <a:pt x="233756" y="726300"/>
                  <a:pt x="144075" y="1627586"/>
                  <a:pt x="75875" y="2138313"/>
                </a:cubicBezTo>
                <a:cubicBezTo>
                  <a:pt x="81323" y="2141035"/>
                  <a:pt x="43270" y="2142597"/>
                  <a:pt x="0" y="2144636"/>
                </a:cubicBezTo>
              </a:path>
            </a:pathLst>
          </a:custGeom>
          <a:ln w="19050">
            <a:solidFill>
              <a:schemeClr val="accent4"/>
            </a:solidFill>
            <a:extLst>
              <a:ext uri="{C807C97D-BFC1-408E-A445-0C87EB9F89A2}">
                <ask:lineSketchStyleProps xmlns:ask="http://schemas.microsoft.com/office/drawing/2018/sketchyshapes" sd="43512134">
                  <a:prstGeom prst="rightBracke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79F5105-2867-CCBC-D635-B09EBEC74DE8}"/>
              </a:ext>
            </a:extLst>
          </p:cNvPr>
          <p:cNvSpPr txBox="1"/>
          <p:nvPr/>
        </p:nvSpPr>
        <p:spPr>
          <a:xfrm>
            <a:off x="8613397" y="3987244"/>
            <a:ext cx="1716014" cy="369332"/>
          </a:xfrm>
          <a:prstGeom prst="rect">
            <a:avLst/>
          </a:prstGeom>
          <a:solidFill>
            <a:srgbClr val="46877B"/>
          </a:solidFill>
        </p:spPr>
        <p:txBody>
          <a:bodyPr wrap="square">
            <a:spAutoFit/>
          </a:bodyPr>
          <a:lstStyle/>
          <a:p>
            <a:r>
              <a:rPr lang="en-US" altLang="ja-JP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何かの見出し</a:t>
            </a:r>
          </a:p>
        </p:txBody>
      </p:sp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EFD584C9-55DF-601C-DC7A-86517FFDB48C}"/>
              </a:ext>
            </a:extLst>
          </p:cNvPr>
          <p:cNvSpPr/>
          <p:nvPr/>
        </p:nvSpPr>
        <p:spPr>
          <a:xfrm rot="2149832">
            <a:off x="1232946" y="5356494"/>
            <a:ext cx="1116215" cy="1248435"/>
          </a:xfrm>
          <a:custGeom>
            <a:avLst/>
            <a:gdLst>
              <a:gd name="connsiteX0" fmla="*/ 0 w 6381750"/>
              <a:gd name="connsiteY0" fmla="*/ 87460 h 350919"/>
              <a:gd name="connsiteX1" fmla="*/ 508000 w 6381750"/>
              <a:gd name="connsiteY1" fmla="*/ 258910 h 350919"/>
              <a:gd name="connsiteX2" fmla="*/ 908050 w 6381750"/>
              <a:gd name="connsiteY2" fmla="*/ 125560 h 350919"/>
              <a:gd name="connsiteX3" fmla="*/ 1314450 w 6381750"/>
              <a:gd name="connsiteY3" fmla="*/ 252560 h 350919"/>
              <a:gd name="connsiteX4" fmla="*/ 2032000 w 6381750"/>
              <a:gd name="connsiteY4" fmla="*/ 4910 h 350919"/>
              <a:gd name="connsiteX5" fmla="*/ 2635250 w 6381750"/>
              <a:gd name="connsiteY5" fmla="*/ 100160 h 350919"/>
              <a:gd name="connsiteX6" fmla="*/ 3943350 w 6381750"/>
              <a:gd name="connsiteY6" fmla="*/ 252560 h 350919"/>
              <a:gd name="connsiteX7" fmla="*/ 4648200 w 6381750"/>
              <a:gd name="connsiteY7" fmla="*/ 347810 h 350919"/>
              <a:gd name="connsiteX8" fmla="*/ 5308600 w 6381750"/>
              <a:gd name="connsiteY8" fmla="*/ 138260 h 350919"/>
              <a:gd name="connsiteX9" fmla="*/ 6381750 w 6381750"/>
              <a:gd name="connsiteY9" fmla="*/ 87460 h 350919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84727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908050 w 6381750"/>
              <a:gd name="connsiteY1" fmla="*/ 122827 h 347987"/>
              <a:gd name="connsiteX2" fmla="*/ 1314450 w 6381750"/>
              <a:gd name="connsiteY2" fmla="*/ 249827 h 347987"/>
              <a:gd name="connsiteX3" fmla="*/ 2032000 w 6381750"/>
              <a:gd name="connsiteY3" fmla="*/ 2177 h 347987"/>
              <a:gd name="connsiteX4" fmla="*/ 2876550 w 6381750"/>
              <a:gd name="connsiteY4" fmla="*/ 135527 h 347987"/>
              <a:gd name="connsiteX5" fmla="*/ 3943350 w 6381750"/>
              <a:gd name="connsiteY5" fmla="*/ 249827 h 347987"/>
              <a:gd name="connsiteX6" fmla="*/ 4648200 w 6381750"/>
              <a:gd name="connsiteY6" fmla="*/ 345077 h 347987"/>
              <a:gd name="connsiteX7" fmla="*/ 5308600 w 6381750"/>
              <a:gd name="connsiteY7" fmla="*/ 135527 h 347987"/>
              <a:gd name="connsiteX8" fmla="*/ 6381750 w 6381750"/>
              <a:gd name="connsiteY8" fmla="*/ 143994 h 347987"/>
              <a:gd name="connsiteX0" fmla="*/ 0 w 6381750"/>
              <a:gd name="connsiteY0" fmla="*/ 84727 h 347987"/>
              <a:gd name="connsiteX1" fmla="*/ 1314450 w 6381750"/>
              <a:gd name="connsiteY1" fmla="*/ 249827 h 347987"/>
              <a:gd name="connsiteX2" fmla="*/ 2032000 w 6381750"/>
              <a:gd name="connsiteY2" fmla="*/ 2177 h 347987"/>
              <a:gd name="connsiteX3" fmla="*/ 2876550 w 6381750"/>
              <a:gd name="connsiteY3" fmla="*/ 135527 h 347987"/>
              <a:gd name="connsiteX4" fmla="*/ 3943350 w 6381750"/>
              <a:gd name="connsiteY4" fmla="*/ 249827 h 347987"/>
              <a:gd name="connsiteX5" fmla="*/ 4648200 w 6381750"/>
              <a:gd name="connsiteY5" fmla="*/ 345077 h 347987"/>
              <a:gd name="connsiteX6" fmla="*/ 5308600 w 6381750"/>
              <a:gd name="connsiteY6" fmla="*/ 135527 h 347987"/>
              <a:gd name="connsiteX7" fmla="*/ 6381750 w 6381750"/>
              <a:gd name="connsiteY7" fmla="*/ 143994 h 347987"/>
              <a:gd name="connsiteX0" fmla="*/ 0 w 6381750"/>
              <a:gd name="connsiteY0" fmla="*/ 83224 h 346484"/>
              <a:gd name="connsiteX1" fmla="*/ 2032000 w 6381750"/>
              <a:gd name="connsiteY1" fmla="*/ 674 h 346484"/>
              <a:gd name="connsiteX2" fmla="*/ 2876550 w 6381750"/>
              <a:gd name="connsiteY2" fmla="*/ 134024 h 346484"/>
              <a:gd name="connsiteX3" fmla="*/ 3943350 w 6381750"/>
              <a:gd name="connsiteY3" fmla="*/ 248324 h 346484"/>
              <a:gd name="connsiteX4" fmla="*/ 4648200 w 6381750"/>
              <a:gd name="connsiteY4" fmla="*/ 343574 h 346484"/>
              <a:gd name="connsiteX5" fmla="*/ 5308600 w 6381750"/>
              <a:gd name="connsiteY5" fmla="*/ 134024 h 346484"/>
              <a:gd name="connsiteX6" fmla="*/ 6381750 w 6381750"/>
              <a:gd name="connsiteY6" fmla="*/ 142491 h 346484"/>
              <a:gd name="connsiteX0" fmla="*/ 0 w 6381750"/>
              <a:gd name="connsiteY0" fmla="*/ 0 h 263260"/>
              <a:gd name="connsiteX1" fmla="*/ 2876550 w 6381750"/>
              <a:gd name="connsiteY1" fmla="*/ 50800 h 263260"/>
              <a:gd name="connsiteX2" fmla="*/ 3943350 w 6381750"/>
              <a:gd name="connsiteY2" fmla="*/ 165100 h 263260"/>
              <a:gd name="connsiteX3" fmla="*/ 4648200 w 6381750"/>
              <a:gd name="connsiteY3" fmla="*/ 260350 h 263260"/>
              <a:gd name="connsiteX4" fmla="*/ 5308600 w 6381750"/>
              <a:gd name="connsiteY4" fmla="*/ 50800 h 263260"/>
              <a:gd name="connsiteX5" fmla="*/ 6381750 w 6381750"/>
              <a:gd name="connsiteY5" fmla="*/ 59267 h 263260"/>
              <a:gd name="connsiteX0" fmla="*/ 0 w 6381750"/>
              <a:gd name="connsiteY0" fmla="*/ 0 h 263260"/>
              <a:gd name="connsiteX1" fmla="*/ 3943350 w 6381750"/>
              <a:gd name="connsiteY1" fmla="*/ 165100 h 263260"/>
              <a:gd name="connsiteX2" fmla="*/ 4648200 w 6381750"/>
              <a:gd name="connsiteY2" fmla="*/ 260350 h 263260"/>
              <a:gd name="connsiteX3" fmla="*/ 5308600 w 6381750"/>
              <a:gd name="connsiteY3" fmla="*/ 50800 h 263260"/>
              <a:gd name="connsiteX4" fmla="*/ 6381750 w 6381750"/>
              <a:gd name="connsiteY4" fmla="*/ 59267 h 263260"/>
              <a:gd name="connsiteX0" fmla="*/ 0 w 6381750"/>
              <a:gd name="connsiteY0" fmla="*/ 0 h 260350"/>
              <a:gd name="connsiteX1" fmla="*/ 4648200 w 6381750"/>
              <a:gd name="connsiteY1" fmla="*/ 260350 h 260350"/>
              <a:gd name="connsiteX2" fmla="*/ 5308600 w 6381750"/>
              <a:gd name="connsiteY2" fmla="*/ 50800 h 260350"/>
              <a:gd name="connsiteX3" fmla="*/ 6381750 w 6381750"/>
              <a:gd name="connsiteY3" fmla="*/ 59267 h 260350"/>
              <a:gd name="connsiteX0" fmla="*/ 0 w 6381750"/>
              <a:gd name="connsiteY0" fmla="*/ 0 h 59267"/>
              <a:gd name="connsiteX1" fmla="*/ 5308600 w 6381750"/>
              <a:gd name="connsiteY1" fmla="*/ 50800 h 59267"/>
              <a:gd name="connsiteX2" fmla="*/ 6381750 w 6381750"/>
              <a:gd name="connsiteY2" fmla="*/ 59267 h 59267"/>
              <a:gd name="connsiteX0" fmla="*/ 0 w 6381750"/>
              <a:gd name="connsiteY0" fmla="*/ 0 h 1124584"/>
              <a:gd name="connsiteX1" fmla="*/ 4528057 w 6381750"/>
              <a:gd name="connsiteY1" fmla="*/ 1124584 h 1124584"/>
              <a:gd name="connsiteX2" fmla="*/ 6381750 w 6381750"/>
              <a:gd name="connsiteY2" fmla="*/ 59267 h 1124584"/>
              <a:gd name="connsiteX0" fmla="*/ 0 w 3161177"/>
              <a:gd name="connsiteY0" fmla="*/ 2112889 h 2112889"/>
              <a:gd name="connsiteX1" fmla="*/ 1307484 w 3161177"/>
              <a:gd name="connsiteY1" fmla="*/ 1067394 h 2112889"/>
              <a:gd name="connsiteX2" fmla="*/ 3161177 w 3161177"/>
              <a:gd name="connsiteY2" fmla="*/ 2077 h 2112889"/>
              <a:gd name="connsiteX0" fmla="*/ 0 w 3161177"/>
              <a:gd name="connsiteY0" fmla="*/ 2110812 h 2110812"/>
              <a:gd name="connsiteX1" fmla="*/ 3161177 w 3161177"/>
              <a:gd name="connsiteY1" fmla="*/ 0 h 2110812"/>
              <a:gd name="connsiteX0" fmla="*/ 0 w 1482258"/>
              <a:gd name="connsiteY0" fmla="*/ 903680 h 903680"/>
              <a:gd name="connsiteX1" fmla="*/ 1482258 w 1482258"/>
              <a:gd name="connsiteY1" fmla="*/ 0 h 90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82258" h="903680">
                <a:moveTo>
                  <a:pt x="0" y="903680"/>
                </a:moveTo>
                <a:lnTo>
                  <a:pt x="1482258" y="0"/>
                </a:lnTo>
              </a:path>
            </a:pathLst>
          </a:custGeom>
          <a:noFill/>
          <a:ln w="57150">
            <a:solidFill>
              <a:schemeClr val="accent2"/>
            </a:solidFill>
            <a:tailEnd type="triangle"/>
          </a:ln>
          <a:effectLst>
            <a:glow rad="635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4" name="矢印: 右 43">
            <a:extLst>
              <a:ext uri="{FF2B5EF4-FFF2-40B4-BE49-F238E27FC236}">
                <a16:creationId xmlns:a16="http://schemas.microsoft.com/office/drawing/2014/main" id="{0A2734DE-E047-CC2D-F3E2-E701DEBB69AE}"/>
              </a:ext>
            </a:extLst>
          </p:cNvPr>
          <p:cNvSpPr/>
          <p:nvPr/>
        </p:nvSpPr>
        <p:spPr>
          <a:xfrm>
            <a:off x="3724405" y="5310395"/>
            <a:ext cx="1797864" cy="1126627"/>
          </a:xfrm>
          <a:custGeom>
            <a:avLst/>
            <a:gdLst>
              <a:gd name="connsiteX0" fmla="*/ 0 w 1797864"/>
              <a:gd name="connsiteY0" fmla="*/ 281657 h 1126627"/>
              <a:gd name="connsiteX1" fmla="*/ 1234551 w 1797864"/>
              <a:gd name="connsiteY1" fmla="*/ 281657 h 1126627"/>
              <a:gd name="connsiteX2" fmla="*/ 1234551 w 1797864"/>
              <a:gd name="connsiteY2" fmla="*/ 0 h 1126627"/>
              <a:gd name="connsiteX3" fmla="*/ 1797864 w 1797864"/>
              <a:gd name="connsiteY3" fmla="*/ 563314 h 1126627"/>
              <a:gd name="connsiteX4" fmla="*/ 1234551 w 1797864"/>
              <a:gd name="connsiteY4" fmla="*/ 1126627 h 1126627"/>
              <a:gd name="connsiteX5" fmla="*/ 1234551 w 1797864"/>
              <a:gd name="connsiteY5" fmla="*/ 844970 h 1126627"/>
              <a:gd name="connsiteX6" fmla="*/ 0 w 1797864"/>
              <a:gd name="connsiteY6" fmla="*/ 844970 h 1126627"/>
              <a:gd name="connsiteX7" fmla="*/ 0 w 1797864"/>
              <a:gd name="connsiteY7" fmla="*/ 281657 h 1126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7864" h="1126627" fill="none" extrusionOk="0">
                <a:moveTo>
                  <a:pt x="0" y="281657"/>
                </a:moveTo>
                <a:cubicBezTo>
                  <a:pt x="441140" y="341876"/>
                  <a:pt x="815292" y="313239"/>
                  <a:pt x="1234551" y="281657"/>
                </a:cubicBezTo>
                <a:cubicBezTo>
                  <a:pt x="1258466" y="194755"/>
                  <a:pt x="1214082" y="130057"/>
                  <a:pt x="1234551" y="0"/>
                </a:cubicBezTo>
                <a:cubicBezTo>
                  <a:pt x="1321461" y="170749"/>
                  <a:pt x="1683272" y="515097"/>
                  <a:pt x="1797864" y="563314"/>
                </a:cubicBezTo>
                <a:cubicBezTo>
                  <a:pt x="1683170" y="648249"/>
                  <a:pt x="1372263" y="1063564"/>
                  <a:pt x="1234551" y="1126627"/>
                </a:cubicBezTo>
                <a:cubicBezTo>
                  <a:pt x="1228919" y="1080683"/>
                  <a:pt x="1223293" y="925170"/>
                  <a:pt x="1234551" y="844970"/>
                </a:cubicBezTo>
                <a:cubicBezTo>
                  <a:pt x="625859" y="796345"/>
                  <a:pt x="503036" y="798970"/>
                  <a:pt x="0" y="844970"/>
                </a:cubicBezTo>
                <a:cubicBezTo>
                  <a:pt x="12149" y="711576"/>
                  <a:pt x="-34350" y="429484"/>
                  <a:pt x="0" y="281657"/>
                </a:cubicBezTo>
                <a:close/>
              </a:path>
              <a:path w="1797864" h="1126627" stroke="0" extrusionOk="0">
                <a:moveTo>
                  <a:pt x="0" y="281657"/>
                </a:moveTo>
                <a:cubicBezTo>
                  <a:pt x="501690" y="291445"/>
                  <a:pt x="664348" y="302673"/>
                  <a:pt x="1234551" y="281657"/>
                </a:cubicBezTo>
                <a:cubicBezTo>
                  <a:pt x="1244995" y="149561"/>
                  <a:pt x="1246456" y="46048"/>
                  <a:pt x="1234551" y="0"/>
                </a:cubicBezTo>
                <a:cubicBezTo>
                  <a:pt x="1416517" y="201720"/>
                  <a:pt x="1516224" y="323140"/>
                  <a:pt x="1797864" y="563314"/>
                </a:cubicBezTo>
                <a:cubicBezTo>
                  <a:pt x="1604474" y="781173"/>
                  <a:pt x="1263864" y="996785"/>
                  <a:pt x="1234551" y="1126627"/>
                </a:cubicBezTo>
                <a:cubicBezTo>
                  <a:pt x="1244859" y="1090226"/>
                  <a:pt x="1246547" y="961132"/>
                  <a:pt x="1234551" y="844970"/>
                </a:cubicBezTo>
                <a:cubicBezTo>
                  <a:pt x="826782" y="735023"/>
                  <a:pt x="170652" y="758181"/>
                  <a:pt x="0" y="844970"/>
                </a:cubicBezTo>
                <a:cubicBezTo>
                  <a:pt x="-923" y="604596"/>
                  <a:pt x="-16096" y="399535"/>
                  <a:pt x="0" y="281657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accent4"/>
            </a:solidFill>
            <a:extLst>
              <a:ext uri="{C807C97D-BFC1-408E-A445-0C87EB9F89A2}">
                <ask:lineSketchStyleProps xmlns:ask="http://schemas.microsoft.com/office/drawing/2018/sketchyshapes" sd="3864781296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フリーフォーム: 図形 45">
            <a:extLst>
              <a:ext uri="{FF2B5EF4-FFF2-40B4-BE49-F238E27FC236}">
                <a16:creationId xmlns:a16="http://schemas.microsoft.com/office/drawing/2014/main" id="{6C0FD5AB-5B5F-7AA0-6FBC-206214218608}"/>
              </a:ext>
            </a:extLst>
          </p:cNvPr>
          <p:cNvSpPr/>
          <p:nvPr/>
        </p:nvSpPr>
        <p:spPr>
          <a:xfrm>
            <a:off x="529301" y="2977937"/>
            <a:ext cx="2457450" cy="553401"/>
          </a:xfrm>
          <a:custGeom>
            <a:avLst/>
            <a:gdLst>
              <a:gd name="connsiteX0" fmla="*/ 0 w 2457450"/>
              <a:gd name="connsiteY0" fmla="*/ 553401 h 553401"/>
              <a:gd name="connsiteX1" fmla="*/ 1066800 w 2457450"/>
              <a:gd name="connsiteY1" fmla="*/ 48576 h 553401"/>
              <a:gd name="connsiteX2" fmla="*/ 2457450 w 2457450"/>
              <a:gd name="connsiteY2" fmla="*/ 48576 h 55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7450" h="553401">
                <a:moveTo>
                  <a:pt x="0" y="553401"/>
                </a:moveTo>
                <a:cubicBezTo>
                  <a:pt x="328612" y="343057"/>
                  <a:pt x="657225" y="132713"/>
                  <a:pt x="1066800" y="48576"/>
                </a:cubicBezTo>
                <a:cubicBezTo>
                  <a:pt x="1476375" y="-35561"/>
                  <a:pt x="1966912" y="6507"/>
                  <a:pt x="2457450" y="48576"/>
                </a:cubicBezTo>
              </a:path>
            </a:pathLst>
          </a:custGeom>
          <a:noFill/>
          <a:ln w="38100">
            <a:solidFill>
              <a:schemeClr val="accent4"/>
            </a:solidFill>
            <a:headEnd type="none" w="med" len="med"/>
            <a:tailEnd type="triangle" w="med" len="med"/>
          </a:ln>
          <a:effectLst>
            <a:glow rad="152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9366D17-C6F6-2F7E-0C8E-D7CA4265F094}"/>
              </a:ext>
            </a:extLst>
          </p:cNvPr>
          <p:cNvGrpSpPr/>
          <p:nvPr/>
        </p:nvGrpSpPr>
        <p:grpSpPr>
          <a:xfrm>
            <a:off x="7701975" y="5031844"/>
            <a:ext cx="866523" cy="923145"/>
            <a:chOff x="5897144" y="3284788"/>
            <a:chExt cx="866523" cy="923145"/>
          </a:xfrm>
        </p:grpSpPr>
        <p:sp>
          <p:nvSpPr>
            <p:cNvPr id="47" name="フリーフォーム: 図形 46">
              <a:extLst>
                <a:ext uri="{FF2B5EF4-FFF2-40B4-BE49-F238E27FC236}">
                  <a16:creationId xmlns:a16="http://schemas.microsoft.com/office/drawing/2014/main" id="{128A1380-4083-A4AF-A9AF-53345AAABDF1}"/>
                </a:ext>
              </a:extLst>
            </p:cNvPr>
            <p:cNvSpPr/>
            <p:nvPr/>
          </p:nvSpPr>
          <p:spPr>
            <a:xfrm>
              <a:off x="5897698" y="3332166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フリーフォーム: 図形 47">
              <a:extLst>
                <a:ext uri="{FF2B5EF4-FFF2-40B4-BE49-F238E27FC236}">
                  <a16:creationId xmlns:a16="http://schemas.microsoft.com/office/drawing/2014/main" id="{0F60FF85-8B94-7CA7-28BD-EE9A8905975E}"/>
                </a:ext>
              </a:extLst>
            </p:cNvPr>
            <p:cNvSpPr/>
            <p:nvPr/>
          </p:nvSpPr>
          <p:spPr>
            <a:xfrm rot="4964407">
              <a:off x="5961743" y="3402000"/>
              <a:ext cx="777334" cy="542909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C44C3672-6F4A-8A28-B2E1-FDAAD4B9653C}"/>
                </a:ext>
              </a:extLst>
            </p:cNvPr>
            <p:cNvSpPr/>
            <p:nvPr/>
          </p:nvSpPr>
          <p:spPr>
            <a:xfrm rot="8884375">
              <a:off x="5897144" y="3395723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フリーフォーム: 図形 49">
              <a:extLst>
                <a:ext uri="{FF2B5EF4-FFF2-40B4-BE49-F238E27FC236}">
                  <a16:creationId xmlns:a16="http://schemas.microsoft.com/office/drawing/2014/main" id="{21E955EA-67B5-7ECC-CB8F-3C3E4686AE8A}"/>
                </a:ext>
              </a:extLst>
            </p:cNvPr>
            <p:cNvSpPr/>
            <p:nvPr/>
          </p:nvSpPr>
          <p:spPr>
            <a:xfrm rot="12451915">
              <a:off x="5920913" y="3415024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フリーフォーム: 図形 50">
              <a:extLst>
                <a:ext uri="{FF2B5EF4-FFF2-40B4-BE49-F238E27FC236}">
                  <a16:creationId xmlns:a16="http://schemas.microsoft.com/office/drawing/2014/main" id="{BDF494D2-1DAE-AEB3-A146-38DB5558CB4C}"/>
                </a:ext>
              </a:extLst>
            </p:cNvPr>
            <p:cNvSpPr/>
            <p:nvPr/>
          </p:nvSpPr>
          <p:spPr>
            <a:xfrm rot="15479593">
              <a:off x="5960037" y="3712865"/>
              <a:ext cx="777334" cy="212802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9079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62966E-E008-9DDC-DD95-31FEDECDAB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良く使う図形パターン</a:t>
            </a: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29108725-9831-27F9-3FD3-71FC27129266}"/>
              </a:ext>
            </a:extLst>
          </p:cNvPr>
          <p:cNvGrpSpPr/>
          <p:nvPr/>
        </p:nvGrpSpPr>
        <p:grpSpPr>
          <a:xfrm>
            <a:off x="616017" y="1348268"/>
            <a:ext cx="6533120" cy="4938925"/>
            <a:chOff x="0" y="1396394"/>
            <a:chExt cx="6533120" cy="4938925"/>
          </a:xfrm>
        </p:grpSpPr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A0811D00-B639-7D58-D363-8290AD29E62C}"/>
                </a:ext>
              </a:extLst>
            </p:cNvPr>
            <p:cNvSpPr/>
            <p:nvPr/>
          </p:nvSpPr>
          <p:spPr>
            <a:xfrm>
              <a:off x="2173905" y="1396394"/>
              <a:ext cx="2232000" cy="2232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38476517">
                    <a:custGeom>
                      <a:avLst/>
                      <a:gdLst>
                        <a:gd name="connsiteX0" fmla="*/ 0 w 2396691"/>
                        <a:gd name="connsiteY0" fmla="*/ 1176574 h 2353148"/>
                        <a:gd name="connsiteX1" fmla="*/ 1198346 w 2396691"/>
                        <a:gd name="connsiteY1" fmla="*/ 0 h 2353148"/>
                        <a:gd name="connsiteX2" fmla="*/ 2396692 w 2396691"/>
                        <a:gd name="connsiteY2" fmla="*/ 1176574 h 2353148"/>
                        <a:gd name="connsiteX3" fmla="*/ 1198346 w 2396691"/>
                        <a:gd name="connsiteY3" fmla="*/ 2353148 h 2353148"/>
                        <a:gd name="connsiteX4" fmla="*/ 0 w 2396691"/>
                        <a:gd name="connsiteY4" fmla="*/ 1176574 h 23531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396691" h="2353148" fill="none" extrusionOk="0">
                          <a:moveTo>
                            <a:pt x="0" y="1176574"/>
                          </a:moveTo>
                          <a:cubicBezTo>
                            <a:pt x="17053" y="544093"/>
                            <a:pt x="596455" y="78735"/>
                            <a:pt x="1198346" y="0"/>
                          </a:cubicBezTo>
                          <a:cubicBezTo>
                            <a:pt x="1834464" y="-42937"/>
                            <a:pt x="2341220" y="491711"/>
                            <a:pt x="2396692" y="1176574"/>
                          </a:cubicBezTo>
                          <a:cubicBezTo>
                            <a:pt x="2434753" y="1879535"/>
                            <a:pt x="1880410" y="2333741"/>
                            <a:pt x="1198346" y="2353148"/>
                          </a:cubicBezTo>
                          <a:cubicBezTo>
                            <a:pt x="503664" y="2298627"/>
                            <a:pt x="14412" y="1848257"/>
                            <a:pt x="0" y="1176574"/>
                          </a:cubicBezTo>
                          <a:close/>
                        </a:path>
                        <a:path w="2396691" h="2353148" stroke="0" extrusionOk="0">
                          <a:moveTo>
                            <a:pt x="0" y="1176574"/>
                          </a:moveTo>
                          <a:cubicBezTo>
                            <a:pt x="22017" y="512503"/>
                            <a:pt x="554245" y="-126587"/>
                            <a:pt x="1198346" y="0"/>
                          </a:cubicBezTo>
                          <a:cubicBezTo>
                            <a:pt x="1782464" y="-71399"/>
                            <a:pt x="2410063" y="501058"/>
                            <a:pt x="2396692" y="1176574"/>
                          </a:cubicBezTo>
                          <a:cubicBezTo>
                            <a:pt x="2422326" y="1889440"/>
                            <a:pt x="1843165" y="2478575"/>
                            <a:pt x="1198346" y="2353148"/>
                          </a:cubicBezTo>
                          <a:cubicBezTo>
                            <a:pt x="488789" y="2321300"/>
                            <a:pt x="-48884" y="1872731"/>
                            <a:pt x="0" y="11765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CEE3C2FA-C4E2-9188-98AB-D6750654E01E}"/>
                </a:ext>
              </a:extLst>
            </p:cNvPr>
            <p:cNvSpPr txBox="1"/>
            <p:nvPr/>
          </p:nvSpPr>
          <p:spPr>
            <a:xfrm>
              <a:off x="2139601" y="1944955"/>
              <a:ext cx="239669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①</a:t>
              </a:r>
              <a:endParaRPr lang="en-US" altLang="ja-JP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ひとつめ</a:t>
              </a:r>
              <a:endParaRPr kumimoji="1"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F600B182-1E03-FE3F-38CF-BE77E0F38AC6}"/>
                </a:ext>
              </a:extLst>
            </p:cNvPr>
            <p:cNvSpPr/>
            <p:nvPr/>
          </p:nvSpPr>
          <p:spPr>
            <a:xfrm>
              <a:off x="815779" y="3666494"/>
              <a:ext cx="2232000" cy="2232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38476517">
                    <a:custGeom>
                      <a:avLst/>
                      <a:gdLst>
                        <a:gd name="connsiteX0" fmla="*/ 0 w 2396691"/>
                        <a:gd name="connsiteY0" fmla="*/ 1176574 h 2353148"/>
                        <a:gd name="connsiteX1" fmla="*/ 1198346 w 2396691"/>
                        <a:gd name="connsiteY1" fmla="*/ 0 h 2353148"/>
                        <a:gd name="connsiteX2" fmla="*/ 2396692 w 2396691"/>
                        <a:gd name="connsiteY2" fmla="*/ 1176574 h 2353148"/>
                        <a:gd name="connsiteX3" fmla="*/ 1198346 w 2396691"/>
                        <a:gd name="connsiteY3" fmla="*/ 2353148 h 2353148"/>
                        <a:gd name="connsiteX4" fmla="*/ 0 w 2396691"/>
                        <a:gd name="connsiteY4" fmla="*/ 1176574 h 23531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396691" h="2353148" fill="none" extrusionOk="0">
                          <a:moveTo>
                            <a:pt x="0" y="1176574"/>
                          </a:moveTo>
                          <a:cubicBezTo>
                            <a:pt x="17053" y="544093"/>
                            <a:pt x="596455" y="78735"/>
                            <a:pt x="1198346" y="0"/>
                          </a:cubicBezTo>
                          <a:cubicBezTo>
                            <a:pt x="1834464" y="-42937"/>
                            <a:pt x="2341220" y="491711"/>
                            <a:pt x="2396692" y="1176574"/>
                          </a:cubicBezTo>
                          <a:cubicBezTo>
                            <a:pt x="2434753" y="1879535"/>
                            <a:pt x="1880410" y="2333741"/>
                            <a:pt x="1198346" y="2353148"/>
                          </a:cubicBezTo>
                          <a:cubicBezTo>
                            <a:pt x="503664" y="2298627"/>
                            <a:pt x="14412" y="1848257"/>
                            <a:pt x="0" y="1176574"/>
                          </a:cubicBezTo>
                          <a:close/>
                        </a:path>
                        <a:path w="2396691" h="2353148" stroke="0" extrusionOk="0">
                          <a:moveTo>
                            <a:pt x="0" y="1176574"/>
                          </a:moveTo>
                          <a:cubicBezTo>
                            <a:pt x="22017" y="512503"/>
                            <a:pt x="554245" y="-126587"/>
                            <a:pt x="1198346" y="0"/>
                          </a:cubicBezTo>
                          <a:cubicBezTo>
                            <a:pt x="1782464" y="-71399"/>
                            <a:pt x="2410063" y="501058"/>
                            <a:pt x="2396692" y="1176574"/>
                          </a:cubicBezTo>
                          <a:cubicBezTo>
                            <a:pt x="2422326" y="1889440"/>
                            <a:pt x="1843165" y="2478575"/>
                            <a:pt x="1198346" y="2353148"/>
                          </a:cubicBezTo>
                          <a:cubicBezTo>
                            <a:pt x="488789" y="2321300"/>
                            <a:pt x="-48884" y="1872731"/>
                            <a:pt x="0" y="11765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80636C0C-4196-FBC8-E6B1-2A2B6B9C99B7}"/>
                </a:ext>
              </a:extLst>
            </p:cNvPr>
            <p:cNvSpPr txBox="1"/>
            <p:nvPr/>
          </p:nvSpPr>
          <p:spPr>
            <a:xfrm>
              <a:off x="733433" y="4231597"/>
              <a:ext cx="239669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③</a:t>
              </a:r>
              <a:endParaRPr lang="en-US" altLang="ja-JP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みっつめ</a:t>
              </a:r>
              <a:endParaRPr kumimoji="1"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11B58024-0DF9-700C-3393-339C7F03622C}"/>
                </a:ext>
              </a:extLst>
            </p:cNvPr>
            <p:cNvSpPr/>
            <p:nvPr/>
          </p:nvSpPr>
          <p:spPr>
            <a:xfrm>
              <a:off x="3565643" y="3653794"/>
              <a:ext cx="2232000" cy="2232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38476517">
                    <a:custGeom>
                      <a:avLst/>
                      <a:gdLst>
                        <a:gd name="connsiteX0" fmla="*/ 0 w 2396691"/>
                        <a:gd name="connsiteY0" fmla="*/ 1176574 h 2353148"/>
                        <a:gd name="connsiteX1" fmla="*/ 1198346 w 2396691"/>
                        <a:gd name="connsiteY1" fmla="*/ 0 h 2353148"/>
                        <a:gd name="connsiteX2" fmla="*/ 2396692 w 2396691"/>
                        <a:gd name="connsiteY2" fmla="*/ 1176574 h 2353148"/>
                        <a:gd name="connsiteX3" fmla="*/ 1198346 w 2396691"/>
                        <a:gd name="connsiteY3" fmla="*/ 2353148 h 2353148"/>
                        <a:gd name="connsiteX4" fmla="*/ 0 w 2396691"/>
                        <a:gd name="connsiteY4" fmla="*/ 1176574 h 23531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396691" h="2353148" fill="none" extrusionOk="0">
                          <a:moveTo>
                            <a:pt x="0" y="1176574"/>
                          </a:moveTo>
                          <a:cubicBezTo>
                            <a:pt x="17053" y="544093"/>
                            <a:pt x="596455" y="78735"/>
                            <a:pt x="1198346" y="0"/>
                          </a:cubicBezTo>
                          <a:cubicBezTo>
                            <a:pt x="1834464" y="-42937"/>
                            <a:pt x="2341220" y="491711"/>
                            <a:pt x="2396692" y="1176574"/>
                          </a:cubicBezTo>
                          <a:cubicBezTo>
                            <a:pt x="2434753" y="1879535"/>
                            <a:pt x="1880410" y="2333741"/>
                            <a:pt x="1198346" y="2353148"/>
                          </a:cubicBezTo>
                          <a:cubicBezTo>
                            <a:pt x="503664" y="2298627"/>
                            <a:pt x="14412" y="1848257"/>
                            <a:pt x="0" y="1176574"/>
                          </a:cubicBezTo>
                          <a:close/>
                        </a:path>
                        <a:path w="2396691" h="2353148" stroke="0" extrusionOk="0">
                          <a:moveTo>
                            <a:pt x="0" y="1176574"/>
                          </a:moveTo>
                          <a:cubicBezTo>
                            <a:pt x="22017" y="512503"/>
                            <a:pt x="554245" y="-126587"/>
                            <a:pt x="1198346" y="0"/>
                          </a:cubicBezTo>
                          <a:cubicBezTo>
                            <a:pt x="1782464" y="-71399"/>
                            <a:pt x="2410063" y="501058"/>
                            <a:pt x="2396692" y="1176574"/>
                          </a:cubicBezTo>
                          <a:cubicBezTo>
                            <a:pt x="2422326" y="1889440"/>
                            <a:pt x="1843165" y="2478575"/>
                            <a:pt x="1198346" y="2353148"/>
                          </a:cubicBezTo>
                          <a:cubicBezTo>
                            <a:pt x="488789" y="2321300"/>
                            <a:pt x="-48884" y="1872731"/>
                            <a:pt x="0" y="11765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7E243A9B-ED86-339C-E2EB-EFDFA00CF9EF}"/>
                </a:ext>
              </a:extLst>
            </p:cNvPr>
            <p:cNvSpPr txBox="1"/>
            <p:nvPr/>
          </p:nvSpPr>
          <p:spPr>
            <a:xfrm>
              <a:off x="3511913" y="4222775"/>
              <a:ext cx="239669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➁</a:t>
              </a:r>
              <a:endParaRPr lang="en-US" altLang="ja-JP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ふたつめ</a:t>
              </a:r>
              <a:endParaRPr kumimoji="1"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27510278-8BCC-2772-B7D4-6900CC651828}"/>
                </a:ext>
              </a:extLst>
            </p:cNvPr>
            <p:cNvGrpSpPr/>
            <p:nvPr/>
          </p:nvGrpSpPr>
          <p:grpSpPr>
            <a:xfrm flipV="1">
              <a:off x="4488250" y="2706875"/>
              <a:ext cx="800237" cy="959619"/>
              <a:chOff x="2664127" y="3374455"/>
              <a:chExt cx="1201975" cy="1567649"/>
            </a:xfrm>
          </p:grpSpPr>
          <p:sp>
            <p:nvSpPr>
              <p:cNvPr id="12" name="二等辺三角形 11">
                <a:extLst>
                  <a:ext uri="{FF2B5EF4-FFF2-40B4-BE49-F238E27FC236}">
                    <a16:creationId xmlns:a16="http://schemas.microsoft.com/office/drawing/2014/main" id="{88C38720-FF04-C2D5-1BFB-D6E04C389897}"/>
                  </a:ext>
                </a:extLst>
              </p:cNvPr>
              <p:cNvSpPr/>
              <p:nvPr/>
            </p:nvSpPr>
            <p:spPr>
              <a:xfrm rot="21516842">
                <a:off x="3025444" y="3374455"/>
                <a:ext cx="840658" cy="471949"/>
              </a:xfrm>
              <a:prstGeom prst="triangl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3" name="フリーフォーム: 図形 12">
                <a:extLst>
                  <a:ext uri="{FF2B5EF4-FFF2-40B4-BE49-F238E27FC236}">
                    <a16:creationId xmlns:a16="http://schemas.microsoft.com/office/drawing/2014/main" id="{DCA25AA5-6EC2-3A91-C987-1FA6D6720F6A}"/>
                  </a:ext>
                </a:extLst>
              </p:cNvPr>
              <p:cNvSpPr/>
              <p:nvPr/>
            </p:nvSpPr>
            <p:spPr>
              <a:xfrm>
                <a:off x="2664127" y="3827205"/>
                <a:ext cx="956601" cy="1114899"/>
              </a:xfrm>
              <a:custGeom>
                <a:avLst/>
                <a:gdLst>
                  <a:gd name="connsiteX0" fmla="*/ 649311 w 956601"/>
                  <a:gd name="connsiteY0" fmla="*/ 0 h 1114899"/>
                  <a:gd name="connsiteX1" fmla="*/ 956601 w 956601"/>
                  <a:gd name="connsiteY1" fmla="*/ 0 h 1114899"/>
                  <a:gd name="connsiteX2" fmla="*/ 951973 w 956601"/>
                  <a:gd name="connsiteY2" fmla="*/ 97117 h 1114899"/>
                  <a:gd name="connsiteX3" fmla="*/ 5472 w 956601"/>
                  <a:gd name="connsiteY3" fmla="*/ 1113687 h 1114899"/>
                  <a:gd name="connsiteX4" fmla="*/ 0 w 956601"/>
                  <a:gd name="connsiteY4" fmla="*/ 1114899 h 1114899"/>
                  <a:gd name="connsiteX5" fmla="*/ 40056 w 956601"/>
                  <a:gd name="connsiteY5" fmla="*/ 1089636 h 1114899"/>
                  <a:gd name="connsiteX6" fmla="*/ 638394 w 956601"/>
                  <a:gd name="connsiteY6" fmla="*/ 162145 h 111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601" h="1114899">
                    <a:moveTo>
                      <a:pt x="649311" y="0"/>
                    </a:moveTo>
                    <a:lnTo>
                      <a:pt x="956601" y="0"/>
                    </a:lnTo>
                    <a:lnTo>
                      <a:pt x="951973" y="97117"/>
                    </a:lnTo>
                    <a:cubicBezTo>
                      <a:pt x="906000" y="577465"/>
                      <a:pt x="522068" y="975272"/>
                      <a:pt x="5472" y="1113687"/>
                    </a:cubicBezTo>
                    <a:lnTo>
                      <a:pt x="0" y="1114899"/>
                    </a:lnTo>
                    <a:lnTo>
                      <a:pt x="40056" y="1089636"/>
                    </a:lnTo>
                    <a:cubicBezTo>
                      <a:pt x="365632" y="863013"/>
                      <a:pt x="587911" y="534591"/>
                      <a:pt x="638394" y="1621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39545FA0-67FF-9A70-C888-13A69A398782}"/>
                </a:ext>
              </a:extLst>
            </p:cNvPr>
            <p:cNvGrpSpPr/>
            <p:nvPr/>
          </p:nvGrpSpPr>
          <p:grpSpPr>
            <a:xfrm rot="7241964" flipV="1">
              <a:off x="2843255" y="5233792"/>
              <a:ext cx="800237" cy="959619"/>
              <a:chOff x="2664127" y="3374455"/>
              <a:chExt cx="1201975" cy="1567649"/>
            </a:xfrm>
          </p:grpSpPr>
          <p:sp>
            <p:nvSpPr>
              <p:cNvPr id="15" name="二等辺三角形 14">
                <a:extLst>
                  <a:ext uri="{FF2B5EF4-FFF2-40B4-BE49-F238E27FC236}">
                    <a16:creationId xmlns:a16="http://schemas.microsoft.com/office/drawing/2014/main" id="{3767BD8E-FB78-2A44-9179-41A94C34D17A}"/>
                  </a:ext>
                </a:extLst>
              </p:cNvPr>
              <p:cNvSpPr/>
              <p:nvPr/>
            </p:nvSpPr>
            <p:spPr>
              <a:xfrm rot="21516842">
                <a:off x="3025444" y="3374455"/>
                <a:ext cx="840658" cy="471949"/>
              </a:xfrm>
              <a:prstGeom prst="triangl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6" name="フリーフォーム: 図形 15">
                <a:extLst>
                  <a:ext uri="{FF2B5EF4-FFF2-40B4-BE49-F238E27FC236}">
                    <a16:creationId xmlns:a16="http://schemas.microsoft.com/office/drawing/2014/main" id="{55A6798D-20C7-E00B-7A02-153B6F17D077}"/>
                  </a:ext>
                </a:extLst>
              </p:cNvPr>
              <p:cNvSpPr/>
              <p:nvPr/>
            </p:nvSpPr>
            <p:spPr>
              <a:xfrm>
                <a:off x="2664127" y="3827205"/>
                <a:ext cx="956601" cy="1114899"/>
              </a:xfrm>
              <a:custGeom>
                <a:avLst/>
                <a:gdLst>
                  <a:gd name="connsiteX0" fmla="*/ 649311 w 956601"/>
                  <a:gd name="connsiteY0" fmla="*/ 0 h 1114899"/>
                  <a:gd name="connsiteX1" fmla="*/ 956601 w 956601"/>
                  <a:gd name="connsiteY1" fmla="*/ 0 h 1114899"/>
                  <a:gd name="connsiteX2" fmla="*/ 951973 w 956601"/>
                  <a:gd name="connsiteY2" fmla="*/ 97117 h 1114899"/>
                  <a:gd name="connsiteX3" fmla="*/ 5472 w 956601"/>
                  <a:gd name="connsiteY3" fmla="*/ 1113687 h 1114899"/>
                  <a:gd name="connsiteX4" fmla="*/ 0 w 956601"/>
                  <a:gd name="connsiteY4" fmla="*/ 1114899 h 1114899"/>
                  <a:gd name="connsiteX5" fmla="*/ 40056 w 956601"/>
                  <a:gd name="connsiteY5" fmla="*/ 1089636 h 1114899"/>
                  <a:gd name="connsiteX6" fmla="*/ 638394 w 956601"/>
                  <a:gd name="connsiteY6" fmla="*/ 162145 h 111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601" h="1114899">
                    <a:moveTo>
                      <a:pt x="649311" y="0"/>
                    </a:moveTo>
                    <a:lnTo>
                      <a:pt x="956601" y="0"/>
                    </a:lnTo>
                    <a:lnTo>
                      <a:pt x="951973" y="97117"/>
                    </a:lnTo>
                    <a:cubicBezTo>
                      <a:pt x="906000" y="577465"/>
                      <a:pt x="522068" y="975272"/>
                      <a:pt x="5472" y="1113687"/>
                    </a:cubicBezTo>
                    <a:lnTo>
                      <a:pt x="0" y="1114899"/>
                    </a:lnTo>
                    <a:lnTo>
                      <a:pt x="40056" y="1089636"/>
                    </a:lnTo>
                    <a:cubicBezTo>
                      <a:pt x="365632" y="863013"/>
                      <a:pt x="587911" y="534591"/>
                      <a:pt x="638394" y="1621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1CC218CC-EEBC-1865-D9BB-837546C65874}"/>
                </a:ext>
              </a:extLst>
            </p:cNvPr>
            <p:cNvGrpSpPr/>
            <p:nvPr/>
          </p:nvGrpSpPr>
          <p:grpSpPr>
            <a:xfrm rot="14081671" flipV="1">
              <a:off x="1389673" y="2585074"/>
              <a:ext cx="800237" cy="959619"/>
              <a:chOff x="2664127" y="3374455"/>
              <a:chExt cx="1201975" cy="1567649"/>
            </a:xfrm>
          </p:grpSpPr>
          <p:sp>
            <p:nvSpPr>
              <p:cNvPr id="18" name="二等辺三角形 17">
                <a:extLst>
                  <a:ext uri="{FF2B5EF4-FFF2-40B4-BE49-F238E27FC236}">
                    <a16:creationId xmlns:a16="http://schemas.microsoft.com/office/drawing/2014/main" id="{F2F7520D-B9C9-EE46-43C0-1974C9EE110E}"/>
                  </a:ext>
                </a:extLst>
              </p:cNvPr>
              <p:cNvSpPr/>
              <p:nvPr/>
            </p:nvSpPr>
            <p:spPr>
              <a:xfrm rot="21516842">
                <a:off x="3025444" y="3374455"/>
                <a:ext cx="840658" cy="471949"/>
              </a:xfrm>
              <a:prstGeom prst="triangl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9" name="フリーフォーム: 図形 18">
                <a:extLst>
                  <a:ext uri="{FF2B5EF4-FFF2-40B4-BE49-F238E27FC236}">
                    <a16:creationId xmlns:a16="http://schemas.microsoft.com/office/drawing/2014/main" id="{91521E69-6981-7659-CD42-1242DA646433}"/>
                  </a:ext>
                </a:extLst>
              </p:cNvPr>
              <p:cNvSpPr/>
              <p:nvPr/>
            </p:nvSpPr>
            <p:spPr>
              <a:xfrm>
                <a:off x="2664127" y="3827205"/>
                <a:ext cx="956601" cy="1114899"/>
              </a:xfrm>
              <a:custGeom>
                <a:avLst/>
                <a:gdLst>
                  <a:gd name="connsiteX0" fmla="*/ 649311 w 956601"/>
                  <a:gd name="connsiteY0" fmla="*/ 0 h 1114899"/>
                  <a:gd name="connsiteX1" fmla="*/ 956601 w 956601"/>
                  <a:gd name="connsiteY1" fmla="*/ 0 h 1114899"/>
                  <a:gd name="connsiteX2" fmla="*/ 951973 w 956601"/>
                  <a:gd name="connsiteY2" fmla="*/ 97117 h 1114899"/>
                  <a:gd name="connsiteX3" fmla="*/ 5472 w 956601"/>
                  <a:gd name="connsiteY3" fmla="*/ 1113687 h 1114899"/>
                  <a:gd name="connsiteX4" fmla="*/ 0 w 956601"/>
                  <a:gd name="connsiteY4" fmla="*/ 1114899 h 1114899"/>
                  <a:gd name="connsiteX5" fmla="*/ 40056 w 956601"/>
                  <a:gd name="connsiteY5" fmla="*/ 1089636 h 1114899"/>
                  <a:gd name="connsiteX6" fmla="*/ 638394 w 956601"/>
                  <a:gd name="connsiteY6" fmla="*/ 162145 h 111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601" h="1114899">
                    <a:moveTo>
                      <a:pt x="649311" y="0"/>
                    </a:moveTo>
                    <a:lnTo>
                      <a:pt x="956601" y="0"/>
                    </a:lnTo>
                    <a:lnTo>
                      <a:pt x="951973" y="97117"/>
                    </a:lnTo>
                    <a:cubicBezTo>
                      <a:pt x="906000" y="577465"/>
                      <a:pt x="522068" y="975272"/>
                      <a:pt x="5472" y="1113687"/>
                    </a:cubicBezTo>
                    <a:lnTo>
                      <a:pt x="0" y="1114899"/>
                    </a:lnTo>
                    <a:lnTo>
                      <a:pt x="40056" y="1089636"/>
                    </a:lnTo>
                    <a:cubicBezTo>
                      <a:pt x="365632" y="863013"/>
                      <a:pt x="587911" y="534591"/>
                      <a:pt x="638394" y="1621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DBABD0C2-66B5-256B-4604-E348FEFAC56D}"/>
                </a:ext>
              </a:extLst>
            </p:cNvPr>
            <p:cNvSpPr txBox="1"/>
            <p:nvPr/>
          </p:nvSpPr>
          <p:spPr>
            <a:xfrm>
              <a:off x="4832338" y="2938238"/>
              <a:ext cx="17007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000" b="1" dirty="0">
                  <a:solidFill>
                    <a:schemeClr val="accent4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変化</a:t>
              </a:r>
              <a:endParaRPr lang="en-US" altLang="ja-JP" sz="20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D3D28F20-D312-FC56-A45A-9A9DD0F018F0}"/>
                </a:ext>
              </a:extLst>
            </p:cNvPr>
            <p:cNvSpPr txBox="1"/>
            <p:nvPr/>
          </p:nvSpPr>
          <p:spPr>
            <a:xfrm>
              <a:off x="2550709" y="5935209"/>
              <a:ext cx="17007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000" b="1" dirty="0">
                  <a:solidFill>
                    <a:schemeClr val="accent4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変化</a:t>
              </a:r>
              <a:endParaRPr lang="en-US" altLang="ja-JP" sz="20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032857B8-91F1-CA95-91BD-24CB159AB079}"/>
                </a:ext>
              </a:extLst>
            </p:cNvPr>
            <p:cNvSpPr txBox="1"/>
            <p:nvPr/>
          </p:nvSpPr>
          <p:spPr>
            <a:xfrm>
              <a:off x="0" y="2983833"/>
              <a:ext cx="17007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000" b="1" dirty="0">
                  <a:solidFill>
                    <a:schemeClr val="accent4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変化</a:t>
              </a:r>
              <a:endParaRPr lang="en-US" altLang="ja-JP" sz="20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</p:grpSp>
      <p:sp>
        <p:nvSpPr>
          <p:cNvPr id="25" name="楕円 24">
            <a:extLst>
              <a:ext uri="{FF2B5EF4-FFF2-40B4-BE49-F238E27FC236}">
                <a16:creationId xmlns:a16="http://schemas.microsoft.com/office/drawing/2014/main" id="{FA69373F-043A-BD62-065E-9238200A2914}"/>
              </a:ext>
            </a:extLst>
          </p:cNvPr>
          <p:cNvSpPr/>
          <p:nvPr/>
        </p:nvSpPr>
        <p:spPr>
          <a:xfrm>
            <a:off x="7462655" y="1651262"/>
            <a:ext cx="323850" cy="3238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glow rad="1016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47A74F06-9B64-1B4A-43BA-C938BE525936}"/>
              </a:ext>
            </a:extLst>
          </p:cNvPr>
          <p:cNvSpPr/>
          <p:nvPr/>
        </p:nvSpPr>
        <p:spPr>
          <a:xfrm>
            <a:off x="8108150" y="1651112"/>
            <a:ext cx="324000" cy="324000"/>
          </a:xfrm>
          <a:prstGeom prst="ellipse">
            <a:avLst/>
          </a:prstGeom>
          <a:solidFill>
            <a:srgbClr val="46877B"/>
          </a:solidFill>
          <a:ln>
            <a:solidFill>
              <a:srgbClr val="46877B"/>
            </a:solidFill>
          </a:ln>
          <a:effectLst>
            <a:glow rad="101600">
              <a:srgbClr val="46877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804C8D84-DF1A-9E36-6B35-4F08C09A0AEE}"/>
              </a:ext>
            </a:extLst>
          </p:cNvPr>
          <p:cNvSpPr/>
          <p:nvPr/>
        </p:nvSpPr>
        <p:spPr>
          <a:xfrm>
            <a:off x="7730366" y="2165069"/>
            <a:ext cx="342900" cy="33326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57C0E608-BA74-F485-BAE3-702170BC32CC}"/>
              </a:ext>
            </a:extLst>
          </p:cNvPr>
          <p:cNvSpPr/>
          <p:nvPr/>
        </p:nvSpPr>
        <p:spPr>
          <a:xfrm>
            <a:off x="8528263" y="3060360"/>
            <a:ext cx="2901487" cy="1236539"/>
          </a:xfrm>
          <a:custGeom>
            <a:avLst/>
            <a:gdLst>
              <a:gd name="connsiteX0" fmla="*/ 0 w 2901487"/>
              <a:gd name="connsiteY0" fmla="*/ 618270 h 1236539"/>
              <a:gd name="connsiteX1" fmla="*/ 1450744 w 2901487"/>
              <a:gd name="connsiteY1" fmla="*/ 0 h 1236539"/>
              <a:gd name="connsiteX2" fmla="*/ 2901488 w 2901487"/>
              <a:gd name="connsiteY2" fmla="*/ 618270 h 1236539"/>
              <a:gd name="connsiteX3" fmla="*/ 1450744 w 2901487"/>
              <a:gd name="connsiteY3" fmla="*/ 1236540 h 1236539"/>
              <a:gd name="connsiteX4" fmla="*/ 0 w 2901487"/>
              <a:gd name="connsiteY4" fmla="*/ 618270 h 123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01487" h="1236539" fill="none" extrusionOk="0">
                <a:moveTo>
                  <a:pt x="0" y="618270"/>
                </a:moveTo>
                <a:cubicBezTo>
                  <a:pt x="84712" y="196294"/>
                  <a:pt x="764269" y="7572"/>
                  <a:pt x="1450744" y="0"/>
                </a:cubicBezTo>
                <a:cubicBezTo>
                  <a:pt x="2280633" y="48997"/>
                  <a:pt x="2861081" y="275941"/>
                  <a:pt x="2901488" y="618270"/>
                </a:cubicBezTo>
                <a:cubicBezTo>
                  <a:pt x="3011552" y="975692"/>
                  <a:pt x="2166690" y="1197621"/>
                  <a:pt x="1450744" y="1236540"/>
                </a:cubicBezTo>
                <a:cubicBezTo>
                  <a:pt x="618922" y="1245671"/>
                  <a:pt x="36345" y="910461"/>
                  <a:pt x="0" y="618270"/>
                </a:cubicBezTo>
                <a:close/>
              </a:path>
              <a:path w="2901487" h="1236539" stroke="0" extrusionOk="0">
                <a:moveTo>
                  <a:pt x="0" y="618270"/>
                </a:moveTo>
                <a:cubicBezTo>
                  <a:pt x="-7565" y="290082"/>
                  <a:pt x="641644" y="-3252"/>
                  <a:pt x="1450744" y="0"/>
                </a:cubicBezTo>
                <a:cubicBezTo>
                  <a:pt x="2306126" y="-7995"/>
                  <a:pt x="2871529" y="331374"/>
                  <a:pt x="2901488" y="618270"/>
                </a:cubicBezTo>
                <a:cubicBezTo>
                  <a:pt x="2849516" y="977102"/>
                  <a:pt x="2227727" y="1265205"/>
                  <a:pt x="1450744" y="1236540"/>
                </a:cubicBezTo>
                <a:cubicBezTo>
                  <a:pt x="683291" y="1214685"/>
                  <a:pt x="-15441" y="963273"/>
                  <a:pt x="0" y="618270"/>
                </a:cubicBezTo>
                <a:close/>
              </a:path>
            </a:pathLst>
          </a:custGeom>
          <a:solidFill>
            <a:srgbClr val="D3E9E5"/>
          </a:solidFill>
          <a:ln>
            <a:solidFill>
              <a:srgbClr val="D3E9E5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11994F12-90A6-E96A-5BE6-5E9F08D17B74}"/>
              </a:ext>
            </a:extLst>
          </p:cNvPr>
          <p:cNvSpPr/>
          <p:nvPr/>
        </p:nvSpPr>
        <p:spPr>
          <a:xfrm>
            <a:off x="9518584" y="1567812"/>
            <a:ext cx="2235127" cy="2177274"/>
          </a:xfrm>
          <a:custGeom>
            <a:avLst/>
            <a:gdLst>
              <a:gd name="connsiteX0" fmla="*/ 0 w 2235127"/>
              <a:gd name="connsiteY0" fmla="*/ 1088637 h 2177274"/>
              <a:gd name="connsiteX1" fmla="*/ 1117564 w 2235127"/>
              <a:gd name="connsiteY1" fmla="*/ 0 h 2177274"/>
              <a:gd name="connsiteX2" fmla="*/ 2235128 w 2235127"/>
              <a:gd name="connsiteY2" fmla="*/ 1088637 h 2177274"/>
              <a:gd name="connsiteX3" fmla="*/ 1117564 w 2235127"/>
              <a:gd name="connsiteY3" fmla="*/ 2177274 h 2177274"/>
              <a:gd name="connsiteX4" fmla="*/ 0 w 2235127"/>
              <a:gd name="connsiteY4" fmla="*/ 1088637 h 2177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5127" h="2177274" fill="none" extrusionOk="0">
                <a:moveTo>
                  <a:pt x="0" y="1088637"/>
                </a:moveTo>
                <a:cubicBezTo>
                  <a:pt x="-78231" y="501361"/>
                  <a:pt x="470933" y="81460"/>
                  <a:pt x="1117564" y="0"/>
                </a:cubicBezTo>
                <a:cubicBezTo>
                  <a:pt x="1655506" y="-29676"/>
                  <a:pt x="2249283" y="494351"/>
                  <a:pt x="2235128" y="1088637"/>
                </a:cubicBezTo>
                <a:cubicBezTo>
                  <a:pt x="2256564" y="1635402"/>
                  <a:pt x="1745396" y="2193472"/>
                  <a:pt x="1117564" y="2177274"/>
                </a:cubicBezTo>
                <a:cubicBezTo>
                  <a:pt x="511602" y="2187319"/>
                  <a:pt x="85868" y="1650356"/>
                  <a:pt x="0" y="1088637"/>
                </a:cubicBezTo>
                <a:close/>
              </a:path>
              <a:path w="2235127" h="2177274" stroke="0" extrusionOk="0">
                <a:moveTo>
                  <a:pt x="0" y="1088637"/>
                </a:moveTo>
                <a:cubicBezTo>
                  <a:pt x="44180" y="558178"/>
                  <a:pt x="501211" y="-92223"/>
                  <a:pt x="1117564" y="0"/>
                </a:cubicBezTo>
                <a:cubicBezTo>
                  <a:pt x="1755182" y="98031"/>
                  <a:pt x="2176597" y="447074"/>
                  <a:pt x="2235128" y="1088637"/>
                </a:cubicBezTo>
                <a:cubicBezTo>
                  <a:pt x="2248407" y="1590409"/>
                  <a:pt x="1732930" y="2112771"/>
                  <a:pt x="1117564" y="2177274"/>
                </a:cubicBezTo>
                <a:cubicBezTo>
                  <a:pt x="512908" y="2113663"/>
                  <a:pt x="14757" y="1627634"/>
                  <a:pt x="0" y="108863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366946843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</a:t>
            </a:r>
            <a:endParaRPr lang="en-US" altLang="ja-JP" sz="28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dirty="0">
                <a:solidFill>
                  <a:schemeClr val="bg1"/>
                </a:solidFill>
                <a:latin typeface="+mn-ea"/>
              </a:rPr>
              <a:t>メッセージ</a:t>
            </a:r>
            <a:endParaRPr lang="ja-JP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B369ACC-5757-B80B-61BF-EC839E501C38}"/>
              </a:ext>
            </a:extLst>
          </p:cNvPr>
          <p:cNvSpPr/>
          <p:nvPr/>
        </p:nvSpPr>
        <p:spPr>
          <a:xfrm rot="20169432">
            <a:off x="8795580" y="3503340"/>
            <a:ext cx="3160032" cy="167421"/>
          </a:xfrm>
          <a:custGeom>
            <a:avLst/>
            <a:gdLst>
              <a:gd name="connsiteX0" fmla="*/ 0 w 3160032"/>
              <a:gd name="connsiteY0" fmla="*/ 0 h 167421"/>
              <a:gd name="connsiteX1" fmla="*/ 3160032 w 3160032"/>
              <a:gd name="connsiteY1" fmla="*/ 0 h 167421"/>
              <a:gd name="connsiteX2" fmla="*/ 3160032 w 3160032"/>
              <a:gd name="connsiteY2" fmla="*/ 167421 h 167421"/>
              <a:gd name="connsiteX3" fmla="*/ 0 w 3160032"/>
              <a:gd name="connsiteY3" fmla="*/ 167421 h 167421"/>
              <a:gd name="connsiteX4" fmla="*/ 0 w 3160032"/>
              <a:gd name="connsiteY4" fmla="*/ 0 h 167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0032" h="167421" fill="none" extrusionOk="0">
                <a:moveTo>
                  <a:pt x="0" y="0"/>
                </a:moveTo>
                <a:cubicBezTo>
                  <a:pt x="1576265" y="-130857"/>
                  <a:pt x="1695485" y="63250"/>
                  <a:pt x="3160032" y="0"/>
                </a:cubicBezTo>
                <a:cubicBezTo>
                  <a:pt x="3149888" y="54417"/>
                  <a:pt x="3161660" y="117978"/>
                  <a:pt x="3160032" y="167421"/>
                </a:cubicBezTo>
                <a:cubicBezTo>
                  <a:pt x="2559770" y="222085"/>
                  <a:pt x="1098592" y="215523"/>
                  <a:pt x="0" y="167421"/>
                </a:cubicBezTo>
                <a:cubicBezTo>
                  <a:pt x="-5" y="147243"/>
                  <a:pt x="-2866" y="55723"/>
                  <a:pt x="0" y="0"/>
                </a:cubicBezTo>
                <a:close/>
              </a:path>
              <a:path w="3160032" h="167421" stroke="0" extrusionOk="0">
                <a:moveTo>
                  <a:pt x="0" y="0"/>
                </a:moveTo>
                <a:cubicBezTo>
                  <a:pt x="1189394" y="93023"/>
                  <a:pt x="2837410" y="111448"/>
                  <a:pt x="3160032" y="0"/>
                </a:cubicBezTo>
                <a:cubicBezTo>
                  <a:pt x="3145341" y="75065"/>
                  <a:pt x="3161279" y="142728"/>
                  <a:pt x="3160032" y="167421"/>
                </a:cubicBezTo>
                <a:cubicBezTo>
                  <a:pt x="2786659" y="165537"/>
                  <a:pt x="902558" y="243552"/>
                  <a:pt x="0" y="167421"/>
                </a:cubicBezTo>
                <a:cubicBezTo>
                  <a:pt x="-7129" y="150251"/>
                  <a:pt x="4229" y="4513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00180860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十字形 30">
            <a:extLst>
              <a:ext uri="{FF2B5EF4-FFF2-40B4-BE49-F238E27FC236}">
                <a16:creationId xmlns:a16="http://schemas.microsoft.com/office/drawing/2014/main" id="{AE6B2308-93E3-CE3B-D6A4-F65B8B44608F}"/>
              </a:ext>
            </a:extLst>
          </p:cNvPr>
          <p:cNvSpPr/>
          <p:nvPr/>
        </p:nvSpPr>
        <p:spPr>
          <a:xfrm rot="2590055">
            <a:off x="8265921" y="4413059"/>
            <a:ext cx="1869719" cy="1886551"/>
          </a:xfrm>
          <a:custGeom>
            <a:avLst/>
            <a:gdLst>
              <a:gd name="connsiteX0" fmla="*/ 0 w 1869719"/>
              <a:gd name="connsiteY0" fmla="*/ 871682 h 1886551"/>
              <a:gd name="connsiteX1" fmla="*/ 871682 w 1869719"/>
              <a:gd name="connsiteY1" fmla="*/ 871682 h 1886551"/>
              <a:gd name="connsiteX2" fmla="*/ 871682 w 1869719"/>
              <a:gd name="connsiteY2" fmla="*/ 0 h 1886551"/>
              <a:gd name="connsiteX3" fmla="*/ 998037 w 1869719"/>
              <a:gd name="connsiteY3" fmla="*/ 0 h 1886551"/>
              <a:gd name="connsiteX4" fmla="*/ 998037 w 1869719"/>
              <a:gd name="connsiteY4" fmla="*/ 871682 h 1886551"/>
              <a:gd name="connsiteX5" fmla="*/ 1869719 w 1869719"/>
              <a:gd name="connsiteY5" fmla="*/ 871682 h 1886551"/>
              <a:gd name="connsiteX6" fmla="*/ 1869719 w 1869719"/>
              <a:gd name="connsiteY6" fmla="*/ 1014869 h 1886551"/>
              <a:gd name="connsiteX7" fmla="*/ 998037 w 1869719"/>
              <a:gd name="connsiteY7" fmla="*/ 1014869 h 1886551"/>
              <a:gd name="connsiteX8" fmla="*/ 998037 w 1869719"/>
              <a:gd name="connsiteY8" fmla="*/ 1886551 h 1886551"/>
              <a:gd name="connsiteX9" fmla="*/ 871682 w 1869719"/>
              <a:gd name="connsiteY9" fmla="*/ 1886551 h 1886551"/>
              <a:gd name="connsiteX10" fmla="*/ 871682 w 1869719"/>
              <a:gd name="connsiteY10" fmla="*/ 1014869 h 1886551"/>
              <a:gd name="connsiteX11" fmla="*/ 0 w 1869719"/>
              <a:gd name="connsiteY11" fmla="*/ 1014869 h 1886551"/>
              <a:gd name="connsiteX12" fmla="*/ 0 w 1869719"/>
              <a:gd name="connsiteY12" fmla="*/ 871682 h 188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69719" h="1886551" fill="none" extrusionOk="0">
                <a:moveTo>
                  <a:pt x="0" y="871682"/>
                </a:moveTo>
                <a:cubicBezTo>
                  <a:pt x="150577" y="878137"/>
                  <a:pt x="691672" y="826285"/>
                  <a:pt x="871682" y="871682"/>
                </a:cubicBezTo>
                <a:cubicBezTo>
                  <a:pt x="944600" y="699805"/>
                  <a:pt x="866968" y="165485"/>
                  <a:pt x="871682" y="0"/>
                </a:cubicBezTo>
                <a:cubicBezTo>
                  <a:pt x="917842" y="-3582"/>
                  <a:pt x="948566" y="-7301"/>
                  <a:pt x="998037" y="0"/>
                </a:cubicBezTo>
                <a:cubicBezTo>
                  <a:pt x="1034408" y="206213"/>
                  <a:pt x="958303" y="545702"/>
                  <a:pt x="998037" y="871682"/>
                </a:cubicBezTo>
                <a:cubicBezTo>
                  <a:pt x="1403914" y="918941"/>
                  <a:pt x="1768096" y="817161"/>
                  <a:pt x="1869719" y="871682"/>
                </a:cubicBezTo>
                <a:cubicBezTo>
                  <a:pt x="1862247" y="898346"/>
                  <a:pt x="1867979" y="944707"/>
                  <a:pt x="1869719" y="1014869"/>
                </a:cubicBezTo>
                <a:cubicBezTo>
                  <a:pt x="1548144" y="940983"/>
                  <a:pt x="1153210" y="1019821"/>
                  <a:pt x="998037" y="1014869"/>
                </a:cubicBezTo>
                <a:cubicBezTo>
                  <a:pt x="1038278" y="1306496"/>
                  <a:pt x="926672" y="1453007"/>
                  <a:pt x="998037" y="1886551"/>
                </a:cubicBezTo>
                <a:cubicBezTo>
                  <a:pt x="957192" y="1890993"/>
                  <a:pt x="910226" y="1892254"/>
                  <a:pt x="871682" y="1886551"/>
                </a:cubicBezTo>
                <a:cubicBezTo>
                  <a:pt x="900212" y="1470477"/>
                  <a:pt x="885227" y="1205920"/>
                  <a:pt x="871682" y="1014869"/>
                </a:cubicBezTo>
                <a:cubicBezTo>
                  <a:pt x="678222" y="1052749"/>
                  <a:pt x="371283" y="1038878"/>
                  <a:pt x="0" y="1014869"/>
                </a:cubicBezTo>
                <a:cubicBezTo>
                  <a:pt x="7573" y="960095"/>
                  <a:pt x="-108" y="893456"/>
                  <a:pt x="0" y="871682"/>
                </a:cubicBezTo>
                <a:close/>
              </a:path>
              <a:path w="1869719" h="1886551" stroke="0" extrusionOk="0">
                <a:moveTo>
                  <a:pt x="0" y="871682"/>
                </a:moveTo>
                <a:cubicBezTo>
                  <a:pt x="344289" y="885060"/>
                  <a:pt x="600800" y="905684"/>
                  <a:pt x="871682" y="871682"/>
                </a:cubicBezTo>
                <a:cubicBezTo>
                  <a:pt x="931893" y="628664"/>
                  <a:pt x="943650" y="370527"/>
                  <a:pt x="871682" y="0"/>
                </a:cubicBezTo>
                <a:cubicBezTo>
                  <a:pt x="893890" y="9838"/>
                  <a:pt x="946111" y="7517"/>
                  <a:pt x="998037" y="0"/>
                </a:cubicBezTo>
                <a:cubicBezTo>
                  <a:pt x="992055" y="159455"/>
                  <a:pt x="932820" y="532460"/>
                  <a:pt x="998037" y="871682"/>
                </a:cubicBezTo>
                <a:cubicBezTo>
                  <a:pt x="1357843" y="820993"/>
                  <a:pt x="1686362" y="905907"/>
                  <a:pt x="1869719" y="871682"/>
                </a:cubicBezTo>
                <a:cubicBezTo>
                  <a:pt x="1875174" y="925174"/>
                  <a:pt x="1873986" y="947346"/>
                  <a:pt x="1869719" y="1014869"/>
                </a:cubicBezTo>
                <a:cubicBezTo>
                  <a:pt x="1764808" y="1082825"/>
                  <a:pt x="1290886" y="1035898"/>
                  <a:pt x="998037" y="1014869"/>
                </a:cubicBezTo>
                <a:cubicBezTo>
                  <a:pt x="975473" y="1296156"/>
                  <a:pt x="935667" y="1781961"/>
                  <a:pt x="998037" y="1886551"/>
                </a:cubicBezTo>
                <a:cubicBezTo>
                  <a:pt x="962951" y="1880256"/>
                  <a:pt x="921537" y="1889798"/>
                  <a:pt x="871682" y="1886551"/>
                </a:cubicBezTo>
                <a:cubicBezTo>
                  <a:pt x="818077" y="1555126"/>
                  <a:pt x="859397" y="1130088"/>
                  <a:pt x="871682" y="1014869"/>
                </a:cubicBezTo>
                <a:cubicBezTo>
                  <a:pt x="608586" y="952921"/>
                  <a:pt x="306780" y="1005001"/>
                  <a:pt x="0" y="1014869"/>
                </a:cubicBezTo>
                <a:cubicBezTo>
                  <a:pt x="-3635" y="972697"/>
                  <a:pt x="-10926" y="894203"/>
                  <a:pt x="0" y="871682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3129110413">
                  <a:prstGeom prst="plus">
                    <a:avLst>
                      <a:gd name="adj" fmla="val 46621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4548D72B-CA5C-59FC-584F-E0EF5BBB25BA}"/>
              </a:ext>
            </a:extLst>
          </p:cNvPr>
          <p:cNvSpPr/>
          <p:nvPr/>
        </p:nvSpPr>
        <p:spPr>
          <a:xfrm>
            <a:off x="7090921" y="4792728"/>
            <a:ext cx="1253486" cy="1236539"/>
          </a:xfrm>
          <a:custGeom>
            <a:avLst/>
            <a:gdLst>
              <a:gd name="connsiteX0" fmla="*/ 0 w 1253486"/>
              <a:gd name="connsiteY0" fmla="*/ 618270 h 1236539"/>
              <a:gd name="connsiteX1" fmla="*/ 626743 w 1253486"/>
              <a:gd name="connsiteY1" fmla="*/ 0 h 1236539"/>
              <a:gd name="connsiteX2" fmla="*/ 1253486 w 1253486"/>
              <a:gd name="connsiteY2" fmla="*/ 618270 h 1236539"/>
              <a:gd name="connsiteX3" fmla="*/ 626743 w 1253486"/>
              <a:gd name="connsiteY3" fmla="*/ 1236540 h 1236539"/>
              <a:gd name="connsiteX4" fmla="*/ 0 w 1253486"/>
              <a:gd name="connsiteY4" fmla="*/ 618270 h 123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3486" h="1236539" extrusionOk="0">
                <a:moveTo>
                  <a:pt x="0" y="618270"/>
                </a:moveTo>
                <a:cubicBezTo>
                  <a:pt x="11333" y="288976"/>
                  <a:pt x="265442" y="19656"/>
                  <a:pt x="626743" y="0"/>
                </a:cubicBezTo>
                <a:cubicBezTo>
                  <a:pt x="963521" y="-49908"/>
                  <a:pt x="1223269" y="275473"/>
                  <a:pt x="1253486" y="618270"/>
                </a:cubicBezTo>
                <a:cubicBezTo>
                  <a:pt x="1256702" y="984230"/>
                  <a:pt x="1029945" y="1242942"/>
                  <a:pt x="626743" y="1236540"/>
                </a:cubicBezTo>
                <a:cubicBezTo>
                  <a:pt x="282897" y="1246744"/>
                  <a:pt x="5423" y="961932"/>
                  <a:pt x="0" y="618270"/>
                </a:cubicBezTo>
                <a:close/>
              </a:path>
            </a:pathLst>
          </a:custGeom>
          <a:noFill/>
          <a:ln w="76200">
            <a:solidFill>
              <a:schemeClr val="accent4">
                <a:lumMod val="40000"/>
                <a:lumOff val="60000"/>
              </a:schemeClr>
            </a:solidFill>
            <a:extLst>
              <a:ext uri="{C807C97D-BFC1-408E-A445-0C87EB9F89A2}">
                <ask:lineSketchStyleProps xmlns:ask="http://schemas.microsoft.com/office/drawing/2018/sketchyshapes" sd="1678478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31234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1015999"/>
            <a:ext cx="11357897" cy="938159"/>
          </a:xfrm>
        </p:spPr>
        <p:txBody>
          <a:bodyPr/>
          <a:lstStyle/>
          <a:p>
            <a:r>
              <a:rPr lang="ja-JP" altLang="en-US" dirty="0"/>
              <a:t>３つあることが一目でわかる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471271" y="1994510"/>
            <a:ext cx="3649340" cy="462219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4314710" y="1987780"/>
            <a:ext cx="3649340" cy="462219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8131938" y="1994510"/>
            <a:ext cx="3649340" cy="462219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531259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4358102" y="200370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479700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4333110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2800" b="1" dirty="0">
              <a:solidFill>
                <a:schemeClr val="accent4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8202685" y="200370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8148196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1352494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1015999"/>
            <a:ext cx="11357897" cy="938159"/>
          </a:xfrm>
        </p:spPr>
        <p:txBody>
          <a:bodyPr/>
          <a:lstStyle/>
          <a:p>
            <a:r>
              <a:rPr lang="ja-JP" altLang="en-US" dirty="0"/>
              <a:t>順序関係がある場合は並列よりこちらが良い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カードのレイアウトテンプレートのアレンジ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471270" y="1994510"/>
            <a:ext cx="4333735" cy="3452668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3975496" y="2474477"/>
            <a:ext cx="4333735" cy="3461104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7479722" y="2962880"/>
            <a:ext cx="4333735" cy="3461104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531259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4018889" y="2490401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479700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3993897" y="2767069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2800" b="1" dirty="0">
              <a:solidFill>
                <a:schemeClr val="accent4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7550470" y="297207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7495981" y="324874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7F509DC-624C-49A3-87E6-BBEE33EDEF3D}"/>
              </a:ext>
            </a:extLst>
          </p:cNvPr>
          <p:cNvGrpSpPr/>
          <p:nvPr/>
        </p:nvGrpSpPr>
        <p:grpSpPr>
          <a:xfrm rot="19356426" flipV="1">
            <a:off x="4678821" y="1901851"/>
            <a:ext cx="638334" cy="948153"/>
            <a:chOff x="2664127" y="3374455"/>
            <a:chExt cx="1201975" cy="1567649"/>
          </a:xfrm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9EEC710F-D694-4533-BCFA-E134D0A97020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15C81248-34D7-4734-9365-7AF9C9D6CE42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2916356-7E2D-4DCC-AB30-31745E58C8A8}"/>
              </a:ext>
            </a:extLst>
          </p:cNvPr>
          <p:cNvGrpSpPr/>
          <p:nvPr/>
        </p:nvGrpSpPr>
        <p:grpSpPr>
          <a:xfrm rot="19356426" flipV="1">
            <a:off x="8176087" y="2353531"/>
            <a:ext cx="638334" cy="948153"/>
            <a:chOff x="2664127" y="3374455"/>
            <a:chExt cx="1201975" cy="1567649"/>
          </a:xfrm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C87AD141-B943-4BC4-BD07-C571A6486C27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7964E781-5C13-4DB8-8006-A03F32235976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5325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1015999"/>
            <a:ext cx="11357897" cy="938159"/>
          </a:xfrm>
        </p:spPr>
        <p:txBody>
          <a:bodyPr/>
          <a:lstStyle/>
          <a:p>
            <a:r>
              <a:rPr lang="ja-JP" altLang="en-US" dirty="0"/>
              <a:t>カードの間隔やアスペクト比は適宜調整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４カードのレイアウトテンプレート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640876" y="1994510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00865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649306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640876" y="4391123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700865" y="440321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b="1" dirty="0">
              <a:solidFill>
                <a:schemeClr val="tx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649306" y="467698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6201018" y="1994510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6261007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6209448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6201018" y="4391123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6261007" y="440321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6209448" y="467698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3838289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6201018" y="1994510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6201018" y="4391123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640876" y="4391123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640876" y="1994510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1015999"/>
            <a:ext cx="11357897" cy="938159"/>
          </a:xfrm>
        </p:spPr>
        <p:txBody>
          <a:bodyPr/>
          <a:lstStyle/>
          <a:p>
            <a:r>
              <a:rPr lang="ja-JP" altLang="en-US" dirty="0"/>
              <a:t>循環がある場合はこんな感じが良い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４カードのレイアウトテンプレートのアレンジ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00865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649306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700865" y="440321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b="1" dirty="0">
              <a:solidFill>
                <a:schemeClr val="tx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649306" y="467698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6261007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6209448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6261007" y="440321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6209448" y="467698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F763E3EA-C838-48BF-92C8-FD155CD72C61}"/>
              </a:ext>
            </a:extLst>
          </p:cNvPr>
          <p:cNvGrpSpPr/>
          <p:nvPr/>
        </p:nvGrpSpPr>
        <p:grpSpPr>
          <a:xfrm>
            <a:off x="5963376" y="5058404"/>
            <a:ext cx="595261" cy="523221"/>
            <a:chOff x="1572269" y="4816089"/>
            <a:chExt cx="938304" cy="840658"/>
          </a:xfrm>
        </p:grpSpPr>
        <p:sp>
          <p:nvSpPr>
            <p:cNvPr id="39" name="二等辺三角形 38">
              <a:extLst>
                <a:ext uri="{FF2B5EF4-FFF2-40B4-BE49-F238E27FC236}">
                  <a16:creationId xmlns:a16="http://schemas.microsoft.com/office/drawing/2014/main" id="{857E573D-CBEA-4840-BB8D-12A43C05AF2C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0" name="フリーフォーム: 図形 39">
              <a:extLst>
                <a:ext uri="{FF2B5EF4-FFF2-40B4-BE49-F238E27FC236}">
                  <a16:creationId xmlns:a16="http://schemas.microsoft.com/office/drawing/2014/main" id="{5EF6E50A-F8C0-4A0B-828C-3A1574F01379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98959377-C979-4DBC-91B0-EE8A4B495524}"/>
              </a:ext>
            </a:extLst>
          </p:cNvPr>
          <p:cNvGrpSpPr/>
          <p:nvPr/>
        </p:nvGrpSpPr>
        <p:grpSpPr>
          <a:xfrm rot="16200000">
            <a:off x="6871061" y="3852436"/>
            <a:ext cx="595261" cy="523221"/>
            <a:chOff x="1572269" y="4816089"/>
            <a:chExt cx="938304" cy="840658"/>
          </a:xfrm>
        </p:grpSpPr>
        <p:sp>
          <p:nvSpPr>
            <p:cNvPr id="42" name="二等辺三角形 41">
              <a:extLst>
                <a:ext uri="{FF2B5EF4-FFF2-40B4-BE49-F238E27FC236}">
                  <a16:creationId xmlns:a16="http://schemas.microsoft.com/office/drawing/2014/main" id="{D24E386F-2924-40CC-9E36-E7C432F87F61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3" name="フリーフォーム: 図形 42">
              <a:extLst>
                <a:ext uri="{FF2B5EF4-FFF2-40B4-BE49-F238E27FC236}">
                  <a16:creationId xmlns:a16="http://schemas.microsoft.com/office/drawing/2014/main" id="{01947CE4-9925-438C-87B9-4BD670E28BB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3F72FAD5-5227-424C-B040-A021696E413C}"/>
              </a:ext>
            </a:extLst>
          </p:cNvPr>
          <p:cNvGrpSpPr/>
          <p:nvPr/>
        </p:nvGrpSpPr>
        <p:grpSpPr>
          <a:xfrm rot="10800000">
            <a:off x="5622654" y="3077138"/>
            <a:ext cx="595261" cy="523221"/>
            <a:chOff x="1572269" y="4816089"/>
            <a:chExt cx="938304" cy="840658"/>
          </a:xfrm>
        </p:grpSpPr>
        <p:sp>
          <p:nvSpPr>
            <p:cNvPr id="45" name="二等辺三角形 44">
              <a:extLst>
                <a:ext uri="{FF2B5EF4-FFF2-40B4-BE49-F238E27FC236}">
                  <a16:creationId xmlns:a16="http://schemas.microsoft.com/office/drawing/2014/main" id="{CC9CF80C-33A0-4CD9-A492-0F5FE96D7E9F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6" name="フリーフォーム: 図形 45">
              <a:extLst>
                <a:ext uri="{FF2B5EF4-FFF2-40B4-BE49-F238E27FC236}">
                  <a16:creationId xmlns:a16="http://schemas.microsoft.com/office/drawing/2014/main" id="{464BB2E2-722B-44B5-98C5-2E999D1E52E1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DF776DC2-B0C8-4C4B-870E-11E5094A648C}"/>
              </a:ext>
            </a:extLst>
          </p:cNvPr>
          <p:cNvGrpSpPr/>
          <p:nvPr/>
        </p:nvGrpSpPr>
        <p:grpSpPr>
          <a:xfrm rot="5400000">
            <a:off x="4798844" y="4214160"/>
            <a:ext cx="595261" cy="523221"/>
            <a:chOff x="1572269" y="4816089"/>
            <a:chExt cx="938304" cy="840658"/>
          </a:xfrm>
        </p:grpSpPr>
        <p:sp>
          <p:nvSpPr>
            <p:cNvPr id="48" name="二等辺三角形 47">
              <a:extLst>
                <a:ext uri="{FF2B5EF4-FFF2-40B4-BE49-F238E27FC236}">
                  <a16:creationId xmlns:a16="http://schemas.microsoft.com/office/drawing/2014/main" id="{B73EA7B5-2C86-4BC2-927B-676AE8EE2F83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6394FB25-B87E-4AD3-80ED-6FD1473CADC2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94194877"/>
      </p:ext>
    </p:extLst>
  </p:cSld>
  <p:clrMapOvr>
    <a:masterClrMapping/>
  </p:clrMapOvr>
</p:sld>
</file>

<file path=ppt/theme/theme1.xml><?xml version="1.0" encoding="utf-8"?>
<a:theme xmlns:a="http://schemas.openxmlformats.org/drawingml/2006/main" name="研究発表スライドマスタ">
  <a:themeElements>
    <a:clrScheme name="ユーザー定義 8">
      <a:dk1>
        <a:srgbClr val="4D4D4D"/>
      </a:dk1>
      <a:lt1>
        <a:srgbClr val="F8F8F8"/>
      </a:lt1>
      <a:dk2>
        <a:srgbClr val="7F7F7F"/>
      </a:dk2>
      <a:lt2>
        <a:srgbClr val="B2B2B2"/>
      </a:lt2>
      <a:accent1>
        <a:srgbClr val="2E5B96"/>
      </a:accent1>
      <a:accent2>
        <a:srgbClr val="C03936"/>
      </a:accent2>
      <a:accent3>
        <a:srgbClr val="ED7D31"/>
      </a:accent3>
      <a:accent4>
        <a:srgbClr val="3E9288"/>
      </a:accent4>
      <a:accent5>
        <a:srgbClr val="4747C1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ンプレート" id="{B6B826D6-55BD-C047-852B-751AD301312E}" vid="{E253BDFC-1559-934D-B6B9-CF9A302D71D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7783413B678BA4F83764129A5DB4607" ma:contentTypeVersion="0" ma:contentTypeDescription="新しいドキュメントを作成します。" ma:contentTypeScope="" ma:versionID="36bbfa3e05015206d9e02241ed477da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fa5fc393d419cfd9816b88a984ff78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EFD21F3-24CC-4605-A5CE-D678D2531A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74453E-F96D-478A-A3EE-1788D5BEB2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B33ED81-A378-482E-B710-0D21A32023B2}">
  <ds:schemaRefs>
    <ds:schemaRef ds:uri="http://www.w3.org/XML/1998/namespace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研究発表スライドマスタ</Template>
  <TotalTime>1954</TotalTime>
  <Words>798</Words>
  <Application>Microsoft Macintosh PowerPoint</Application>
  <PresentationFormat>ワイド画面</PresentationFormat>
  <Paragraphs>133</Paragraphs>
  <Slides>11</Slides>
  <Notes>1</Notes>
  <HiddenSlides>7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7" baseType="lpstr">
      <vt:lpstr>ＭＳ Ｐゴシック</vt:lpstr>
      <vt:lpstr>游ゴシック</vt:lpstr>
      <vt:lpstr>游ゴシック Medium</vt:lpstr>
      <vt:lpstr>Arial</vt:lpstr>
      <vt:lpstr>Wingdings</vt:lpstr>
      <vt:lpstr>研究発表スライドマスタ</vt:lpstr>
      <vt:lpstr>Lucレポーター遺伝子発現系を使ったTGR5アゴニストペプチドの探索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寸法や色は場合に応じて調整しましょう</vt:lpstr>
      <vt:lpstr>PowerPoint プレゼンテーション</vt:lpstr>
      <vt:lpstr>３つあることが一目でわかる</vt:lpstr>
      <vt:lpstr>順序関係がある場合は並列よりこちらが良い</vt:lpstr>
      <vt:lpstr>カードの間隔やアスペクト比は適宜調整</vt:lpstr>
      <vt:lpstr>循環がある場合はこんな感じが良い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NAKAMURA Yusaku</dc:creator>
  <cp:lastModifiedBy>NAKAMURA Yusaku</cp:lastModifiedBy>
  <cp:revision>5</cp:revision>
  <dcterms:created xsi:type="dcterms:W3CDTF">2024-10-23T05:18:24Z</dcterms:created>
  <dcterms:modified xsi:type="dcterms:W3CDTF">2024-10-31T05:49:46Z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0x010100E7783413B678BA4F83764129A5DB4607</vt:lpwstr>
  </property>
</Properties>
</file>